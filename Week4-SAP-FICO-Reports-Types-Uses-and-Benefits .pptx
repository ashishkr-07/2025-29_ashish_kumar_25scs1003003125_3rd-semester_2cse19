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15982950"/>
  <p:notesSz cx="11430000" cy="159829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5975" y="454025"/>
            <a:ext cx="682498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20929" y="1963737"/>
            <a:ext cx="4661534" cy="3188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8675" y="1590674"/>
            <a:ext cx="2076450" cy="257175"/>
          </a:xfrm>
          <a:custGeom>
            <a:avLst/>
            <a:gdLst/>
            <a:ahLst/>
            <a:cxnLst/>
            <a:rect l="l" t="t" r="r" b="b"/>
            <a:pathLst>
              <a:path w="2076450" h="257175">
                <a:moveTo>
                  <a:pt x="2034806" y="257175"/>
                </a:moveTo>
                <a:lnTo>
                  <a:pt x="41643" y="257175"/>
                </a:lnTo>
                <a:lnTo>
                  <a:pt x="35518" y="255955"/>
                </a:lnTo>
                <a:lnTo>
                  <a:pt x="1219" y="221656"/>
                </a:lnTo>
                <a:lnTo>
                  <a:pt x="0" y="215531"/>
                </a:lnTo>
                <a:lnTo>
                  <a:pt x="0" y="209169"/>
                </a:lnTo>
                <a:lnTo>
                  <a:pt x="0" y="41643"/>
                </a:lnTo>
                <a:lnTo>
                  <a:pt x="23755" y="6086"/>
                </a:lnTo>
                <a:lnTo>
                  <a:pt x="41643" y="0"/>
                </a:lnTo>
                <a:lnTo>
                  <a:pt x="2034806" y="0"/>
                </a:lnTo>
                <a:lnTo>
                  <a:pt x="2070363" y="23755"/>
                </a:lnTo>
                <a:lnTo>
                  <a:pt x="2076450" y="41643"/>
                </a:lnTo>
                <a:lnTo>
                  <a:pt x="2076450" y="215531"/>
                </a:lnTo>
                <a:lnTo>
                  <a:pt x="2052694" y="251088"/>
                </a:lnTo>
                <a:lnTo>
                  <a:pt x="2040931" y="255955"/>
                </a:lnTo>
                <a:lnTo>
                  <a:pt x="2034806" y="257175"/>
                </a:lnTo>
                <a:close/>
              </a:path>
            </a:pathLst>
          </a:custGeom>
          <a:solidFill>
            <a:srgbClr val="DADB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8815" y="1612264"/>
            <a:ext cx="1899285" cy="190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35">
                <a:solidFill>
                  <a:srgbClr val="272424"/>
                </a:solidFill>
                <a:latin typeface="Verdana"/>
                <a:cs typeface="Verdana"/>
              </a:rPr>
              <a:t>WEEK</a:t>
            </a:r>
            <a:r>
              <a:rPr dirty="0" sz="10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050">
                <a:solidFill>
                  <a:srgbClr val="272424"/>
                </a:solidFill>
                <a:latin typeface="Verdana"/>
                <a:cs typeface="Verdana"/>
              </a:rPr>
              <a:t>4</a:t>
            </a:r>
            <a:r>
              <a:rPr dirty="0" sz="10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272424"/>
                </a:solidFill>
                <a:latin typeface="Verdana"/>
                <a:cs typeface="Verdana"/>
              </a:rPr>
              <a:t>INTERNSHIP</a:t>
            </a:r>
            <a:r>
              <a:rPr dirty="0" sz="10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272424"/>
                </a:solidFill>
                <a:latin typeface="Verdana"/>
                <a:cs typeface="Verdana"/>
              </a:rPr>
              <a:t>REPORT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15974" y="1892300"/>
            <a:ext cx="90519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SAP</a:t>
            </a:r>
            <a:r>
              <a:rPr dirty="0" spc="-365"/>
              <a:t> </a:t>
            </a:r>
            <a:r>
              <a:rPr dirty="0" spc="-190"/>
              <a:t>FICO</a:t>
            </a:r>
            <a:r>
              <a:rPr dirty="0" spc="-365"/>
              <a:t> </a:t>
            </a:r>
            <a:r>
              <a:rPr dirty="0" spc="-140"/>
              <a:t>Reports</a:t>
            </a:r>
            <a:r>
              <a:rPr dirty="0" spc="-365"/>
              <a:t> </a:t>
            </a:r>
            <a:r>
              <a:rPr dirty="0" spc="-475"/>
              <a:t>–</a:t>
            </a:r>
            <a:r>
              <a:rPr dirty="0" spc="-365"/>
              <a:t> </a:t>
            </a:r>
            <a:r>
              <a:rPr dirty="0" spc="-40"/>
              <a:t>Types,</a:t>
            </a:r>
            <a:r>
              <a:rPr dirty="0" spc="-470"/>
              <a:t> </a:t>
            </a:r>
            <a:r>
              <a:rPr dirty="0" spc="-10"/>
              <a:t>Uses,</a:t>
            </a:r>
            <a:r>
              <a:rPr dirty="0" spc="-470"/>
              <a:t> </a:t>
            </a:r>
            <a:r>
              <a:rPr dirty="0" spc="-120"/>
              <a:t>and</a:t>
            </a:r>
            <a:r>
              <a:rPr dirty="0" spc="-360"/>
              <a:t> </a:t>
            </a:r>
            <a:r>
              <a:rPr dirty="0" spc="-55"/>
              <a:t>Benefits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15964" y="2711450"/>
            <a:ext cx="7036434" cy="2107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Prepared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as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part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FICO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Internship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at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Yuva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Intern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60" b="1">
                <a:solidFill>
                  <a:srgbClr val="272424"/>
                </a:solidFill>
                <a:latin typeface="Tahoma"/>
                <a:cs typeface="Tahoma"/>
              </a:rPr>
              <a:t>Student</a:t>
            </a:r>
            <a:r>
              <a:rPr dirty="0" sz="1350" spc="-1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Name:</a:t>
            </a:r>
            <a:r>
              <a:rPr dirty="0" sz="1350" spc="-7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Ashish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Kumar</a:t>
            </a:r>
            <a:r>
              <a:rPr dirty="0" sz="1350" spc="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|</a:t>
            </a:r>
            <a:r>
              <a:rPr dirty="0" sz="1350" spc="1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 b="1">
                <a:solidFill>
                  <a:srgbClr val="272424"/>
                </a:solidFill>
                <a:latin typeface="Tahoma"/>
                <a:cs typeface="Tahoma"/>
              </a:rPr>
              <a:t>Roll</a:t>
            </a:r>
            <a:r>
              <a:rPr dirty="0" sz="1350" spc="-1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Number:</a:t>
            </a:r>
            <a:r>
              <a:rPr dirty="0" sz="1350" spc="-7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25SCS1003003125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Course</a:t>
            </a:r>
            <a:r>
              <a:rPr dirty="0" sz="1350" spc="-1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60" b="1">
                <a:solidFill>
                  <a:srgbClr val="272424"/>
                </a:solidFill>
                <a:latin typeface="Tahoma"/>
                <a:cs typeface="Tahoma"/>
              </a:rPr>
              <a:t>/</a:t>
            </a:r>
            <a:r>
              <a:rPr dirty="0" sz="1350" spc="-1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Department: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B.Tech</a:t>
            </a:r>
            <a:r>
              <a:rPr dirty="0" sz="1350" spc="-1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(CSE)</a:t>
            </a:r>
            <a:r>
              <a:rPr dirty="0" sz="1350" spc="2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|</a:t>
            </a:r>
            <a:r>
              <a:rPr dirty="0" sz="1350" spc="2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 b="1">
                <a:solidFill>
                  <a:srgbClr val="272424"/>
                </a:solidFill>
                <a:latin typeface="Tahoma"/>
                <a:cs typeface="Tahoma"/>
              </a:rPr>
              <a:t>College</a:t>
            </a:r>
            <a:r>
              <a:rPr dirty="0" sz="1350" spc="-1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60" b="1">
                <a:solidFill>
                  <a:srgbClr val="272424"/>
                </a:solidFill>
                <a:latin typeface="Tahoma"/>
                <a:cs typeface="Tahoma"/>
              </a:rPr>
              <a:t>/</a:t>
            </a:r>
            <a:r>
              <a:rPr dirty="0" sz="1350" spc="-1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University: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IILM</a:t>
            </a:r>
            <a:r>
              <a:rPr dirty="0" sz="1350" spc="-1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University</a:t>
            </a:r>
            <a:r>
              <a:rPr dirty="0" sz="1350" spc="-1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Greater</a:t>
            </a:r>
            <a:r>
              <a:rPr dirty="0" sz="1350" spc="-14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Noida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50" spc="-80" b="1">
                <a:solidFill>
                  <a:srgbClr val="272424"/>
                </a:solidFill>
                <a:latin typeface="Tahoma"/>
                <a:cs typeface="Tahoma"/>
              </a:rPr>
              <a:t>Internship</a:t>
            </a:r>
            <a:r>
              <a:rPr dirty="0" sz="1350" spc="-1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0" b="1">
                <a:solidFill>
                  <a:srgbClr val="272424"/>
                </a:solidFill>
                <a:latin typeface="Tahoma"/>
                <a:cs typeface="Tahoma"/>
              </a:rPr>
              <a:t>Organisation:</a:t>
            </a: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Yuva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Intern</a:t>
            </a:r>
            <a:r>
              <a:rPr dirty="0" sz="1350" spc="17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|</a:t>
            </a:r>
            <a:r>
              <a:rPr dirty="0" sz="1350" spc="1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 b="1">
                <a:solidFill>
                  <a:srgbClr val="272424"/>
                </a:solidFill>
                <a:latin typeface="Tahoma"/>
                <a:cs typeface="Tahoma"/>
              </a:rPr>
              <a:t>Internship</a:t>
            </a:r>
            <a:r>
              <a:rPr dirty="0" sz="1350" spc="-13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50" b="1">
                <a:solidFill>
                  <a:srgbClr val="272424"/>
                </a:solidFill>
                <a:latin typeface="Tahoma"/>
                <a:cs typeface="Tahoma"/>
              </a:rPr>
              <a:t>Title:</a:t>
            </a:r>
            <a:r>
              <a:rPr dirty="0" sz="1350" spc="-7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FICO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Internship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50" spc="-55" b="1">
                <a:solidFill>
                  <a:srgbClr val="272424"/>
                </a:solidFill>
                <a:latin typeface="Tahoma"/>
                <a:cs typeface="Tahoma"/>
              </a:rPr>
              <a:t>Week:</a:t>
            </a:r>
            <a:r>
              <a:rPr dirty="0" sz="1350" spc="-7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4</a:t>
            </a:r>
            <a:r>
              <a:rPr dirty="0" sz="1350" spc="1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|</a:t>
            </a:r>
            <a:r>
              <a:rPr dirty="0" sz="1350" spc="2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 b="1">
                <a:solidFill>
                  <a:srgbClr val="272424"/>
                </a:solidFill>
                <a:latin typeface="Tahoma"/>
                <a:cs typeface="Tahoma"/>
              </a:rPr>
              <a:t>Submission</a:t>
            </a:r>
            <a:r>
              <a:rPr dirty="0" sz="1350" spc="-1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75" b="1">
                <a:solidFill>
                  <a:srgbClr val="272424"/>
                </a:solidFill>
                <a:latin typeface="Tahoma"/>
                <a:cs typeface="Tahoma"/>
              </a:rPr>
              <a:t>Date:</a:t>
            </a:r>
            <a:r>
              <a:rPr dirty="0" sz="1350" spc="-7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06/09/2026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0"/>
              <a:t>Table</a:t>
            </a:r>
            <a:r>
              <a:rPr dirty="0" spc="-365"/>
              <a:t> </a:t>
            </a:r>
            <a:r>
              <a:rPr dirty="0" spc="-30"/>
              <a:t>of</a:t>
            </a:r>
            <a:r>
              <a:rPr dirty="0" spc="-365"/>
              <a:t> </a:t>
            </a:r>
            <a:r>
              <a:rPr dirty="0" spc="-80"/>
              <a:t>Contents</a:t>
            </a:r>
          </a:p>
        </p:txBody>
      </p:sp>
      <p:sp>
        <p:nvSpPr>
          <p:cNvPr id="3" name="object 3"/>
          <p:cNvSpPr/>
          <p:nvPr/>
        </p:nvSpPr>
        <p:spPr>
          <a:xfrm>
            <a:off x="828675" y="1619250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788025" y="1330325"/>
            <a:ext cx="2317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02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00725" y="1619250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788025" y="1725612"/>
            <a:ext cx="331724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5" b="1">
                <a:solidFill>
                  <a:srgbClr val="272424"/>
                </a:solidFill>
                <a:latin typeface="Tahoma"/>
                <a:cs typeface="Tahoma"/>
              </a:rPr>
              <a:t>Understanding</a:t>
            </a:r>
            <a:r>
              <a:rPr dirty="0" sz="1650" spc="-1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650" spc="-1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85" b="1">
                <a:solidFill>
                  <a:srgbClr val="272424"/>
                </a:solidFill>
                <a:latin typeface="Tahoma"/>
                <a:cs typeface="Tahoma"/>
              </a:rPr>
              <a:t>FICO</a:t>
            </a:r>
            <a:r>
              <a:rPr dirty="0" sz="1650" spc="-1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25" b="1">
                <a:solidFill>
                  <a:srgbClr val="272424"/>
                </a:solidFill>
                <a:latin typeface="Tahoma"/>
                <a:cs typeface="Tahoma"/>
              </a:rPr>
              <a:t>Reports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Types,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purposes,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categories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28675" y="2962275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788025" y="2663825"/>
            <a:ext cx="23431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solidFill>
                  <a:srgbClr val="272424"/>
                </a:solidFill>
                <a:latin typeface="Tahoma"/>
                <a:cs typeface="Tahoma"/>
              </a:rPr>
              <a:t>04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00725" y="2962275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788025" y="3068637"/>
            <a:ext cx="386080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Types</a:t>
            </a:r>
            <a:r>
              <a:rPr dirty="0" sz="1650" spc="-1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650" spc="-1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650" spc="-1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90" b="1">
                <a:solidFill>
                  <a:srgbClr val="272424"/>
                </a:solidFill>
                <a:latin typeface="Tahoma"/>
                <a:cs typeface="Tahoma"/>
              </a:rPr>
              <a:t>FI</a:t>
            </a:r>
            <a:r>
              <a:rPr dirty="0" sz="1650" spc="-1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Reports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G/L,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AP,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AR,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Asset,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Tax,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Statements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28675" y="4305300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788025" y="4006850"/>
            <a:ext cx="2292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06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00725" y="4305300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788025" y="4411662"/>
            <a:ext cx="2034539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0" b="1">
                <a:solidFill>
                  <a:srgbClr val="272424"/>
                </a:solidFill>
                <a:latin typeface="Tahoma"/>
                <a:cs typeface="Tahoma"/>
              </a:rPr>
              <a:t>Real-</a:t>
            </a:r>
            <a:r>
              <a:rPr dirty="0" sz="1650" spc="-60" b="1">
                <a:solidFill>
                  <a:srgbClr val="272424"/>
                </a:solidFill>
                <a:latin typeface="Tahoma"/>
                <a:cs typeface="Tahoma"/>
              </a:rPr>
              <a:t>World</a:t>
            </a:r>
            <a:r>
              <a:rPr dirty="0" sz="1650" spc="-1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40" b="1">
                <a:solidFill>
                  <a:srgbClr val="272424"/>
                </a:solidFill>
                <a:latin typeface="Tahoma"/>
                <a:cs typeface="Tahoma"/>
              </a:rPr>
              <a:t>Example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ABC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Electronics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Pvt.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Ltd.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28675" y="5924550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15975" y="1330325"/>
            <a:ext cx="4582160" cy="532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01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Introduction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What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FICO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why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matter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35">
                <a:solidFill>
                  <a:srgbClr val="272424"/>
                </a:solidFill>
                <a:latin typeface="Tahoma"/>
                <a:cs typeface="Tahoma"/>
              </a:rPr>
              <a:t>03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650" spc="-80" b="1">
                <a:solidFill>
                  <a:srgbClr val="272424"/>
                </a:solidFill>
                <a:latin typeface="Tahoma"/>
                <a:cs typeface="Tahoma"/>
              </a:rPr>
              <a:t>Importance</a:t>
            </a:r>
            <a:r>
              <a:rPr dirty="0" sz="1650" spc="-1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of</a:t>
            </a:r>
            <a:r>
              <a:rPr dirty="0" sz="1650" spc="-1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650" spc="-1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85" b="1">
                <a:solidFill>
                  <a:srgbClr val="272424"/>
                </a:solidFill>
                <a:latin typeface="Tahoma"/>
                <a:cs typeface="Tahoma"/>
              </a:rPr>
              <a:t>FICO</a:t>
            </a:r>
            <a:r>
              <a:rPr dirty="0" sz="1650" spc="-1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Reporting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Why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organisations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need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these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05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SAP</a:t>
            </a:r>
            <a:r>
              <a:rPr dirty="0" sz="1650" spc="-17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50" b="1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r>
              <a:rPr dirty="0" sz="1650" spc="-17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Reports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Cost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Centre,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Profit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Centre,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Internal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Orders,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Profitability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Analysis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350" spc="-25">
                <a:solidFill>
                  <a:srgbClr val="272424"/>
                </a:solidFill>
                <a:latin typeface="Tahoma"/>
                <a:cs typeface="Tahoma"/>
              </a:rPr>
              <a:t>07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650" spc="-50" b="1">
                <a:solidFill>
                  <a:srgbClr val="272424"/>
                </a:solidFill>
                <a:latin typeface="Tahoma"/>
                <a:cs typeface="Tahoma"/>
              </a:rPr>
              <a:t>Benefits</a:t>
            </a:r>
            <a:r>
              <a:rPr dirty="0" sz="1650" spc="-1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40" b="1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650" spc="-1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Challenges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Advantages,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limitations,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S/4HANA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88025" y="5626100"/>
            <a:ext cx="23114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40">
                <a:solidFill>
                  <a:srgbClr val="272424"/>
                </a:solidFill>
                <a:latin typeface="Tahoma"/>
                <a:cs typeface="Tahoma"/>
              </a:rPr>
              <a:t>08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800725" y="5924550"/>
            <a:ext cx="4800600" cy="19050"/>
          </a:xfrm>
          <a:custGeom>
            <a:avLst/>
            <a:gdLst/>
            <a:ahLst/>
            <a:cxnLst/>
            <a:rect l="l" t="t" r="r" b="b"/>
            <a:pathLst>
              <a:path w="4800600" h="19050">
                <a:moveTo>
                  <a:pt x="4800600" y="19050"/>
                </a:moveTo>
                <a:lnTo>
                  <a:pt x="0" y="19050"/>
                </a:lnTo>
                <a:lnTo>
                  <a:pt x="0" y="0"/>
                </a:lnTo>
                <a:lnTo>
                  <a:pt x="4800600" y="0"/>
                </a:lnTo>
                <a:lnTo>
                  <a:pt x="4800600" y="19050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788025" y="6030912"/>
            <a:ext cx="355536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5" b="1">
                <a:solidFill>
                  <a:srgbClr val="272424"/>
                </a:solidFill>
                <a:latin typeface="Tahoma"/>
                <a:cs typeface="Tahoma"/>
              </a:rPr>
              <a:t>Learning</a:t>
            </a:r>
            <a:r>
              <a:rPr dirty="0" sz="1650" spc="-1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40" b="1">
                <a:solidFill>
                  <a:srgbClr val="272424"/>
                </a:solidFill>
                <a:latin typeface="Tahoma"/>
                <a:cs typeface="Tahoma"/>
              </a:rPr>
              <a:t>Outcomes</a:t>
            </a:r>
            <a:r>
              <a:rPr dirty="0" sz="1650" spc="-14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40" b="1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650" spc="-13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Conclusion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Reflections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key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takeaways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9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4"/>
            <a:ext cx="9789160" cy="28829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292735">
              <a:lnSpc>
                <a:spcPct val="131900"/>
              </a:lnSpc>
              <a:spcBef>
                <a:spcPts val="135"/>
              </a:spcBef>
            </a:pP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FICO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accounting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module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within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ERP.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FI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(Financial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Accounting)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handles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external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reporting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—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things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like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balance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sheets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profit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loss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statements.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CO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(Controlling)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handles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internal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reporting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—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things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like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cost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analysis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profitability.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Together,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they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give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organisations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complete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picture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5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their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finances.</a:t>
            </a: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500"/>
              </a:spcBef>
            </a:pP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An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structured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output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business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transaction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data.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Every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time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company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records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sale,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makes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purchase,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or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pays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supplier,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captures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that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information.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pull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together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present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it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way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that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useful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for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accountants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managers.</a:t>
            </a:r>
            <a:endParaRPr sz="1350">
              <a:latin typeface="Verdana"/>
              <a:cs typeface="Verdana"/>
            </a:endParaRPr>
          </a:p>
          <a:p>
            <a:pPr marL="12700" marR="85725">
              <a:lnSpc>
                <a:spcPct val="134300"/>
              </a:lnSpc>
              <a:spcBef>
                <a:spcPts val="1500"/>
              </a:spcBef>
            </a:pP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important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because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raw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transaction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alone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not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very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useful.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list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hundreds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journal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entries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does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not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tell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manager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whether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business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profitable.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convert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that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raw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into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summaries,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comparisons,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trends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that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support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decision-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making.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47878" y="4581576"/>
            <a:ext cx="9330055" cy="3817620"/>
            <a:chOff x="1047878" y="4581576"/>
            <a:chExt cx="9330055" cy="3817620"/>
          </a:xfrm>
        </p:grpSpPr>
        <p:sp>
          <p:nvSpPr>
            <p:cNvPr id="5" name="object 5"/>
            <p:cNvSpPr/>
            <p:nvPr/>
          </p:nvSpPr>
          <p:spPr>
            <a:xfrm>
              <a:off x="1053238" y="7479543"/>
              <a:ext cx="9319260" cy="914400"/>
            </a:xfrm>
            <a:custGeom>
              <a:avLst/>
              <a:gdLst/>
              <a:ahLst/>
              <a:cxnLst/>
              <a:rect l="l" t="t" r="r" b="b"/>
              <a:pathLst>
                <a:path w="9319260" h="914400">
                  <a:moveTo>
                    <a:pt x="8852801" y="914016"/>
                  </a:moveTo>
                  <a:lnTo>
                    <a:pt x="8852801" y="801331"/>
                  </a:lnTo>
                  <a:lnTo>
                    <a:pt x="0" y="801331"/>
                  </a:lnTo>
                  <a:lnTo>
                    <a:pt x="0" y="117268"/>
                  </a:lnTo>
                  <a:lnTo>
                    <a:pt x="8852801" y="117268"/>
                  </a:lnTo>
                  <a:lnTo>
                    <a:pt x="8852801" y="0"/>
                  </a:lnTo>
                  <a:lnTo>
                    <a:pt x="9319058" y="457013"/>
                  </a:lnTo>
                  <a:lnTo>
                    <a:pt x="8852801" y="914016"/>
                  </a:lnTo>
                  <a:close/>
                </a:path>
              </a:pathLst>
            </a:custGeom>
            <a:solidFill>
              <a:srgbClr val="6B70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53236" y="7479547"/>
              <a:ext cx="9319260" cy="914400"/>
            </a:xfrm>
            <a:custGeom>
              <a:avLst/>
              <a:gdLst/>
              <a:ahLst/>
              <a:cxnLst/>
              <a:rect l="l" t="t" r="r" b="b"/>
              <a:pathLst>
                <a:path w="9319260" h="914400">
                  <a:moveTo>
                    <a:pt x="9319059" y="457009"/>
                  </a:moveTo>
                  <a:lnTo>
                    <a:pt x="8852800" y="914009"/>
                  </a:lnTo>
                  <a:lnTo>
                    <a:pt x="8852800" y="801328"/>
                  </a:lnTo>
                  <a:lnTo>
                    <a:pt x="0" y="801328"/>
                  </a:lnTo>
                  <a:lnTo>
                    <a:pt x="0" y="117262"/>
                  </a:lnTo>
                  <a:lnTo>
                    <a:pt x="8852800" y="117262"/>
                  </a:lnTo>
                  <a:lnTo>
                    <a:pt x="8852800" y="0"/>
                  </a:lnTo>
                  <a:lnTo>
                    <a:pt x="9319059" y="457009"/>
                  </a:lnTo>
                  <a:close/>
                </a:path>
              </a:pathLst>
            </a:custGeom>
            <a:ln w="1071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53238" y="6514984"/>
              <a:ext cx="8439785" cy="914400"/>
            </a:xfrm>
            <a:custGeom>
              <a:avLst/>
              <a:gdLst/>
              <a:ahLst/>
              <a:cxnLst/>
              <a:rect l="l" t="t" r="r" b="b"/>
              <a:pathLst>
                <a:path w="8439785" h="914400">
                  <a:moveTo>
                    <a:pt x="7973290" y="914016"/>
                  </a:moveTo>
                  <a:lnTo>
                    <a:pt x="7973290" y="798429"/>
                  </a:lnTo>
                  <a:lnTo>
                    <a:pt x="0" y="798429"/>
                  </a:lnTo>
                  <a:lnTo>
                    <a:pt x="0" y="114365"/>
                  </a:lnTo>
                  <a:lnTo>
                    <a:pt x="7973290" y="114365"/>
                  </a:lnTo>
                  <a:lnTo>
                    <a:pt x="7973290" y="0"/>
                  </a:lnTo>
                  <a:lnTo>
                    <a:pt x="8439548" y="457003"/>
                  </a:lnTo>
                  <a:lnTo>
                    <a:pt x="7973290" y="914016"/>
                  </a:lnTo>
                  <a:close/>
                </a:path>
              </a:pathLst>
            </a:custGeom>
            <a:solidFill>
              <a:srgbClr val="464E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53236" y="6514987"/>
              <a:ext cx="8439785" cy="914400"/>
            </a:xfrm>
            <a:custGeom>
              <a:avLst/>
              <a:gdLst/>
              <a:ahLst/>
              <a:cxnLst/>
              <a:rect l="l" t="t" r="r" b="b"/>
              <a:pathLst>
                <a:path w="8439785" h="914400">
                  <a:moveTo>
                    <a:pt x="8439549" y="456999"/>
                  </a:moveTo>
                  <a:lnTo>
                    <a:pt x="7973291" y="914009"/>
                  </a:lnTo>
                  <a:lnTo>
                    <a:pt x="7973291" y="798423"/>
                  </a:lnTo>
                  <a:lnTo>
                    <a:pt x="0" y="798423"/>
                  </a:lnTo>
                  <a:lnTo>
                    <a:pt x="0" y="114366"/>
                  </a:lnTo>
                  <a:lnTo>
                    <a:pt x="7973291" y="114366"/>
                  </a:lnTo>
                  <a:lnTo>
                    <a:pt x="7973291" y="0"/>
                  </a:lnTo>
                  <a:lnTo>
                    <a:pt x="8439549" y="456999"/>
                  </a:lnTo>
                  <a:close/>
                </a:path>
              </a:pathLst>
            </a:custGeom>
            <a:ln w="1071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53238" y="5552106"/>
              <a:ext cx="7658100" cy="914400"/>
            </a:xfrm>
            <a:custGeom>
              <a:avLst/>
              <a:gdLst/>
              <a:ahLst/>
              <a:cxnLst/>
              <a:rect l="l" t="t" r="r" b="b"/>
              <a:pathLst>
                <a:path w="7658100" h="914400">
                  <a:moveTo>
                    <a:pt x="7191503" y="914016"/>
                  </a:moveTo>
                  <a:lnTo>
                    <a:pt x="7191503" y="801331"/>
                  </a:lnTo>
                  <a:lnTo>
                    <a:pt x="0" y="801331"/>
                  </a:lnTo>
                  <a:lnTo>
                    <a:pt x="0" y="117268"/>
                  </a:lnTo>
                  <a:lnTo>
                    <a:pt x="7191503" y="117268"/>
                  </a:lnTo>
                  <a:lnTo>
                    <a:pt x="7191503" y="0"/>
                  </a:lnTo>
                  <a:lnTo>
                    <a:pt x="7657761" y="457003"/>
                  </a:lnTo>
                  <a:lnTo>
                    <a:pt x="7191503" y="914016"/>
                  </a:lnTo>
                  <a:close/>
                </a:path>
              </a:pathLst>
            </a:custGeom>
            <a:solidFill>
              <a:srgbClr val="383D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53242" y="5552109"/>
              <a:ext cx="7658100" cy="914400"/>
            </a:xfrm>
            <a:custGeom>
              <a:avLst/>
              <a:gdLst/>
              <a:ahLst/>
              <a:cxnLst/>
              <a:rect l="l" t="t" r="r" b="b"/>
              <a:pathLst>
                <a:path w="7658100" h="914400">
                  <a:moveTo>
                    <a:pt x="7657756" y="456999"/>
                  </a:moveTo>
                  <a:lnTo>
                    <a:pt x="7191498" y="914009"/>
                  </a:lnTo>
                  <a:lnTo>
                    <a:pt x="7191498" y="801328"/>
                  </a:lnTo>
                  <a:lnTo>
                    <a:pt x="0" y="801328"/>
                  </a:lnTo>
                  <a:lnTo>
                    <a:pt x="0" y="117262"/>
                  </a:lnTo>
                  <a:lnTo>
                    <a:pt x="7191498" y="117262"/>
                  </a:lnTo>
                  <a:lnTo>
                    <a:pt x="7191498" y="0"/>
                  </a:lnTo>
                  <a:lnTo>
                    <a:pt x="7657756" y="456999"/>
                  </a:lnTo>
                  <a:close/>
                </a:path>
              </a:pathLst>
            </a:custGeom>
            <a:ln w="1071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53247" y="4586931"/>
              <a:ext cx="6866255" cy="914400"/>
            </a:xfrm>
            <a:custGeom>
              <a:avLst/>
              <a:gdLst/>
              <a:ahLst/>
              <a:cxnLst/>
              <a:rect l="l" t="t" r="r" b="b"/>
              <a:pathLst>
                <a:path w="6866255" h="914400">
                  <a:moveTo>
                    <a:pt x="6399943" y="914016"/>
                  </a:moveTo>
                  <a:lnTo>
                    <a:pt x="6399943" y="799045"/>
                  </a:lnTo>
                  <a:lnTo>
                    <a:pt x="0" y="799045"/>
                  </a:lnTo>
                  <a:lnTo>
                    <a:pt x="0" y="114981"/>
                  </a:lnTo>
                  <a:lnTo>
                    <a:pt x="6399943" y="114981"/>
                  </a:lnTo>
                  <a:lnTo>
                    <a:pt x="6399943" y="0"/>
                  </a:lnTo>
                  <a:lnTo>
                    <a:pt x="6866201" y="457013"/>
                  </a:lnTo>
                  <a:lnTo>
                    <a:pt x="6399943" y="914016"/>
                  </a:lnTo>
                  <a:close/>
                </a:path>
              </a:pathLst>
            </a:custGeom>
            <a:solidFill>
              <a:srgbClr val="2B2E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53248" y="4586934"/>
              <a:ext cx="6866255" cy="914400"/>
            </a:xfrm>
            <a:custGeom>
              <a:avLst/>
              <a:gdLst/>
              <a:ahLst/>
              <a:cxnLst/>
              <a:rect l="l" t="t" r="r" b="b"/>
              <a:pathLst>
                <a:path w="6866255" h="914400">
                  <a:moveTo>
                    <a:pt x="6866200" y="457009"/>
                  </a:moveTo>
                  <a:lnTo>
                    <a:pt x="6399942" y="914009"/>
                  </a:lnTo>
                  <a:lnTo>
                    <a:pt x="6399942" y="799042"/>
                  </a:lnTo>
                  <a:lnTo>
                    <a:pt x="0" y="799042"/>
                  </a:lnTo>
                  <a:lnTo>
                    <a:pt x="0" y="114976"/>
                  </a:lnTo>
                  <a:lnTo>
                    <a:pt x="6399942" y="114976"/>
                  </a:lnTo>
                  <a:lnTo>
                    <a:pt x="6399942" y="0"/>
                  </a:lnTo>
                  <a:lnTo>
                    <a:pt x="6866200" y="457009"/>
                  </a:lnTo>
                  <a:close/>
                </a:path>
              </a:pathLst>
            </a:custGeom>
            <a:ln w="1071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506260" y="7774665"/>
            <a:ext cx="242443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5" b="1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dirty="0" sz="1700" spc="-1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Tahoma"/>
                <a:cs typeface="Tahoma"/>
              </a:rPr>
              <a:t>Decisions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6260" y="6807172"/>
            <a:ext cx="130111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b="1">
                <a:solidFill>
                  <a:srgbClr val="FFFFFF"/>
                </a:solidFill>
                <a:latin typeface="Tahoma"/>
                <a:cs typeface="Tahoma"/>
              </a:rPr>
              <a:t>SAP</a:t>
            </a:r>
            <a:r>
              <a:rPr dirty="0" sz="1700" spc="-1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50" b="1">
                <a:solidFill>
                  <a:srgbClr val="FFFFFF"/>
                </a:solidFill>
                <a:latin typeface="Tahoma"/>
                <a:cs typeface="Tahoma"/>
              </a:rPr>
              <a:t>Reports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06260" y="5849453"/>
            <a:ext cx="209423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b="1">
                <a:solidFill>
                  <a:srgbClr val="FFFFFF"/>
                </a:solidFill>
                <a:latin typeface="Tahoma"/>
                <a:cs typeface="Tahoma"/>
              </a:rPr>
              <a:t>SAP</a:t>
            </a:r>
            <a:r>
              <a:rPr dirty="0" sz="1700" spc="-16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200" b="1">
                <a:solidFill>
                  <a:srgbClr val="FFFFFF"/>
                </a:solidFill>
                <a:latin typeface="Tahoma"/>
                <a:cs typeface="Tahoma"/>
              </a:rPr>
              <a:t>FI</a:t>
            </a:r>
            <a:r>
              <a:rPr dirty="0" sz="1700" spc="-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28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700" spc="-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b="1">
                <a:solidFill>
                  <a:srgbClr val="FFFFFF"/>
                </a:solidFill>
                <a:latin typeface="Tahoma"/>
                <a:cs typeface="Tahoma"/>
              </a:rPr>
              <a:t>CO</a:t>
            </a:r>
            <a:r>
              <a:rPr dirty="0" sz="1700" spc="-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35" b="1">
                <a:solidFill>
                  <a:srgbClr val="FFFFFF"/>
                </a:solidFill>
                <a:latin typeface="Tahoma"/>
                <a:cs typeface="Tahoma"/>
              </a:rPr>
              <a:t>Capture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06260" y="4881960"/>
            <a:ext cx="2325370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35" b="1">
                <a:solidFill>
                  <a:srgbClr val="FFFFFF"/>
                </a:solidFill>
                <a:latin typeface="Tahoma"/>
                <a:cs typeface="Tahoma"/>
              </a:rPr>
              <a:t>Business</a:t>
            </a:r>
            <a:r>
              <a:rPr dirty="0" sz="1700" spc="-1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700" spc="-35" b="1">
                <a:solidFill>
                  <a:srgbClr val="FFFFFF"/>
                </a:solidFill>
                <a:latin typeface="Tahoma"/>
                <a:cs typeface="Tahoma"/>
              </a:rPr>
              <a:t>Transactions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5975" y="8708390"/>
            <a:ext cx="958024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During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Week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4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my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internship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at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Yuva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Intern,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10">
                <a:solidFill>
                  <a:srgbClr val="272424"/>
                </a:solidFill>
                <a:latin typeface="Verdana"/>
                <a:cs typeface="Verdana"/>
              </a:rPr>
              <a:t>I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studied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different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types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FICO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reports,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what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they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show,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who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uses 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them,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how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they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support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management.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summarises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my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learning.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Understanding</a:t>
            </a:r>
            <a:r>
              <a:rPr dirty="0" spc="-355"/>
              <a:t> </a:t>
            </a:r>
            <a:r>
              <a:rPr dirty="0"/>
              <a:t>SAP</a:t>
            </a:r>
            <a:r>
              <a:rPr dirty="0" spc="-350"/>
              <a:t> </a:t>
            </a:r>
            <a:r>
              <a:rPr dirty="0" spc="-190"/>
              <a:t>FICO</a:t>
            </a:r>
            <a:r>
              <a:rPr dirty="0" spc="-350"/>
              <a:t> </a:t>
            </a:r>
            <a:r>
              <a:rPr dirty="0" spc="-80"/>
              <a:t>Reports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4"/>
            <a:ext cx="9683750" cy="24161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94615">
              <a:lnSpc>
                <a:spcPct val="132700"/>
              </a:lnSpc>
              <a:spcBef>
                <a:spcPts val="125"/>
              </a:spcBef>
            </a:pP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in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simply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way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view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analyse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data.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reporting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shows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overall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position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a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company.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reporting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helps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internal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teams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understand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costs,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revenues,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performance.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FICO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fall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into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two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main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categories: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FI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external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accounting,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CO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internal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profitability analysis.</a:t>
            </a: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500"/>
              </a:spcBef>
            </a:pP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also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be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classified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as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standard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(built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into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SAP)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customised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(built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specific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company's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needs).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They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be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operational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(for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day-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to-day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monitoring)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analytical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(for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deeper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analysis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decision-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making).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also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supports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real-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time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reporting,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where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available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immediately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after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transaction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posted.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Accurate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master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transaction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are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essential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—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if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input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wrong,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will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be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wrong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too.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3437" y="3938587"/>
            <a:ext cx="9763125" cy="2819400"/>
          </a:xfrm>
          <a:custGeom>
            <a:avLst/>
            <a:gdLst/>
            <a:ahLst/>
            <a:cxnLst/>
            <a:rect l="l" t="t" r="r" b="b"/>
            <a:pathLst>
              <a:path w="9763125" h="2819400">
                <a:moveTo>
                  <a:pt x="0" y="2764154"/>
                </a:moveTo>
                <a:lnTo>
                  <a:pt x="0" y="55244"/>
                </a:lnTo>
                <a:lnTo>
                  <a:pt x="0" y="51615"/>
                </a:lnTo>
                <a:lnTo>
                  <a:pt x="352" y="48025"/>
                </a:lnTo>
                <a:lnTo>
                  <a:pt x="16182" y="16182"/>
                </a:lnTo>
                <a:lnTo>
                  <a:pt x="18745" y="13611"/>
                </a:lnTo>
                <a:lnTo>
                  <a:pt x="51615" y="0"/>
                </a:lnTo>
                <a:lnTo>
                  <a:pt x="55244" y="0"/>
                </a:lnTo>
                <a:lnTo>
                  <a:pt x="9707880" y="0"/>
                </a:lnTo>
                <a:lnTo>
                  <a:pt x="9711509" y="0"/>
                </a:lnTo>
                <a:lnTo>
                  <a:pt x="9715099" y="352"/>
                </a:lnTo>
                <a:lnTo>
                  <a:pt x="9746942" y="16182"/>
                </a:lnTo>
                <a:lnTo>
                  <a:pt x="9749504" y="18745"/>
                </a:lnTo>
                <a:lnTo>
                  <a:pt x="9758914" y="34099"/>
                </a:lnTo>
                <a:lnTo>
                  <a:pt x="9760305" y="37452"/>
                </a:lnTo>
                <a:lnTo>
                  <a:pt x="9761353" y="40909"/>
                </a:lnTo>
                <a:lnTo>
                  <a:pt x="9762067" y="44462"/>
                </a:lnTo>
                <a:lnTo>
                  <a:pt x="9762772" y="48025"/>
                </a:lnTo>
                <a:lnTo>
                  <a:pt x="9763125" y="51615"/>
                </a:lnTo>
                <a:lnTo>
                  <a:pt x="9763125" y="55244"/>
                </a:lnTo>
                <a:lnTo>
                  <a:pt x="9763125" y="2764154"/>
                </a:lnTo>
                <a:lnTo>
                  <a:pt x="9763125" y="2767784"/>
                </a:lnTo>
                <a:lnTo>
                  <a:pt x="9762772" y="2771374"/>
                </a:lnTo>
                <a:lnTo>
                  <a:pt x="9762067" y="2774927"/>
                </a:lnTo>
                <a:lnTo>
                  <a:pt x="9761353" y="2778490"/>
                </a:lnTo>
                <a:lnTo>
                  <a:pt x="9760305" y="2781947"/>
                </a:lnTo>
                <a:lnTo>
                  <a:pt x="9758914" y="2785300"/>
                </a:lnTo>
                <a:lnTo>
                  <a:pt x="9757533" y="2788643"/>
                </a:lnTo>
                <a:lnTo>
                  <a:pt x="9755828" y="2791834"/>
                </a:lnTo>
                <a:lnTo>
                  <a:pt x="9753809" y="2794844"/>
                </a:lnTo>
                <a:lnTo>
                  <a:pt x="9751799" y="2797863"/>
                </a:lnTo>
                <a:lnTo>
                  <a:pt x="9738569" y="2810084"/>
                </a:lnTo>
                <a:lnTo>
                  <a:pt x="9735550" y="2812103"/>
                </a:lnTo>
                <a:lnTo>
                  <a:pt x="9732368" y="2813808"/>
                </a:lnTo>
                <a:lnTo>
                  <a:pt x="9729025" y="2815189"/>
                </a:lnTo>
                <a:lnTo>
                  <a:pt x="9725672" y="2816580"/>
                </a:lnTo>
                <a:lnTo>
                  <a:pt x="9722215" y="2817628"/>
                </a:lnTo>
                <a:lnTo>
                  <a:pt x="9718652" y="2818333"/>
                </a:lnTo>
                <a:lnTo>
                  <a:pt x="9715099" y="2819047"/>
                </a:lnTo>
                <a:lnTo>
                  <a:pt x="9711509" y="2819399"/>
                </a:lnTo>
                <a:lnTo>
                  <a:pt x="9707880" y="2819399"/>
                </a:lnTo>
                <a:lnTo>
                  <a:pt x="55244" y="2819399"/>
                </a:lnTo>
                <a:lnTo>
                  <a:pt x="51615" y="2819399"/>
                </a:lnTo>
                <a:lnTo>
                  <a:pt x="48025" y="2819047"/>
                </a:lnTo>
                <a:lnTo>
                  <a:pt x="44462" y="2818333"/>
                </a:lnTo>
                <a:lnTo>
                  <a:pt x="40909" y="2817628"/>
                </a:lnTo>
                <a:lnTo>
                  <a:pt x="37452" y="2816580"/>
                </a:lnTo>
                <a:lnTo>
                  <a:pt x="34099" y="2815189"/>
                </a:lnTo>
                <a:lnTo>
                  <a:pt x="30756" y="2813808"/>
                </a:lnTo>
                <a:lnTo>
                  <a:pt x="27565" y="2812103"/>
                </a:lnTo>
                <a:lnTo>
                  <a:pt x="24555" y="2810084"/>
                </a:lnTo>
                <a:lnTo>
                  <a:pt x="21536" y="2808074"/>
                </a:lnTo>
                <a:lnTo>
                  <a:pt x="18745" y="2805779"/>
                </a:lnTo>
                <a:lnTo>
                  <a:pt x="16182" y="2803217"/>
                </a:lnTo>
                <a:lnTo>
                  <a:pt x="13611" y="2800654"/>
                </a:lnTo>
                <a:lnTo>
                  <a:pt x="0" y="2767784"/>
                </a:lnTo>
                <a:lnTo>
                  <a:pt x="0" y="2764154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8200" y="3943350"/>
          <a:ext cx="9829800" cy="2809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3104"/>
                <a:gridCol w="3248660"/>
                <a:gridCol w="3253740"/>
              </a:tblGrid>
              <a:tr h="49974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7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Report</a:t>
                      </a:r>
                      <a:r>
                        <a:rPr dirty="0" sz="1350" spc="-7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4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Main</a:t>
                      </a:r>
                      <a:r>
                        <a:rPr dirty="0" sz="1350" spc="-10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Purpose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Example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3350">
                    <a:lnL w="9525">
                      <a:solidFill>
                        <a:srgbClr val="B3B3B3"/>
                      </a:solidFill>
                      <a:prstDash val="solid"/>
                    </a:lnL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14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FI</a:t>
                      </a:r>
                      <a:r>
                        <a:rPr dirty="0" sz="1350" spc="-14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Report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 marR="452755">
                        <a:lnSpc>
                          <a:spcPct val="134300"/>
                        </a:lnSpc>
                        <a:spcBef>
                          <a:spcPts val="530"/>
                        </a:spcBef>
                      </a:pP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Financial</a:t>
                      </a:r>
                      <a:r>
                        <a:rPr dirty="0" sz="1350" spc="-1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6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accounting</a:t>
                      </a:r>
                      <a:r>
                        <a:rPr dirty="0" sz="1350" spc="-1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350" spc="-1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external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reporting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6731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8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G/L</a:t>
                      </a:r>
                      <a:r>
                        <a:rPr dirty="0" sz="1350" spc="-114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5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account</a:t>
                      </a:r>
                      <a:r>
                        <a:rPr dirty="0" sz="1350" spc="-1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balances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CO</a:t>
                      </a:r>
                      <a:r>
                        <a:rPr dirty="0" sz="1350" spc="-14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Report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Internal</a:t>
                      </a:r>
                      <a:r>
                        <a:rPr dirty="0" sz="1350" spc="-10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4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cost</a:t>
                      </a:r>
                      <a:r>
                        <a:rPr dirty="0" sz="1350" spc="-10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4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Cost</a:t>
                      </a:r>
                      <a:r>
                        <a:rPr dirty="0" sz="1350" spc="-12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centre</a:t>
                      </a:r>
                      <a:r>
                        <a:rPr dirty="0" sz="1350" spc="-12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report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8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Operational</a:t>
                      </a:r>
                      <a:r>
                        <a:rPr dirty="0" sz="1350" spc="-9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Report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Day-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to-day</a:t>
                      </a:r>
                      <a:r>
                        <a:rPr dirty="0" sz="1350" spc="-8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monitoring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6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Open</a:t>
                      </a:r>
                      <a:r>
                        <a:rPr dirty="0" sz="1350" spc="-12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invoices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927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7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Analytical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Report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r>
                        <a:rPr dirty="0" sz="1350" spc="-8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350" spc="-8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5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decision-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making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Profitability</a:t>
                      </a:r>
                      <a:r>
                        <a:rPr dirty="0" sz="1350" spc="-5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1019274" y="7141183"/>
            <a:ext cx="9399905" cy="3669029"/>
            <a:chOff x="1019274" y="7141183"/>
            <a:chExt cx="9399905" cy="3669029"/>
          </a:xfrm>
        </p:grpSpPr>
        <p:sp>
          <p:nvSpPr>
            <p:cNvPr id="7" name="object 7"/>
            <p:cNvSpPr/>
            <p:nvPr/>
          </p:nvSpPr>
          <p:spPr>
            <a:xfrm>
              <a:off x="1024632" y="7901913"/>
              <a:ext cx="337185" cy="77470"/>
            </a:xfrm>
            <a:custGeom>
              <a:avLst/>
              <a:gdLst/>
              <a:ahLst/>
              <a:cxnLst/>
              <a:rect l="l" t="t" r="r" b="b"/>
              <a:pathLst>
                <a:path w="337184" h="77470">
                  <a:moveTo>
                    <a:pt x="318832" y="77035"/>
                  </a:moveTo>
                  <a:lnTo>
                    <a:pt x="18190" y="77035"/>
                  </a:lnTo>
                  <a:lnTo>
                    <a:pt x="15513" y="76506"/>
                  </a:lnTo>
                  <a:lnTo>
                    <a:pt x="0" y="58845"/>
                  </a:lnTo>
                  <a:lnTo>
                    <a:pt x="0" y="18190"/>
                  </a:lnTo>
                  <a:lnTo>
                    <a:pt x="18190" y="0"/>
                  </a:lnTo>
                  <a:lnTo>
                    <a:pt x="20973" y="0"/>
                  </a:lnTo>
                  <a:lnTo>
                    <a:pt x="318832" y="0"/>
                  </a:lnTo>
                  <a:lnTo>
                    <a:pt x="337031" y="18190"/>
                  </a:lnTo>
                  <a:lnTo>
                    <a:pt x="337031" y="58845"/>
                  </a:lnTo>
                  <a:lnTo>
                    <a:pt x="321509" y="76506"/>
                  </a:lnTo>
                  <a:lnTo>
                    <a:pt x="318832" y="77035"/>
                  </a:lnTo>
                  <a:close/>
                </a:path>
              </a:pathLst>
            </a:custGeom>
            <a:solidFill>
              <a:srgbClr val="2B2E7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24632" y="7901914"/>
              <a:ext cx="337185" cy="77470"/>
            </a:xfrm>
            <a:custGeom>
              <a:avLst/>
              <a:gdLst/>
              <a:ahLst/>
              <a:cxnLst/>
              <a:rect l="l" t="t" r="r" b="b"/>
              <a:pathLst>
                <a:path w="337184" h="77470">
                  <a:moveTo>
                    <a:pt x="20974" y="0"/>
                  </a:moveTo>
                  <a:lnTo>
                    <a:pt x="316058" y="0"/>
                  </a:lnTo>
                  <a:lnTo>
                    <a:pt x="318839" y="0"/>
                  </a:lnTo>
                  <a:lnTo>
                    <a:pt x="321516" y="533"/>
                  </a:lnTo>
                  <a:lnTo>
                    <a:pt x="324078" y="1600"/>
                  </a:lnTo>
                  <a:lnTo>
                    <a:pt x="326650" y="2657"/>
                  </a:lnTo>
                  <a:lnTo>
                    <a:pt x="328917" y="4171"/>
                  </a:lnTo>
                  <a:lnTo>
                    <a:pt x="330888" y="6143"/>
                  </a:lnTo>
                  <a:lnTo>
                    <a:pt x="332851" y="8105"/>
                  </a:lnTo>
                  <a:lnTo>
                    <a:pt x="334365" y="10382"/>
                  </a:lnTo>
                  <a:lnTo>
                    <a:pt x="335432" y="12944"/>
                  </a:lnTo>
                  <a:lnTo>
                    <a:pt x="336499" y="15516"/>
                  </a:lnTo>
                  <a:lnTo>
                    <a:pt x="337032" y="18192"/>
                  </a:lnTo>
                  <a:lnTo>
                    <a:pt x="337032" y="20974"/>
                  </a:lnTo>
                  <a:lnTo>
                    <a:pt x="337032" y="56064"/>
                  </a:lnTo>
                  <a:lnTo>
                    <a:pt x="337032" y="58845"/>
                  </a:lnTo>
                  <a:lnTo>
                    <a:pt x="336499" y="61521"/>
                  </a:lnTo>
                  <a:lnTo>
                    <a:pt x="335432" y="64084"/>
                  </a:lnTo>
                  <a:lnTo>
                    <a:pt x="334365" y="66655"/>
                  </a:lnTo>
                  <a:lnTo>
                    <a:pt x="324078" y="75438"/>
                  </a:lnTo>
                  <a:lnTo>
                    <a:pt x="321516" y="76504"/>
                  </a:lnTo>
                  <a:lnTo>
                    <a:pt x="318839" y="77038"/>
                  </a:lnTo>
                  <a:lnTo>
                    <a:pt x="316058" y="77038"/>
                  </a:lnTo>
                  <a:lnTo>
                    <a:pt x="20974" y="77038"/>
                  </a:lnTo>
                  <a:lnTo>
                    <a:pt x="18192" y="77038"/>
                  </a:lnTo>
                  <a:lnTo>
                    <a:pt x="15516" y="76504"/>
                  </a:lnTo>
                  <a:lnTo>
                    <a:pt x="12944" y="75438"/>
                  </a:lnTo>
                  <a:lnTo>
                    <a:pt x="10372" y="74371"/>
                  </a:lnTo>
                  <a:lnTo>
                    <a:pt x="0" y="58845"/>
                  </a:lnTo>
                  <a:lnTo>
                    <a:pt x="0" y="56064"/>
                  </a:lnTo>
                  <a:lnTo>
                    <a:pt x="0" y="20974"/>
                  </a:lnTo>
                  <a:lnTo>
                    <a:pt x="0" y="18192"/>
                  </a:lnTo>
                  <a:lnTo>
                    <a:pt x="533" y="15516"/>
                  </a:lnTo>
                  <a:lnTo>
                    <a:pt x="1590" y="12944"/>
                  </a:lnTo>
                  <a:lnTo>
                    <a:pt x="2657" y="10382"/>
                  </a:lnTo>
                  <a:lnTo>
                    <a:pt x="4171" y="8105"/>
                  </a:lnTo>
                  <a:lnTo>
                    <a:pt x="6143" y="6143"/>
                  </a:lnTo>
                  <a:lnTo>
                    <a:pt x="8105" y="4171"/>
                  </a:lnTo>
                  <a:lnTo>
                    <a:pt x="10372" y="2657"/>
                  </a:lnTo>
                  <a:lnTo>
                    <a:pt x="12944" y="1600"/>
                  </a:lnTo>
                  <a:lnTo>
                    <a:pt x="15516" y="533"/>
                  </a:lnTo>
                  <a:lnTo>
                    <a:pt x="18192" y="0"/>
                  </a:lnTo>
                  <a:lnTo>
                    <a:pt x="20974" y="0"/>
                  </a:lnTo>
                  <a:close/>
                </a:path>
              </a:pathLst>
            </a:custGeom>
            <a:ln w="1071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71292" y="7940431"/>
              <a:ext cx="2311400" cy="10160"/>
            </a:xfrm>
            <a:custGeom>
              <a:avLst/>
              <a:gdLst/>
              <a:ahLst/>
              <a:cxnLst/>
              <a:rect l="l" t="t" r="r" b="b"/>
              <a:pathLst>
                <a:path w="2311400" h="10159">
                  <a:moveTo>
                    <a:pt x="2311075" y="9629"/>
                  </a:moveTo>
                  <a:lnTo>
                    <a:pt x="0" y="9629"/>
                  </a:lnTo>
                  <a:lnTo>
                    <a:pt x="0" y="0"/>
                  </a:lnTo>
                  <a:lnTo>
                    <a:pt x="2311075" y="0"/>
                  </a:lnTo>
                  <a:lnTo>
                    <a:pt x="2311075" y="9629"/>
                  </a:lnTo>
                  <a:close/>
                </a:path>
              </a:pathLst>
            </a:custGeom>
            <a:solidFill>
              <a:srgbClr val="4046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71288" y="7940431"/>
              <a:ext cx="2311400" cy="10160"/>
            </a:xfrm>
            <a:custGeom>
              <a:avLst/>
              <a:gdLst/>
              <a:ahLst/>
              <a:cxnLst/>
              <a:rect l="l" t="t" r="r" b="b"/>
              <a:pathLst>
                <a:path w="2311400" h="10159">
                  <a:moveTo>
                    <a:pt x="0" y="0"/>
                  </a:moveTo>
                  <a:lnTo>
                    <a:pt x="2311079" y="0"/>
                  </a:lnTo>
                  <a:lnTo>
                    <a:pt x="2311079" y="9629"/>
                  </a:lnTo>
                  <a:lnTo>
                    <a:pt x="0" y="9629"/>
                  </a:lnTo>
                  <a:lnTo>
                    <a:pt x="0" y="0"/>
                  </a:lnTo>
                  <a:close/>
                </a:path>
              </a:pathLst>
            </a:custGeom>
            <a:ln w="1071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076343" y="7901913"/>
              <a:ext cx="337185" cy="77470"/>
            </a:xfrm>
            <a:custGeom>
              <a:avLst/>
              <a:gdLst/>
              <a:ahLst/>
              <a:cxnLst/>
              <a:rect l="l" t="t" r="r" b="b"/>
              <a:pathLst>
                <a:path w="337184" h="77470">
                  <a:moveTo>
                    <a:pt x="318832" y="77035"/>
                  </a:moveTo>
                  <a:lnTo>
                    <a:pt x="18190" y="77035"/>
                  </a:lnTo>
                  <a:lnTo>
                    <a:pt x="15513" y="76506"/>
                  </a:lnTo>
                  <a:lnTo>
                    <a:pt x="0" y="58845"/>
                  </a:lnTo>
                  <a:lnTo>
                    <a:pt x="0" y="18190"/>
                  </a:lnTo>
                  <a:lnTo>
                    <a:pt x="18190" y="0"/>
                  </a:lnTo>
                  <a:lnTo>
                    <a:pt x="20973" y="0"/>
                  </a:lnTo>
                  <a:lnTo>
                    <a:pt x="318832" y="0"/>
                  </a:lnTo>
                  <a:lnTo>
                    <a:pt x="337031" y="18190"/>
                  </a:lnTo>
                  <a:lnTo>
                    <a:pt x="337031" y="58845"/>
                  </a:lnTo>
                  <a:lnTo>
                    <a:pt x="321509" y="76506"/>
                  </a:lnTo>
                  <a:lnTo>
                    <a:pt x="318832" y="77035"/>
                  </a:lnTo>
                  <a:close/>
                </a:path>
              </a:pathLst>
            </a:custGeom>
            <a:solidFill>
              <a:srgbClr val="464E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076344" y="7901914"/>
              <a:ext cx="337185" cy="77470"/>
            </a:xfrm>
            <a:custGeom>
              <a:avLst/>
              <a:gdLst/>
              <a:ahLst/>
              <a:cxnLst/>
              <a:rect l="l" t="t" r="r" b="b"/>
              <a:pathLst>
                <a:path w="337184" h="77470">
                  <a:moveTo>
                    <a:pt x="20974" y="0"/>
                  </a:moveTo>
                  <a:lnTo>
                    <a:pt x="316058" y="0"/>
                  </a:lnTo>
                  <a:lnTo>
                    <a:pt x="318839" y="0"/>
                  </a:lnTo>
                  <a:lnTo>
                    <a:pt x="321506" y="533"/>
                  </a:lnTo>
                  <a:lnTo>
                    <a:pt x="324078" y="1600"/>
                  </a:lnTo>
                  <a:lnTo>
                    <a:pt x="326650" y="2657"/>
                  </a:lnTo>
                  <a:lnTo>
                    <a:pt x="328917" y="4171"/>
                  </a:lnTo>
                  <a:lnTo>
                    <a:pt x="330888" y="6143"/>
                  </a:lnTo>
                  <a:lnTo>
                    <a:pt x="332851" y="8105"/>
                  </a:lnTo>
                  <a:lnTo>
                    <a:pt x="334365" y="10382"/>
                  </a:lnTo>
                  <a:lnTo>
                    <a:pt x="335432" y="12944"/>
                  </a:lnTo>
                  <a:lnTo>
                    <a:pt x="336499" y="15516"/>
                  </a:lnTo>
                  <a:lnTo>
                    <a:pt x="337032" y="18192"/>
                  </a:lnTo>
                  <a:lnTo>
                    <a:pt x="337032" y="20974"/>
                  </a:lnTo>
                  <a:lnTo>
                    <a:pt x="337032" y="56064"/>
                  </a:lnTo>
                  <a:lnTo>
                    <a:pt x="337032" y="58845"/>
                  </a:lnTo>
                  <a:lnTo>
                    <a:pt x="336499" y="61521"/>
                  </a:lnTo>
                  <a:lnTo>
                    <a:pt x="335432" y="64084"/>
                  </a:lnTo>
                  <a:lnTo>
                    <a:pt x="334365" y="66655"/>
                  </a:lnTo>
                  <a:lnTo>
                    <a:pt x="324078" y="75438"/>
                  </a:lnTo>
                  <a:lnTo>
                    <a:pt x="321506" y="76504"/>
                  </a:lnTo>
                  <a:lnTo>
                    <a:pt x="318839" y="77038"/>
                  </a:lnTo>
                  <a:lnTo>
                    <a:pt x="316058" y="77038"/>
                  </a:lnTo>
                  <a:lnTo>
                    <a:pt x="20974" y="77038"/>
                  </a:lnTo>
                  <a:lnTo>
                    <a:pt x="18192" y="77038"/>
                  </a:lnTo>
                  <a:lnTo>
                    <a:pt x="15516" y="76504"/>
                  </a:lnTo>
                  <a:lnTo>
                    <a:pt x="12944" y="75438"/>
                  </a:lnTo>
                  <a:lnTo>
                    <a:pt x="10372" y="74371"/>
                  </a:lnTo>
                  <a:lnTo>
                    <a:pt x="0" y="58845"/>
                  </a:lnTo>
                  <a:lnTo>
                    <a:pt x="0" y="56064"/>
                  </a:lnTo>
                  <a:lnTo>
                    <a:pt x="0" y="20974"/>
                  </a:lnTo>
                  <a:lnTo>
                    <a:pt x="0" y="18192"/>
                  </a:lnTo>
                  <a:lnTo>
                    <a:pt x="533" y="15516"/>
                  </a:lnTo>
                  <a:lnTo>
                    <a:pt x="1590" y="12944"/>
                  </a:lnTo>
                  <a:lnTo>
                    <a:pt x="2657" y="10382"/>
                  </a:lnTo>
                  <a:lnTo>
                    <a:pt x="4171" y="8105"/>
                  </a:lnTo>
                  <a:lnTo>
                    <a:pt x="6143" y="6143"/>
                  </a:lnTo>
                  <a:lnTo>
                    <a:pt x="8105" y="4171"/>
                  </a:lnTo>
                  <a:lnTo>
                    <a:pt x="10372" y="2657"/>
                  </a:lnTo>
                  <a:lnTo>
                    <a:pt x="12944" y="1600"/>
                  </a:lnTo>
                  <a:lnTo>
                    <a:pt x="15516" y="533"/>
                  </a:lnTo>
                  <a:lnTo>
                    <a:pt x="18192" y="0"/>
                  </a:lnTo>
                  <a:lnTo>
                    <a:pt x="20974" y="0"/>
                  </a:lnTo>
                  <a:close/>
                </a:path>
              </a:pathLst>
            </a:custGeom>
            <a:ln w="1071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755637" y="7940431"/>
              <a:ext cx="2311400" cy="10160"/>
            </a:xfrm>
            <a:custGeom>
              <a:avLst/>
              <a:gdLst/>
              <a:ahLst/>
              <a:cxnLst/>
              <a:rect l="l" t="t" r="r" b="b"/>
              <a:pathLst>
                <a:path w="2311400" h="10159">
                  <a:moveTo>
                    <a:pt x="2311075" y="9629"/>
                  </a:moveTo>
                  <a:lnTo>
                    <a:pt x="0" y="9629"/>
                  </a:lnTo>
                  <a:lnTo>
                    <a:pt x="0" y="0"/>
                  </a:lnTo>
                  <a:lnTo>
                    <a:pt x="2311075" y="0"/>
                  </a:lnTo>
                  <a:lnTo>
                    <a:pt x="2311075" y="9629"/>
                  </a:lnTo>
                  <a:close/>
                </a:path>
              </a:pathLst>
            </a:custGeom>
            <a:solidFill>
              <a:srgbClr val="7E85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755637" y="7940432"/>
              <a:ext cx="2311400" cy="10160"/>
            </a:xfrm>
            <a:custGeom>
              <a:avLst/>
              <a:gdLst/>
              <a:ahLst/>
              <a:cxnLst/>
              <a:rect l="l" t="t" r="r" b="b"/>
              <a:pathLst>
                <a:path w="2311400" h="10159">
                  <a:moveTo>
                    <a:pt x="0" y="0"/>
                  </a:moveTo>
                  <a:lnTo>
                    <a:pt x="0" y="9629"/>
                  </a:lnTo>
                  <a:lnTo>
                    <a:pt x="2311079" y="9629"/>
                  </a:lnTo>
                  <a:lnTo>
                    <a:pt x="2311079" y="0"/>
                  </a:lnTo>
                  <a:lnTo>
                    <a:pt x="0" y="0"/>
                  </a:lnTo>
                  <a:close/>
                </a:path>
              </a:pathLst>
            </a:custGeom>
            <a:ln w="10715">
              <a:solidFill>
                <a:srgbClr val="C0C1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4224" y="7141183"/>
              <a:ext cx="4660667" cy="366883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47139" y="7955427"/>
            <a:ext cx="1574800" cy="1332865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700" spc="-204" b="1">
                <a:solidFill>
                  <a:srgbClr val="272424"/>
                </a:solidFill>
                <a:latin typeface="Tahoma"/>
                <a:cs typeface="Tahoma"/>
              </a:rPr>
              <a:t>FI</a:t>
            </a:r>
            <a:r>
              <a:rPr dirty="0" sz="1700" spc="-18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Reports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06100"/>
              </a:lnSpc>
              <a:spcBef>
                <a:spcPts val="560"/>
              </a:spcBef>
            </a:pP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External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focus: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balance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sheet,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P&amp;L,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compliance,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statutory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reporting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69709" y="7955427"/>
            <a:ext cx="1555750" cy="1544320"/>
          </a:xfrm>
          <a:prstGeom prst="rect">
            <a:avLst/>
          </a:prstGeom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z="1700" b="1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r>
              <a:rPr dirty="0" sz="1700" spc="-1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Reports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05300"/>
              </a:lnSpc>
              <a:spcBef>
                <a:spcPts val="575"/>
              </a:spcBef>
            </a:pP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Internal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focus: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cost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centres,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profit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centres,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budgeting,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performance analysis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5975" y="11127740"/>
            <a:ext cx="9257030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diagram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above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shows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key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difference: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FI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answer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"what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happened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financially?"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while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CO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answer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"where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did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costs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occur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how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business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performing?"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85"/>
              <a:t>Importance</a:t>
            </a:r>
            <a:r>
              <a:rPr dirty="0" spc="-365"/>
              <a:t> </a:t>
            </a:r>
            <a:r>
              <a:rPr dirty="0" spc="-30"/>
              <a:t>of</a:t>
            </a:r>
            <a:r>
              <a:rPr dirty="0" spc="-360"/>
              <a:t> </a:t>
            </a:r>
            <a:r>
              <a:rPr dirty="0"/>
              <a:t>SAP</a:t>
            </a:r>
            <a:r>
              <a:rPr dirty="0" spc="-360"/>
              <a:t> </a:t>
            </a:r>
            <a:r>
              <a:rPr dirty="0" spc="-190"/>
              <a:t>FICO</a:t>
            </a:r>
            <a:r>
              <a:rPr dirty="0" spc="-360"/>
              <a:t> </a:t>
            </a:r>
            <a:r>
              <a:rPr dirty="0" spc="-125"/>
              <a:t>Reporting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4"/>
            <a:ext cx="971613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Organisations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need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FICO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because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without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structure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difficult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act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on.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give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finance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teams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information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they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need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monitor,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control,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improve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business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performance.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Below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key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reasons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why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these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matter.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1140" y="2364296"/>
            <a:ext cx="358140" cy="358140"/>
            <a:chOff x="821140" y="2364296"/>
            <a:chExt cx="358140" cy="358140"/>
          </a:xfrm>
        </p:grpSpPr>
        <p:sp>
          <p:nvSpPr>
            <p:cNvPr id="5" name="object 5"/>
            <p:cNvSpPr/>
            <p:nvPr/>
          </p:nvSpPr>
          <p:spPr>
            <a:xfrm>
              <a:off x="828674" y="2371831"/>
              <a:ext cx="309245" cy="179705"/>
            </a:xfrm>
            <a:custGeom>
              <a:avLst/>
              <a:gdLst/>
              <a:ahLst/>
              <a:cxnLst/>
              <a:rect l="l" t="t" r="r" b="b"/>
              <a:pathLst>
                <a:path w="309244" h="179705">
                  <a:moveTo>
                    <a:pt x="308619" y="89711"/>
                  </a:moveTo>
                  <a:lnTo>
                    <a:pt x="282080" y="60413"/>
                  </a:lnTo>
                  <a:lnTo>
                    <a:pt x="246311" y="31312"/>
                  </a:lnTo>
                  <a:lnTo>
                    <a:pt x="209922" y="11710"/>
                  </a:lnTo>
                  <a:lnTo>
                    <a:pt x="171537" y="1119"/>
                  </a:lnTo>
                  <a:lnTo>
                    <a:pt x="156838" y="0"/>
                  </a:lnTo>
                  <a:lnTo>
                    <a:pt x="149547" y="158"/>
                  </a:lnTo>
                  <a:lnTo>
                    <a:pt x="111553" y="6927"/>
                  </a:lnTo>
                  <a:lnTo>
                    <a:pt x="73879" y="23711"/>
                  </a:lnTo>
                  <a:lnTo>
                    <a:pt x="36623" y="51046"/>
                  </a:lnTo>
                  <a:lnTo>
                    <a:pt x="6513" y="81390"/>
                  </a:lnTo>
                  <a:lnTo>
                    <a:pt x="1958" y="86902"/>
                  </a:lnTo>
                  <a:lnTo>
                    <a:pt x="0" y="89949"/>
                  </a:lnTo>
                </a:path>
                <a:path w="309244" h="179705">
                  <a:moveTo>
                    <a:pt x="308619" y="89711"/>
                  </a:moveTo>
                  <a:lnTo>
                    <a:pt x="280674" y="119980"/>
                  </a:lnTo>
                  <a:lnTo>
                    <a:pt x="244835" y="149187"/>
                  </a:lnTo>
                  <a:lnTo>
                    <a:pt x="208372" y="168862"/>
                  </a:lnTo>
                  <a:lnTo>
                    <a:pt x="171247" y="178613"/>
                  </a:lnTo>
                  <a:lnTo>
                    <a:pt x="156648" y="179661"/>
                  </a:lnTo>
                  <a:lnTo>
                    <a:pt x="149323" y="179512"/>
                  </a:lnTo>
                  <a:lnTo>
                    <a:pt x="104714" y="170707"/>
                  </a:lnTo>
                  <a:lnTo>
                    <a:pt x="67533" y="151953"/>
                  </a:lnTo>
                  <a:lnTo>
                    <a:pt x="31089" y="123499"/>
                  </a:lnTo>
                  <a:lnTo>
                    <a:pt x="3625" y="94384"/>
                  </a:lnTo>
                  <a:lnTo>
                    <a:pt x="0" y="89949"/>
                  </a:lnTo>
                </a:path>
              </a:pathLst>
            </a:custGeom>
            <a:ln w="15069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2522" y="2391106"/>
              <a:ext cx="266587" cy="33094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15975" y="2906712"/>
            <a:ext cx="4732020" cy="1455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0" b="1">
                <a:solidFill>
                  <a:srgbClr val="272424"/>
                </a:solidFill>
                <a:latin typeface="Tahoma"/>
                <a:cs typeface="Tahoma"/>
              </a:rPr>
              <a:t>Financial</a:t>
            </a:r>
            <a:r>
              <a:rPr dirty="0" sz="1650" spc="-11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Monitoring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give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clear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view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company's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position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at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any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point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in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time.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see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revenues,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expenses,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balances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without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manually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checking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individual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transactions.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12367" y="2364191"/>
            <a:ext cx="358140" cy="358140"/>
            <a:chOff x="5812367" y="2364191"/>
            <a:chExt cx="358140" cy="358140"/>
          </a:xfrm>
        </p:grpSpPr>
        <p:sp>
          <p:nvSpPr>
            <p:cNvPr id="9" name="object 9"/>
            <p:cNvSpPr/>
            <p:nvPr/>
          </p:nvSpPr>
          <p:spPr>
            <a:xfrm>
              <a:off x="5952579" y="2372575"/>
              <a:ext cx="45085" cy="41910"/>
            </a:xfrm>
            <a:custGeom>
              <a:avLst/>
              <a:gdLst/>
              <a:ahLst/>
              <a:cxnLst/>
              <a:rect l="l" t="t" r="r" b="b"/>
              <a:pathLst>
                <a:path w="45085" h="41910">
                  <a:moveTo>
                    <a:pt x="44497" y="0"/>
                  </a:moveTo>
                  <a:lnTo>
                    <a:pt x="0" y="41430"/>
                  </a:lnTo>
                </a:path>
              </a:pathLst>
            </a:custGeom>
            <a:ln w="15066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997077" y="2372575"/>
              <a:ext cx="48260" cy="43180"/>
            </a:xfrm>
            <a:custGeom>
              <a:avLst/>
              <a:gdLst/>
              <a:ahLst/>
              <a:cxnLst/>
              <a:rect l="l" t="t" r="r" b="b"/>
              <a:pathLst>
                <a:path w="48260" h="43180">
                  <a:moveTo>
                    <a:pt x="48194" y="43134"/>
                  </a:moveTo>
                  <a:lnTo>
                    <a:pt x="0" y="0"/>
                  </a:lnTo>
                </a:path>
              </a:pathLst>
            </a:custGeom>
            <a:ln w="15066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045271" y="2372063"/>
              <a:ext cx="47625" cy="43815"/>
            </a:xfrm>
            <a:custGeom>
              <a:avLst/>
              <a:gdLst/>
              <a:ahLst/>
              <a:cxnLst/>
              <a:rect l="l" t="t" r="r" b="b"/>
              <a:pathLst>
                <a:path w="47625" h="43814">
                  <a:moveTo>
                    <a:pt x="47340" y="0"/>
                  </a:moveTo>
                  <a:lnTo>
                    <a:pt x="0" y="43647"/>
                  </a:lnTo>
                </a:path>
              </a:pathLst>
            </a:custGeom>
            <a:ln w="15066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92611" y="2372063"/>
              <a:ext cx="635" cy="151765"/>
            </a:xfrm>
            <a:custGeom>
              <a:avLst/>
              <a:gdLst/>
              <a:ahLst/>
              <a:cxnLst/>
              <a:rect l="l" t="t" r="r" b="b"/>
              <a:pathLst>
                <a:path w="635" h="151764">
                  <a:moveTo>
                    <a:pt x="46" y="151358"/>
                  </a:moveTo>
                  <a:lnTo>
                    <a:pt x="0" y="0"/>
                  </a:lnTo>
                </a:path>
              </a:pathLst>
            </a:custGeom>
            <a:ln w="15066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819900" y="2635258"/>
              <a:ext cx="153670" cy="45085"/>
            </a:xfrm>
            <a:custGeom>
              <a:avLst/>
              <a:gdLst/>
              <a:ahLst/>
              <a:cxnLst/>
              <a:rect l="l" t="t" r="r" b="b"/>
              <a:pathLst>
                <a:path w="153670" h="45085">
                  <a:moveTo>
                    <a:pt x="153327" y="20306"/>
                  </a:moveTo>
                  <a:lnTo>
                    <a:pt x="132652" y="0"/>
                  </a:lnTo>
                  <a:lnTo>
                    <a:pt x="87619" y="42485"/>
                  </a:lnTo>
                  <a:lnTo>
                    <a:pt x="44963" y="164"/>
                  </a:lnTo>
                  <a:lnTo>
                    <a:pt x="0" y="45036"/>
                  </a:lnTo>
                </a:path>
              </a:pathLst>
            </a:custGeom>
            <a:ln w="15066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819900" y="2371725"/>
              <a:ext cx="635" cy="308610"/>
            </a:xfrm>
            <a:custGeom>
              <a:avLst/>
              <a:gdLst/>
              <a:ahLst/>
              <a:cxnLst/>
              <a:rect l="l" t="t" r="r" b="b"/>
              <a:pathLst>
                <a:path w="635" h="308610">
                  <a:moveTo>
                    <a:pt x="16" y="0"/>
                  </a:moveTo>
                  <a:lnTo>
                    <a:pt x="0" y="308570"/>
                  </a:lnTo>
                </a:path>
              </a:pathLst>
            </a:custGeom>
            <a:ln w="15066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819917" y="2371725"/>
              <a:ext cx="44450" cy="43180"/>
            </a:xfrm>
            <a:custGeom>
              <a:avLst/>
              <a:gdLst/>
              <a:ahLst/>
              <a:cxnLst/>
              <a:rect l="l" t="t" r="r" b="b"/>
              <a:pathLst>
                <a:path w="44450" h="43180">
                  <a:moveTo>
                    <a:pt x="44139" y="43024"/>
                  </a:moveTo>
                  <a:lnTo>
                    <a:pt x="0" y="0"/>
                  </a:lnTo>
                </a:path>
              </a:pathLst>
            </a:custGeom>
            <a:ln w="15066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864056" y="2372963"/>
              <a:ext cx="43180" cy="41910"/>
            </a:xfrm>
            <a:custGeom>
              <a:avLst/>
              <a:gdLst/>
              <a:ahLst/>
              <a:cxnLst/>
              <a:rect l="l" t="t" r="r" b="b"/>
              <a:pathLst>
                <a:path w="43179" h="41910">
                  <a:moveTo>
                    <a:pt x="42836" y="0"/>
                  </a:moveTo>
                  <a:lnTo>
                    <a:pt x="0" y="41785"/>
                  </a:lnTo>
                </a:path>
              </a:pathLst>
            </a:custGeom>
            <a:ln w="15066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906893" y="2372963"/>
              <a:ext cx="45720" cy="41275"/>
            </a:xfrm>
            <a:custGeom>
              <a:avLst/>
              <a:gdLst/>
              <a:ahLst/>
              <a:cxnLst/>
              <a:rect l="l" t="t" r="r" b="b"/>
              <a:pathLst>
                <a:path w="45720" h="41275">
                  <a:moveTo>
                    <a:pt x="45686" y="41042"/>
                  </a:moveTo>
                  <a:lnTo>
                    <a:pt x="0" y="0"/>
                  </a:lnTo>
                </a:path>
              </a:pathLst>
            </a:custGeom>
            <a:ln w="15066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72082" y="2471541"/>
              <a:ext cx="167640" cy="635"/>
            </a:xfrm>
            <a:custGeom>
              <a:avLst/>
              <a:gdLst/>
              <a:ahLst/>
              <a:cxnLst/>
              <a:rect l="l" t="t" r="r" b="b"/>
              <a:pathLst>
                <a:path w="167639" h="635">
                  <a:moveTo>
                    <a:pt x="0" y="184"/>
                  </a:moveTo>
                  <a:lnTo>
                    <a:pt x="167155" y="0"/>
                  </a:lnTo>
                </a:path>
              </a:pathLst>
            </a:custGeom>
            <a:ln w="15066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1687" y="2516320"/>
              <a:ext cx="298395" cy="20583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809456" y="2906712"/>
            <a:ext cx="4718050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272424"/>
                </a:solidFill>
                <a:latin typeface="Tahoma"/>
                <a:cs typeface="Tahoma"/>
              </a:rPr>
              <a:t>Expense</a:t>
            </a:r>
            <a:r>
              <a:rPr dirty="0" sz="1650" spc="-1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Tracking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Cost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centre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G/L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show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exactly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where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money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is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being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spent.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example,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if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electricity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rising,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G/L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on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electricity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expense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account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confirm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this.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6101" y="4735853"/>
            <a:ext cx="348046" cy="35801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815975" y="5278437"/>
            <a:ext cx="4560570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Cash</a:t>
            </a:r>
            <a:r>
              <a:rPr dirty="0" sz="1650" spc="-1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60" b="1">
                <a:solidFill>
                  <a:srgbClr val="272424"/>
                </a:solidFill>
                <a:latin typeface="Tahoma"/>
                <a:cs typeface="Tahoma"/>
              </a:rPr>
              <a:t>Flow</a:t>
            </a:r>
            <a:r>
              <a:rPr dirty="0" sz="1650" spc="-1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Management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AP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AR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aging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show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which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invoices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due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and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when.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helps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finance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teams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plan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payments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avoid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cash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shortages.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12367" y="4743450"/>
            <a:ext cx="358140" cy="350520"/>
            <a:chOff x="5812367" y="4743450"/>
            <a:chExt cx="358140" cy="350520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0840" y="4759132"/>
              <a:ext cx="220512" cy="1646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19900" y="4743450"/>
              <a:ext cx="0" cy="276860"/>
            </a:xfrm>
            <a:custGeom>
              <a:avLst/>
              <a:gdLst/>
              <a:ahLst/>
              <a:cxnLst/>
              <a:rect l="l" t="t" r="r" b="b"/>
              <a:pathLst>
                <a:path w="0" h="276860">
                  <a:moveTo>
                    <a:pt x="0" y="276745"/>
                  </a:moveTo>
                  <a:lnTo>
                    <a:pt x="3" y="0"/>
                  </a:lnTo>
                </a:path>
              </a:pathLst>
            </a:custGeom>
            <a:ln w="15066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19900" y="4859237"/>
              <a:ext cx="350182" cy="23464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809456" y="5278437"/>
            <a:ext cx="4258310" cy="1179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5" b="1">
                <a:solidFill>
                  <a:srgbClr val="272424"/>
                </a:solidFill>
                <a:latin typeface="Tahoma"/>
                <a:cs typeface="Tahoma"/>
              </a:rPr>
              <a:t>Profitability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Analysis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Profit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centre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CO-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PA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show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which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products,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customers,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regions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most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profitable.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helps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focus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resources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on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right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areas.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53765" y="6821830"/>
            <a:ext cx="292735" cy="358140"/>
            <a:chOff x="853765" y="6821830"/>
            <a:chExt cx="292735" cy="358140"/>
          </a:xfrm>
        </p:grpSpPr>
        <p:sp>
          <p:nvSpPr>
            <p:cNvPr id="29" name="object 29"/>
            <p:cNvSpPr/>
            <p:nvPr/>
          </p:nvSpPr>
          <p:spPr>
            <a:xfrm>
              <a:off x="1046630" y="7004086"/>
              <a:ext cx="44450" cy="69850"/>
            </a:xfrm>
            <a:custGeom>
              <a:avLst/>
              <a:gdLst/>
              <a:ahLst/>
              <a:cxnLst/>
              <a:rect l="l" t="t" r="r" b="b"/>
              <a:pathLst>
                <a:path w="44450" h="69850">
                  <a:moveTo>
                    <a:pt x="44410" y="0"/>
                  </a:moveTo>
                  <a:lnTo>
                    <a:pt x="8593" y="13750"/>
                  </a:lnTo>
                  <a:lnTo>
                    <a:pt x="0" y="38095"/>
                  </a:lnTo>
                  <a:lnTo>
                    <a:pt x="1087" y="44668"/>
                  </a:lnTo>
                  <a:lnTo>
                    <a:pt x="24380" y="66374"/>
                  </a:lnTo>
                  <a:lnTo>
                    <a:pt x="35110" y="69741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42582" y="7080454"/>
              <a:ext cx="96520" cy="70485"/>
            </a:xfrm>
            <a:custGeom>
              <a:avLst/>
              <a:gdLst/>
              <a:ahLst/>
              <a:cxnLst/>
              <a:rect l="l" t="t" r="r" b="b"/>
              <a:pathLst>
                <a:path w="96519" h="70484">
                  <a:moveTo>
                    <a:pt x="64469" y="0"/>
                  </a:moveTo>
                  <a:lnTo>
                    <a:pt x="95804" y="27478"/>
                  </a:lnTo>
                  <a:lnTo>
                    <a:pt x="96308" y="33117"/>
                  </a:lnTo>
                  <a:lnTo>
                    <a:pt x="95963" y="38012"/>
                  </a:lnTo>
                  <a:lnTo>
                    <a:pt x="70143" y="66603"/>
                  </a:lnTo>
                  <a:lnTo>
                    <a:pt x="48718" y="70151"/>
                  </a:lnTo>
                  <a:lnTo>
                    <a:pt x="42114" y="69827"/>
                  </a:lnTo>
                  <a:lnTo>
                    <a:pt x="5371" y="48500"/>
                  </a:lnTo>
                  <a:lnTo>
                    <a:pt x="723" y="36886"/>
                  </a:lnTo>
                  <a:lnTo>
                    <a:pt x="0" y="33540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91041" y="7004086"/>
              <a:ext cx="44450" cy="34290"/>
            </a:xfrm>
            <a:custGeom>
              <a:avLst/>
              <a:gdLst/>
              <a:ahLst/>
              <a:cxnLst/>
              <a:rect l="l" t="t" r="r" b="b"/>
              <a:pathLst>
                <a:path w="44450" h="34290">
                  <a:moveTo>
                    <a:pt x="0" y="0"/>
                  </a:moveTo>
                  <a:lnTo>
                    <a:pt x="37610" y="16428"/>
                  </a:lnTo>
                  <a:lnTo>
                    <a:pt x="43809" y="30432"/>
                  </a:lnTo>
                  <a:lnTo>
                    <a:pt x="44388" y="33890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61552" y="7137509"/>
              <a:ext cx="27940" cy="34925"/>
            </a:xfrm>
            <a:custGeom>
              <a:avLst/>
              <a:gdLst/>
              <a:ahLst/>
              <a:cxnLst/>
              <a:rect l="l" t="t" r="r" b="b"/>
              <a:pathLst>
                <a:path w="27940" h="34925">
                  <a:moveTo>
                    <a:pt x="27395" y="34816"/>
                  </a:moveTo>
                  <a:lnTo>
                    <a:pt x="25" y="6519"/>
                  </a:lnTo>
                  <a:lnTo>
                    <a:pt x="0" y="0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61359" y="6829424"/>
              <a:ext cx="33020" cy="26034"/>
            </a:xfrm>
            <a:custGeom>
              <a:avLst/>
              <a:gdLst/>
              <a:ahLst/>
              <a:cxnLst/>
              <a:rect l="l" t="t" r="r" b="b"/>
              <a:pathLst>
                <a:path w="33019" h="26034">
                  <a:moveTo>
                    <a:pt x="0" y="26008"/>
                  </a:moveTo>
                  <a:lnTo>
                    <a:pt x="24843" y="9"/>
                  </a:lnTo>
                  <a:lnTo>
                    <a:pt x="33024" y="0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104717" y="6829434"/>
              <a:ext cx="25400" cy="33020"/>
            </a:xfrm>
            <a:custGeom>
              <a:avLst/>
              <a:gdLst/>
              <a:ahLst/>
              <a:cxnLst/>
              <a:rect l="l" t="t" r="r" b="b"/>
              <a:pathLst>
                <a:path w="25400" h="33020">
                  <a:moveTo>
                    <a:pt x="0" y="0"/>
                  </a:moveTo>
                  <a:lnTo>
                    <a:pt x="25034" y="26442"/>
                  </a:lnTo>
                  <a:lnTo>
                    <a:pt x="25070" y="32521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88948" y="7172290"/>
              <a:ext cx="136525" cy="635"/>
            </a:xfrm>
            <a:custGeom>
              <a:avLst/>
              <a:gdLst/>
              <a:ahLst/>
              <a:cxnLst/>
              <a:rect l="l" t="t" r="r" b="b"/>
              <a:pathLst>
                <a:path w="136525" h="634">
                  <a:moveTo>
                    <a:pt x="136378" y="0"/>
                  </a:moveTo>
                  <a:lnTo>
                    <a:pt x="0" y="35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905163" y="6898112"/>
              <a:ext cx="113664" cy="635"/>
            </a:xfrm>
            <a:custGeom>
              <a:avLst/>
              <a:gdLst/>
              <a:ahLst/>
              <a:cxnLst/>
              <a:rect l="l" t="t" r="r" b="b"/>
              <a:pathLst>
                <a:path w="113665" h="634">
                  <a:moveTo>
                    <a:pt x="0" y="44"/>
                  </a:moveTo>
                  <a:lnTo>
                    <a:pt x="113547" y="0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904148" y="6947096"/>
              <a:ext cx="114935" cy="635"/>
            </a:xfrm>
            <a:custGeom>
              <a:avLst/>
              <a:gdLst/>
              <a:ahLst/>
              <a:cxnLst/>
              <a:rect l="l" t="t" r="r" b="b"/>
              <a:pathLst>
                <a:path w="114934" h="634">
                  <a:moveTo>
                    <a:pt x="0" y="67"/>
                  </a:moveTo>
                  <a:lnTo>
                    <a:pt x="114656" y="0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1091015" y="6981340"/>
              <a:ext cx="635" cy="22860"/>
            </a:xfrm>
            <a:custGeom>
              <a:avLst/>
              <a:gdLst/>
              <a:ahLst/>
              <a:cxnLst/>
              <a:rect l="l" t="t" r="r" b="b"/>
              <a:pathLst>
                <a:path w="634" h="22859">
                  <a:moveTo>
                    <a:pt x="26" y="22746"/>
                  </a:moveTo>
                  <a:lnTo>
                    <a:pt x="0" y="0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090791" y="7150605"/>
              <a:ext cx="635" cy="20955"/>
            </a:xfrm>
            <a:custGeom>
              <a:avLst/>
              <a:gdLst/>
              <a:ahLst/>
              <a:cxnLst/>
              <a:rect l="l" t="t" r="r" b="b"/>
              <a:pathLst>
                <a:path w="634" h="20954">
                  <a:moveTo>
                    <a:pt x="0" y="20466"/>
                  </a:moveTo>
                  <a:lnTo>
                    <a:pt x="509" y="0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05068" y="6994754"/>
              <a:ext cx="73660" cy="635"/>
            </a:xfrm>
            <a:custGeom>
              <a:avLst/>
              <a:gdLst/>
              <a:ahLst/>
              <a:cxnLst/>
              <a:rect l="l" t="t" r="r" b="b"/>
              <a:pathLst>
                <a:path w="73659" h="634">
                  <a:moveTo>
                    <a:pt x="0" y="60"/>
                  </a:moveTo>
                  <a:lnTo>
                    <a:pt x="73517" y="0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081741" y="7073828"/>
              <a:ext cx="25400" cy="6985"/>
            </a:xfrm>
            <a:custGeom>
              <a:avLst/>
              <a:gdLst/>
              <a:ahLst/>
              <a:cxnLst/>
              <a:rect l="l" t="t" r="r" b="b"/>
              <a:pathLst>
                <a:path w="25400" h="6984">
                  <a:moveTo>
                    <a:pt x="0" y="0"/>
                  </a:moveTo>
                  <a:lnTo>
                    <a:pt x="25310" y="6625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861359" y="6855433"/>
              <a:ext cx="635" cy="282575"/>
            </a:xfrm>
            <a:custGeom>
              <a:avLst/>
              <a:gdLst/>
              <a:ahLst/>
              <a:cxnLst/>
              <a:rect l="l" t="t" r="r" b="b"/>
              <a:pathLst>
                <a:path w="634" h="282575">
                  <a:moveTo>
                    <a:pt x="193" y="282075"/>
                  </a:moveTo>
                  <a:lnTo>
                    <a:pt x="0" y="0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94383" y="6829424"/>
              <a:ext cx="210820" cy="635"/>
            </a:xfrm>
            <a:custGeom>
              <a:avLst/>
              <a:gdLst/>
              <a:ahLst/>
              <a:cxnLst/>
              <a:rect l="l" t="t" r="r" b="b"/>
              <a:pathLst>
                <a:path w="210819" h="634">
                  <a:moveTo>
                    <a:pt x="0" y="0"/>
                  </a:moveTo>
                  <a:lnTo>
                    <a:pt x="210333" y="9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129543" y="6861955"/>
              <a:ext cx="635" cy="97790"/>
            </a:xfrm>
            <a:custGeom>
              <a:avLst/>
              <a:gdLst/>
              <a:ahLst/>
              <a:cxnLst/>
              <a:rect l="l" t="t" r="r" b="b"/>
              <a:pathLst>
                <a:path w="634" h="97790">
                  <a:moveTo>
                    <a:pt x="244" y="0"/>
                  </a:moveTo>
                  <a:lnTo>
                    <a:pt x="0" y="97247"/>
                  </a:lnTo>
                </a:path>
              </a:pathLst>
            </a:custGeom>
            <a:ln w="15187">
              <a:solidFill>
                <a:srgbClr val="4850B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815975" y="7373937"/>
            <a:ext cx="4695190" cy="1169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5" b="1">
                <a:solidFill>
                  <a:srgbClr val="272424"/>
                </a:solidFill>
                <a:latin typeface="Tahoma"/>
                <a:cs typeface="Tahoma"/>
              </a:rPr>
              <a:t>Budget</a:t>
            </a:r>
            <a:r>
              <a:rPr dirty="0" sz="1650" spc="-1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vs</a:t>
            </a:r>
            <a:r>
              <a:rPr dirty="0" sz="1650" spc="-1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Actual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Plan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vs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actual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compare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what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was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planned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with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what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actually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happened.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If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department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overspent,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variance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highlight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immediately.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26269" y="6821830"/>
            <a:ext cx="329910" cy="358087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5809456" y="7373937"/>
            <a:ext cx="4528820" cy="14458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0" b="1">
                <a:solidFill>
                  <a:srgbClr val="272424"/>
                </a:solidFill>
                <a:latin typeface="Tahoma"/>
                <a:cs typeface="Tahoma"/>
              </a:rPr>
              <a:t>Tax</a:t>
            </a:r>
            <a:r>
              <a:rPr dirty="0" sz="1650" spc="-17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40" b="1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650" spc="-1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Compliance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565"/>
              </a:spcBef>
            </a:pP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Tax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summarise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input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output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tax,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helping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companies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meet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statutory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requirements.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55">
                <a:solidFill>
                  <a:srgbClr val="272424"/>
                </a:solidFill>
                <a:latin typeface="Verdana"/>
                <a:cs typeface="Verdana"/>
              </a:rPr>
              <a:t>In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India,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can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support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GST-related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information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through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proper configuration.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5975" y="454025"/>
            <a:ext cx="47504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40"/>
              <a:t>Types</a:t>
            </a:r>
            <a:r>
              <a:rPr dirty="0" spc="-375"/>
              <a:t> </a:t>
            </a:r>
            <a:r>
              <a:rPr dirty="0" spc="-30"/>
              <a:t>of</a:t>
            </a:r>
            <a:r>
              <a:rPr dirty="0" spc="-375"/>
              <a:t> </a:t>
            </a:r>
            <a:r>
              <a:rPr dirty="0"/>
              <a:t>SAP</a:t>
            </a:r>
            <a:r>
              <a:rPr dirty="0" spc="-375"/>
              <a:t> </a:t>
            </a:r>
            <a:r>
              <a:rPr dirty="0" spc="-385"/>
              <a:t>FI</a:t>
            </a:r>
            <a:r>
              <a:rPr dirty="0" spc="-375"/>
              <a:t> </a:t>
            </a:r>
            <a:r>
              <a:rPr dirty="0" spc="-100"/>
              <a:t>Reports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4"/>
            <a:ext cx="979741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FI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cover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all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areas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5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accounting.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Each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category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serves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specific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purpose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used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by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different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teams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within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finance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department.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exact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available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vary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depending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on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version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(ECC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S/4HANA)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company's</a:t>
            </a:r>
            <a:r>
              <a:rPr dirty="0" sz="1350" spc="-1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configuration.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5975" y="2525712"/>
            <a:ext cx="4691380" cy="20650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5" b="1">
                <a:latin typeface="Tahoma"/>
                <a:cs typeface="Tahoma"/>
              </a:rPr>
              <a:t>General</a:t>
            </a:r>
            <a:r>
              <a:rPr dirty="0" sz="1650" spc="-145" b="1">
                <a:latin typeface="Tahoma"/>
                <a:cs typeface="Tahoma"/>
              </a:rPr>
              <a:t> </a:t>
            </a:r>
            <a:r>
              <a:rPr dirty="0" sz="1650" spc="-40" b="1">
                <a:latin typeface="Tahoma"/>
                <a:cs typeface="Tahoma"/>
              </a:rPr>
              <a:t>Ledger</a:t>
            </a:r>
            <a:r>
              <a:rPr dirty="0" sz="1650" spc="-135" b="1">
                <a:latin typeface="Tahoma"/>
                <a:cs typeface="Tahoma"/>
              </a:rPr>
              <a:t> </a:t>
            </a:r>
            <a:r>
              <a:rPr dirty="0" sz="1650" spc="-10" b="1">
                <a:latin typeface="Tahoma"/>
                <a:cs typeface="Tahoma"/>
              </a:rPr>
              <a:t>Reports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1080"/>
              </a:spcBef>
            </a:pP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G/L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show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balances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transactions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all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accounts.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They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include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account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balance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reports,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line-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item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reports,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trial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balance.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example,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if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company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wants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know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how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much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it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spent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on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electricity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in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month,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G/L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on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electricity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expense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account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provides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the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answer.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20927" y="2525712"/>
            <a:ext cx="4636135" cy="1788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latin typeface="Tahoma"/>
                <a:cs typeface="Tahoma"/>
              </a:rPr>
              <a:t>Accounts</a:t>
            </a:r>
            <a:r>
              <a:rPr dirty="0" sz="1650" spc="-150" b="1">
                <a:latin typeface="Tahoma"/>
                <a:cs typeface="Tahoma"/>
              </a:rPr>
              <a:t> </a:t>
            </a:r>
            <a:r>
              <a:rPr dirty="0" sz="1650" spc="-55" b="1">
                <a:latin typeface="Tahoma"/>
                <a:cs typeface="Tahoma"/>
              </a:rPr>
              <a:t>Payable</a:t>
            </a:r>
            <a:r>
              <a:rPr dirty="0" sz="1650" spc="-150" b="1">
                <a:latin typeface="Tahoma"/>
                <a:cs typeface="Tahoma"/>
              </a:rPr>
              <a:t> </a:t>
            </a:r>
            <a:r>
              <a:rPr dirty="0" sz="1650" spc="-10" b="1">
                <a:latin typeface="Tahoma"/>
                <a:cs typeface="Tahoma"/>
              </a:rPr>
              <a:t>Reports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1085"/>
              </a:spcBef>
            </a:pP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AP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help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track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money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owed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suppliers.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They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include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vendor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balances,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open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items,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cleared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items,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and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aging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reports.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finance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employee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use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an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AP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aging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see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which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supplier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invoices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due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week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and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plan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payments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accordingly.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5975" y="5126037"/>
            <a:ext cx="4531995" cy="1788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latin typeface="Tahoma"/>
                <a:cs typeface="Tahoma"/>
              </a:rPr>
              <a:t>Accounts</a:t>
            </a:r>
            <a:r>
              <a:rPr dirty="0" sz="1650" spc="-140" b="1">
                <a:latin typeface="Tahoma"/>
                <a:cs typeface="Tahoma"/>
              </a:rPr>
              <a:t> </a:t>
            </a:r>
            <a:r>
              <a:rPr dirty="0" sz="1650" spc="-50" b="1">
                <a:latin typeface="Tahoma"/>
                <a:cs typeface="Tahoma"/>
              </a:rPr>
              <a:t>Receivable</a:t>
            </a:r>
            <a:r>
              <a:rPr dirty="0" sz="1650" spc="-135" b="1">
                <a:latin typeface="Tahoma"/>
                <a:cs typeface="Tahoma"/>
              </a:rPr>
              <a:t> </a:t>
            </a:r>
            <a:r>
              <a:rPr dirty="0" sz="1650" spc="-10" b="1">
                <a:latin typeface="Tahoma"/>
                <a:cs typeface="Tahoma"/>
              </a:rPr>
              <a:t>Reports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1085"/>
              </a:spcBef>
            </a:pP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AR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track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money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owed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customers.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They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include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customer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balances,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open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items,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aging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reports.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If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a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company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wants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identify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customers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who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have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not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paid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invoices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more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than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60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days,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AR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aging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makes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easy.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20927" y="5126037"/>
            <a:ext cx="4553585" cy="17887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latin typeface="Tahoma"/>
                <a:cs typeface="Tahoma"/>
              </a:rPr>
              <a:t>Asset</a:t>
            </a:r>
            <a:r>
              <a:rPr dirty="0" sz="1650" spc="-125" b="1">
                <a:latin typeface="Tahoma"/>
                <a:cs typeface="Tahoma"/>
              </a:rPr>
              <a:t> </a:t>
            </a:r>
            <a:r>
              <a:rPr dirty="0" sz="1650" spc="-35" b="1">
                <a:latin typeface="Tahoma"/>
                <a:cs typeface="Tahoma"/>
              </a:rPr>
              <a:t>Accounting</a:t>
            </a:r>
            <a:r>
              <a:rPr dirty="0" sz="1650" spc="-130" b="1">
                <a:latin typeface="Tahoma"/>
                <a:cs typeface="Tahoma"/>
              </a:rPr>
              <a:t> </a:t>
            </a:r>
            <a:r>
              <a:rPr dirty="0" sz="1650" spc="-10" b="1">
                <a:latin typeface="Tahoma"/>
                <a:cs typeface="Tahoma"/>
              </a:rPr>
              <a:t>Reports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1085"/>
              </a:spcBef>
            </a:pP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Asset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track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fixed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assets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like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machines,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computers,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vehicles.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They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show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acquisition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costs,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depreciation,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current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book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value.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example,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company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use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asset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see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remaining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value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machine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purchased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three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years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ago.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28675" y="7305675"/>
            <a:ext cx="9772650" cy="3781425"/>
            <a:chOff x="828675" y="7305675"/>
            <a:chExt cx="9772650" cy="3781425"/>
          </a:xfrm>
        </p:grpSpPr>
        <p:sp>
          <p:nvSpPr>
            <p:cNvPr id="9" name="object 9"/>
            <p:cNvSpPr/>
            <p:nvPr/>
          </p:nvSpPr>
          <p:spPr>
            <a:xfrm>
              <a:off x="833437" y="7310438"/>
              <a:ext cx="9763125" cy="3771900"/>
            </a:xfrm>
            <a:custGeom>
              <a:avLst/>
              <a:gdLst/>
              <a:ahLst/>
              <a:cxnLst/>
              <a:rect l="l" t="t" r="r" b="b"/>
              <a:pathLst>
                <a:path w="9763125" h="3771900">
                  <a:moveTo>
                    <a:pt x="0" y="3716654"/>
                  </a:moveTo>
                  <a:lnTo>
                    <a:pt x="0" y="55245"/>
                  </a:lnTo>
                  <a:lnTo>
                    <a:pt x="0" y="51615"/>
                  </a:lnTo>
                  <a:lnTo>
                    <a:pt x="352" y="48025"/>
                  </a:lnTo>
                  <a:lnTo>
                    <a:pt x="16182" y="16182"/>
                  </a:lnTo>
                  <a:lnTo>
                    <a:pt x="18745" y="13611"/>
                  </a:lnTo>
                  <a:lnTo>
                    <a:pt x="34099" y="4210"/>
                  </a:lnTo>
                  <a:lnTo>
                    <a:pt x="37452" y="2819"/>
                  </a:lnTo>
                  <a:lnTo>
                    <a:pt x="40909" y="1771"/>
                  </a:lnTo>
                  <a:lnTo>
                    <a:pt x="44462" y="1057"/>
                  </a:lnTo>
                  <a:lnTo>
                    <a:pt x="48025" y="352"/>
                  </a:lnTo>
                  <a:lnTo>
                    <a:pt x="51615" y="0"/>
                  </a:lnTo>
                  <a:lnTo>
                    <a:pt x="55244" y="0"/>
                  </a:lnTo>
                  <a:lnTo>
                    <a:pt x="9707880" y="0"/>
                  </a:lnTo>
                  <a:lnTo>
                    <a:pt x="9711509" y="0"/>
                  </a:lnTo>
                  <a:lnTo>
                    <a:pt x="9715099" y="352"/>
                  </a:lnTo>
                  <a:lnTo>
                    <a:pt x="9718652" y="1057"/>
                  </a:lnTo>
                  <a:lnTo>
                    <a:pt x="9722215" y="1771"/>
                  </a:lnTo>
                  <a:lnTo>
                    <a:pt x="9725672" y="2819"/>
                  </a:lnTo>
                  <a:lnTo>
                    <a:pt x="9729015" y="4210"/>
                  </a:lnTo>
                  <a:lnTo>
                    <a:pt x="9732368" y="5591"/>
                  </a:lnTo>
                  <a:lnTo>
                    <a:pt x="9746942" y="16182"/>
                  </a:lnTo>
                  <a:lnTo>
                    <a:pt x="9749504" y="18745"/>
                  </a:lnTo>
                  <a:lnTo>
                    <a:pt x="9758914" y="34099"/>
                  </a:lnTo>
                  <a:lnTo>
                    <a:pt x="9760305" y="37452"/>
                  </a:lnTo>
                  <a:lnTo>
                    <a:pt x="9761353" y="40909"/>
                  </a:lnTo>
                  <a:lnTo>
                    <a:pt x="9762067" y="44462"/>
                  </a:lnTo>
                  <a:lnTo>
                    <a:pt x="9762772" y="48025"/>
                  </a:lnTo>
                  <a:lnTo>
                    <a:pt x="9763125" y="51615"/>
                  </a:lnTo>
                  <a:lnTo>
                    <a:pt x="9763125" y="55245"/>
                  </a:lnTo>
                  <a:lnTo>
                    <a:pt x="9763125" y="3716654"/>
                  </a:lnTo>
                  <a:lnTo>
                    <a:pt x="9763125" y="3720284"/>
                  </a:lnTo>
                  <a:lnTo>
                    <a:pt x="9762772" y="3723874"/>
                  </a:lnTo>
                  <a:lnTo>
                    <a:pt x="9762067" y="3727427"/>
                  </a:lnTo>
                  <a:lnTo>
                    <a:pt x="9761353" y="3730990"/>
                  </a:lnTo>
                  <a:lnTo>
                    <a:pt x="9760305" y="3734447"/>
                  </a:lnTo>
                  <a:lnTo>
                    <a:pt x="9758914" y="3737790"/>
                  </a:lnTo>
                  <a:lnTo>
                    <a:pt x="9757533" y="3741143"/>
                  </a:lnTo>
                  <a:lnTo>
                    <a:pt x="9755828" y="3744334"/>
                  </a:lnTo>
                  <a:lnTo>
                    <a:pt x="9753809" y="3747344"/>
                  </a:lnTo>
                  <a:lnTo>
                    <a:pt x="9751799" y="3750363"/>
                  </a:lnTo>
                  <a:lnTo>
                    <a:pt x="9738569" y="3762584"/>
                  </a:lnTo>
                  <a:lnTo>
                    <a:pt x="9735550" y="3764603"/>
                  </a:lnTo>
                  <a:lnTo>
                    <a:pt x="9732368" y="3766308"/>
                  </a:lnTo>
                  <a:lnTo>
                    <a:pt x="9729025" y="3767689"/>
                  </a:lnTo>
                  <a:lnTo>
                    <a:pt x="9725672" y="3769080"/>
                  </a:lnTo>
                  <a:lnTo>
                    <a:pt x="9722215" y="3770128"/>
                  </a:lnTo>
                  <a:lnTo>
                    <a:pt x="9718652" y="3770833"/>
                  </a:lnTo>
                  <a:lnTo>
                    <a:pt x="9715099" y="3771547"/>
                  </a:lnTo>
                  <a:lnTo>
                    <a:pt x="9711509" y="3771900"/>
                  </a:lnTo>
                  <a:lnTo>
                    <a:pt x="9707880" y="3771900"/>
                  </a:lnTo>
                  <a:lnTo>
                    <a:pt x="55244" y="3771900"/>
                  </a:lnTo>
                  <a:lnTo>
                    <a:pt x="51615" y="3771900"/>
                  </a:lnTo>
                  <a:lnTo>
                    <a:pt x="48025" y="3771547"/>
                  </a:lnTo>
                  <a:lnTo>
                    <a:pt x="44462" y="3770833"/>
                  </a:lnTo>
                  <a:lnTo>
                    <a:pt x="40909" y="3770128"/>
                  </a:lnTo>
                  <a:lnTo>
                    <a:pt x="37452" y="3769080"/>
                  </a:lnTo>
                  <a:lnTo>
                    <a:pt x="34099" y="3767689"/>
                  </a:lnTo>
                  <a:lnTo>
                    <a:pt x="30756" y="3766308"/>
                  </a:lnTo>
                  <a:lnTo>
                    <a:pt x="27565" y="3764603"/>
                  </a:lnTo>
                  <a:lnTo>
                    <a:pt x="24555" y="3762584"/>
                  </a:lnTo>
                  <a:lnTo>
                    <a:pt x="21536" y="3760574"/>
                  </a:lnTo>
                  <a:lnTo>
                    <a:pt x="18745" y="3758279"/>
                  </a:lnTo>
                  <a:lnTo>
                    <a:pt x="16182" y="3755717"/>
                  </a:lnTo>
                  <a:lnTo>
                    <a:pt x="13611" y="3753154"/>
                  </a:lnTo>
                  <a:lnTo>
                    <a:pt x="0" y="3720284"/>
                  </a:lnTo>
                  <a:lnTo>
                    <a:pt x="0" y="3716654"/>
                  </a:lnTo>
                  <a:close/>
                </a:path>
              </a:pathLst>
            </a:custGeom>
            <a:ln w="9525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38200" y="7315199"/>
              <a:ext cx="9753600" cy="495934"/>
            </a:xfrm>
            <a:custGeom>
              <a:avLst/>
              <a:gdLst/>
              <a:ahLst/>
              <a:cxnLst/>
              <a:rect l="l" t="t" r="r" b="b"/>
              <a:pathLst>
                <a:path w="9753600" h="495934">
                  <a:moveTo>
                    <a:pt x="9753600" y="52057"/>
                  </a:moveTo>
                  <a:lnTo>
                    <a:pt x="9730384" y="11950"/>
                  </a:lnTo>
                  <a:lnTo>
                    <a:pt x="9701543" y="0"/>
                  </a:lnTo>
                  <a:lnTo>
                    <a:pt x="6505575" y="0"/>
                  </a:lnTo>
                  <a:lnTo>
                    <a:pt x="3248025" y="12"/>
                  </a:lnTo>
                  <a:lnTo>
                    <a:pt x="52044" y="0"/>
                  </a:lnTo>
                  <a:lnTo>
                    <a:pt x="11938" y="23202"/>
                  </a:lnTo>
                  <a:lnTo>
                    <a:pt x="9525" y="26822"/>
                  </a:lnTo>
                  <a:lnTo>
                    <a:pt x="9525" y="12"/>
                  </a:lnTo>
                  <a:lnTo>
                    <a:pt x="0" y="12"/>
                  </a:lnTo>
                  <a:lnTo>
                    <a:pt x="0" y="52057"/>
                  </a:lnTo>
                  <a:lnTo>
                    <a:pt x="0" y="495300"/>
                  </a:lnTo>
                  <a:lnTo>
                    <a:pt x="9525" y="495312"/>
                  </a:lnTo>
                  <a:lnTo>
                    <a:pt x="3248025" y="495300"/>
                  </a:lnTo>
                  <a:lnTo>
                    <a:pt x="6505575" y="495312"/>
                  </a:lnTo>
                  <a:lnTo>
                    <a:pt x="9753600" y="495300"/>
                  </a:lnTo>
                  <a:lnTo>
                    <a:pt x="9753600" y="52057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38200" y="7810512"/>
              <a:ext cx="9753600" cy="771525"/>
            </a:xfrm>
            <a:custGeom>
              <a:avLst/>
              <a:gdLst/>
              <a:ahLst/>
              <a:cxnLst/>
              <a:rect l="l" t="t" r="r" b="b"/>
              <a:pathLst>
                <a:path w="9753600" h="771525">
                  <a:moveTo>
                    <a:pt x="9753600" y="0"/>
                  </a:moveTo>
                  <a:lnTo>
                    <a:pt x="6505575" y="0"/>
                  </a:lnTo>
                  <a:lnTo>
                    <a:pt x="3248025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771525"/>
                  </a:lnTo>
                  <a:lnTo>
                    <a:pt x="9525" y="771525"/>
                  </a:lnTo>
                  <a:lnTo>
                    <a:pt x="3248025" y="771525"/>
                  </a:lnTo>
                  <a:lnTo>
                    <a:pt x="6505575" y="771525"/>
                  </a:lnTo>
                  <a:lnTo>
                    <a:pt x="9753600" y="771525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38200" y="8582037"/>
              <a:ext cx="9753600" cy="495300"/>
            </a:xfrm>
            <a:custGeom>
              <a:avLst/>
              <a:gdLst/>
              <a:ahLst/>
              <a:cxnLst/>
              <a:rect l="l" t="t" r="r" b="b"/>
              <a:pathLst>
                <a:path w="9753600" h="495300">
                  <a:moveTo>
                    <a:pt x="9753600" y="0"/>
                  </a:moveTo>
                  <a:lnTo>
                    <a:pt x="6505575" y="0"/>
                  </a:lnTo>
                  <a:lnTo>
                    <a:pt x="3248025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495300"/>
                  </a:lnTo>
                  <a:lnTo>
                    <a:pt x="9525" y="495300"/>
                  </a:lnTo>
                  <a:lnTo>
                    <a:pt x="3248025" y="495300"/>
                  </a:lnTo>
                  <a:lnTo>
                    <a:pt x="6505575" y="495300"/>
                  </a:lnTo>
                  <a:lnTo>
                    <a:pt x="9753600" y="4953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38200" y="9077337"/>
              <a:ext cx="9753600" cy="504825"/>
            </a:xfrm>
            <a:custGeom>
              <a:avLst/>
              <a:gdLst/>
              <a:ahLst/>
              <a:cxnLst/>
              <a:rect l="l" t="t" r="r" b="b"/>
              <a:pathLst>
                <a:path w="9753600" h="504825">
                  <a:moveTo>
                    <a:pt x="9753600" y="0"/>
                  </a:moveTo>
                  <a:lnTo>
                    <a:pt x="6505575" y="0"/>
                  </a:lnTo>
                  <a:lnTo>
                    <a:pt x="3248025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504825"/>
                  </a:lnTo>
                  <a:lnTo>
                    <a:pt x="9525" y="504825"/>
                  </a:lnTo>
                  <a:lnTo>
                    <a:pt x="3248025" y="504825"/>
                  </a:lnTo>
                  <a:lnTo>
                    <a:pt x="6505575" y="504825"/>
                  </a:lnTo>
                  <a:lnTo>
                    <a:pt x="9753600" y="504825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38200" y="9582162"/>
              <a:ext cx="9753600" cy="495300"/>
            </a:xfrm>
            <a:custGeom>
              <a:avLst/>
              <a:gdLst/>
              <a:ahLst/>
              <a:cxnLst/>
              <a:rect l="l" t="t" r="r" b="b"/>
              <a:pathLst>
                <a:path w="9753600" h="495300">
                  <a:moveTo>
                    <a:pt x="9753600" y="0"/>
                  </a:moveTo>
                  <a:lnTo>
                    <a:pt x="6505575" y="0"/>
                  </a:lnTo>
                  <a:lnTo>
                    <a:pt x="3248025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495300"/>
                  </a:lnTo>
                  <a:lnTo>
                    <a:pt x="9525" y="495300"/>
                  </a:lnTo>
                  <a:lnTo>
                    <a:pt x="3248025" y="495300"/>
                  </a:lnTo>
                  <a:lnTo>
                    <a:pt x="6505575" y="495300"/>
                  </a:lnTo>
                  <a:lnTo>
                    <a:pt x="9753600" y="495300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38200" y="10077462"/>
              <a:ext cx="9753600" cy="504825"/>
            </a:xfrm>
            <a:custGeom>
              <a:avLst/>
              <a:gdLst/>
              <a:ahLst/>
              <a:cxnLst/>
              <a:rect l="l" t="t" r="r" b="b"/>
              <a:pathLst>
                <a:path w="9753600" h="504825">
                  <a:moveTo>
                    <a:pt x="9753600" y="0"/>
                  </a:moveTo>
                  <a:lnTo>
                    <a:pt x="6505575" y="0"/>
                  </a:lnTo>
                  <a:lnTo>
                    <a:pt x="3248025" y="0"/>
                  </a:lnTo>
                  <a:lnTo>
                    <a:pt x="9525" y="0"/>
                  </a:lnTo>
                  <a:lnTo>
                    <a:pt x="0" y="0"/>
                  </a:lnTo>
                  <a:lnTo>
                    <a:pt x="0" y="504825"/>
                  </a:lnTo>
                  <a:lnTo>
                    <a:pt x="9525" y="504825"/>
                  </a:lnTo>
                  <a:lnTo>
                    <a:pt x="3248025" y="504825"/>
                  </a:lnTo>
                  <a:lnTo>
                    <a:pt x="6505575" y="504825"/>
                  </a:lnTo>
                  <a:lnTo>
                    <a:pt x="9753600" y="504825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38200" y="10582274"/>
              <a:ext cx="9753600" cy="495934"/>
            </a:xfrm>
            <a:custGeom>
              <a:avLst/>
              <a:gdLst/>
              <a:ahLst/>
              <a:cxnLst/>
              <a:rect l="l" t="t" r="r" b="b"/>
              <a:pathLst>
                <a:path w="9753600" h="495934">
                  <a:moveTo>
                    <a:pt x="9753600" y="0"/>
                  </a:moveTo>
                  <a:lnTo>
                    <a:pt x="6505575" y="0"/>
                  </a:lnTo>
                  <a:lnTo>
                    <a:pt x="3248025" y="12"/>
                  </a:lnTo>
                  <a:lnTo>
                    <a:pt x="0" y="0"/>
                  </a:lnTo>
                  <a:lnTo>
                    <a:pt x="0" y="443255"/>
                  </a:lnTo>
                  <a:lnTo>
                    <a:pt x="0" y="495312"/>
                  </a:lnTo>
                  <a:lnTo>
                    <a:pt x="9525" y="495312"/>
                  </a:lnTo>
                  <a:lnTo>
                    <a:pt x="9525" y="468490"/>
                  </a:lnTo>
                  <a:lnTo>
                    <a:pt x="11938" y="472097"/>
                  </a:lnTo>
                  <a:lnTo>
                    <a:pt x="23190" y="483349"/>
                  </a:lnTo>
                  <a:lnTo>
                    <a:pt x="29679" y="487692"/>
                  </a:lnTo>
                  <a:lnTo>
                    <a:pt x="44386" y="493776"/>
                  </a:lnTo>
                  <a:lnTo>
                    <a:pt x="52044" y="495300"/>
                  </a:lnTo>
                  <a:lnTo>
                    <a:pt x="3248025" y="495300"/>
                  </a:lnTo>
                  <a:lnTo>
                    <a:pt x="6505575" y="495312"/>
                  </a:lnTo>
                  <a:lnTo>
                    <a:pt x="9701543" y="495300"/>
                  </a:lnTo>
                  <a:lnTo>
                    <a:pt x="9741649" y="472097"/>
                  </a:lnTo>
                  <a:lnTo>
                    <a:pt x="9753600" y="443255"/>
                  </a:lnTo>
                  <a:lnTo>
                    <a:pt x="9753600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98289" y="7426325"/>
            <a:ext cx="153797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60" b="1">
                <a:solidFill>
                  <a:srgbClr val="272424"/>
                </a:solidFill>
                <a:latin typeface="Tahoma"/>
                <a:cs typeface="Tahoma"/>
              </a:rPr>
              <a:t>FI</a:t>
            </a:r>
            <a:r>
              <a:rPr dirty="0" sz="1350" spc="-10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70" b="1">
                <a:solidFill>
                  <a:srgbClr val="272424"/>
                </a:solidFill>
                <a:latin typeface="Tahoma"/>
                <a:cs typeface="Tahoma"/>
              </a:rPr>
              <a:t>Report</a:t>
            </a:r>
            <a:r>
              <a:rPr dirty="0" sz="1350" spc="-9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Category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53458" y="7426325"/>
            <a:ext cx="118935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65" b="1">
                <a:solidFill>
                  <a:srgbClr val="272424"/>
                </a:solidFill>
                <a:latin typeface="Tahoma"/>
                <a:cs typeface="Tahoma"/>
              </a:rPr>
              <a:t>What</a:t>
            </a:r>
            <a:r>
              <a:rPr dirty="0" sz="1350" spc="-10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85" b="1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r>
              <a:rPr dirty="0" sz="1350" spc="-10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272424"/>
                </a:solidFill>
                <a:latin typeface="Tahoma"/>
                <a:cs typeface="Tahoma"/>
              </a:rPr>
              <a:t>Shows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03865" y="7426325"/>
            <a:ext cx="995044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40" b="1">
                <a:solidFill>
                  <a:srgbClr val="272424"/>
                </a:solidFill>
                <a:latin typeface="Tahoma"/>
                <a:cs typeface="Tahoma"/>
              </a:rPr>
              <a:t>Who</a:t>
            </a:r>
            <a:r>
              <a:rPr dirty="0" sz="1350" spc="-1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b="1">
                <a:solidFill>
                  <a:srgbClr val="272424"/>
                </a:solidFill>
                <a:latin typeface="Tahoma"/>
                <a:cs typeface="Tahoma"/>
              </a:rPr>
              <a:t>Uses</a:t>
            </a:r>
            <a:r>
              <a:rPr dirty="0" sz="1350" spc="-12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350" spc="-135" b="1">
                <a:solidFill>
                  <a:srgbClr val="272424"/>
                </a:solidFill>
                <a:latin typeface="Tahoma"/>
                <a:cs typeface="Tahoma"/>
              </a:rPr>
              <a:t>It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10989" y="7931150"/>
            <a:ext cx="121983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General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Ledger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266158" y="7870190"/>
            <a:ext cx="196659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29600"/>
              </a:lnSpc>
              <a:spcBef>
                <a:spcPts val="100"/>
              </a:spcBef>
            </a:pP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All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account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balances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and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transactions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16565" y="7931150"/>
            <a:ext cx="1704339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Finance,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Accountants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8200" y="8702675"/>
            <a:ext cx="9753600" cy="2221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2720">
              <a:lnSpc>
                <a:spcPct val="100000"/>
              </a:lnSpc>
              <a:spcBef>
                <a:spcPts val="100"/>
              </a:spcBef>
              <a:tabLst>
                <a:tab pos="3427729" algn="l"/>
                <a:tab pos="6678295" algn="l"/>
              </a:tabLst>
            </a:pP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Accounts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Payable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	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Supplier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invoices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payments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	AP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Team,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Finance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350">
              <a:latin typeface="Verdana"/>
              <a:cs typeface="Verdana"/>
            </a:endParaRPr>
          </a:p>
          <a:p>
            <a:pPr marL="172720">
              <a:lnSpc>
                <a:spcPct val="100000"/>
              </a:lnSpc>
              <a:spcBef>
                <a:spcPts val="5"/>
              </a:spcBef>
              <a:tabLst>
                <a:tab pos="3427729" algn="l"/>
                <a:tab pos="6678295" algn="l"/>
              </a:tabLst>
            </a:pP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Accounts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Receivable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	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Customer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invoices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receipts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	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AR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Team,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Finance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350">
              <a:latin typeface="Verdana"/>
              <a:cs typeface="Verdana"/>
            </a:endParaRPr>
          </a:p>
          <a:p>
            <a:pPr marL="172720">
              <a:lnSpc>
                <a:spcPct val="100000"/>
              </a:lnSpc>
              <a:tabLst>
                <a:tab pos="3427729" algn="l"/>
                <a:tab pos="6678295" algn="l"/>
              </a:tabLst>
            </a:pP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Asset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Accounting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	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Fixed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asset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values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depreciation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	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Asset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Accountant</a:t>
            </a:r>
            <a:endParaRPr sz="1350">
              <a:latin typeface="Verdana"/>
              <a:cs typeface="Verdana"/>
            </a:endParaRPr>
          </a:p>
          <a:p>
            <a:pPr marL="172720" marR="1294765">
              <a:lnSpc>
                <a:spcPct val="240700"/>
              </a:lnSpc>
              <a:spcBef>
                <a:spcPts val="5"/>
              </a:spcBef>
              <a:tabLst>
                <a:tab pos="3427729" algn="l"/>
                <a:tab pos="6678295" algn="l"/>
              </a:tabLst>
            </a:pP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Tax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	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Input/output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tax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summaries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	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Tax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Team,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Finance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Statements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	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Balance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Sheet,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P&amp;L,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Cash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Flow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	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Management,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Auditors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5324" y="11418387"/>
            <a:ext cx="7318012" cy="193588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7984749" y="13751543"/>
            <a:ext cx="930910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8260" marR="5080" indent="-36195">
              <a:lnSpc>
                <a:spcPct val="109400"/>
              </a:lnSpc>
              <a:spcBef>
                <a:spcPts val="90"/>
              </a:spcBef>
            </a:pPr>
            <a:r>
              <a:rPr dirty="0" sz="1700" spc="-70" b="1">
                <a:solidFill>
                  <a:srgbClr val="272424"/>
                </a:solidFill>
                <a:latin typeface="Tahoma"/>
                <a:cs typeface="Tahoma"/>
              </a:rPr>
              <a:t>Payment </a:t>
            </a:r>
            <a:r>
              <a:rPr dirty="0" sz="1700" spc="-20" b="1">
                <a:solidFill>
                  <a:srgbClr val="272424"/>
                </a:solidFill>
                <a:latin typeface="Tahoma"/>
                <a:cs typeface="Tahoma"/>
              </a:rPr>
              <a:t>Planned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02783" y="13751543"/>
            <a:ext cx="1098550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22860">
              <a:lnSpc>
                <a:spcPct val="109400"/>
              </a:lnSpc>
              <a:spcBef>
                <a:spcPts val="90"/>
              </a:spcBef>
            </a:pPr>
            <a:r>
              <a:rPr dirty="0" sz="1700" b="1">
                <a:solidFill>
                  <a:srgbClr val="272424"/>
                </a:solidFill>
                <a:latin typeface="Tahoma"/>
                <a:cs typeface="Tahoma"/>
              </a:rPr>
              <a:t>AP</a:t>
            </a:r>
            <a:r>
              <a:rPr dirty="0" sz="1700" spc="-12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50" b="1">
                <a:solidFill>
                  <a:srgbClr val="272424"/>
                </a:solidFill>
                <a:latin typeface="Tahoma"/>
                <a:cs typeface="Tahoma"/>
              </a:rPr>
              <a:t>Report </a:t>
            </a:r>
            <a:r>
              <a:rPr dirty="0" sz="1700" spc="-65" b="1">
                <a:solidFill>
                  <a:srgbClr val="272424"/>
                </a:solidFill>
                <a:latin typeface="Tahoma"/>
                <a:cs typeface="Tahoma"/>
              </a:rPr>
              <a:t>Generated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43410" y="13751543"/>
            <a:ext cx="1440815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28015" marR="5080" indent="-615950">
              <a:lnSpc>
                <a:spcPct val="109400"/>
              </a:lnSpc>
              <a:spcBef>
                <a:spcPts val="90"/>
              </a:spcBef>
            </a:pPr>
            <a:r>
              <a:rPr dirty="0" sz="1700" spc="-55" b="1">
                <a:solidFill>
                  <a:srgbClr val="272424"/>
                </a:solidFill>
                <a:latin typeface="Tahoma"/>
                <a:cs typeface="Tahoma"/>
              </a:rPr>
              <a:t>Posted</a:t>
            </a:r>
            <a:r>
              <a:rPr dirty="0" sz="1700" spc="-1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65" b="1">
                <a:solidFill>
                  <a:srgbClr val="272424"/>
                </a:solidFill>
                <a:latin typeface="Tahoma"/>
                <a:cs typeface="Tahoma"/>
              </a:rPr>
              <a:t>in</a:t>
            </a:r>
            <a:r>
              <a:rPr dirty="0" sz="1700" spc="-1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25" b="1">
                <a:solidFill>
                  <a:srgbClr val="272424"/>
                </a:solidFill>
                <a:latin typeface="Tahoma"/>
                <a:cs typeface="Tahoma"/>
              </a:rPr>
              <a:t>SAP FI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51565" y="13751543"/>
            <a:ext cx="969644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02870">
              <a:lnSpc>
                <a:spcPct val="109400"/>
              </a:lnSpc>
              <a:spcBef>
                <a:spcPts val="90"/>
              </a:spcBef>
            </a:pP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Invoice </a:t>
            </a:r>
            <a:r>
              <a:rPr dirty="0" sz="1700" spc="-50" b="1">
                <a:solidFill>
                  <a:srgbClr val="272424"/>
                </a:solidFill>
                <a:latin typeface="Tahoma"/>
                <a:cs typeface="Tahoma"/>
              </a:rPr>
              <a:t>Received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5975" y="14899639"/>
            <a:ext cx="948944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flow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shows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how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AP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reporting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works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in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practice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—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from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receiving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invoice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making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payment,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with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reports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supporting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each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step.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5975" y="454025"/>
            <a:ext cx="65925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5"/>
              <a:t>Financial</a:t>
            </a:r>
            <a:r>
              <a:rPr dirty="0" spc="-355"/>
              <a:t> </a:t>
            </a:r>
            <a:r>
              <a:rPr dirty="0" spc="-150"/>
              <a:t>Statements</a:t>
            </a:r>
            <a:r>
              <a:rPr dirty="0" spc="-350"/>
              <a:t> </a:t>
            </a:r>
            <a:r>
              <a:rPr dirty="0" spc="-145"/>
              <a:t>in</a:t>
            </a:r>
            <a:r>
              <a:rPr dirty="0" spc="-350"/>
              <a:t> </a:t>
            </a:r>
            <a:r>
              <a:rPr dirty="0"/>
              <a:t>SAP</a:t>
            </a:r>
            <a:r>
              <a:rPr dirty="0" spc="-350"/>
              <a:t> </a:t>
            </a:r>
            <a:r>
              <a:rPr dirty="0" spc="-90"/>
              <a:t>FICO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4"/>
            <a:ext cx="9698990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statements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among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most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important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outputs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FI.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They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provide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formal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summary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company's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position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performance.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generate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these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statements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directly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from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stored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in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system,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reducing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manual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effort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improving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accuracy.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8200" y="2381250"/>
            <a:ext cx="4781550" cy="2371725"/>
          </a:xfrm>
          <a:custGeom>
            <a:avLst/>
            <a:gdLst/>
            <a:ahLst/>
            <a:cxnLst/>
            <a:rect l="l" t="t" r="r" b="b"/>
            <a:pathLst>
              <a:path w="4781550" h="2371725">
                <a:moveTo>
                  <a:pt x="0" y="2305050"/>
                </a:moveTo>
                <a:lnTo>
                  <a:pt x="0" y="66675"/>
                </a:lnTo>
                <a:lnTo>
                  <a:pt x="0" y="62293"/>
                </a:lnTo>
                <a:lnTo>
                  <a:pt x="428" y="57959"/>
                </a:lnTo>
                <a:lnTo>
                  <a:pt x="11239" y="29632"/>
                </a:lnTo>
                <a:lnTo>
                  <a:pt x="13668" y="25993"/>
                </a:lnTo>
                <a:lnTo>
                  <a:pt x="16430" y="22621"/>
                </a:lnTo>
                <a:lnTo>
                  <a:pt x="19526" y="19526"/>
                </a:lnTo>
                <a:lnTo>
                  <a:pt x="22621" y="16430"/>
                </a:lnTo>
                <a:lnTo>
                  <a:pt x="25993" y="13668"/>
                </a:lnTo>
                <a:lnTo>
                  <a:pt x="29632" y="11239"/>
                </a:lnTo>
                <a:lnTo>
                  <a:pt x="33270" y="8801"/>
                </a:lnTo>
                <a:lnTo>
                  <a:pt x="62293" y="0"/>
                </a:lnTo>
                <a:lnTo>
                  <a:pt x="66675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68" y="323"/>
                </a:lnTo>
                <a:lnTo>
                  <a:pt x="4740916" y="971"/>
                </a:lnTo>
                <a:lnTo>
                  <a:pt x="4744164" y="1619"/>
                </a:lnTo>
                <a:lnTo>
                  <a:pt x="4774882" y="25193"/>
                </a:lnTo>
                <a:lnTo>
                  <a:pt x="4777701" y="31165"/>
                </a:lnTo>
                <a:lnTo>
                  <a:pt x="4778978" y="34223"/>
                </a:lnTo>
                <a:lnTo>
                  <a:pt x="4779930" y="37385"/>
                </a:lnTo>
                <a:lnTo>
                  <a:pt x="4780578" y="40633"/>
                </a:lnTo>
                <a:lnTo>
                  <a:pt x="4781226" y="43881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2321242"/>
                </a:lnTo>
                <a:lnTo>
                  <a:pt x="4781550" y="2324557"/>
                </a:lnTo>
                <a:lnTo>
                  <a:pt x="4781226" y="2327843"/>
                </a:lnTo>
                <a:lnTo>
                  <a:pt x="4780578" y="2331091"/>
                </a:lnTo>
                <a:lnTo>
                  <a:pt x="4779930" y="2334339"/>
                </a:lnTo>
                <a:lnTo>
                  <a:pt x="4778978" y="2337501"/>
                </a:lnTo>
                <a:lnTo>
                  <a:pt x="4777701" y="2340559"/>
                </a:lnTo>
                <a:lnTo>
                  <a:pt x="4776435" y="2343626"/>
                </a:lnTo>
                <a:lnTo>
                  <a:pt x="4747326" y="2369153"/>
                </a:lnTo>
                <a:lnTo>
                  <a:pt x="4740916" y="2370753"/>
                </a:lnTo>
                <a:lnTo>
                  <a:pt x="4737668" y="2371401"/>
                </a:lnTo>
                <a:lnTo>
                  <a:pt x="4734382" y="2371725"/>
                </a:lnTo>
                <a:lnTo>
                  <a:pt x="4731067" y="2371725"/>
                </a:lnTo>
                <a:lnTo>
                  <a:pt x="66675" y="2371725"/>
                </a:lnTo>
                <a:lnTo>
                  <a:pt x="62293" y="2371725"/>
                </a:lnTo>
                <a:lnTo>
                  <a:pt x="57959" y="2371296"/>
                </a:lnTo>
                <a:lnTo>
                  <a:pt x="53663" y="2370439"/>
                </a:lnTo>
                <a:lnTo>
                  <a:pt x="49377" y="2369591"/>
                </a:lnTo>
                <a:lnTo>
                  <a:pt x="29632" y="2360485"/>
                </a:lnTo>
                <a:lnTo>
                  <a:pt x="25993" y="2358056"/>
                </a:lnTo>
                <a:lnTo>
                  <a:pt x="11239" y="2342092"/>
                </a:lnTo>
                <a:lnTo>
                  <a:pt x="8801" y="2338454"/>
                </a:lnTo>
                <a:lnTo>
                  <a:pt x="0" y="2309431"/>
                </a:lnTo>
                <a:lnTo>
                  <a:pt x="0" y="2305050"/>
                </a:lnTo>
                <a:close/>
              </a:path>
            </a:pathLst>
          </a:custGeom>
          <a:ln w="19050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2675" y="2544762"/>
            <a:ext cx="4206240" cy="19983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5" b="1">
                <a:solidFill>
                  <a:srgbClr val="272424"/>
                </a:solidFill>
                <a:latin typeface="Tahoma"/>
                <a:cs typeface="Tahoma"/>
              </a:rPr>
              <a:t>Balance</a:t>
            </a:r>
            <a:r>
              <a:rPr dirty="0" sz="1650" spc="-14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272424"/>
                </a:solidFill>
                <a:latin typeface="Tahoma"/>
                <a:cs typeface="Tahoma"/>
              </a:rPr>
              <a:t>Sheet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555"/>
              </a:spcBef>
            </a:pP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balance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sheet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shows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what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company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owns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(assets),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what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it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owes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(liabilities),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owner's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equity.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60">
                <a:solidFill>
                  <a:srgbClr val="272424"/>
                </a:solidFill>
                <a:latin typeface="Verdana"/>
                <a:cs typeface="Verdana"/>
              </a:rPr>
              <a:t>It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represents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position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at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specific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point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in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time.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example,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balance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sheet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show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that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company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has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₹50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lakh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in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assets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₹20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lakh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in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liabilities,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meaning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equity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₹30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lakh.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10250" y="2381250"/>
            <a:ext cx="4781550" cy="2371725"/>
          </a:xfrm>
          <a:custGeom>
            <a:avLst/>
            <a:gdLst/>
            <a:ahLst/>
            <a:cxnLst/>
            <a:rect l="l" t="t" r="r" b="b"/>
            <a:pathLst>
              <a:path w="4781550" h="2371725">
                <a:moveTo>
                  <a:pt x="0" y="2305050"/>
                </a:moveTo>
                <a:lnTo>
                  <a:pt x="0" y="66675"/>
                </a:lnTo>
                <a:lnTo>
                  <a:pt x="0" y="62293"/>
                </a:lnTo>
                <a:lnTo>
                  <a:pt x="428" y="57959"/>
                </a:lnTo>
                <a:lnTo>
                  <a:pt x="11239" y="29632"/>
                </a:lnTo>
                <a:lnTo>
                  <a:pt x="13668" y="25993"/>
                </a:lnTo>
                <a:lnTo>
                  <a:pt x="16430" y="22621"/>
                </a:lnTo>
                <a:lnTo>
                  <a:pt x="19526" y="19526"/>
                </a:lnTo>
                <a:lnTo>
                  <a:pt x="22621" y="16430"/>
                </a:lnTo>
                <a:lnTo>
                  <a:pt x="25993" y="13668"/>
                </a:lnTo>
                <a:lnTo>
                  <a:pt x="29632" y="11239"/>
                </a:lnTo>
                <a:lnTo>
                  <a:pt x="33270" y="8801"/>
                </a:lnTo>
                <a:lnTo>
                  <a:pt x="62293" y="0"/>
                </a:lnTo>
                <a:lnTo>
                  <a:pt x="66675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68" y="323"/>
                </a:lnTo>
                <a:lnTo>
                  <a:pt x="4740916" y="971"/>
                </a:lnTo>
                <a:lnTo>
                  <a:pt x="4744164" y="1619"/>
                </a:lnTo>
                <a:lnTo>
                  <a:pt x="4774882" y="25193"/>
                </a:lnTo>
                <a:lnTo>
                  <a:pt x="4777701" y="31165"/>
                </a:lnTo>
                <a:lnTo>
                  <a:pt x="4778978" y="34223"/>
                </a:lnTo>
                <a:lnTo>
                  <a:pt x="4779930" y="37385"/>
                </a:lnTo>
                <a:lnTo>
                  <a:pt x="4780578" y="40633"/>
                </a:lnTo>
                <a:lnTo>
                  <a:pt x="4781226" y="43881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2321242"/>
                </a:lnTo>
                <a:lnTo>
                  <a:pt x="4781550" y="2324557"/>
                </a:lnTo>
                <a:lnTo>
                  <a:pt x="4781226" y="2327843"/>
                </a:lnTo>
                <a:lnTo>
                  <a:pt x="4780578" y="2331091"/>
                </a:lnTo>
                <a:lnTo>
                  <a:pt x="4779930" y="2334339"/>
                </a:lnTo>
                <a:lnTo>
                  <a:pt x="4778978" y="2337501"/>
                </a:lnTo>
                <a:lnTo>
                  <a:pt x="4777701" y="2340559"/>
                </a:lnTo>
                <a:lnTo>
                  <a:pt x="4776435" y="2343626"/>
                </a:lnTo>
                <a:lnTo>
                  <a:pt x="4747326" y="2369153"/>
                </a:lnTo>
                <a:lnTo>
                  <a:pt x="4740916" y="2370753"/>
                </a:lnTo>
                <a:lnTo>
                  <a:pt x="4737668" y="2371401"/>
                </a:lnTo>
                <a:lnTo>
                  <a:pt x="4734382" y="2371725"/>
                </a:lnTo>
                <a:lnTo>
                  <a:pt x="4731067" y="2371725"/>
                </a:lnTo>
                <a:lnTo>
                  <a:pt x="66675" y="2371725"/>
                </a:lnTo>
                <a:lnTo>
                  <a:pt x="62293" y="2371725"/>
                </a:lnTo>
                <a:lnTo>
                  <a:pt x="57959" y="2371296"/>
                </a:lnTo>
                <a:lnTo>
                  <a:pt x="53663" y="2370439"/>
                </a:lnTo>
                <a:lnTo>
                  <a:pt x="49377" y="2369591"/>
                </a:lnTo>
                <a:lnTo>
                  <a:pt x="29632" y="2360485"/>
                </a:lnTo>
                <a:lnTo>
                  <a:pt x="25993" y="2358056"/>
                </a:lnTo>
                <a:lnTo>
                  <a:pt x="11239" y="2342092"/>
                </a:lnTo>
                <a:lnTo>
                  <a:pt x="8801" y="2338454"/>
                </a:lnTo>
                <a:lnTo>
                  <a:pt x="0" y="2309431"/>
                </a:lnTo>
                <a:lnTo>
                  <a:pt x="0" y="2305050"/>
                </a:lnTo>
                <a:close/>
              </a:path>
            </a:pathLst>
          </a:custGeom>
          <a:ln w="19050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054725" y="2544762"/>
            <a:ext cx="4327525" cy="1722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 b="1">
                <a:solidFill>
                  <a:srgbClr val="272424"/>
                </a:solidFill>
                <a:latin typeface="Tahoma"/>
                <a:cs typeface="Tahoma"/>
              </a:rPr>
              <a:t>Profit</a:t>
            </a:r>
            <a:r>
              <a:rPr dirty="0" sz="1650" spc="-1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40" b="1">
                <a:solidFill>
                  <a:srgbClr val="272424"/>
                </a:solidFill>
                <a:latin typeface="Tahoma"/>
                <a:cs typeface="Tahoma"/>
              </a:rPr>
              <a:t>and</a:t>
            </a:r>
            <a:r>
              <a:rPr dirty="0" sz="1650" spc="-1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Loss</a:t>
            </a:r>
            <a:r>
              <a:rPr dirty="0" sz="1650" spc="-15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Statement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900"/>
              </a:lnSpc>
              <a:spcBef>
                <a:spcPts val="580"/>
              </a:spcBef>
            </a:pP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P&amp;L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statement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shows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revenues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expenses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over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period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(such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as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month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year).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difference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between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revenue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expenses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profit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loss.</a:t>
            </a:r>
            <a:endParaRPr sz="1350">
              <a:latin typeface="Verdana"/>
              <a:cs typeface="Verdana"/>
            </a:endParaRPr>
          </a:p>
          <a:p>
            <a:pPr marL="12700" marR="529590">
              <a:lnSpc>
                <a:spcPct val="134300"/>
              </a:lnSpc>
            </a:pP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helps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understand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whether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the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business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making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money.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38200" y="4943475"/>
            <a:ext cx="4781550" cy="2381250"/>
          </a:xfrm>
          <a:custGeom>
            <a:avLst/>
            <a:gdLst/>
            <a:ahLst/>
            <a:cxnLst/>
            <a:rect l="l" t="t" r="r" b="b"/>
            <a:pathLst>
              <a:path w="4781550" h="2381250">
                <a:moveTo>
                  <a:pt x="0" y="2314575"/>
                </a:moveTo>
                <a:lnTo>
                  <a:pt x="0" y="66675"/>
                </a:lnTo>
                <a:lnTo>
                  <a:pt x="0" y="62293"/>
                </a:lnTo>
                <a:lnTo>
                  <a:pt x="428" y="57959"/>
                </a:lnTo>
                <a:lnTo>
                  <a:pt x="11239" y="29632"/>
                </a:lnTo>
                <a:lnTo>
                  <a:pt x="13668" y="25993"/>
                </a:lnTo>
                <a:lnTo>
                  <a:pt x="16430" y="22621"/>
                </a:lnTo>
                <a:lnTo>
                  <a:pt x="19526" y="19526"/>
                </a:lnTo>
                <a:lnTo>
                  <a:pt x="22621" y="16430"/>
                </a:lnTo>
                <a:lnTo>
                  <a:pt x="25993" y="13668"/>
                </a:lnTo>
                <a:lnTo>
                  <a:pt x="29632" y="11239"/>
                </a:lnTo>
                <a:lnTo>
                  <a:pt x="33270" y="8801"/>
                </a:lnTo>
                <a:lnTo>
                  <a:pt x="62293" y="0"/>
                </a:lnTo>
                <a:lnTo>
                  <a:pt x="66675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68" y="323"/>
                </a:lnTo>
                <a:lnTo>
                  <a:pt x="4740916" y="971"/>
                </a:lnTo>
                <a:lnTo>
                  <a:pt x="4744164" y="1619"/>
                </a:lnTo>
                <a:lnTo>
                  <a:pt x="4759109" y="8505"/>
                </a:lnTo>
                <a:lnTo>
                  <a:pt x="4761871" y="10344"/>
                </a:lnTo>
                <a:lnTo>
                  <a:pt x="4777701" y="31165"/>
                </a:lnTo>
                <a:lnTo>
                  <a:pt x="4778978" y="34223"/>
                </a:lnTo>
                <a:lnTo>
                  <a:pt x="4779930" y="37385"/>
                </a:lnTo>
                <a:lnTo>
                  <a:pt x="4780578" y="40633"/>
                </a:lnTo>
                <a:lnTo>
                  <a:pt x="4781226" y="43881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2330767"/>
                </a:lnTo>
                <a:lnTo>
                  <a:pt x="4781550" y="2334082"/>
                </a:lnTo>
                <a:lnTo>
                  <a:pt x="4781226" y="2337368"/>
                </a:lnTo>
                <a:lnTo>
                  <a:pt x="4780578" y="2340616"/>
                </a:lnTo>
                <a:lnTo>
                  <a:pt x="4779930" y="2343864"/>
                </a:lnTo>
                <a:lnTo>
                  <a:pt x="4778978" y="2347026"/>
                </a:lnTo>
                <a:lnTo>
                  <a:pt x="4777701" y="2350084"/>
                </a:lnTo>
                <a:lnTo>
                  <a:pt x="4776435" y="2353151"/>
                </a:lnTo>
                <a:lnTo>
                  <a:pt x="4750384" y="2377401"/>
                </a:lnTo>
                <a:lnTo>
                  <a:pt x="4747326" y="2378678"/>
                </a:lnTo>
                <a:lnTo>
                  <a:pt x="4744164" y="2379630"/>
                </a:lnTo>
                <a:lnTo>
                  <a:pt x="4740916" y="2380278"/>
                </a:lnTo>
                <a:lnTo>
                  <a:pt x="4737668" y="2380926"/>
                </a:lnTo>
                <a:lnTo>
                  <a:pt x="4734382" y="2381250"/>
                </a:lnTo>
                <a:lnTo>
                  <a:pt x="4731067" y="2381250"/>
                </a:lnTo>
                <a:lnTo>
                  <a:pt x="66675" y="2381250"/>
                </a:lnTo>
                <a:lnTo>
                  <a:pt x="62293" y="2381250"/>
                </a:lnTo>
                <a:lnTo>
                  <a:pt x="57959" y="2380821"/>
                </a:lnTo>
                <a:lnTo>
                  <a:pt x="53663" y="2379964"/>
                </a:lnTo>
                <a:lnTo>
                  <a:pt x="49377" y="2379116"/>
                </a:lnTo>
                <a:lnTo>
                  <a:pt x="29632" y="2370010"/>
                </a:lnTo>
                <a:lnTo>
                  <a:pt x="25993" y="2367581"/>
                </a:lnTo>
                <a:lnTo>
                  <a:pt x="11239" y="2351617"/>
                </a:lnTo>
                <a:lnTo>
                  <a:pt x="8801" y="2347979"/>
                </a:lnTo>
                <a:lnTo>
                  <a:pt x="0" y="2318956"/>
                </a:lnTo>
                <a:lnTo>
                  <a:pt x="0" y="2314575"/>
                </a:lnTo>
                <a:close/>
              </a:path>
            </a:pathLst>
          </a:custGeom>
          <a:ln w="19050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82675" y="5106987"/>
            <a:ext cx="4364990" cy="19983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272424"/>
                </a:solidFill>
                <a:latin typeface="Tahoma"/>
                <a:cs typeface="Tahoma"/>
              </a:rPr>
              <a:t>Cash</a:t>
            </a:r>
            <a:r>
              <a:rPr dirty="0" sz="1650" spc="-1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60" b="1">
                <a:solidFill>
                  <a:srgbClr val="272424"/>
                </a:solidFill>
                <a:latin typeface="Tahoma"/>
                <a:cs typeface="Tahoma"/>
              </a:rPr>
              <a:t>Flow</a:t>
            </a:r>
            <a:r>
              <a:rPr dirty="0" sz="1650" spc="-15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Information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555"/>
              </a:spcBef>
            </a:pP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Cash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flow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show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money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coming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going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out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business.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They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help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assess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liquidity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—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whether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company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has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enough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cash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meet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short-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term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obligations.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company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be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profitable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on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paper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but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still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face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cash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flow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problems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if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customers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delay payments.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10250" y="4943475"/>
            <a:ext cx="4781550" cy="2381250"/>
          </a:xfrm>
          <a:custGeom>
            <a:avLst/>
            <a:gdLst/>
            <a:ahLst/>
            <a:cxnLst/>
            <a:rect l="l" t="t" r="r" b="b"/>
            <a:pathLst>
              <a:path w="4781550" h="2381250">
                <a:moveTo>
                  <a:pt x="0" y="2314575"/>
                </a:moveTo>
                <a:lnTo>
                  <a:pt x="0" y="66675"/>
                </a:lnTo>
                <a:lnTo>
                  <a:pt x="0" y="62293"/>
                </a:lnTo>
                <a:lnTo>
                  <a:pt x="428" y="57959"/>
                </a:lnTo>
                <a:lnTo>
                  <a:pt x="11239" y="29632"/>
                </a:lnTo>
                <a:lnTo>
                  <a:pt x="13668" y="25993"/>
                </a:lnTo>
                <a:lnTo>
                  <a:pt x="16430" y="22621"/>
                </a:lnTo>
                <a:lnTo>
                  <a:pt x="19526" y="19526"/>
                </a:lnTo>
                <a:lnTo>
                  <a:pt x="22621" y="16430"/>
                </a:lnTo>
                <a:lnTo>
                  <a:pt x="25993" y="13668"/>
                </a:lnTo>
                <a:lnTo>
                  <a:pt x="29632" y="11239"/>
                </a:lnTo>
                <a:lnTo>
                  <a:pt x="33270" y="8801"/>
                </a:lnTo>
                <a:lnTo>
                  <a:pt x="62293" y="0"/>
                </a:lnTo>
                <a:lnTo>
                  <a:pt x="66675" y="0"/>
                </a:lnTo>
                <a:lnTo>
                  <a:pt x="4731067" y="0"/>
                </a:lnTo>
                <a:lnTo>
                  <a:pt x="4734382" y="0"/>
                </a:lnTo>
                <a:lnTo>
                  <a:pt x="4737668" y="323"/>
                </a:lnTo>
                <a:lnTo>
                  <a:pt x="4740916" y="971"/>
                </a:lnTo>
                <a:lnTo>
                  <a:pt x="4744164" y="1619"/>
                </a:lnTo>
                <a:lnTo>
                  <a:pt x="4774882" y="25193"/>
                </a:lnTo>
                <a:lnTo>
                  <a:pt x="4777701" y="31165"/>
                </a:lnTo>
                <a:lnTo>
                  <a:pt x="4778978" y="34223"/>
                </a:lnTo>
                <a:lnTo>
                  <a:pt x="4779930" y="37385"/>
                </a:lnTo>
                <a:lnTo>
                  <a:pt x="4780578" y="40633"/>
                </a:lnTo>
                <a:lnTo>
                  <a:pt x="4781226" y="43881"/>
                </a:lnTo>
                <a:lnTo>
                  <a:pt x="4781550" y="47167"/>
                </a:lnTo>
                <a:lnTo>
                  <a:pt x="4781550" y="50482"/>
                </a:lnTo>
                <a:lnTo>
                  <a:pt x="4781550" y="2330767"/>
                </a:lnTo>
                <a:lnTo>
                  <a:pt x="4781550" y="2334082"/>
                </a:lnTo>
                <a:lnTo>
                  <a:pt x="4781226" y="2337368"/>
                </a:lnTo>
                <a:lnTo>
                  <a:pt x="4780578" y="2340616"/>
                </a:lnTo>
                <a:lnTo>
                  <a:pt x="4779930" y="2343864"/>
                </a:lnTo>
                <a:lnTo>
                  <a:pt x="4778978" y="2347026"/>
                </a:lnTo>
                <a:lnTo>
                  <a:pt x="4777701" y="2350084"/>
                </a:lnTo>
                <a:lnTo>
                  <a:pt x="4776435" y="2353151"/>
                </a:lnTo>
                <a:lnTo>
                  <a:pt x="4750384" y="2377401"/>
                </a:lnTo>
                <a:lnTo>
                  <a:pt x="4747326" y="2378678"/>
                </a:lnTo>
                <a:lnTo>
                  <a:pt x="4744164" y="2379630"/>
                </a:lnTo>
                <a:lnTo>
                  <a:pt x="4740916" y="2380278"/>
                </a:lnTo>
                <a:lnTo>
                  <a:pt x="4737668" y="2380926"/>
                </a:lnTo>
                <a:lnTo>
                  <a:pt x="4734382" y="2381250"/>
                </a:lnTo>
                <a:lnTo>
                  <a:pt x="4731067" y="2381250"/>
                </a:lnTo>
                <a:lnTo>
                  <a:pt x="66675" y="2381250"/>
                </a:lnTo>
                <a:lnTo>
                  <a:pt x="62293" y="2381250"/>
                </a:lnTo>
                <a:lnTo>
                  <a:pt x="57959" y="2380821"/>
                </a:lnTo>
                <a:lnTo>
                  <a:pt x="53663" y="2379964"/>
                </a:lnTo>
                <a:lnTo>
                  <a:pt x="49377" y="2379116"/>
                </a:lnTo>
                <a:lnTo>
                  <a:pt x="29632" y="2370010"/>
                </a:lnTo>
                <a:lnTo>
                  <a:pt x="25993" y="2367581"/>
                </a:lnTo>
                <a:lnTo>
                  <a:pt x="11239" y="2351617"/>
                </a:lnTo>
                <a:lnTo>
                  <a:pt x="8801" y="2347979"/>
                </a:lnTo>
                <a:lnTo>
                  <a:pt x="0" y="2318956"/>
                </a:lnTo>
                <a:lnTo>
                  <a:pt x="0" y="2314575"/>
                </a:lnTo>
                <a:close/>
              </a:path>
            </a:pathLst>
          </a:custGeom>
          <a:ln w="19050">
            <a:solidFill>
              <a:srgbClr val="C0C1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054725" y="5106987"/>
            <a:ext cx="4159250" cy="1722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 b="1">
                <a:solidFill>
                  <a:srgbClr val="272424"/>
                </a:solidFill>
                <a:latin typeface="Tahoma"/>
                <a:cs typeface="Tahoma"/>
              </a:rPr>
              <a:t>Trial</a:t>
            </a:r>
            <a:r>
              <a:rPr dirty="0" sz="1650" spc="-1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272424"/>
                </a:solidFill>
                <a:latin typeface="Tahoma"/>
                <a:cs typeface="Tahoma"/>
              </a:rPr>
              <a:t>Balance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100"/>
              </a:lnSpc>
              <a:spcBef>
                <a:spcPts val="560"/>
              </a:spcBef>
            </a:pP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trial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balance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lists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all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G/L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accounts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with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their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debit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credit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balances.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60">
                <a:solidFill>
                  <a:srgbClr val="272424"/>
                </a:solidFill>
                <a:latin typeface="Verdana"/>
                <a:cs typeface="Verdana"/>
              </a:rPr>
              <a:t>It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used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check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that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the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accounting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records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balanced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before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preparing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statements.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If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debits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do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not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equal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credits,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it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indicates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an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error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that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needs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be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resolved.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16764" y="7712679"/>
            <a:ext cx="9396730" cy="3910965"/>
          </a:xfrm>
          <a:custGeom>
            <a:avLst/>
            <a:gdLst/>
            <a:ahLst/>
            <a:cxnLst/>
            <a:rect l="l" t="t" r="r" b="b"/>
            <a:pathLst>
              <a:path w="9396730" h="3910965">
                <a:moveTo>
                  <a:pt x="4541314" y="3910832"/>
                </a:moveTo>
                <a:lnTo>
                  <a:pt x="2529899" y="3903404"/>
                </a:lnTo>
                <a:lnTo>
                  <a:pt x="2482606" y="3897795"/>
                </a:lnTo>
                <a:lnTo>
                  <a:pt x="2439213" y="3882146"/>
                </a:lnTo>
                <a:lnTo>
                  <a:pt x="2400950" y="3857693"/>
                </a:lnTo>
                <a:lnTo>
                  <a:pt x="2369047" y="3825671"/>
                </a:lnTo>
                <a:lnTo>
                  <a:pt x="2344736" y="3787315"/>
                </a:lnTo>
                <a:lnTo>
                  <a:pt x="2329247" y="3743861"/>
                </a:lnTo>
                <a:lnTo>
                  <a:pt x="2323810" y="3696544"/>
                </a:lnTo>
                <a:lnTo>
                  <a:pt x="2323810" y="2006835"/>
                </a:lnTo>
                <a:lnTo>
                  <a:pt x="2243859" y="1926883"/>
                </a:lnTo>
                <a:lnTo>
                  <a:pt x="2243859" y="1917960"/>
                </a:lnTo>
                <a:lnTo>
                  <a:pt x="2254869" y="1906940"/>
                </a:lnTo>
                <a:lnTo>
                  <a:pt x="2263802" y="1906940"/>
                </a:lnTo>
                <a:lnTo>
                  <a:pt x="2323810" y="1966948"/>
                </a:lnTo>
                <a:lnTo>
                  <a:pt x="2323810" y="206860"/>
                </a:lnTo>
                <a:lnTo>
                  <a:pt x="2317764" y="161867"/>
                </a:lnTo>
                <a:lnTo>
                  <a:pt x="2300702" y="121437"/>
                </a:lnTo>
                <a:lnTo>
                  <a:pt x="2274238" y="87183"/>
                </a:lnTo>
                <a:lnTo>
                  <a:pt x="2239984" y="60718"/>
                </a:lnTo>
                <a:lnTo>
                  <a:pt x="2199554" y="43656"/>
                </a:lnTo>
                <a:lnTo>
                  <a:pt x="2154561" y="37610"/>
                </a:lnTo>
                <a:lnTo>
                  <a:pt x="288353" y="37610"/>
                </a:lnTo>
                <a:lnTo>
                  <a:pt x="243360" y="43656"/>
                </a:lnTo>
                <a:lnTo>
                  <a:pt x="202930" y="60718"/>
                </a:lnTo>
                <a:lnTo>
                  <a:pt x="168676" y="87183"/>
                </a:lnTo>
                <a:lnTo>
                  <a:pt x="142212" y="121437"/>
                </a:lnTo>
                <a:lnTo>
                  <a:pt x="125150" y="161867"/>
                </a:lnTo>
                <a:lnTo>
                  <a:pt x="119104" y="206860"/>
                </a:lnTo>
                <a:lnTo>
                  <a:pt x="119104" y="1871351"/>
                </a:lnTo>
                <a:lnTo>
                  <a:pt x="151413" y="1883571"/>
                </a:lnTo>
                <a:lnTo>
                  <a:pt x="177252" y="1905548"/>
                </a:lnTo>
                <a:lnTo>
                  <a:pt x="194389" y="1935057"/>
                </a:lnTo>
                <a:lnTo>
                  <a:pt x="200597" y="1969872"/>
                </a:lnTo>
                <a:lnTo>
                  <a:pt x="192715" y="2008912"/>
                </a:lnTo>
                <a:lnTo>
                  <a:pt x="171220" y="2040794"/>
                </a:lnTo>
                <a:lnTo>
                  <a:pt x="139338" y="2062289"/>
                </a:lnTo>
                <a:lnTo>
                  <a:pt x="100298" y="2070171"/>
                </a:lnTo>
                <a:lnTo>
                  <a:pt x="61258" y="2062289"/>
                </a:lnTo>
                <a:lnTo>
                  <a:pt x="29377" y="2040794"/>
                </a:lnTo>
                <a:lnTo>
                  <a:pt x="7882" y="2008912"/>
                </a:lnTo>
                <a:lnTo>
                  <a:pt x="0" y="1969872"/>
                </a:lnTo>
                <a:lnTo>
                  <a:pt x="6208" y="1935057"/>
                </a:lnTo>
                <a:lnTo>
                  <a:pt x="23345" y="1905548"/>
                </a:lnTo>
                <a:lnTo>
                  <a:pt x="49184" y="1883571"/>
                </a:lnTo>
                <a:lnTo>
                  <a:pt x="81493" y="1871351"/>
                </a:lnTo>
                <a:lnTo>
                  <a:pt x="81493" y="206860"/>
                </a:lnTo>
                <a:lnTo>
                  <a:pt x="86956" y="159429"/>
                </a:lnTo>
                <a:lnTo>
                  <a:pt x="102519" y="115889"/>
                </a:lnTo>
                <a:lnTo>
                  <a:pt x="126939" y="77480"/>
                </a:lnTo>
                <a:lnTo>
                  <a:pt x="158974" y="45445"/>
                </a:lnTo>
                <a:lnTo>
                  <a:pt x="197382" y="21025"/>
                </a:lnTo>
                <a:lnTo>
                  <a:pt x="240923" y="5463"/>
                </a:lnTo>
                <a:lnTo>
                  <a:pt x="288353" y="0"/>
                </a:lnTo>
                <a:lnTo>
                  <a:pt x="2154561" y="0"/>
                </a:lnTo>
                <a:lnTo>
                  <a:pt x="2201991" y="5463"/>
                </a:lnTo>
                <a:lnTo>
                  <a:pt x="2245532" y="21025"/>
                </a:lnTo>
                <a:lnTo>
                  <a:pt x="2283940" y="45445"/>
                </a:lnTo>
                <a:lnTo>
                  <a:pt x="2315976" y="77480"/>
                </a:lnTo>
                <a:lnTo>
                  <a:pt x="2340395" y="115889"/>
                </a:lnTo>
                <a:lnTo>
                  <a:pt x="2355958" y="159429"/>
                </a:lnTo>
                <a:lnTo>
                  <a:pt x="2361421" y="206860"/>
                </a:lnTo>
                <a:lnTo>
                  <a:pt x="2361421" y="1824130"/>
                </a:lnTo>
                <a:lnTo>
                  <a:pt x="2363198" y="1824130"/>
                </a:lnTo>
                <a:lnTo>
                  <a:pt x="2363198" y="1978128"/>
                </a:lnTo>
                <a:lnTo>
                  <a:pt x="2434386" y="1906940"/>
                </a:lnTo>
                <a:lnTo>
                  <a:pt x="2443319" y="1906940"/>
                </a:lnTo>
                <a:lnTo>
                  <a:pt x="2454330" y="1917960"/>
                </a:lnTo>
                <a:lnTo>
                  <a:pt x="2454330" y="1926883"/>
                </a:lnTo>
                <a:lnTo>
                  <a:pt x="2361421" y="2019801"/>
                </a:lnTo>
                <a:lnTo>
                  <a:pt x="2361421" y="3696544"/>
                </a:lnTo>
                <a:lnTo>
                  <a:pt x="2367437" y="3741428"/>
                </a:lnTo>
                <a:lnTo>
                  <a:pt x="2384420" y="3781783"/>
                </a:lnTo>
                <a:lnTo>
                  <a:pt x="2410770" y="3816002"/>
                </a:lnTo>
                <a:lnTo>
                  <a:pt x="2444890" y="3842480"/>
                </a:lnTo>
                <a:lnTo>
                  <a:pt x="2485179" y="3859613"/>
                </a:lnTo>
                <a:lnTo>
                  <a:pt x="2530040" y="3865793"/>
                </a:lnTo>
                <a:lnTo>
                  <a:pt x="4541464" y="3873221"/>
                </a:lnTo>
                <a:lnTo>
                  <a:pt x="4586588" y="3867313"/>
                </a:lnTo>
                <a:lnTo>
                  <a:pt x="4627156" y="3850322"/>
                </a:lnTo>
                <a:lnTo>
                  <a:pt x="4661543" y="3823871"/>
                </a:lnTo>
                <a:lnTo>
                  <a:pt x="4688120" y="3789581"/>
                </a:lnTo>
                <a:lnTo>
                  <a:pt x="4705259" y="3749074"/>
                </a:lnTo>
                <a:lnTo>
                  <a:pt x="4711334" y="3703972"/>
                </a:lnTo>
                <a:lnTo>
                  <a:pt x="4711334" y="1954743"/>
                </a:lnTo>
                <a:lnTo>
                  <a:pt x="4642694" y="2023393"/>
                </a:lnTo>
                <a:lnTo>
                  <a:pt x="4633761" y="2023393"/>
                </a:lnTo>
                <a:lnTo>
                  <a:pt x="4622751" y="2012373"/>
                </a:lnTo>
                <a:lnTo>
                  <a:pt x="4622751" y="2003450"/>
                </a:lnTo>
                <a:lnTo>
                  <a:pt x="4711334" y="1914857"/>
                </a:lnTo>
                <a:lnTo>
                  <a:pt x="4711334" y="214974"/>
                </a:lnTo>
                <a:lnTo>
                  <a:pt x="4716770" y="167661"/>
                </a:lnTo>
                <a:lnTo>
                  <a:pt x="4732260" y="124209"/>
                </a:lnTo>
                <a:lnTo>
                  <a:pt x="4756571" y="85854"/>
                </a:lnTo>
                <a:lnTo>
                  <a:pt x="4788473" y="53832"/>
                </a:lnTo>
                <a:lnTo>
                  <a:pt x="4826737" y="29378"/>
                </a:lnTo>
                <a:lnTo>
                  <a:pt x="4870130" y="13727"/>
                </a:lnTo>
                <a:lnTo>
                  <a:pt x="4917423" y="8114"/>
                </a:lnTo>
                <a:lnTo>
                  <a:pt x="6905378" y="705"/>
                </a:lnTo>
                <a:lnTo>
                  <a:pt x="6952945" y="6019"/>
                </a:lnTo>
                <a:lnTo>
                  <a:pt x="6996633" y="21493"/>
                </a:lnTo>
                <a:lnTo>
                  <a:pt x="7035187" y="45878"/>
                </a:lnTo>
                <a:lnTo>
                  <a:pt x="7067354" y="77926"/>
                </a:lnTo>
                <a:lnTo>
                  <a:pt x="7091883" y="116389"/>
                </a:lnTo>
                <a:lnTo>
                  <a:pt x="7107518" y="160018"/>
                </a:lnTo>
                <a:lnTo>
                  <a:pt x="7113009" y="207565"/>
                </a:lnTo>
                <a:lnTo>
                  <a:pt x="7113009" y="1976699"/>
                </a:lnTo>
                <a:lnTo>
                  <a:pt x="7182768" y="1906940"/>
                </a:lnTo>
                <a:lnTo>
                  <a:pt x="7191700" y="1906940"/>
                </a:lnTo>
                <a:lnTo>
                  <a:pt x="7202711" y="1917960"/>
                </a:lnTo>
                <a:lnTo>
                  <a:pt x="7202711" y="1926883"/>
                </a:lnTo>
                <a:lnTo>
                  <a:pt x="7113009" y="2016585"/>
                </a:lnTo>
                <a:lnTo>
                  <a:pt x="7113009" y="3695857"/>
                </a:lnTo>
                <a:lnTo>
                  <a:pt x="7119055" y="3740850"/>
                </a:lnTo>
                <a:lnTo>
                  <a:pt x="7136116" y="3781280"/>
                </a:lnTo>
                <a:lnTo>
                  <a:pt x="7162581" y="3815534"/>
                </a:lnTo>
                <a:lnTo>
                  <a:pt x="7196835" y="3841999"/>
                </a:lnTo>
                <a:lnTo>
                  <a:pt x="7237265" y="3859061"/>
                </a:lnTo>
                <a:lnTo>
                  <a:pt x="7282258" y="3865107"/>
                </a:lnTo>
                <a:lnTo>
                  <a:pt x="9108119" y="3865107"/>
                </a:lnTo>
                <a:lnTo>
                  <a:pt x="9153111" y="3859061"/>
                </a:lnTo>
                <a:lnTo>
                  <a:pt x="9193541" y="3841999"/>
                </a:lnTo>
                <a:lnTo>
                  <a:pt x="9227795" y="3815534"/>
                </a:lnTo>
                <a:lnTo>
                  <a:pt x="9254260" y="3781280"/>
                </a:lnTo>
                <a:lnTo>
                  <a:pt x="9271322" y="3740850"/>
                </a:lnTo>
                <a:lnTo>
                  <a:pt x="9277368" y="3695857"/>
                </a:lnTo>
                <a:lnTo>
                  <a:pt x="9277368" y="2068376"/>
                </a:lnTo>
                <a:lnTo>
                  <a:pt x="9245058" y="2056157"/>
                </a:lnTo>
                <a:lnTo>
                  <a:pt x="9219220" y="2034184"/>
                </a:lnTo>
                <a:lnTo>
                  <a:pt x="9202082" y="2004681"/>
                </a:lnTo>
                <a:lnTo>
                  <a:pt x="9195874" y="1969872"/>
                </a:lnTo>
                <a:lnTo>
                  <a:pt x="9203757" y="1930832"/>
                </a:lnTo>
                <a:lnTo>
                  <a:pt x="9225252" y="1898951"/>
                </a:lnTo>
                <a:lnTo>
                  <a:pt x="9257133" y="1877456"/>
                </a:lnTo>
                <a:lnTo>
                  <a:pt x="9296173" y="1869574"/>
                </a:lnTo>
                <a:lnTo>
                  <a:pt x="9335213" y="1877456"/>
                </a:lnTo>
                <a:lnTo>
                  <a:pt x="9367095" y="1898951"/>
                </a:lnTo>
                <a:lnTo>
                  <a:pt x="9388590" y="1930832"/>
                </a:lnTo>
                <a:lnTo>
                  <a:pt x="9396472" y="1969872"/>
                </a:lnTo>
                <a:lnTo>
                  <a:pt x="9390264" y="2004681"/>
                </a:lnTo>
                <a:lnTo>
                  <a:pt x="9373126" y="2034184"/>
                </a:lnTo>
                <a:lnTo>
                  <a:pt x="9347288" y="2056157"/>
                </a:lnTo>
                <a:lnTo>
                  <a:pt x="9314979" y="2068376"/>
                </a:lnTo>
                <a:lnTo>
                  <a:pt x="9314979" y="3695857"/>
                </a:lnTo>
                <a:lnTo>
                  <a:pt x="9309515" y="3743288"/>
                </a:lnTo>
                <a:lnTo>
                  <a:pt x="9293953" y="3786828"/>
                </a:lnTo>
                <a:lnTo>
                  <a:pt x="9269533" y="3825237"/>
                </a:lnTo>
                <a:lnTo>
                  <a:pt x="9237498" y="3857272"/>
                </a:lnTo>
                <a:lnTo>
                  <a:pt x="9199089" y="3881692"/>
                </a:lnTo>
                <a:lnTo>
                  <a:pt x="9155549" y="3897254"/>
                </a:lnTo>
                <a:lnTo>
                  <a:pt x="9108119" y="3902718"/>
                </a:lnTo>
                <a:lnTo>
                  <a:pt x="7282258" y="3902718"/>
                </a:lnTo>
                <a:lnTo>
                  <a:pt x="7234828" y="3897254"/>
                </a:lnTo>
                <a:lnTo>
                  <a:pt x="7191287" y="3881692"/>
                </a:lnTo>
                <a:lnTo>
                  <a:pt x="7152878" y="3857272"/>
                </a:lnTo>
                <a:lnTo>
                  <a:pt x="7120843" y="3825237"/>
                </a:lnTo>
                <a:lnTo>
                  <a:pt x="7096424" y="3786828"/>
                </a:lnTo>
                <a:lnTo>
                  <a:pt x="7080861" y="3743288"/>
                </a:lnTo>
                <a:lnTo>
                  <a:pt x="7075398" y="3695857"/>
                </a:lnTo>
                <a:lnTo>
                  <a:pt x="7075398" y="2010050"/>
                </a:lnTo>
                <a:lnTo>
                  <a:pt x="6992240" y="1926883"/>
                </a:lnTo>
                <a:lnTo>
                  <a:pt x="6992240" y="1917960"/>
                </a:lnTo>
                <a:lnTo>
                  <a:pt x="7003251" y="1906940"/>
                </a:lnTo>
                <a:lnTo>
                  <a:pt x="7012183" y="1906940"/>
                </a:lnTo>
                <a:lnTo>
                  <a:pt x="7075398" y="1970164"/>
                </a:lnTo>
                <a:lnTo>
                  <a:pt x="7075398" y="207565"/>
                </a:lnTo>
                <a:lnTo>
                  <a:pt x="7069322" y="162463"/>
                </a:lnTo>
                <a:lnTo>
                  <a:pt x="7052181" y="121956"/>
                </a:lnTo>
                <a:lnTo>
                  <a:pt x="7025602" y="87666"/>
                </a:lnTo>
                <a:lnTo>
                  <a:pt x="6991213" y="61214"/>
                </a:lnTo>
                <a:lnTo>
                  <a:pt x="6950643" y="44224"/>
                </a:lnTo>
                <a:lnTo>
                  <a:pt x="6905519" y="38316"/>
                </a:lnTo>
                <a:lnTo>
                  <a:pt x="4917564" y="45725"/>
                </a:lnTo>
                <a:lnTo>
                  <a:pt x="4872703" y="51909"/>
                </a:lnTo>
                <a:lnTo>
                  <a:pt x="4832413" y="69042"/>
                </a:lnTo>
                <a:lnTo>
                  <a:pt x="4798294" y="95520"/>
                </a:lnTo>
                <a:lnTo>
                  <a:pt x="4771944" y="129737"/>
                </a:lnTo>
                <a:lnTo>
                  <a:pt x="4754961" y="170091"/>
                </a:lnTo>
                <a:lnTo>
                  <a:pt x="4748945" y="214974"/>
                </a:lnTo>
                <a:lnTo>
                  <a:pt x="4748945" y="1919173"/>
                </a:lnTo>
                <a:lnTo>
                  <a:pt x="4833222" y="2003450"/>
                </a:lnTo>
                <a:lnTo>
                  <a:pt x="4833222" y="2012373"/>
                </a:lnTo>
                <a:lnTo>
                  <a:pt x="4822211" y="2023393"/>
                </a:lnTo>
                <a:lnTo>
                  <a:pt x="4813278" y="2023393"/>
                </a:lnTo>
                <a:lnTo>
                  <a:pt x="4748945" y="1959059"/>
                </a:lnTo>
                <a:lnTo>
                  <a:pt x="4748945" y="3703972"/>
                </a:lnTo>
                <a:lnTo>
                  <a:pt x="4743454" y="3751519"/>
                </a:lnTo>
                <a:lnTo>
                  <a:pt x="4727819" y="3795148"/>
                </a:lnTo>
                <a:lnTo>
                  <a:pt x="4703290" y="3833611"/>
                </a:lnTo>
                <a:lnTo>
                  <a:pt x="4671123" y="3865659"/>
                </a:lnTo>
                <a:lnTo>
                  <a:pt x="4632569" y="3890044"/>
                </a:lnTo>
                <a:lnTo>
                  <a:pt x="4588881" y="3905518"/>
                </a:lnTo>
                <a:lnTo>
                  <a:pt x="4541314" y="3910832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792372" y="10385077"/>
            <a:ext cx="1476375" cy="103251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ctr" marL="58419" marR="48260">
              <a:lnSpc>
                <a:spcPct val="104700"/>
              </a:lnSpc>
              <a:spcBef>
                <a:spcPts val="20"/>
              </a:spcBef>
            </a:pPr>
            <a:r>
              <a:rPr dirty="0" sz="1650" spc="-55" b="1">
                <a:latin typeface="Tahoma"/>
                <a:cs typeface="Tahoma"/>
              </a:rPr>
              <a:t>Posted</a:t>
            </a:r>
            <a:r>
              <a:rPr dirty="0" sz="1650" spc="-160" b="1">
                <a:latin typeface="Tahoma"/>
                <a:cs typeface="Tahoma"/>
              </a:rPr>
              <a:t> </a:t>
            </a:r>
            <a:r>
              <a:rPr dirty="0" sz="1650" spc="-70" b="1">
                <a:latin typeface="Tahoma"/>
                <a:cs typeface="Tahoma"/>
              </a:rPr>
              <a:t>in</a:t>
            </a:r>
            <a:r>
              <a:rPr dirty="0" sz="1650" spc="-160" b="1">
                <a:latin typeface="Tahoma"/>
                <a:cs typeface="Tahoma"/>
              </a:rPr>
              <a:t> </a:t>
            </a:r>
            <a:r>
              <a:rPr dirty="0" sz="1650" spc="-25" b="1">
                <a:latin typeface="Tahoma"/>
                <a:cs typeface="Tahoma"/>
              </a:rPr>
              <a:t>SAP FI</a:t>
            </a:r>
            <a:endParaRPr sz="1650">
              <a:latin typeface="Tahoma"/>
              <a:cs typeface="Tahoma"/>
            </a:endParaRPr>
          </a:p>
          <a:p>
            <a:pPr algn="ctr" marL="12700" marR="5080">
              <a:lnSpc>
                <a:spcPct val="104400"/>
              </a:lnSpc>
              <a:spcBef>
                <a:spcPts val="600"/>
              </a:spcBef>
            </a:pPr>
            <a:r>
              <a:rPr dirty="0" sz="1300" spc="-40">
                <a:solidFill>
                  <a:srgbClr val="272424"/>
                </a:solidFill>
                <a:latin typeface="Verdana"/>
                <a:cs typeface="Verdana"/>
              </a:rPr>
              <a:t>Record</a:t>
            </a:r>
            <a:r>
              <a:rPr dirty="0" sz="130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55">
                <a:solidFill>
                  <a:srgbClr val="272424"/>
                </a:solidFill>
                <a:latin typeface="Verdana"/>
                <a:cs typeface="Verdana"/>
              </a:rPr>
              <a:t>transaction </a:t>
            </a:r>
            <a:r>
              <a:rPr dirty="0" sz="1300" spc="-65">
                <a:solidFill>
                  <a:srgbClr val="272424"/>
                </a:solidFill>
                <a:latin typeface="Verdana"/>
                <a:cs typeface="Verdana"/>
              </a:rPr>
              <a:t>in</a:t>
            </a:r>
            <a:r>
              <a:rPr dirty="0" sz="130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Verdana"/>
                <a:cs typeface="Verdana"/>
              </a:rPr>
              <a:t>ledger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562677" y="10385077"/>
            <a:ext cx="1320165" cy="103251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ctr" marL="207010" marR="196850" indent="-635">
              <a:lnSpc>
                <a:spcPct val="104700"/>
              </a:lnSpc>
              <a:spcBef>
                <a:spcPts val="20"/>
              </a:spcBef>
            </a:pPr>
            <a:r>
              <a:rPr dirty="0" sz="1650" spc="-35" b="1">
                <a:latin typeface="Tahoma"/>
                <a:cs typeface="Tahoma"/>
              </a:rPr>
              <a:t>Payment </a:t>
            </a:r>
            <a:r>
              <a:rPr dirty="0" sz="1650" spc="-55" b="1">
                <a:latin typeface="Tahoma"/>
                <a:cs typeface="Tahoma"/>
              </a:rPr>
              <a:t>Received</a:t>
            </a:r>
            <a:endParaRPr sz="1650">
              <a:latin typeface="Tahoma"/>
              <a:cs typeface="Tahoma"/>
            </a:endParaRPr>
          </a:p>
          <a:p>
            <a:pPr algn="ctr" marL="12065" marR="5080">
              <a:lnSpc>
                <a:spcPct val="104400"/>
              </a:lnSpc>
              <a:spcBef>
                <a:spcPts val="600"/>
              </a:spcBef>
            </a:pPr>
            <a:r>
              <a:rPr dirty="0" sz="1300" spc="-65">
                <a:solidFill>
                  <a:srgbClr val="272424"/>
                </a:solidFill>
                <a:latin typeface="Verdana"/>
                <a:cs typeface="Verdana"/>
              </a:rPr>
              <a:t>Payment</a:t>
            </a:r>
            <a:r>
              <a:rPr dirty="0" sz="130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272424"/>
                </a:solidFill>
                <a:latin typeface="Verdana"/>
                <a:cs typeface="Verdana"/>
              </a:rPr>
              <a:t>cleared </a:t>
            </a:r>
            <a:r>
              <a:rPr dirty="0" sz="1300" spc="-5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0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Verdana"/>
                <a:cs typeface="Verdana"/>
              </a:rPr>
              <a:t>reconciled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23296" y="7793353"/>
            <a:ext cx="1428750" cy="87884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1650" spc="-95" b="1">
                <a:latin typeface="Tahoma"/>
                <a:cs typeface="Tahoma"/>
              </a:rPr>
              <a:t>Invoice</a:t>
            </a:r>
            <a:r>
              <a:rPr dirty="0" sz="1650" spc="-140" b="1">
                <a:latin typeface="Tahoma"/>
                <a:cs typeface="Tahoma"/>
              </a:rPr>
              <a:t> </a:t>
            </a:r>
            <a:r>
              <a:rPr dirty="0" sz="1650" spc="-40" b="1">
                <a:latin typeface="Tahoma"/>
                <a:cs typeface="Tahoma"/>
              </a:rPr>
              <a:t>Issued</a:t>
            </a:r>
            <a:endParaRPr sz="1650">
              <a:latin typeface="Tahoma"/>
              <a:cs typeface="Tahoma"/>
            </a:endParaRPr>
          </a:p>
          <a:p>
            <a:pPr algn="ctr" marL="40640" marR="35560">
              <a:lnSpc>
                <a:spcPct val="109200"/>
              </a:lnSpc>
              <a:spcBef>
                <a:spcPts val="525"/>
              </a:spcBef>
            </a:pPr>
            <a:r>
              <a:rPr dirty="0" sz="1300" spc="-55">
                <a:solidFill>
                  <a:srgbClr val="272424"/>
                </a:solidFill>
                <a:latin typeface="Verdana"/>
                <a:cs typeface="Verdana"/>
              </a:rPr>
              <a:t>Customer</a:t>
            </a:r>
            <a:r>
              <a:rPr dirty="0" sz="130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272424"/>
                </a:solidFill>
                <a:latin typeface="Verdana"/>
                <a:cs typeface="Verdana"/>
              </a:rPr>
              <a:t>invoice </a:t>
            </a:r>
            <a:r>
              <a:rPr dirty="0" sz="1300" spc="-10">
                <a:solidFill>
                  <a:srgbClr val="272424"/>
                </a:solidFill>
                <a:latin typeface="Verdana"/>
                <a:cs typeface="Verdana"/>
              </a:rPr>
              <a:t>created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99561" y="7893260"/>
            <a:ext cx="1420495" cy="104203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ctr" marL="194945" marR="184785">
              <a:lnSpc>
                <a:spcPct val="104700"/>
              </a:lnSpc>
              <a:spcBef>
                <a:spcPts val="20"/>
              </a:spcBef>
            </a:pPr>
            <a:r>
              <a:rPr dirty="0" sz="1650" spc="-35" b="1">
                <a:latin typeface="Tahoma"/>
                <a:cs typeface="Tahoma"/>
              </a:rPr>
              <a:t>AR</a:t>
            </a:r>
            <a:r>
              <a:rPr dirty="0" sz="1650" spc="-175" b="1">
                <a:latin typeface="Tahoma"/>
                <a:cs typeface="Tahoma"/>
              </a:rPr>
              <a:t> </a:t>
            </a:r>
            <a:r>
              <a:rPr dirty="0" sz="1650" spc="-25" b="1">
                <a:latin typeface="Tahoma"/>
                <a:cs typeface="Tahoma"/>
              </a:rPr>
              <a:t>Report </a:t>
            </a:r>
            <a:r>
              <a:rPr dirty="0" sz="1650" spc="-65" b="1">
                <a:latin typeface="Tahoma"/>
                <a:cs typeface="Tahoma"/>
              </a:rPr>
              <a:t>Generated</a:t>
            </a:r>
            <a:endParaRPr sz="1650">
              <a:latin typeface="Tahoma"/>
              <a:cs typeface="Tahoma"/>
            </a:endParaRPr>
          </a:p>
          <a:p>
            <a:pPr algn="ctr" marL="12065" marR="5080" indent="-635">
              <a:lnSpc>
                <a:spcPct val="109200"/>
              </a:lnSpc>
              <a:spcBef>
                <a:spcPts val="525"/>
              </a:spcBef>
            </a:pPr>
            <a:r>
              <a:rPr dirty="0" sz="1300" spc="-10">
                <a:solidFill>
                  <a:srgbClr val="272424"/>
                </a:solidFill>
                <a:latin typeface="Verdana"/>
                <a:cs typeface="Verdana"/>
              </a:rPr>
              <a:t>Compile </a:t>
            </a:r>
            <a:r>
              <a:rPr dirty="0" sz="1300" spc="-45">
                <a:solidFill>
                  <a:srgbClr val="272424"/>
                </a:solidFill>
                <a:latin typeface="Verdana"/>
                <a:cs typeface="Verdana"/>
              </a:rPr>
              <a:t>receivables</a:t>
            </a:r>
            <a:r>
              <a:rPr dirty="0" sz="130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272424"/>
                </a:solidFill>
                <a:latin typeface="Verdana"/>
                <a:cs typeface="Verdana"/>
              </a:rPr>
              <a:t>report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5975" y="11956415"/>
            <a:ext cx="942340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flow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shows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how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AR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works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—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from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issuing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invoice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receiving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payment,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with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tracking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each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stage.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28675" y="2371725"/>
            <a:ext cx="76200" cy="2390775"/>
          </a:xfrm>
          <a:custGeom>
            <a:avLst/>
            <a:gdLst/>
            <a:ahLst/>
            <a:cxnLst/>
            <a:rect l="l" t="t" r="r" b="b"/>
            <a:pathLst>
              <a:path w="76200" h="2390775">
                <a:moveTo>
                  <a:pt x="76200" y="2390774"/>
                </a:moveTo>
                <a:lnTo>
                  <a:pt x="56064" y="2390774"/>
                </a:lnTo>
                <a:lnTo>
                  <a:pt x="52168" y="2390393"/>
                </a:lnTo>
                <a:lnTo>
                  <a:pt x="14792" y="2370410"/>
                </a:lnTo>
                <a:lnTo>
                  <a:pt x="0" y="2334710"/>
                </a:lnTo>
                <a:lnTo>
                  <a:pt x="0" y="2330767"/>
                </a:lnTo>
                <a:lnTo>
                  <a:pt x="0" y="56064"/>
                </a:lnTo>
                <a:lnTo>
                  <a:pt x="14792" y="20364"/>
                </a:lnTo>
                <a:lnTo>
                  <a:pt x="52168" y="380"/>
                </a:lnTo>
                <a:lnTo>
                  <a:pt x="56064" y="0"/>
                </a:lnTo>
                <a:lnTo>
                  <a:pt x="76200" y="0"/>
                </a:lnTo>
                <a:lnTo>
                  <a:pt x="76200" y="2390774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800725" y="2371725"/>
            <a:ext cx="76200" cy="2390775"/>
          </a:xfrm>
          <a:custGeom>
            <a:avLst/>
            <a:gdLst/>
            <a:ahLst/>
            <a:cxnLst/>
            <a:rect l="l" t="t" r="r" b="b"/>
            <a:pathLst>
              <a:path w="76200" h="2390775">
                <a:moveTo>
                  <a:pt x="76200" y="2390774"/>
                </a:moveTo>
                <a:lnTo>
                  <a:pt x="56064" y="2390774"/>
                </a:lnTo>
                <a:lnTo>
                  <a:pt x="52168" y="2390393"/>
                </a:lnTo>
                <a:lnTo>
                  <a:pt x="14792" y="2370410"/>
                </a:lnTo>
                <a:lnTo>
                  <a:pt x="0" y="2334710"/>
                </a:lnTo>
                <a:lnTo>
                  <a:pt x="0" y="2330767"/>
                </a:lnTo>
                <a:lnTo>
                  <a:pt x="0" y="56064"/>
                </a:lnTo>
                <a:lnTo>
                  <a:pt x="14792" y="20364"/>
                </a:lnTo>
                <a:lnTo>
                  <a:pt x="52168" y="380"/>
                </a:lnTo>
                <a:lnTo>
                  <a:pt x="56064" y="0"/>
                </a:lnTo>
                <a:lnTo>
                  <a:pt x="76200" y="0"/>
                </a:lnTo>
                <a:lnTo>
                  <a:pt x="76200" y="2390774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28675" y="4933950"/>
            <a:ext cx="76200" cy="2400300"/>
          </a:xfrm>
          <a:custGeom>
            <a:avLst/>
            <a:gdLst/>
            <a:ahLst/>
            <a:cxnLst/>
            <a:rect l="l" t="t" r="r" b="b"/>
            <a:pathLst>
              <a:path w="76200" h="2400300">
                <a:moveTo>
                  <a:pt x="76200" y="2400299"/>
                </a:moveTo>
                <a:lnTo>
                  <a:pt x="56064" y="2400299"/>
                </a:lnTo>
                <a:lnTo>
                  <a:pt x="52168" y="2399918"/>
                </a:lnTo>
                <a:lnTo>
                  <a:pt x="14792" y="2379935"/>
                </a:lnTo>
                <a:lnTo>
                  <a:pt x="0" y="2344235"/>
                </a:lnTo>
                <a:lnTo>
                  <a:pt x="0" y="2340292"/>
                </a:lnTo>
                <a:lnTo>
                  <a:pt x="0" y="56064"/>
                </a:lnTo>
                <a:lnTo>
                  <a:pt x="14792" y="20364"/>
                </a:lnTo>
                <a:lnTo>
                  <a:pt x="52168" y="380"/>
                </a:lnTo>
                <a:lnTo>
                  <a:pt x="56064" y="0"/>
                </a:lnTo>
                <a:lnTo>
                  <a:pt x="76200" y="0"/>
                </a:lnTo>
                <a:lnTo>
                  <a:pt x="76200" y="2400299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800725" y="4933950"/>
            <a:ext cx="76200" cy="2400300"/>
          </a:xfrm>
          <a:custGeom>
            <a:avLst/>
            <a:gdLst/>
            <a:ahLst/>
            <a:cxnLst/>
            <a:rect l="l" t="t" r="r" b="b"/>
            <a:pathLst>
              <a:path w="76200" h="2400300">
                <a:moveTo>
                  <a:pt x="76200" y="2400299"/>
                </a:moveTo>
                <a:lnTo>
                  <a:pt x="56064" y="2400299"/>
                </a:lnTo>
                <a:lnTo>
                  <a:pt x="52168" y="2399918"/>
                </a:lnTo>
                <a:lnTo>
                  <a:pt x="14792" y="2379935"/>
                </a:lnTo>
                <a:lnTo>
                  <a:pt x="0" y="2344235"/>
                </a:lnTo>
                <a:lnTo>
                  <a:pt x="0" y="2340292"/>
                </a:lnTo>
                <a:lnTo>
                  <a:pt x="0" y="56064"/>
                </a:lnTo>
                <a:lnTo>
                  <a:pt x="14792" y="20364"/>
                </a:lnTo>
                <a:lnTo>
                  <a:pt x="52168" y="380"/>
                </a:lnTo>
                <a:lnTo>
                  <a:pt x="56064" y="0"/>
                </a:lnTo>
                <a:lnTo>
                  <a:pt x="76200" y="0"/>
                </a:lnTo>
                <a:lnTo>
                  <a:pt x="76200" y="2400299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SAP</a:t>
            </a:r>
            <a:r>
              <a:rPr dirty="0" spc="-385"/>
              <a:t> </a:t>
            </a:r>
            <a:r>
              <a:rPr dirty="0" spc="70"/>
              <a:t>CO</a:t>
            </a:r>
            <a:r>
              <a:rPr dirty="0" spc="-385"/>
              <a:t> </a:t>
            </a:r>
            <a:r>
              <a:rPr dirty="0" spc="-110"/>
              <a:t>Reports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288414"/>
            <a:ext cx="9449435" cy="854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Controlling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(CO)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focus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on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internal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management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needs.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While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FI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answer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"what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happened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financially?",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CO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answer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"where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did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occur,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why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did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it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occur,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how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business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performing?"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CO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used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by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department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heads,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accountants,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senior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management.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3437" y="2376487"/>
            <a:ext cx="9763125" cy="3048000"/>
          </a:xfrm>
          <a:custGeom>
            <a:avLst/>
            <a:gdLst/>
            <a:ahLst/>
            <a:cxnLst/>
            <a:rect l="l" t="t" r="r" b="b"/>
            <a:pathLst>
              <a:path w="9763125" h="3048000">
                <a:moveTo>
                  <a:pt x="0" y="2992754"/>
                </a:moveTo>
                <a:lnTo>
                  <a:pt x="0" y="55244"/>
                </a:lnTo>
                <a:lnTo>
                  <a:pt x="0" y="51615"/>
                </a:lnTo>
                <a:lnTo>
                  <a:pt x="352" y="48025"/>
                </a:lnTo>
                <a:lnTo>
                  <a:pt x="16182" y="16182"/>
                </a:lnTo>
                <a:lnTo>
                  <a:pt x="18745" y="13611"/>
                </a:lnTo>
                <a:lnTo>
                  <a:pt x="51615" y="0"/>
                </a:lnTo>
                <a:lnTo>
                  <a:pt x="55244" y="0"/>
                </a:lnTo>
                <a:lnTo>
                  <a:pt x="9707880" y="0"/>
                </a:lnTo>
                <a:lnTo>
                  <a:pt x="9711509" y="0"/>
                </a:lnTo>
                <a:lnTo>
                  <a:pt x="9715099" y="352"/>
                </a:lnTo>
                <a:lnTo>
                  <a:pt x="9746942" y="16182"/>
                </a:lnTo>
                <a:lnTo>
                  <a:pt x="9749504" y="18745"/>
                </a:lnTo>
                <a:lnTo>
                  <a:pt x="9758914" y="34099"/>
                </a:lnTo>
                <a:lnTo>
                  <a:pt x="9760305" y="37452"/>
                </a:lnTo>
                <a:lnTo>
                  <a:pt x="9761353" y="40909"/>
                </a:lnTo>
                <a:lnTo>
                  <a:pt x="9762067" y="44462"/>
                </a:lnTo>
                <a:lnTo>
                  <a:pt x="9762772" y="48025"/>
                </a:lnTo>
                <a:lnTo>
                  <a:pt x="9763125" y="51615"/>
                </a:lnTo>
                <a:lnTo>
                  <a:pt x="9763125" y="55244"/>
                </a:lnTo>
                <a:lnTo>
                  <a:pt x="9763125" y="2992754"/>
                </a:lnTo>
                <a:lnTo>
                  <a:pt x="9763125" y="2996384"/>
                </a:lnTo>
                <a:lnTo>
                  <a:pt x="9762772" y="2999974"/>
                </a:lnTo>
                <a:lnTo>
                  <a:pt x="9762067" y="3003527"/>
                </a:lnTo>
                <a:lnTo>
                  <a:pt x="9761353" y="3007090"/>
                </a:lnTo>
                <a:lnTo>
                  <a:pt x="9760305" y="3010547"/>
                </a:lnTo>
                <a:lnTo>
                  <a:pt x="9758914" y="3013900"/>
                </a:lnTo>
                <a:lnTo>
                  <a:pt x="9757533" y="3017243"/>
                </a:lnTo>
                <a:lnTo>
                  <a:pt x="9755828" y="3020434"/>
                </a:lnTo>
                <a:lnTo>
                  <a:pt x="9753809" y="3023444"/>
                </a:lnTo>
                <a:lnTo>
                  <a:pt x="9751799" y="3026463"/>
                </a:lnTo>
                <a:lnTo>
                  <a:pt x="9738569" y="3038684"/>
                </a:lnTo>
                <a:lnTo>
                  <a:pt x="9735550" y="3040703"/>
                </a:lnTo>
                <a:lnTo>
                  <a:pt x="9732368" y="3042408"/>
                </a:lnTo>
                <a:lnTo>
                  <a:pt x="9729025" y="3043789"/>
                </a:lnTo>
                <a:lnTo>
                  <a:pt x="9725672" y="3045180"/>
                </a:lnTo>
                <a:lnTo>
                  <a:pt x="9722215" y="3046228"/>
                </a:lnTo>
                <a:lnTo>
                  <a:pt x="9718652" y="3046942"/>
                </a:lnTo>
                <a:lnTo>
                  <a:pt x="9715099" y="3047647"/>
                </a:lnTo>
                <a:lnTo>
                  <a:pt x="9711509" y="3047999"/>
                </a:lnTo>
                <a:lnTo>
                  <a:pt x="9707880" y="3047999"/>
                </a:lnTo>
                <a:lnTo>
                  <a:pt x="55244" y="3047999"/>
                </a:lnTo>
                <a:lnTo>
                  <a:pt x="51615" y="3047999"/>
                </a:lnTo>
                <a:lnTo>
                  <a:pt x="48025" y="3047647"/>
                </a:lnTo>
                <a:lnTo>
                  <a:pt x="44462" y="3046942"/>
                </a:lnTo>
                <a:lnTo>
                  <a:pt x="40909" y="3046228"/>
                </a:lnTo>
                <a:lnTo>
                  <a:pt x="37452" y="3045180"/>
                </a:lnTo>
                <a:lnTo>
                  <a:pt x="34099" y="3043789"/>
                </a:lnTo>
                <a:lnTo>
                  <a:pt x="30756" y="3042408"/>
                </a:lnTo>
                <a:lnTo>
                  <a:pt x="27565" y="3040703"/>
                </a:lnTo>
                <a:lnTo>
                  <a:pt x="24555" y="3038684"/>
                </a:lnTo>
                <a:lnTo>
                  <a:pt x="21536" y="3036674"/>
                </a:lnTo>
                <a:lnTo>
                  <a:pt x="18745" y="3034379"/>
                </a:lnTo>
                <a:lnTo>
                  <a:pt x="16182" y="3031817"/>
                </a:lnTo>
                <a:lnTo>
                  <a:pt x="13611" y="3029254"/>
                </a:lnTo>
                <a:lnTo>
                  <a:pt x="0" y="2996384"/>
                </a:lnTo>
                <a:lnTo>
                  <a:pt x="0" y="2992754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38200" y="2381250"/>
          <a:ext cx="9829800" cy="3037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3104"/>
                <a:gridCol w="3248660"/>
                <a:gridCol w="3253740"/>
              </a:tblGrid>
              <a:tr h="49974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CO</a:t>
                      </a:r>
                      <a:r>
                        <a:rPr dirty="0" sz="1350" spc="-8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7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Report </a:t>
                      </a:r>
                      <a:r>
                        <a:rPr dirty="0" sz="1350" spc="-2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3825"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Purpose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382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dirty="0" sz="1350" spc="-6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Example</a:t>
                      </a:r>
                      <a:r>
                        <a:rPr dirty="0" sz="1350" spc="-8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Use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3825">
                    <a:lnL w="9525">
                      <a:solidFill>
                        <a:srgbClr val="B3B3B3"/>
                      </a:solidFill>
                      <a:prstDash val="solid"/>
                    </a:lnL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4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Cost</a:t>
                      </a:r>
                      <a:r>
                        <a:rPr dirty="0" sz="1350" spc="-114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Centre</a:t>
                      </a:r>
                      <a:r>
                        <a:rPr dirty="0" sz="1350" spc="-114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Report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Track</a:t>
                      </a:r>
                      <a:r>
                        <a:rPr dirty="0" sz="1350" spc="-8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9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department</a:t>
                      </a:r>
                      <a:r>
                        <a:rPr dirty="0" sz="1350" spc="-8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costs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7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Compare</a:t>
                      </a:r>
                      <a:r>
                        <a:rPr dirty="0" sz="1350" spc="-13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HR</a:t>
                      </a:r>
                      <a:r>
                        <a:rPr dirty="0" sz="1350" spc="-12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4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vs</a:t>
                      </a:r>
                      <a:r>
                        <a:rPr dirty="0" sz="1350" spc="-13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IT</a:t>
                      </a:r>
                      <a:r>
                        <a:rPr dirty="0" sz="1350" spc="-12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expenses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6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Profit</a:t>
                      </a:r>
                      <a:r>
                        <a:rPr dirty="0" sz="1350" spc="-114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Centre</a:t>
                      </a:r>
                      <a:r>
                        <a:rPr dirty="0" sz="1350" spc="-114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Report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Analyse</a:t>
                      </a:r>
                      <a:r>
                        <a:rPr dirty="0" sz="1350" spc="-1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5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business</a:t>
                      </a:r>
                      <a:r>
                        <a:rPr dirty="0" sz="1350" spc="-10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9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unit</a:t>
                      </a:r>
                      <a:r>
                        <a:rPr dirty="0" sz="1350" spc="-10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profit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TV</a:t>
                      </a:r>
                      <a:r>
                        <a:rPr dirty="0" sz="1350" spc="-114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4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vs</a:t>
                      </a:r>
                      <a:r>
                        <a:rPr dirty="0" sz="1350" spc="-114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8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Refrigerator</a:t>
                      </a:r>
                      <a:r>
                        <a:rPr dirty="0" sz="1350" spc="-1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profitability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Internal</a:t>
                      </a:r>
                      <a:r>
                        <a:rPr dirty="0" sz="1350" spc="-10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Order</a:t>
                      </a:r>
                      <a:r>
                        <a:rPr dirty="0" sz="1350" spc="-10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Report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Track</a:t>
                      </a:r>
                      <a:r>
                        <a:rPr dirty="0" sz="1350" spc="-1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project</a:t>
                      </a:r>
                      <a:r>
                        <a:rPr dirty="0" sz="1350" spc="-1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costs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Marketing</a:t>
                      </a:r>
                      <a:r>
                        <a:rPr dirty="0" sz="1350" spc="-8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campaign</a:t>
                      </a:r>
                      <a:r>
                        <a:rPr dirty="0" sz="1350" spc="-8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budget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Profitability</a:t>
                      </a:r>
                      <a:r>
                        <a:rPr dirty="0" sz="1350" spc="-5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Analysis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8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Customer/product</a:t>
                      </a: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profitability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3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Most</a:t>
                      </a:r>
                      <a:r>
                        <a:rPr dirty="0" sz="1350" spc="-10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profitable</a:t>
                      </a:r>
                      <a:r>
                        <a:rPr dirty="0" sz="1350" spc="-10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customer</a:t>
                      </a:r>
                      <a:r>
                        <a:rPr dirty="0" sz="1350" spc="-10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segment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49974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6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Plan</a:t>
                      </a:r>
                      <a:r>
                        <a:rPr dirty="0" sz="1350" spc="-12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4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vs</a:t>
                      </a:r>
                      <a:r>
                        <a:rPr dirty="0" sz="1350" spc="-12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Actual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28270"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Budget</a:t>
                      </a:r>
                      <a:r>
                        <a:rPr dirty="0" sz="1350" spc="-10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variance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B3B3B3"/>
                      </a:solidFill>
                      <a:prstDash val="solid"/>
                    </a:lnL>
                    <a:lnR w="9525">
                      <a:solidFill>
                        <a:srgbClr val="B3B3B3"/>
                      </a:solidFill>
                      <a:prstDash val="solid"/>
                    </a:lnR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Did</a:t>
                      </a:r>
                      <a:r>
                        <a:rPr dirty="0" sz="1350" spc="-13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4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we</a:t>
                      </a:r>
                      <a:r>
                        <a:rPr dirty="0" sz="1350" spc="-12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overspend?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28270">
                    <a:lnL w="9525">
                      <a:solidFill>
                        <a:srgbClr val="B3B3B3"/>
                      </a:solidFill>
                      <a:prstDash val="solid"/>
                    </a:lnL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5324" y="5760538"/>
            <a:ext cx="7318012" cy="19358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759220" y="8093695"/>
            <a:ext cx="1381760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marR="5080" indent="-344805">
              <a:lnSpc>
                <a:spcPct val="109400"/>
              </a:lnSpc>
              <a:spcBef>
                <a:spcPts val="90"/>
              </a:spcBef>
            </a:pPr>
            <a:r>
              <a:rPr dirty="0" sz="1700" spc="-60" b="1">
                <a:solidFill>
                  <a:srgbClr val="272424"/>
                </a:solidFill>
                <a:latin typeface="Tahoma"/>
                <a:cs typeface="Tahoma"/>
              </a:rPr>
              <a:t>Management </a:t>
            </a: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Action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02788" y="8093695"/>
            <a:ext cx="1098550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92405">
              <a:lnSpc>
                <a:spcPct val="109400"/>
              </a:lnSpc>
              <a:spcBef>
                <a:spcPts val="90"/>
              </a:spcBef>
            </a:pP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Report </a:t>
            </a:r>
            <a:r>
              <a:rPr dirty="0" sz="1700" spc="-65" b="1">
                <a:solidFill>
                  <a:srgbClr val="272424"/>
                </a:solidFill>
                <a:latin typeface="Tahoma"/>
                <a:cs typeface="Tahoma"/>
              </a:rPr>
              <a:t>Generated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89218" y="8250055"/>
            <a:ext cx="134937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5" b="1">
                <a:solidFill>
                  <a:srgbClr val="272424"/>
                </a:solidFill>
                <a:latin typeface="Tahoma"/>
                <a:cs typeface="Tahoma"/>
              </a:rPr>
              <a:t>Posted</a:t>
            </a:r>
            <a:r>
              <a:rPr dirty="0" sz="1700" spc="-1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80" b="1">
                <a:solidFill>
                  <a:srgbClr val="272424"/>
                </a:solidFill>
                <a:latin typeface="Tahoma"/>
                <a:cs typeface="Tahoma"/>
              </a:rPr>
              <a:t>to</a:t>
            </a:r>
            <a:r>
              <a:rPr dirty="0" sz="1700" spc="-1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25" b="1">
                <a:solidFill>
                  <a:srgbClr val="272424"/>
                </a:solidFill>
                <a:latin typeface="Tahoma"/>
                <a:cs typeface="Tahoma"/>
              </a:rPr>
              <a:t>CO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61478" y="8250055"/>
            <a:ext cx="114998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75" b="1">
                <a:solidFill>
                  <a:srgbClr val="272424"/>
                </a:solidFill>
                <a:latin typeface="Tahoma"/>
                <a:cs typeface="Tahoma"/>
              </a:rPr>
              <a:t>Dept</a:t>
            </a:r>
            <a:r>
              <a:rPr dirty="0" sz="1700" spc="-16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20" b="1">
                <a:solidFill>
                  <a:srgbClr val="272424"/>
                </a:solidFill>
                <a:latin typeface="Tahoma"/>
                <a:cs typeface="Tahoma"/>
              </a:rPr>
              <a:t>Costs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5975" y="9241790"/>
            <a:ext cx="938403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flow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shows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how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centre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works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—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recorded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against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departments,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generated,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and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uses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them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make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decisions.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5975" y="10183812"/>
            <a:ext cx="4702175" cy="23412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latin typeface="Tahoma"/>
                <a:cs typeface="Tahoma"/>
              </a:rPr>
              <a:t>Cost</a:t>
            </a:r>
            <a:r>
              <a:rPr dirty="0" sz="1650" spc="-155" b="1">
                <a:latin typeface="Tahoma"/>
                <a:cs typeface="Tahoma"/>
              </a:rPr>
              <a:t> </a:t>
            </a:r>
            <a:r>
              <a:rPr dirty="0" sz="1650" spc="-45" b="1">
                <a:latin typeface="Tahoma"/>
                <a:cs typeface="Tahoma"/>
              </a:rPr>
              <a:t>Centre</a:t>
            </a:r>
            <a:r>
              <a:rPr dirty="0" sz="1650" spc="-155" b="1">
                <a:latin typeface="Tahoma"/>
                <a:cs typeface="Tahoma"/>
              </a:rPr>
              <a:t> </a:t>
            </a:r>
            <a:r>
              <a:rPr dirty="0" sz="1650" spc="-10" b="1">
                <a:latin typeface="Tahoma"/>
                <a:cs typeface="Tahoma"/>
              </a:rPr>
              <a:t>Reports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1165"/>
              </a:spcBef>
            </a:pP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centre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department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function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where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are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recorded.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Cost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centre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show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actual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costs,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planned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costs,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difference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between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them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(variance).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For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example,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if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company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has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HR,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Marketing,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Production,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and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IT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departments,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management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use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centre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to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compare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their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expenses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identify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areas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where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are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higher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than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planned.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20927" y="10183812"/>
            <a:ext cx="4524375" cy="23412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 b="1">
                <a:latin typeface="Tahoma"/>
                <a:cs typeface="Tahoma"/>
              </a:rPr>
              <a:t>Profit</a:t>
            </a:r>
            <a:r>
              <a:rPr dirty="0" sz="1650" spc="-145" b="1">
                <a:latin typeface="Tahoma"/>
                <a:cs typeface="Tahoma"/>
              </a:rPr>
              <a:t> </a:t>
            </a:r>
            <a:r>
              <a:rPr dirty="0" sz="1650" spc="-45" b="1">
                <a:latin typeface="Tahoma"/>
                <a:cs typeface="Tahoma"/>
              </a:rPr>
              <a:t>Centre</a:t>
            </a:r>
            <a:r>
              <a:rPr dirty="0" sz="1650" spc="-145" b="1">
                <a:latin typeface="Tahoma"/>
                <a:cs typeface="Tahoma"/>
              </a:rPr>
              <a:t> </a:t>
            </a:r>
            <a:r>
              <a:rPr dirty="0" sz="1650" spc="-10" b="1">
                <a:latin typeface="Tahoma"/>
                <a:cs typeface="Tahoma"/>
              </a:rPr>
              <a:t>Reports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700"/>
              </a:lnSpc>
              <a:spcBef>
                <a:spcPts val="1165"/>
              </a:spcBef>
            </a:pP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profit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centre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business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unit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that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generates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both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revenue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costs.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Profit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centre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show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profit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or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loss</a:t>
            </a:r>
            <a:r>
              <a:rPr dirty="0" sz="1350" spc="-13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each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unit.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example,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if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company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sells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televisions,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refrigerators,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washing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 machines,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each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product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line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be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profit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centre.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see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which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products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most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profitable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which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are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underperforming.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5975" y="454025"/>
            <a:ext cx="934402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250"/>
              <a:t>Internal</a:t>
            </a:r>
            <a:r>
              <a:rPr dirty="0" spc="-345"/>
              <a:t> </a:t>
            </a:r>
            <a:r>
              <a:rPr dirty="0" spc="-100"/>
              <a:t>Orders,</a:t>
            </a:r>
            <a:r>
              <a:rPr dirty="0" spc="-455"/>
              <a:t> </a:t>
            </a:r>
            <a:r>
              <a:rPr dirty="0" spc="-155"/>
              <a:t>Profitability</a:t>
            </a:r>
            <a:r>
              <a:rPr dirty="0" spc="-345"/>
              <a:t> </a:t>
            </a:r>
            <a:r>
              <a:rPr dirty="0" spc="-55"/>
              <a:t>Analysis,</a:t>
            </a:r>
            <a:r>
              <a:rPr dirty="0" spc="-455"/>
              <a:t> </a:t>
            </a:r>
            <a:r>
              <a:rPr dirty="0" spc="-120"/>
              <a:t>and</a:t>
            </a:r>
            <a:r>
              <a:rPr dirty="0" spc="-340"/>
              <a:t> </a:t>
            </a:r>
            <a:r>
              <a:rPr dirty="0" spc="-50"/>
              <a:t>Real-</a:t>
            </a:r>
            <a:r>
              <a:rPr dirty="0" spc="-145"/>
              <a:t>World</a:t>
            </a:r>
            <a:r>
              <a:rPr dirty="0" spc="-350"/>
              <a:t> </a:t>
            </a:r>
            <a:r>
              <a:rPr dirty="0" spc="-1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5975" y="1954212"/>
            <a:ext cx="4625975" cy="20650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14" b="1">
                <a:latin typeface="Tahoma"/>
                <a:cs typeface="Tahoma"/>
              </a:rPr>
              <a:t>Internal</a:t>
            </a:r>
            <a:r>
              <a:rPr dirty="0" sz="1650" spc="-140" b="1">
                <a:latin typeface="Tahoma"/>
                <a:cs typeface="Tahoma"/>
              </a:rPr>
              <a:t> </a:t>
            </a:r>
            <a:r>
              <a:rPr dirty="0" sz="1650" spc="-55" b="1">
                <a:latin typeface="Tahoma"/>
                <a:cs typeface="Tahoma"/>
              </a:rPr>
              <a:t>Order</a:t>
            </a:r>
            <a:r>
              <a:rPr dirty="0" sz="1650" spc="-135" b="1">
                <a:latin typeface="Tahoma"/>
                <a:cs typeface="Tahoma"/>
              </a:rPr>
              <a:t> </a:t>
            </a:r>
            <a:r>
              <a:rPr dirty="0" sz="1650" spc="-10" b="1">
                <a:latin typeface="Tahoma"/>
                <a:cs typeface="Tahoma"/>
              </a:rPr>
              <a:t>Reports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1080"/>
              </a:spcBef>
            </a:pP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Internal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orders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track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specific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activities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projects.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Examples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include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marketing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campaign,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office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renovation,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maintenance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project.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Internal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order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reports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show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planned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costs,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actual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costs,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commitments.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Once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activity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complete,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costs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be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settled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cost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centre</a:t>
            </a:r>
            <a:r>
              <a:rPr dirty="0" sz="135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asset.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0927" y="1954212"/>
            <a:ext cx="4658995" cy="20650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5" b="1">
                <a:latin typeface="Tahoma"/>
                <a:cs typeface="Tahoma"/>
              </a:rPr>
              <a:t>Profitability</a:t>
            </a:r>
            <a:r>
              <a:rPr dirty="0" sz="1650" spc="-90" b="1">
                <a:latin typeface="Tahoma"/>
                <a:cs typeface="Tahoma"/>
              </a:rPr>
              <a:t> </a:t>
            </a:r>
            <a:r>
              <a:rPr dirty="0" sz="1650" spc="-20" b="1">
                <a:latin typeface="Tahoma"/>
                <a:cs typeface="Tahoma"/>
              </a:rPr>
              <a:t>Analysis</a:t>
            </a:r>
            <a:r>
              <a:rPr dirty="0" sz="1650" spc="-85" b="1">
                <a:latin typeface="Tahoma"/>
                <a:cs typeface="Tahoma"/>
              </a:rPr>
              <a:t> </a:t>
            </a:r>
            <a:r>
              <a:rPr dirty="0" sz="1650" spc="-35" b="1">
                <a:latin typeface="Tahoma"/>
                <a:cs typeface="Tahoma"/>
              </a:rPr>
              <a:t>(CO-</a:t>
            </a:r>
            <a:r>
              <a:rPr dirty="0" sz="1650" spc="-25" b="1">
                <a:latin typeface="Tahoma"/>
                <a:cs typeface="Tahoma"/>
              </a:rPr>
              <a:t>PA)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1080"/>
              </a:spcBef>
            </a:pP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CO-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PA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helps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answer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questions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like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"Which</a:t>
            </a:r>
            <a:r>
              <a:rPr dirty="0" sz="135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product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generates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highest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profit?"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"Which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customer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segment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most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profitable?"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60">
                <a:solidFill>
                  <a:srgbClr val="272424"/>
                </a:solidFill>
                <a:latin typeface="Verdana"/>
                <a:cs typeface="Verdana"/>
              </a:rPr>
              <a:t>It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analyses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revenue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by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dimensions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such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as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customer,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product,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region,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sales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organisation.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helps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make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informed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decisions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about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where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invest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resources.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16764" y="4598004"/>
            <a:ext cx="9396730" cy="3910965"/>
          </a:xfrm>
          <a:custGeom>
            <a:avLst/>
            <a:gdLst/>
            <a:ahLst/>
            <a:cxnLst/>
            <a:rect l="l" t="t" r="r" b="b"/>
            <a:pathLst>
              <a:path w="9396730" h="3910965">
                <a:moveTo>
                  <a:pt x="4541314" y="3910832"/>
                </a:moveTo>
                <a:lnTo>
                  <a:pt x="2529899" y="3903404"/>
                </a:lnTo>
                <a:lnTo>
                  <a:pt x="2482606" y="3897795"/>
                </a:lnTo>
                <a:lnTo>
                  <a:pt x="2439213" y="3882146"/>
                </a:lnTo>
                <a:lnTo>
                  <a:pt x="2400950" y="3857693"/>
                </a:lnTo>
                <a:lnTo>
                  <a:pt x="2369047" y="3825671"/>
                </a:lnTo>
                <a:lnTo>
                  <a:pt x="2344736" y="3787315"/>
                </a:lnTo>
                <a:lnTo>
                  <a:pt x="2329247" y="3743861"/>
                </a:lnTo>
                <a:lnTo>
                  <a:pt x="2323810" y="3696544"/>
                </a:lnTo>
                <a:lnTo>
                  <a:pt x="2323810" y="2006835"/>
                </a:lnTo>
                <a:lnTo>
                  <a:pt x="2243859" y="1926883"/>
                </a:lnTo>
                <a:lnTo>
                  <a:pt x="2243859" y="1917960"/>
                </a:lnTo>
                <a:lnTo>
                  <a:pt x="2254869" y="1906940"/>
                </a:lnTo>
                <a:lnTo>
                  <a:pt x="2263802" y="1906940"/>
                </a:lnTo>
                <a:lnTo>
                  <a:pt x="2323810" y="1966948"/>
                </a:lnTo>
                <a:lnTo>
                  <a:pt x="2323810" y="206860"/>
                </a:lnTo>
                <a:lnTo>
                  <a:pt x="2317764" y="161867"/>
                </a:lnTo>
                <a:lnTo>
                  <a:pt x="2300702" y="121437"/>
                </a:lnTo>
                <a:lnTo>
                  <a:pt x="2274238" y="87183"/>
                </a:lnTo>
                <a:lnTo>
                  <a:pt x="2239984" y="60718"/>
                </a:lnTo>
                <a:lnTo>
                  <a:pt x="2199554" y="43656"/>
                </a:lnTo>
                <a:lnTo>
                  <a:pt x="2154561" y="37610"/>
                </a:lnTo>
                <a:lnTo>
                  <a:pt x="288353" y="37610"/>
                </a:lnTo>
                <a:lnTo>
                  <a:pt x="243360" y="43656"/>
                </a:lnTo>
                <a:lnTo>
                  <a:pt x="202930" y="60718"/>
                </a:lnTo>
                <a:lnTo>
                  <a:pt x="168676" y="87183"/>
                </a:lnTo>
                <a:lnTo>
                  <a:pt x="142212" y="121437"/>
                </a:lnTo>
                <a:lnTo>
                  <a:pt x="125150" y="161867"/>
                </a:lnTo>
                <a:lnTo>
                  <a:pt x="119104" y="206860"/>
                </a:lnTo>
                <a:lnTo>
                  <a:pt x="119104" y="1871351"/>
                </a:lnTo>
                <a:lnTo>
                  <a:pt x="151413" y="1883571"/>
                </a:lnTo>
                <a:lnTo>
                  <a:pt x="177252" y="1905548"/>
                </a:lnTo>
                <a:lnTo>
                  <a:pt x="194389" y="1935057"/>
                </a:lnTo>
                <a:lnTo>
                  <a:pt x="200597" y="1969872"/>
                </a:lnTo>
                <a:lnTo>
                  <a:pt x="192715" y="2008912"/>
                </a:lnTo>
                <a:lnTo>
                  <a:pt x="171220" y="2040794"/>
                </a:lnTo>
                <a:lnTo>
                  <a:pt x="139338" y="2062289"/>
                </a:lnTo>
                <a:lnTo>
                  <a:pt x="100298" y="2070171"/>
                </a:lnTo>
                <a:lnTo>
                  <a:pt x="61258" y="2062289"/>
                </a:lnTo>
                <a:lnTo>
                  <a:pt x="29377" y="2040794"/>
                </a:lnTo>
                <a:lnTo>
                  <a:pt x="7882" y="2008912"/>
                </a:lnTo>
                <a:lnTo>
                  <a:pt x="0" y="1969872"/>
                </a:lnTo>
                <a:lnTo>
                  <a:pt x="6208" y="1935057"/>
                </a:lnTo>
                <a:lnTo>
                  <a:pt x="23345" y="1905548"/>
                </a:lnTo>
                <a:lnTo>
                  <a:pt x="49184" y="1883571"/>
                </a:lnTo>
                <a:lnTo>
                  <a:pt x="81493" y="1871351"/>
                </a:lnTo>
                <a:lnTo>
                  <a:pt x="81493" y="206860"/>
                </a:lnTo>
                <a:lnTo>
                  <a:pt x="86956" y="159429"/>
                </a:lnTo>
                <a:lnTo>
                  <a:pt x="102519" y="115889"/>
                </a:lnTo>
                <a:lnTo>
                  <a:pt x="126939" y="77480"/>
                </a:lnTo>
                <a:lnTo>
                  <a:pt x="158974" y="45445"/>
                </a:lnTo>
                <a:lnTo>
                  <a:pt x="197382" y="21025"/>
                </a:lnTo>
                <a:lnTo>
                  <a:pt x="240923" y="5463"/>
                </a:lnTo>
                <a:lnTo>
                  <a:pt x="288353" y="0"/>
                </a:lnTo>
                <a:lnTo>
                  <a:pt x="2154561" y="0"/>
                </a:lnTo>
                <a:lnTo>
                  <a:pt x="2201991" y="5463"/>
                </a:lnTo>
                <a:lnTo>
                  <a:pt x="2245532" y="21025"/>
                </a:lnTo>
                <a:lnTo>
                  <a:pt x="2283940" y="45445"/>
                </a:lnTo>
                <a:lnTo>
                  <a:pt x="2315976" y="77480"/>
                </a:lnTo>
                <a:lnTo>
                  <a:pt x="2340395" y="115889"/>
                </a:lnTo>
                <a:lnTo>
                  <a:pt x="2355958" y="159429"/>
                </a:lnTo>
                <a:lnTo>
                  <a:pt x="2361421" y="206860"/>
                </a:lnTo>
                <a:lnTo>
                  <a:pt x="2361421" y="1824130"/>
                </a:lnTo>
                <a:lnTo>
                  <a:pt x="2363198" y="1824130"/>
                </a:lnTo>
                <a:lnTo>
                  <a:pt x="2363198" y="1978128"/>
                </a:lnTo>
                <a:lnTo>
                  <a:pt x="2434386" y="1906940"/>
                </a:lnTo>
                <a:lnTo>
                  <a:pt x="2443319" y="1906940"/>
                </a:lnTo>
                <a:lnTo>
                  <a:pt x="2454330" y="1917960"/>
                </a:lnTo>
                <a:lnTo>
                  <a:pt x="2454330" y="1926883"/>
                </a:lnTo>
                <a:lnTo>
                  <a:pt x="2361421" y="2019801"/>
                </a:lnTo>
                <a:lnTo>
                  <a:pt x="2361421" y="3696544"/>
                </a:lnTo>
                <a:lnTo>
                  <a:pt x="2367437" y="3741428"/>
                </a:lnTo>
                <a:lnTo>
                  <a:pt x="2384420" y="3781783"/>
                </a:lnTo>
                <a:lnTo>
                  <a:pt x="2410770" y="3816002"/>
                </a:lnTo>
                <a:lnTo>
                  <a:pt x="2444890" y="3842480"/>
                </a:lnTo>
                <a:lnTo>
                  <a:pt x="2485179" y="3859613"/>
                </a:lnTo>
                <a:lnTo>
                  <a:pt x="2530040" y="3865793"/>
                </a:lnTo>
                <a:lnTo>
                  <a:pt x="4541464" y="3873221"/>
                </a:lnTo>
                <a:lnTo>
                  <a:pt x="4586588" y="3867313"/>
                </a:lnTo>
                <a:lnTo>
                  <a:pt x="4627156" y="3850322"/>
                </a:lnTo>
                <a:lnTo>
                  <a:pt x="4661543" y="3823871"/>
                </a:lnTo>
                <a:lnTo>
                  <a:pt x="4688120" y="3789581"/>
                </a:lnTo>
                <a:lnTo>
                  <a:pt x="4705259" y="3749074"/>
                </a:lnTo>
                <a:lnTo>
                  <a:pt x="4711334" y="3703972"/>
                </a:lnTo>
                <a:lnTo>
                  <a:pt x="4711334" y="1954743"/>
                </a:lnTo>
                <a:lnTo>
                  <a:pt x="4642694" y="2023393"/>
                </a:lnTo>
                <a:lnTo>
                  <a:pt x="4633761" y="2023393"/>
                </a:lnTo>
                <a:lnTo>
                  <a:pt x="4622751" y="2012373"/>
                </a:lnTo>
                <a:lnTo>
                  <a:pt x="4622751" y="2003450"/>
                </a:lnTo>
                <a:lnTo>
                  <a:pt x="4711334" y="1914857"/>
                </a:lnTo>
                <a:lnTo>
                  <a:pt x="4711334" y="214974"/>
                </a:lnTo>
                <a:lnTo>
                  <a:pt x="4716770" y="167661"/>
                </a:lnTo>
                <a:lnTo>
                  <a:pt x="4732260" y="124209"/>
                </a:lnTo>
                <a:lnTo>
                  <a:pt x="4756571" y="85854"/>
                </a:lnTo>
                <a:lnTo>
                  <a:pt x="4788473" y="53832"/>
                </a:lnTo>
                <a:lnTo>
                  <a:pt x="4826737" y="29378"/>
                </a:lnTo>
                <a:lnTo>
                  <a:pt x="4870130" y="13727"/>
                </a:lnTo>
                <a:lnTo>
                  <a:pt x="4917423" y="8114"/>
                </a:lnTo>
                <a:lnTo>
                  <a:pt x="6905378" y="705"/>
                </a:lnTo>
                <a:lnTo>
                  <a:pt x="6952945" y="6019"/>
                </a:lnTo>
                <a:lnTo>
                  <a:pt x="6996633" y="21493"/>
                </a:lnTo>
                <a:lnTo>
                  <a:pt x="7035187" y="45878"/>
                </a:lnTo>
                <a:lnTo>
                  <a:pt x="7067354" y="77926"/>
                </a:lnTo>
                <a:lnTo>
                  <a:pt x="7091883" y="116389"/>
                </a:lnTo>
                <a:lnTo>
                  <a:pt x="7107518" y="160018"/>
                </a:lnTo>
                <a:lnTo>
                  <a:pt x="7113009" y="207565"/>
                </a:lnTo>
                <a:lnTo>
                  <a:pt x="7113009" y="1976699"/>
                </a:lnTo>
                <a:lnTo>
                  <a:pt x="7182768" y="1906940"/>
                </a:lnTo>
                <a:lnTo>
                  <a:pt x="7191700" y="1906940"/>
                </a:lnTo>
                <a:lnTo>
                  <a:pt x="7202711" y="1917960"/>
                </a:lnTo>
                <a:lnTo>
                  <a:pt x="7202711" y="1926883"/>
                </a:lnTo>
                <a:lnTo>
                  <a:pt x="7113009" y="2016585"/>
                </a:lnTo>
                <a:lnTo>
                  <a:pt x="7113009" y="3695857"/>
                </a:lnTo>
                <a:lnTo>
                  <a:pt x="7119055" y="3740850"/>
                </a:lnTo>
                <a:lnTo>
                  <a:pt x="7136116" y="3781280"/>
                </a:lnTo>
                <a:lnTo>
                  <a:pt x="7162581" y="3815534"/>
                </a:lnTo>
                <a:lnTo>
                  <a:pt x="7196835" y="3841999"/>
                </a:lnTo>
                <a:lnTo>
                  <a:pt x="7237265" y="3859061"/>
                </a:lnTo>
                <a:lnTo>
                  <a:pt x="7282258" y="3865107"/>
                </a:lnTo>
                <a:lnTo>
                  <a:pt x="9108119" y="3865107"/>
                </a:lnTo>
                <a:lnTo>
                  <a:pt x="9153111" y="3859061"/>
                </a:lnTo>
                <a:lnTo>
                  <a:pt x="9193541" y="3841999"/>
                </a:lnTo>
                <a:lnTo>
                  <a:pt x="9227795" y="3815534"/>
                </a:lnTo>
                <a:lnTo>
                  <a:pt x="9254260" y="3781280"/>
                </a:lnTo>
                <a:lnTo>
                  <a:pt x="9271322" y="3740850"/>
                </a:lnTo>
                <a:lnTo>
                  <a:pt x="9277368" y="3695857"/>
                </a:lnTo>
                <a:lnTo>
                  <a:pt x="9277368" y="2068376"/>
                </a:lnTo>
                <a:lnTo>
                  <a:pt x="9245058" y="2056157"/>
                </a:lnTo>
                <a:lnTo>
                  <a:pt x="9219220" y="2034184"/>
                </a:lnTo>
                <a:lnTo>
                  <a:pt x="9202082" y="2004681"/>
                </a:lnTo>
                <a:lnTo>
                  <a:pt x="9195874" y="1969872"/>
                </a:lnTo>
                <a:lnTo>
                  <a:pt x="9203757" y="1930832"/>
                </a:lnTo>
                <a:lnTo>
                  <a:pt x="9225252" y="1898951"/>
                </a:lnTo>
                <a:lnTo>
                  <a:pt x="9257133" y="1877456"/>
                </a:lnTo>
                <a:lnTo>
                  <a:pt x="9296173" y="1869574"/>
                </a:lnTo>
                <a:lnTo>
                  <a:pt x="9335213" y="1877456"/>
                </a:lnTo>
                <a:lnTo>
                  <a:pt x="9367095" y="1898951"/>
                </a:lnTo>
                <a:lnTo>
                  <a:pt x="9388590" y="1930832"/>
                </a:lnTo>
                <a:lnTo>
                  <a:pt x="9396472" y="1969872"/>
                </a:lnTo>
                <a:lnTo>
                  <a:pt x="9390264" y="2004681"/>
                </a:lnTo>
                <a:lnTo>
                  <a:pt x="9373126" y="2034184"/>
                </a:lnTo>
                <a:lnTo>
                  <a:pt x="9347288" y="2056157"/>
                </a:lnTo>
                <a:lnTo>
                  <a:pt x="9314979" y="2068376"/>
                </a:lnTo>
                <a:lnTo>
                  <a:pt x="9314979" y="3695857"/>
                </a:lnTo>
                <a:lnTo>
                  <a:pt x="9309515" y="3743288"/>
                </a:lnTo>
                <a:lnTo>
                  <a:pt x="9293953" y="3786828"/>
                </a:lnTo>
                <a:lnTo>
                  <a:pt x="9269533" y="3825237"/>
                </a:lnTo>
                <a:lnTo>
                  <a:pt x="9237498" y="3857272"/>
                </a:lnTo>
                <a:lnTo>
                  <a:pt x="9199089" y="3881692"/>
                </a:lnTo>
                <a:lnTo>
                  <a:pt x="9155549" y="3897254"/>
                </a:lnTo>
                <a:lnTo>
                  <a:pt x="9108119" y="3902718"/>
                </a:lnTo>
                <a:lnTo>
                  <a:pt x="7282258" y="3902718"/>
                </a:lnTo>
                <a:lnTo>
                  <a:pt x="7234828" y="3897254"/>
                </a:lnTo>
                <a:lnTo>
                  <a:pt x="7191287" y="3881692"/>
                </a:lnTo>
                <a:lnTo>
                  <a:pt x="7152878" y="3857272"/>
                </a:lnTo>
                <a:lnTo>
                  <a:pt x="7120843" y="3825237"/>
                </a:lnTo>
                <a:lnTo>
                  <a:pt x="7096424" y="3786828"/>
                </a:lnTo>
                <a:lnTo>
                  <a:pt x="7080861" y="3743288"/>
                </a:lnTo>
                <a:lnTo>
                  <a:pt x="7075398" y="3695857"/>
                </a:lnTo>
                <a:lnTo>
                  <a:pt x="7075398" y="2010050"/>
                </a:lnTo>
                <a:lnTo>
                  <a:pt x="6992240" y="1926883"/>
                </a:lnTo>
                <a:lnTo>
                  <a:pt x="6992240" y="1917960"/>
                </a:lnTo>
                <a:lnTo>
                  <a:pt x="7003251" y="1906940"/>
                </a:lnTo>
                <a:lnTo>
                  <a:pt x="7012183" y="1906940"/>
                </a:lnTo>
                <a:lnTo>
                  <a:pt x="7075398" y="1970164"/>
                </a:lnTo>
                <a:lnTo>
                  <a:pt x="7075398" y="207565"/>
                </a:lnTo>
                <a:lnTo>
                  <a:pt x="7069322" y="162463"/>
                </a:lnTo>
                <a:lnTo>
                  <a:pt x="7052181" y="121956"/>
                </a:lnTo>
                <a:lnTo>
                  <a:pt x="7025602" y="87666"/>
                </a:lnTo>
                <a:lnTo>
                  <a:pt x="6991213" y="61214"/>
                </a:lnTo>
                <a:lnTo>
                  <a:pt x="6950643" y="44224"/>
                </a:lnTo>
                <a:lnTo>
                  <a:pt x="6905519" y="38316"/>
                </a:lnTo>
                <a:lnTo>
                  <a:pt x="4917564" y="45725"/>
                </a:lnTo>
                <a:lnTo>
                  <a:pt x="4872703" y="51909"/>
                </a:lnTo>
                <a:lnTo>
                  <a:pt x="4832413" y="69042"/>
                </a:lnTo>
                <a:lnTo>
                  <a:pt x="4798294" y="95520"/>
                </a:lnTo>
                <a:lnTo>
                  <a:pt x="4771944" y="129737"/>
                </a:lnTo>
                <a:lnTo>
                  <a:pt x="4754961" y="170091"/>
                </a:lnTo>
                <a:lnTo>
                  <a:pt x="4748945" y="214974"/>
                </a:lnTo>
                <a:lnTo>
                  <a:pt x="4748945" y="1919173"/>
                </a:lnTo>
                <a:lnTo>
                  <a:pt x="4833222" y="2003450"/>
                </a:lnTo>
                <a:lnTo>
                  <a:pt x="4833222" y="2012373"/>
                </a:lnTo>
                <a:lnTo>
                  <a:pt x="4822211" y="2023393"/>
                </a:lnTo>
                <a:lnTo>
                  <a:pt x="4813278" y="2023393"/>
                </a:lnTo>
                <a:lnTo>
                  <a:pt x="4748945" y="1959059"/>
                </a:lnTo>
                <a:lnTo>
                  <a:pt x="4748945" y="3703972"/>
                </a:lnTo>
                <a:lnTo>
                  <a:pt x="4743454" y="3751519"/>
                </a:lnTo>
                <a:lnTo>
                  <a:pt x="4727819" y="3795148"/>
                </a:lnTo>
                <a:lnTo>
                  <a:pt x="4703290" y="3833611"/>
                </a:lnTo>
                <a:lnTo>
                  <a:pt x="4671123" y="3865659"/>
                </a:lnTo>
                <a:lnTo>
                  <a:pt x="4632569" y="3890044"/>
                </a:lnTo>
                <a:lnTo>
                  <a:pt x="4588881" y="3905518"/>
                </a:lnTo>
                <a:lnTo>
                  <a:pt x="4541314" y="3910832"/>
                </a:lnTo>
                <a:close/>
              </a:path>
            </a:pathLst>
          </a:custGeom>
          <a:solidFill>
            <a:srgbClr val="4850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812359" y="7433769"/>
            <a:ext cx="1437005" cy="86931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1650" spc="-60" b="1">
                <a:latin typeface="Tahoma"/>
                <a:cs typeface="Tahoma"/>
              </a:rPr>
              <a:t>Capture</a:t>
            </a:r>
            <a:r>
              <a:rPr dirty="0" sz="1650" spc="-150" b="1">
                <a:latin typeface="Tahoma"/>
                <a:cs typeface="Tahoma"/>
              </a:rPr>
              <a:t> </a:t>
            </a:r>
            <a:r>
              <a:rPr dirty="0" sz="1650" spc="-20" b="1">
                <a:latin typeface="Tahoma"/>
                <a:cs typeface="Tahoma"/>
              </a:rPr>
              <a:t>Costs</a:t>
            </a:r>
            <a:endParaRPr sz="1650">
              <a:latin typeface="Tahoma"/>
              <a:cs typeface="Tahoma"/>
            </a:endParaRPr>
          </a:p>
          <a:p>
            <a:pPr algn="ctr" marL="12065" marR="5080">
              <a:lnSpc>
                <a:spcPct val="104400"/>
              </a:lnSpc>
              <a:spcBef>
                <a:spcPts val="600"/>
              </a:spcBef>
            </a:pPr>
            <a:r>
              <a:rPr dirty="0" sz="1300" spc="-20">
                <a:solidFill>
                  <a:srgbClr val="272424"/>
                </a:solidFill>
                <a:latin typeface="Verdana"/>
                <a:cs typeface="Verdana"/>
              </a:rPr>
              <a:t>Log</a:t>
            </a:r>
            <a:r>
              <a:rPr dirty="0" sz="13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272424"/>
                </a:solidFill>
                <a:latin typeface="Verdana"/>
                <a:cs typeface="Verdana"/>
              </a:rPr>
              <a:t>expenses</a:t>
            </a:r>
            <a:r>
              <a:rPr dirty="0" sz="1300" spc="-8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272424"/>
                </a:solidFill>
                <a:latin typeface="Verdana"/>
                <a:cs typeface="Verdana"/>
              </a:rPr>
              <a:t>and </a:t>
            </a:r>
            <a:r>
              <a:rPr dirty="0" sz="1300" spc="-10">
                <a:solidFill>
                  <a:srgbClr val="272424"/>
                </a:solidFill>
                <a:latin typeface="Verdana"/>
                <a:cs typeface="Verdana"/>
              </a:rPr>
              <a:t>allocations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69142" y="7054121"/>
            <a:ext cx="1307465" cy="124904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ctr" marL="234315" marR="223520">
              <a:lnSpc>
                <a:spcPct val="104700"/>
              </a:lnSpc>
              <a:spcBef>
                <a:spcPts val="20"/>
              </a:spcBef>
            </a:pPr>
            <a:r>
              <a:rPr dirty="0" sz="1650" spc="-85" b="1">
                <a:latin typeface="Tahoma"/>
                <a:cs typeface="Tahoma"/>
              </a:rPr>
              <a:t>Report</a:t>
            </a:r>
            <a:r>
              <a:rPr dirty="0" sz="1650" spc="-140" b="1">
                <a:latin typeface="Tahoma"/>
                <a:cs typeface="Tahoma"/>
              </a:rPr>
              <a:t> </a:t>
            </a:r>
            <a:r>
              <a:rPr dirty="0" sz="1650" spc="210" b="1">
                <a:latin typeface="Tahoma"/>
                <a:cs typeface="Tahoma"/>
              </a:rPr>
              <a:t>s </a:t>
            </a:r>
            <a:r>
              <a:rPr dirty="0" sz="1650" spc="-10" b="1">
                <a:latin typeface="Tahoma"/>
                <a:cs typeface="Tahoma"/>
              </a:rPr>
              <a:t>Decide</a:t>
            </a:r>
            <a:endParaRPr sz="1650">
              <a:latin typeface="Tahoma"/>
              <a:cs typeface="Tahoma"/>
            </a:endParaRPr>
          </a:p>
          <a:p>
            <a:pPr algn="ctr" marL="12700" marR="5080">
              <a:lnSpc>
                <a:spcPct val="106800"/>
              </a:lnSpc>
              <a:spcBef>
                <a:spcPts val="560"/>
              </a:spcBef>
            </a:pPr>
            <a:r>
              <a:rPr dirty="0" sz="1300" spc="-60">
                <a:solidFill>
                  <a:srgbClr val="272424"/>
                </a:solidFill>
                <a:latin typeface="Verdana"/>
                <a:cs typeface="Verdana"/>
              </a:rPr>
              <a:t>Generate</a:t>
            </a:r>
            <a:r>
              <a:rPr dirty="0" sz="130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Verdana"/>
                <a:cs typeface="Verdana"/>
              </a:rPr>
              <a:t>CO-</a:t>
            </a:r>
            <a:r>
              <a:rPr dirty="0" sz="1300" spc="-25">
                <a:solidFill>
                  <a:srgbClr val="272424"/>
                </a:solidFill>
                <a:latin typeface="Verdana"/>
                <a:cs typeface="Verdana"/>
              </a:rPr>
              <a:t>PA </a:t>
            </a:r>
            <a:r>
              <a:rPr dirty="0" sz="1300" spc="-5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00" spc="-12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Verdana"/>
                <a:cs typeface="Verdana"/>
              </a:rPr>
              <a:t>choose actions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1346" y="4778575"/>
            <a:ext cx="1350010" cy="104203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algn="ctr" marL="246379" marR="236220">
              <a:lnSpc>
                <a:spcPct val="104700"/>
              </a:lnSpc>
              <a:spcBef>
                <a:spcPts val="20"/>
              </a:spcBef>
            </a:pPr>
            <a:r>
              <a:rPr dirty="0" sz="1650" spc="-10" b="1">
                <a:latin typeface="Tahoma"/>
                <a:cs typeface="Tahoma"/>
              </a:rPr>
              <a:t>Capture </a:t>
            </a:r>
            <a:r>
              <a:rPr dirty="0" sz="1650" spc="-70" b="1">
                <a:latin typeface="Tahoma"/>
                <a:cs typeface="Tahoma"/>
              </a:rPr>
              <a:t>Revenue</a:t>
            </a:r>
            <a:endParaRPr sz="1650">
              <a:latin typeface="Tahoma"/>
              <a:cs typeface="Tahoma"/>
            </a:endParaRPr>
          </a:p>
          <a:p>
            <a:pPr algn="ctr" marL="12065" marR="5080">
              <a:lnSpc>
                <a:spcPct val="109200"/>
              </a:lnSpc>
              <a:spcBef>
                <a:spcPts val="525"/>
              </a:spcBef>
            </a:pPr>
            <a:r>
              <a:rPr dirty="0" sz="1300" spc="-40">
                <a:solidFill>
                  <a:srgbClr val="272424"/>
                </a:solidFill>
                <a:latin typeface="Verdana"/>
                <a:cs typeface="Verdana"/>
              </a:rPr>
              <a:t>Record</a:t>
            </a:r>
            <a:r>
              <a:rPr dirty="0" sz="130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35">
                <a:solidFill>
                  <a:srgbClr val="272424"/>
                </a:solidFill>
                <a:latin typeface="Verdana"/>
                <a:cs typeface="Verdana"/>
              </a:rPr>
              <a:t>sales</a:t>
            </a:r>
            <a:r>
              <a:rPr dirty="0" sz="130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40">
                <a:solidFill>
                  <a:srgbClr val="272424"/>
                </a:solidFill>
                <a:latin typeface="Verdana"/>
                <a:cs typeface="Verdana"/>
              </a:rPr>
              <a:t>and </a:t>
            </a:r>
            <a:r>
              <a:rPr dirty="0" sz="1300" spc="-10">
                <a:solidFill>
                  <a:srgbClr val="272424"/>
                </a:solidFill>
                <a:latin typeface="Verdana"/>
                <a:cs typeface="Verdana"/>
              </a:rPr>
              <a:t>income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07211" y="4678668"/>
            <a:ext cx="1405255" cy="87884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900"/>
              </a:spcBef>
            </a:pPr>
            <a:r>
              <a:rPr dirty="0" sz="1650" spc="-10" b="1">
                <a:latin typeface="Tahoma"/>
                <a:cs typeface="Tahoma"/>
              </a:rPr>
              <a:t>Analyze</a:t>
            </a:r>
            <a:endParaRPr sz="1650">
              <a:latin typeface="Tahoma"/>
              <a:cs typeface="Tahoma"/>
            </a:endParaRPr>
          </a:p>
          <a:p>
            <a:pPr algn="ctr" marL="12700" marR="5080" indent="-635">
              <a:lnSpc>
                <a:spcPct val="109200"/>
              </a:lnSpc>
              <a:spcBef>
                <a:spcPts val="525"/>
              </a:spcBef>
            </a:pPr>
            <a:r>
              <a:rPr dirty="0" sz="1300" spc="-45">
                <a:solidFill>
                  <a:srgbClr val="272424"/>
                </a:solidFill>
                <a:latin typeface="Verdana"/>
                <a:cs typeface="Verdana"/>
              </a:rPr>
              <a:t>By</a:t>
            </a:r>
            <a:r>
              <a:rPr dirty="0" sz="1300" spc="-13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10">
                <a:solidFill>
                  <a:srgbClr val="272424"/>
                </a:solidFill>
                <a:latin typeface="Verdana"/>
                <a:cs typeface="Verdana"/>
              </a:rPr>
              <a:t>customer, </a:t>
            </a:r>
            <a:r>
              <a:rPr dirty="0" sz="1300" spc="-60">
                <a:solidFill>
                  <a:srgbClr val="272424"/>
                </a:solidFill>
                <a:latin typeface="Verdana"/>
                <a:cs typeface="Verdana"/>
              </a:rPr>
              <a:t>product,</a:t>
            </a:r>
            <a:r>
              <a:rPr dirty="0" sz="130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45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00" spc="-9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00" spc="-50">
                <a:solidFill>
                  <a:srgbClr val="272424"/>
                </a:solidFill>
                <a:latin typeface="Verdana"/>
                <a:cs typeface="Verdana"/>
              </a:rPr>
              <a:t>region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975" y="8893175"/>
            <a:ext cx="9732645" cy="2193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flow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shows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how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profitability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analysis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works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—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from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capturing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generating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insights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that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drive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strategic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decisions.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700" spc="-150" b="1">
                <a:latin typeface="Tahoma"/>
                <a:cs typeface="Tahoma"/>
              </a:rPr>
              <a:t>Real-</a:t>
            </a:r>
            <a:r>
              <a:rPr dirty="0" sz="2700" spc="-130" b="1">
                <a:latin typeface="Tahoma"/>
                <a:cs typeface="Tahoma"/>
              </a:rPr>
              <a:t>World</a:t>
            </a:r>
            <a:r>
              <a:rPr dirty="0" sz="2700" spc="-250" b="1">
                <a:latin typeface="Tahoma"/>
                <a:cs typeface="Tahoma"/>
              </a:rPr>
              <a:t> </a:t>
            </a:r>
            <a:r>
              <a:rPr dirty="0" sz="2700" spc="-140" b="1">
                <a:latin typeface="Tahoma"/>
                <a:cs typeface="Tahoma"/>
              </a:rPr>
              <a:t>Example:</a:t>
            </a:r>
            <a:r>
              <a:rPr dirty="0" sz="2700" spc="-245" b="1">
                <a:latin typeface="Tahoma"/>
                <a:cs typeface="Tahoma"/>
              </a:rPr>
              <a:t> </a:t>
            </a:r>
            <a:r>
              <a:rPr dirty="0" sz="2700" b="1">
                <a:latin typeface="Tahoma"/>
                <a:cs typeface="Tahoma"/>
              </a:rPr>
              <a:t>ABC</a:t>
            </a:r>
            <a:r>
              <a:rPr dirty="0" sz="2700" spc="-245" b="1">
                <a:latin typeface="Tahoma"/>
                <a:cs typeface="Tahoma"/>
              </a:rPr>
              <a:t> </a:t>
            </a:r>
            <a:r>
              <a:rPr dirty="0" sz="2700" spc="-95" b="1">
                <a:latin typeface="Tahoma"/>
                <a:cs typeface="Tahoma"/>
              </a:rPr>
              <a:t>Electronics</a:t>
            </a:r>
            <a:r>
              <a:rPr dirty="0" sz="2700" spc="-245" b="1">
                <a:latin typeface="Tahoma"/>
                <a:cs typeface="Tahoma"/>
              </a:rPr>
              <a:t> </a:t>
            </a:r>
            <a:r>
              <a:rPr dirty="0" sz="2700" spc="-80" b="1">
                <a:latin typeface="Tahoma"/>
                <a:cs typeface="Tahoma"/>
              </a:rPr>
              <a:t>Pvt.</a:t>
            </a:r>
            <a:r>
              <a:rPr dirty="0" sz="2700" spc="-345" b="1">
                <a:latin typeface="Tahoma"/>
                <a:cs typeface="Tahoma"/>
              </a:rPr>
              <a:t> </a:t>
            </a:r>
            <a:r>
              <a:rPr dirty="0" sz="2700" spc="-20" b="1">
                <a:latin typeface="Tahoma"/>
                <a:cs typeface="Tahoma"/>
              </a:rPr>
              <a:t>Ltd.</a:t>
            </a:r>
            <a:endParaRPr sz="2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1400" spc="-135" i="1">
                <a:solidFill>
                  <a:srgbClr val="272424"/>
                </a:solidFill>
                <a:latin typeface="Verdana"/>
                <a:cs typeface="Verdana"/>
              </a:rPr>
              <a:t>Note:</a:t>
            </a:r>
            <a:r>
              <a:rPr dirty="0" sz="1400" spc="-130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60" i="1">
                <a:solidFill>
                  <a:srgbClr val="272424"/>
                </a:solidFill>
                <a:latin typeface="Verdana"/>
                <a:cs typeface="Verdana"/>
              </a:rPr>
              <a:t>ABC</a:t>
            </a:r>
            <a:r>
              <a:rPr dirty="0" sz="1400" spc="-130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85" i="1">
                <a:solidFill>
                  <a:srgbClr val="272424"/>
                </a:solidFill>
                <a:latin typeface="Verdana"/>
                <a:cs typeface="Verdana"/>
              </a:rPr>
              <a:t>Electronics</a:t>
            </a:r>
            <a:r>
              <a:rPr dirty="0" sz="1400" spc="-130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00" i="1">
                <a:solidFill>
                  <a:srgbClr val="272424"/>
                </a:solidFill>
                <a:latin typeface="Verdana"/>
                <a:cs typeface="Verdana"/>
              </a:rPr>
              <a:t>Pvt.</a:t>
            </a:r>
            <a:r>
              <a:rPr dirty="0" sz="1400" spc="-125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14" i="1">
                <a:solidFill>
                  <a:srgbClr val="272424"/>
                </a:solidFill>
                <a:latin typeface="Verdana"/>
                <a:cs typeface="Verdana"/>
              </a:rPr>
              <a:t>Ltd.</a:t>
            </a:r>
            <a:r>
              <a:rPr dirty="0" sz="1400" spc="-130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60" i="1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400" spc="-130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90" i="1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400" spc="-130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85" i="1">
                <a:solidFill>
                  <a:srgbClr val="272424"/>
                </a:solidFill>
                <a:latin typeface="Verdana"/>
                <a:cs typeface="Verdana"/>
              </a:rPr>
              <a:t>fictional</a:t>
            </a:r>
            <a:r>
              <a:rPr dirty="0" sz="1400" spc="-125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05" i="1">
                <a:solidFill>
                  <a:srgbClr val="272424"/>
                </a:solidFill>
                <a:latin typeface="Verdana"/>
                <a:cs typeface="Verdana"/>
              </a:rPr>
              <a:t>company</a:t>
            </a:r>
            <a:r>
              <a:rPr dirty="0" sz="1400" spc="-130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95" i="1">
                <a:solidFill>
                  <a:srgbClr val="272424"/>
                </a:solidFill>
                <a:latin typeface="Verdana"/>
                <a:cs typeface="Verdana"/>
              </a:rPr>
              <a:t>created</a:t>
            </a:r>
            <a:r>
              <a:rPr dirty="0" sz="1400" spc="-130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85" i="1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400" spc="-125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10" i="1">
                <a:solidFill>
                  <a:srgbClr val="272424"/>
                </a:solidFill>
                <a:latin typeface="Verdana"/>
                <a:cs typeface="Verdana"/>
              </a:rPr>
              <a:t>illustration</a:t>
            </a:r>
            <a:r>
              <a:rPr dirty="0" sz="1400" spc="-130" i="1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400" spc="-10" i="1">
                <a:solidFill>
                  <a:srgbClr val="272424"/>
                </a:solidFill>
                <a:latin typeface="Verdana"/>
                <a:cs typeface="Verdana"/>
              </a:rPr>
              <a:t>purposes.</a:t>
            </a:r>
            <a:endParaRPr sz="140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485"/>
              </a:spcBef>
            </a:pP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ABC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Electronics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company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that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sells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electronic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products.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Different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departments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within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company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use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FICO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reports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different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purposes.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table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below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shows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how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each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department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benefits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from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272424"/>
                </a:solidFill>
                <a:latin typeface="Verdana"/>
                <a:cs typeface="Verdana"/>
              </a:rPr>
              <a:t>specific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reports.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3437" y="11320463"/>
            <a:ext cx="9763125" cy="3552825"/>
          </a:xfrm>
          <a:custGeom>
            <a:avLst/>
            <a:gdLst/>
            <a:ahLst/>
            <a:cxnLst/>
            <a:rect l="l" t="t" r="r" b="b"/>
            <a:pathLst>
              <a:path w="9763125" h="3552825">
                <a:moveTo>
                  <a:pt x="0" y="3497579"/>
                </a:moveTo>
                <a:lnTo>
                  <a:pt x="0" y="55245"/>
                </a:lnTo>
                <a:lnTo>
                  <a:pt x="0" y="51615"/>
                </a:lnTo>
                <a:lnTo>
                  <a:pt x="352" y="48025"/>
                </a:lnTo>
                <a:lnTo>
                  <a:pt x="16182" y="16182"/>
                </a:lnTo>
                <a:lnTo>
                  <a:pt x="18745" y="13611"/>
                </a:lnTo>
                <a:lnTo>
                  <a:pt x="34099" y="4210"/>
                </a:lnTo>
                <a:lnTo>
                  <a:pt x="37452" y="2819"/>
                </a:lnTo>
                <a:lnTo>
                  <a:pt x="40909" y="1771"/>
                </a:lnTo>
                <a:lnTo>
                  <a:pt x="44462" y="1057"/>
                </a:lnTo>
                <a:lnTo>
                  <a:pt x="48025" y="352"/>
                </a:lnTo>
                <a:lnTo>
                  <a:pt x="51615" y="0"/>
                </a:lnTo>
                <a:lnTo>
                  <a:pt x="55244" y="0"/>
                </a:lnTo>
                <a:lnTo>
                  <a:pt x="9707880" y="0"/>
                </a:lnTo>
                <a:lnTo>
                  <a:pt x="9711509" y="0"/>
                </a:lnTo>
                <a:lnTo>
                  <a:pt x="9715099" y="352"/>
                </a:lnTo>
                <a:lnTo>
                  <a:pt x="9718652" y="1057"/>
                </a:lnTo>
                <a:lnTo>
                  <a:pt x="9722215" y="1771"/>
                </a:lnTo>
                <a:lnTo>
                  <a:pt x="9725672" y="2819"/>
                </a:lnTo>
                <a:lnTo>
                  <a:pt x="9729015" y="4210"/>
                </a:lnTo>
                <a:lnTo>
                  <a:pt x="9732368" y="5591"/>
                </a:lnTo>
                <a:lnTo>
                  <a:pt x="9746942" y="16182"/>
                </a:lnTo>
                <a:lnTo>
                  <a:pt x="9749504" y="18745"/>
                </a:lnTo>
                <a:lnTo>
                  <a:pt x="9758914" y="34099"/>
                </a:lnTo>
                <a:lnTo>
                  <a:pt x="9760305" y="37452"/>
                </a:lnTo>
                <a:lnTo>
                  <a:pt x="9761353" y="40909"/>
                </a:lnTo>
                <a:lnTo>
                  <a:pt x="9762067" y="44472"/>
                </a:lnTo>
                <a:lnTo>
                  <a:pt x="9762772" y="48025"/>
                </a:lnTo>
                <a:lnTo>
                  <a:pt x="9763125" y="51615"/>
                </a:lnTo>
                <a:lnTo>
                  <a:pt x="9763125" y="55245"/>
                </a:lnTo>
                <a:lnTo>
                  <a:pt x="9763125" y="3497579"/>
                </a:lnTo>
                <a:lnTo>
                  <a:pt x="9763125" y="3501209"/>
                </a:lnTo>
                <a:lnTo>
                  <a:pt x="9762772" y="3504799"/>
                </a:lnTo>
                <a:lnTo>
                  <a:pt x="9762067" y="3508352"/>
                </a:lnTo>
                <a:lnTo>
                  <a:pt x="9761353" y="3511915"/>
                </a:lnTo>
                <a:lnTo>
                  <a:pt x="9760305" y="3515372"/>
                </a:lnTo>
                <a:lnTo>
                  <a:pt x="9758914" y="3518715"/>
                </a:lnTo>
                <a:lnTo>
                  <a:pt x="9757533" y="3522068"/>
                </a:lnTo>
                <a:lnTo>
                  <a:pt x="9755828" y="3525250"/>
                </a:lnTo>
                <a:lnTo>
                  <a:pt x="9753809" y="3528269"/>
                </a:lnTo>
                <a:lnTo>
                  <a:pt x="9751799" y="3531288"/>
                </a:lnTo>
                <a:lnTo>
                  <a:pt x="9738569" y="3543509"/>
                </a:lnTo>
                <a:lnTo>
                  <a:pt x="9735550" y="3545528"/>
                </a:lnTo>
                <a:lnTo>
                  <a:pt x="9732368" y="3547233"/>
                </a:lnTo>
                <a:lnTo>
                  <a:pt x="9729025" y="3548614"/>
                </a:lnTo>
                <a:lnTo>
                  <a:pt x="9725672" y="3550005"/>
                </a:lnTo>
                <a:lnTo>
                  <a:pt x="9722215" y="3551053"/>
                </a:lnTo>
                <a:lnTo>
                  <a:pt x="9718652" y="3551758"/>
                </a:lnTo>
                <a:lnTo>
                  <a:pt x="9715099" y="3552472"/>
                </a:lnTo>
                <a:lnTo>
                  <a:pt x="9711509" y="3552825"/>
                </a:lnTo>
                <a:lnTo>
                  <a:pt x="9707880" y="3552825"/>
                </a:lnTo>
                <a:lnTo>
                  <a:pt x="55244" y="3552825"/>
                </a:lnTo>
                <a:lnTo>
                  <a:pt x="51615" y="3552825"/>
                </a:lnTo>
                <a:lnTo>
                  <a:pt x="48025" y="3552472"/>
                </a:lnTo>
                <a:lnTo>
                  <a:pt x="44462" y="3551758"/>
                </a:lnTo>
                <a:lnTo>
                  <a:pt x="40909" y="3551053"/>
                </a:lnTo>
                <a:lnTo>
                  <a:pt x="24555" y="3543509"/>
                </a:lnTo>
                <a:lnTo>
                  <a:pt x="21536" y="3541499"/>
                </a:lnTo>
                <a:lnTo>
                  <a:pt x="18745" y="3539204"/>
                </a:lnTo>
                <a:lnTo>
                  <a:pt x="16182" y="3536642"/>
                </a:lnTo>
                <a:lnTo>
                  <a:pt x="13611" y="3534079"/>
                </a:lnTo>
                <a:lnTo>
                  <a:pt x="0" y="3501209"/>
                </a:lnTo>
                <a:lnTo>
                  <a:pt x="0" y="3497579"/>
                </a:lnTo>
                <a:close/>
              </a:path>
            </a:pathLst>
          </a:custGeom>
          <a:ln w="9525">
            <a:solidFill>
              <a:srgbClr val="B3B3B3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838200" y="11454408"/>
          <a:ext cx="9829800" cy="3264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16200"/>
                <a:gridCol w="3180079"/>
                <a:gridCol w="3957320"/>
              </a:tblGrid>
              <a:tr h="370840">
                <a:tc>
                  <a:txBody>
                    <a:bodyPr/>
                    <a:lstStyle/>
                    <a:p>
                      <a:pPr marL="172720">
                        <a:lnSpc>
                          <a:spcPts val="1580"/>
                        </a:lnSpc>
                      </a:pP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Department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0">
                        <a:lnSpc>
                          <a:spcPts val="1580"/>
                        </a:lnSpc>
                      </a:pPr>
                      <a:r>
                        <a:rPr dirty="0" sz="1350" spc="-7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Report</a:t>
                      </a:r>
                      <a:r>
                        <a:rPr dirty="0" sz="1350" spc="-75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Used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1580"/>
                        </a:lnSpc>
                      </a:pPr>
                      <a:r>
                        <a:rPr dirty="0" sz="1350" spc="-10" b="1">
                          <a:solidFill>
                            <a:srgbClr val="272424"/>
                          </a:solidFill>
                          <a:latin typeface="Tahoma"/>
                          <a:cs typeface="Tahoma"/>
                        </a:rPr>
                        <a:t>Purpose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0"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Finance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6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Profit</a:t>
                      </a:r>
                      <a:r>
                        <a:rPr dirty="0" sz="1350" spc="-13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dirty="0" sz="1350" spc="-12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Loss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7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Understand</a:t>
                      </a:r>
                      <a:r>
                        <a:rPr dirty="0" sz="1350" spc="-9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8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overall</a:t>
                      </a:r>
                      <a:r>
                        <a:rPr dirty="0" sz="1350" spc="-9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profitability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Finance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Balance</a:t>
                      </a:r>
                      <a:r>
                        <a:rPr dirty="0" sz="1350" spc="-9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Sheet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8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Review</a:t>
                      </a:r>
                      <a:r>
                        <a:rPr dirty="0" sz="1350" spc="-9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financial</a:t>
                      </a:r>
                      <a:r>
                        <a:rPr dirty="0" sz="1350" spc="-9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position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4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Accounts</a:t>
                      </a:r>
                      <a:r>
                        <a:rPr dirty="0" sz="1350" spc="-10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Payable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Vendor</a:t>
                      </a:r>
                      <a:r>
                        <a:rPr dirty="0" sz="1350" spc="-10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Aging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Track</a:t>
                      </a:r>
                      <a:r>
                        <a:rPr dirty="0" sz="1350" spc="-1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supplier</a:t>
                      </a:r>
                      <a:r>
                        <a:rPr dirty="0" sz="1350" spc="-10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dues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4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Accounts</a:t>
                      </a:r>
                      <a:r>
                        <a:rPr dirty="0" sz="1350" spc="-10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Receivable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Customer</a:t>
                      </a:r>
                      <a:r>
                        <a:rPr dirty="0" sz="1350" spc="-1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Aging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Track</a:t>
                      </a:r>
                      <a:r>
                        <a:rPr dirty="0" sz="1350" spc="-9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customer</a:t>
                      </a:r>
                      <a:r>
                        <a:rPr dirty="0" sz="1350" spc="-9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2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dues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Management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4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Cost</a:t>
                      </a:r>
                      <a:r>
                        <a:rPr dirty="0" sz="1350" spc="-114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Centre</a:t>
                      </a:r>
                      <a:r>
                        <a:rPr dirty="0" sz="1350" spc="-114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Report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Control </a:t>
                      </a:r>
                      <a:r>
                        <a:rPr dirty="0" sz="1350" spc="-9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department</a:t>
                      </a: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costs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28270">
                    <a:lnT w="9525">
                      <a:solidFill>
                        <a:srgbClr val="B3B3B3"/>
                      </a:solidFill>
                      <a:prstDash val="solid"/>
                    </a:lnT>
                    <a:lnB w="9525">
                      <a:solidFill>
                        <a:srgbClr val="B3B3B3"/>
                      </a:solidFill>
                      <a:prstDash val="solid"/>
                    </a:lnB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marL="172720">
                        <a:lnSpc>
                          <a:spcPts val="1575"/>
                        </a:lnSpc>
                        <a:spcBef>
                          <a:spcPts val="1085"/>
                        </a:spcBef>
                      </a:pP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Management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06450">
                        <a:lnSpc>
                          <a:spcPts val="1575"/>
                        </a:lnSpc>
                        <a:spcBef>
                          <a:spcPts val="1085"/>
                        </a:spcBef>
                      </a:pPr>
                      <a:r>
                        <a:rPr dirty="0" sz="1350" spc="-7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Profitability</a:t>
                      </a:r>
                      <a:r>
                        <a:rPr dirty="0" sz="1350" spc="-5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Report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935">
                        <a:lnSpc>
                          <a:spcPts val="1575"/>
                        </a:lnSpc>
                        <a:spcBef>
                          <a:spcPts val="1085"/>
                        </a:spcBef>
                      </a:pPr>
                      <a:r>
                        <a:rPr dirty="0" sz="1350" spc="-6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Analyse</a:t>
                      </a:r>
                      <a:r>
                        <a:rPr dirty="0" sz="1350" spc="-9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7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profitable</a:t>
                      </a:r>
                      <a:r>
                        <a:rPr dirty="0" sz="1350" spc="-95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350" spc="-10">
                          <a:solidFill>
                            <a:srgbClr val="272424"/>
                          </a:solidFill>
                          <a:latin typeface="Verdana"/>
                          <a:cs typeface="Verdana"/>
                        </a:rPr>
                        <a:t>products</a:t>
                      </a:r>
                      <a:endParaRPr sz="1350">
                        <a:latin typeface="Verdana"/>
                        <a:cs typeface="Verdana"/>
                      </a:endParaRPr>
                    </a:p>
                  </a:txBody>
                  <a:tcPr marL="0" marR="0" marB="0" marT="137795">
                    <a:lnT w="9525">
                      <a:solidFill>
                        <a:srgbClr val="B3B3B3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15975" y="454025"/>
            <a:ext cx="800671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105"/>
              <a:t>Benefits,</a:t>
            </a:r>
            <a:r>
              <a:rPr dirty="0" spc="-459"/>
              <a:t> </a:t>
            </a:r>
            <a:r>
              <a:rPr dirty="0" spc="-90"/>
              <a:t>Challenges,</a:t>
            </a:r>
            <a:r>
              <a:rPr dirty="0" spc="-455"/>
              <a:t> </a:t>
            </a:r>
            <a:r>
              <a:rPr dirty="0" spc="-120"/>
              <a:t>and</a:t>
            </a:r>
            <a:r>
              <a:rPr dirty="0" spc="-340"/>
              <a:t> </a:t>
            </a:r>
            <a:r>
              <a:rPr dirty="0"/>
              <a:t>SAP</a:t>
            </a:r>
            <a:r>
              <a:rPr dirty="0" spc="-350"/>
              <a:t> </a:t>
            </a:r>
            <a:r>
              <a:rPr dirty="0" spc="-55"/>
              <a:t>S/4HANA </a:t>
            </a:r>
            <a:r>
              <a:rPr dirty="0" spc="-50"/>
              <a:t>Reporting</a:t>
            </a:r>
          </a:p>
        </p:txBody>
      </p:sp>
      <p:sp>
        <p:nvSpPr>
          <p:cNvPr id="3" name="object 3"/>
          <p:cNvSpPr/>
          <p:nvPr/>
        </p:nvSpPr>
        <p:spPr>
          <a:xfrm>
            <a:off x="866775" y="25336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66775" y="28670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66775" y="32004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66775" y="35337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66775" y="38671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66775" y="42005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66775" y="45339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6775" y="48768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15975" y="1963737"/>
            <a:ext cx="3935095" cy="30365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 b="1">
                <a:latin typeface="Tahoma"/>
                <a:cs typeface="Tahoma"/>
              </a:rPr>
              <a:t>Benefits</a:t>
            </a:r>
            <a:r>
              <a:rPr dirty="0" sz="1650" spc="-155" b="1">
                <a:latin typeface="Tahoma"/>
                <a:cs typeface="Tahoma"/>
              </a:rPr>
              <a:t> </a:t>
            </a:r>
            <a:r>
              <a:rPr dirty="0" sz="1650" b="1">
                <a:latin typeface="Tahoma"/>
                <a:cs typeface="Tahoma"/>
              </a:rPr>
              <a:t>of</a:t>
            </a:r>
            <a:r>
              <a:rPr dirty="0" sz="1650" spc="-155" b="1">
                <a:latin typeface="Tahoma"/>
                <a:cs typeface="Tahoma"/>
              </a:rPr>
              <a:t> </a:t>
            </a:r>
            <a:r>
              <a:rPr dirty="0" sz="1650" b="1">
                <a:latin typeface="Tahoma"/>
                <a:cs typeface="Tahoma"/>
              </a:rPr>
              <a:t>SAP</a:t>
            </a:r>
            <a:r>
              <a:rPr dirty="0" sz="1650" spc="-155" b="1">
                <a:latin typeface="Tahoma"/>
                <a:cs typeface="Tahoma"/>
              </a:rPr>
              <a:t> </a:t>
            </a:r>
            <a:r>
              <a:rPr dirty="0" sz="1650" spc="-85" b="1">
                <a:latin typeface="Tahoma"/>
                <a:cs typeface="Tahoma"/>
              </a:rPr>
              <a:t>FICO</a:t>
            </a:r>
            <a:r>
              <a:rPr dirty="0" sz="1650" spc="-155" b="1">
                <a:latin typeface="Tahoma"/>
                <a:cs typeface="Tahoma"/>
              </a:rPr>
              <a:t> </a:t>
            </a:r>
            <a:r>
              <a:rPr dirty="0" sz="1650" spc="-10" b="1">
                <a:latin typeface="Tahoma"/>
                <a:cs typeface="Tahoma"/>
              </a:rPr>
              <a:t>Reports</a:t>
            </a:r>
            <a:endParaRPr sz="1650">
              <a:latin typeface="Tahoma"/>
              <a:cs typeface="Tahoma"/>
            </a:endParaRPr>
          </a:p>
          <a:p>
            <a:pPr marL="286385" marR="609600">
              <a:lnSpc>
                <a:spcPct val="162000"/>
              </a:lnSpc>
              <a:spcBef>
                <a:spcPts val="615"/>
              </a:spcBef>
            </a:pP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Faster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access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information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Better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visibility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into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revenues</a:t>
            </a:r>
            <a:endParaRPr sz="1350">
              <a:latin typeface="Verdana"/>
              <a:cs typeface="Verdana"/>
            </a:endParaRPr>
          </a:p>
          <a:p>
            <a:pPr marL="286385" marR="5080">
              <a:lnSpc>
                <a:spcPct val="162000"/>
              </a:lnSpc>
            </a:pP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Improved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accuracy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reduced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manual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effort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Better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cost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control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through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variance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analysis 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Improved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cash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management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via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AP/AR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reports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Stronger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support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compliance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audits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Better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planning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through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plan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vs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actual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80"/>
              </a:spcBef>
            </a:pP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Improved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decision-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making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at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all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levels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72175" y="25336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72175" y="31432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72175" y="3476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972175" y="38100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972175" y="4419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972175" y="50292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5" y="57150"/>
                </a:moveTo>
                <a:lnTo>
                  <a:pt x="24784" y="57150"/>
                </a:lnTo>
                <a:lnTo>
                  <a:pt x="21135" y="56426"/>
                </a:lnTo>
                <a:lnTo>
                  <a:pt x="0" y="32365"/>
                </a:lnTo>
                <a:lnTo>
                  <a:pt x="0" y="24784"/>
                </a:lnTo>
                <a:lnTo>
                  <a:pt x="24784" y="0"/>
                </a:lnTo>
                <a:lnTo>
                  <a:pt x="32365" y="0"/>
                </a:lnTo>
                <a:lnTo>
                  <a:pt x="57150" y="24784"/>
                </a:lnTo>
                <a:lnTo>
                  <a:pt x="57150" y="28575"/>
                </a:lnTo>
                <a:lnTo>
                  <a:pt x="57150" y="32365"/>
                </a:lnTo>
                <a:lnTo>
                  <a:pt x="36004" y="56426"/>
                </a:lnTo>
                <a:lnTo>
                  <a:pt x="32365" y="57150"/>
                </a:lnTo>
                <a:close/>
              </a:path>
            </a:pathLst>
          </a:custGeom>
          <a:solidFill>
            <a:srgbClr val="27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Challenges</a:t>
            </a:r>
            <a:r>
              <a:rPr dirty="0" spc="-145"/>
              <a:t> </a:t>
            </a:r>
            <a:r>
              <a:rPr dirty="0" spc="-40"/>
              <a:t>and</a:t>
            </a:r>
            <a:r>
              <a:rPr dirty="0" spc="-140"/>
              <a:t> </a:t>
            </a:r>
            <a:r>
              <a:rPr dirty="0" spc="-10"/>
              <a:t>Limitations</a:t>
            </a:r>
          </a:p>
          <a:p>
            <a:pPr marL="286385" marR="383540">
              <a:lnSpc>
                <a:spcPct val="134300"/>
              </a:lnSpc>
              <a:spcBef>
                <a:spcPts val="1065"/>
              </a:spcBef>
            </a:pPr>
            <a:r>
              <a:rPr dirty="0" sz="1350" spc="-75" b="0">
                <a:solidFill>
                  <a:srgbClr val="272424"/>
                </a:solidFill>
                <a:latin typeface="Verdana"/>
                <a:cs typeface="Verdana"/>
              </a:rPr>
              <a:t>Incorrect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 b="0">
                <a:solidFill>
                  <a:srgbClr val="272424"/>
                </a:solidFill>
                <a:latin typeface="Verdana"/>
                <a:cs typeface="Verdana"/>
              </a:rPr>
              <a:t>master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 b="0">
                <a:solidFill>
                  <a:srgbClr val="272424"/>
                </a:solidFill>
                <a:latin typeface="Verdana"/>
                <a:cs typeface="Verdana"/>
              </a:rPr>
              <a:t>or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 b="0">
                <a:solidFill>
                  <a:srgbClr val="272424"/>
                </a:solidFill>
                <a:latin typeface="Verdana"/>
                <a:cs typeface="Verdana"/>
              </a:rPr>
              <a:t>transaction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 b="0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05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 b="0">
                <a:solidFill>
                  <a:srgbClr val="272424"/>
                </a:solidFill>
                <a:latin typeface="Verdana"/>
                <a:cs typeface="Verdana"/>
              </a:rPr>
              <a:t>leads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 b="0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0" b="0">
                <a:solidFill>
                  <a:srgbClr val="272424"/>
                </a:solidFill>
                <a:latin typeface="Verdana"/>
                <a:cs typeface="Verdana"/>
              </a:rPr>
              <a:t>wrong </a:t>
            </a:r>
            <a:r>
              <a:rPr dirty="0" sz="1350" spc="-10" b="0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endParaRPr sz="1350">
              <a:latin typeface="Verdana"/>
              <a:cs typeface="Verdana"/>
            </a:endParaRPr>
          </a:p>
          <a:p>
            <a:pPr marL="286385" marR="450850">
              <a:lnSpc>
                <a:spcPct val="162000"/>
              </a:lnSpc>
            </a:pPr>
            <a:r>
              <a:rPr dirty="0" sz="1350" spc="-45" b="0">
                <a:solidFill>
                  <a:srgbClr val="272424"/>
                </a:solidFill>
                <a:latin typeface="Verdana"/>
                <a:cs typeface="Verdana"/>
              </a:rPr>
              <a:t>Poor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 b="0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05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 b="0">
                <a:solidFill>
                  <a:srgbClr val="272424"/>
                </a:solidFill>
                <a:latin typeface="Verdana"/>
                <a:cs typeface="Verdana"/>
              </a:rPr>
              <a:t>configuration</a:t>
            </a:r>
            <a:r>
              <a:rPr dirty="0" sz="1350" spc="-105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 b="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 b="0">
                <a:solidFill>
                  <a:srgbClr val="272424"/>
                </a:solidFill>
                <a:latin typeface="Verdana"/>
                <a:cs typeface="Verdana"/>
              </a:rPr>
              <a:t>limit </a:t>
            </a:r>
            <a:r>
              <a:rPr dirty="0" sz="1350" spc="-80" b="0">
                <a:solidFill>
                  <a:srgbClr val="272424"/>
                </a:solidFill>
                <a:latin typeface="Verdana"/>
                <a:cs typeface="Verdana"/>
              </a:rPr>
              <a:t>report</a:t>
            </a:r>
            <a:r>
              <a:rPr dirty="0" sz="1350" spc="-105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 b="0">
                <a:solidFill>
                  <a:srgbClr val="272424"/>
                </a:solidFill>
                <a:latin typeface="Verdana"/>
                <a:cs typeface="Verdana"/>
              </a:rPr>
              <a:t>usefulness </a:t>
            </a:r>
            <a:r>
              <a:rPr dirty="0" sz="1350" spc="-85" b="0">
                <a:solidFill>
                  <a:srgbClr val="272424"/>
                </a:solidFill>
                <a:latin typeface="Verdana"/>
                <a:cs typeface="Verdana"/>
              </a:rPr>
              <a:t>Some</a:t>
            </a:r>
            <a:r>
              <a:rPr dirty="0" sz="1350" spc="-114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 b="0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14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 b="0">
                <a:solidFill>
                  <a:srgbClr val="272424"/>
                </a:solidFill>
                <a:latin typeface="Verdana"/>
                <a:cs typeface="Verdana"/>
              </a:rPr>
              <a:t>are</a:t>
            </a:r>
            <a:r>
              <a:rPr dirty="0" sz="1350" spc="-114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 b="0">
                <a:solidFill>
                  <a:srgbClr val="272424"/>
                </a:solidFill>
                <a:latin typeface="Verdana"/>
                <a:cs typeface="Verdana"/>
              </a:rPr>
              <a:t>complex</a:t>
            </a:r>
            <a:r>
              <a:rPr dirty="0" sz="1350" spc="-114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 b="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 b="0">
                <a:solidFill>
                  <a:srgbClr val="272424"/>
                </a:solidFill>
                <a:latin typeface="Verdana"/>
                <a:cs typeface="Verdana"/>
              </a:rPr>
              <a:t>require</a:t>
            </a:r>
            <a:r>
              <a:rPr dirty="0" sz="1350" spc="-114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 b="0">
                <a:solidFill>
                  <a:srgbClr val="272424"/>
                </a:solidFill>
                <a:latin typeface="Verdana"/>
                <a:cs typeface="Verdana"/>
              </a:rPr>
              <a:t>training</a:t>
            </a:r>
            <a:endParaRPr sz="1350">
              <a:latin typeface="Verdana"/>
              <a:cs typeface="Verdana"/>
            </a:endParaRPr>
          </a:p>
          <a:p>
            <a:pPr marL="286385" marR="368935">
              <a:lnSpc>
                <a:spcPct val="134300"/>
              </a:lnSpc>
              <a:spcBef>
                <a:spcPts val="450"/>
              </a:spcBef>
            </a:pPr>
            <a:r>
              <a:rPr dirty="0" sz="1350" spc="-60" b="0">
                <a:solidFill>
                  <a:srgbClr val="272424"/>
                </a:solidFill>
                <a:latin typeface="Verdana"/>
                <a:cs typeface="Verdana"/>
              </a:rPr>
              <a:t>Too</a:t>
            </a:r>
            <a:r>
              <a:rPr dirty="0" sz="1350" spc="-12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 b="0">
                <a:solidFill>
                  <a:srgbClr val="272424"/>
                </a:solidFill>
                <a:latin typeface="Verdana"/>
                <a:cs typeface="Verdana"/>
              </a:rPr>
              <a:t>much</a:t>
            </a:r>
            <a:r>
              <a:rPr dirty="0" sz="1350" spc="-12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 b="0">
                <a:solidFill>
                  <a:srgbClr val="272424"/>
                </a:solidFill>
                <a:latin typeface="Verdana"/>
                <a:cs typeface="Verdana"/>
              </a:rPr>
              <a:t>information</a:t>
            </a:r>
            <a:r>
              <a:rPr dirty="0" sz="1350" spc="-12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 b="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14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5" b="0">
                <a:solidFill>
                  <a:srgbClr val="272424"/>
                </a:solidFill>
                <a:latin typeface="Verdana"/>
                <a:cs typeface="Verdana"/>
              </a:rPr>
              <a:t>make</a:t>
            </a:r>
            <a:r>
              <a:rPr dirty="0" sz="1350" spc="-12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 b="0">
                <a:solidFill>
                  <a:srgbClr val="272424"/>
                </a:solidFill>
                <a:latin typeface="Verdana"/>
                <a:cs typeface="Verdana"/>
              </a:rPr>
              <a:t>it</a:t>
            </a:r>
            <a:r>
              <a:rPr dirty="0" sz="1350" spc="-12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 b="0">
                <a:solidFill>
                  <a:srgbClr val="272424"/>
                </a:solidFill>
                <a:latin typeface="Verdana"/>
                <a:cs typeface="Verdana"/>
              </a:rPr>
              <a:t>hard</a:t>
            </a:r>
            <a:r>
              <a:rPr dirty="0" sz="1350" spc="-114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 b="0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2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 b="0">
                <a:solidFill>
                  <a:srgbClr val="272424"/>
                </a:solidFill>
                <a:latin typeface="Verdana"/>
                <a:cs typeface="Verdana"/>
              </a:rPr>
              <a:t>find</a:t>
            </a:r>
            <a:r>
              <a:rPr dirty="0" sz="1350" spc="-12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 b="0">
                <a:solidFill>
                  <a:srgbClr val="272424"/>
                </a:solidFill>
                <a:latin typeface="Verdana"/>
                <a:cs typeface="Verdana"/>
              </a:rPr>
              <a:t>what </a:t>
            </a:r>
            <a:r>
              <a:rPr dirty="0" sz="1350" spc="-10" b="0">
                <a:solidFill>
                  <a:srgbClr val="272424"/>
                </a:solidFill>
                <a:latin typeface="Verdana"/>
                <a:cs typeface="Verdana"/>
              </a:rPr>
              <a:t>matters</a:t>
            </a:r>
            <a:endParaRPr sz="1350">
              <a:latin typeface="Verdana"/>
              <a:cs typeface="Verdana"/>
            </a:endParaRPr>
          </a:p>
          <a:p>
            <a:pPr marL="286385" marR="5080">
              <a:lnSpc>
                <a:spcPct val="134300"/>
              </a:lnSpc>
              <a:spcBef>
                <a:spcPts val="450"/>
              </a:spcBef>
            </a:pPr>
            <a:r>
              <a:rPr dirty="0" sz="1350" spc="-60" b="0">
                <a:solidFill>
                  <a:srgbClr val="272424"/>
                </a:solidFill>
                <a:latin typeface="Verdana"/>
                <a:cs typeface="Verdana"/>
              </a:rPr>
              <a:t>Differences</a:t>
            </a:r>
            <a:r>
              <a:rPr dirty="0" sz="1350" spc="-114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 b="0">
                <a:solidFill>
                  <a:srgbClr val="272424"/>
                </a:solidFill>
                <a:latin typeface="Verdana"/>
                <a:cs typeface="Verdana"/>
              </a:rPr>
              <a:t>between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 b="0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4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 b="0">
                <a:solidFill>
                  <a:srgbClr val="272424"/>
                </a:solidFill>
                <a:latin typeface="Verdana"/>
                <a:cs typeface="Verdana"/>
              </a:rPr>
              <a:t>ECC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 b="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 b="0">
                <a:solidFill>
                  <a:srgbClr val="272424"/>
                </a:solidFill>
                <a:latin typeface="Verdana"/>
                <a:cs typeface="Verdana"/>
              </a:rPr>
              <a:t>S/4HANA</a:t>
            </a:r>
            <a:r>
              <a:rPr dirty="0" sz="1350" spc="-114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 b="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1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 b="0">
                <a:solidFill>
                  <a:srgbClr val="272424"/>
                </a:solidFill>
                <a:latin typeface="Verdana"/>
                <a:cs typeface="Verdana"/>
              </a:rPr>
              <a:t>cause confusion</a:t>
            </a:r>
            <a:endParaRPr sz="1350">
              <a:latin typeface="Verdana"/>
              <a:cs typeface="Verdana"/>
            </a:endParaRPr>
          </a:p>
          <a:p>
            <a:pPr marL="286385">
              <a:lnSpc>
                <a:spcPct val="100000"/>
              </a:lnSpc>
              <a:spcBef>
                <a:spcPts val="1005"/>
              </a:spcBef>
            </a:pPr>
            <a:r>
              <a:rPr dirty="0" sz="1350" spc="-75" b="0">
                <a:solidFill>
                  <a:srgbClr val="272424"/>
                </a:solidFill>
                <a:latin typeface="Verdana"/>
                <a:cs typeface="Verdana"/>
              </a:rPr>
              <a:t>Custom</a:t>
            </a:r>
            <a:r>
              <a:rPr dirty="0" sz="1350" spc="-105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 b="0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10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4" b="0">
                <a:solidFill>
                  <a:srgbClr val="272424"/>
                </a:solidFill>
                <a:latin typeface="Verdana"/>
                <a:cs typeface="Verdana"/>
              </a:rPr>
              <a:t>may</a:t>
            </a:r>
            <a:r>
              <a:rPr dirty="0" sz="1350" spc="-10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 b="0">
                <a:solidFill>
                  <a:srgbClr val="272424"/>
                </a:solidFill>
                <a:latin typeface="Verdana"/>
                <a:cs typeface="Verdana"/>
              </a:rPr>
              <a:t>require</a:t>
            </a:r>
            <a:r>
              <a:rPr dirty="0" sz="1350" spc="-10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 b="0">
                <a:solidFill>
                  <a:srgbClr val="272424"/>
                </a:solidFill>
                <a:latin typeface="Verdana"/>
                <a:cs typeface="Verdana"/>
              </a:rPr>
              <a:t>developer</a:t>
            </a:r>
            <a:r>
              <a:rPr dirty="0" sz="1350" spc="-100" b="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 b="0">
                <a:solidFill>
                  <a:srgbClr val="272424"/>
                </a:solidFill>
                <a:latin typeface="Verdana"/>
                <a:cs typeface="Verdana"/>
              </a:rPr>
              <a:t>support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5978" y="5279390"/>
            <a:ext cx="9723755" cy="30448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5117465" marR="5080">
              <a:lnSpc>
                <a:spcPct val="131900"/>
              </a:lnSpc>
              <a:spcBef>
                <a:spcPts val="135"/>
              </a:spcBef>
            </a:pP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Organisations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can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reduce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these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problems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by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ensuring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data 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quality,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providing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user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training,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maintaining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good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272424"/>
                </a:solidFill>
                <a:latin typeface="Verdana"/>
                <a:cs typeface="Verdana"/>
              </a:rPr>
              <a:t>SAP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configuration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practices.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2700" spc="-25" b="1">
                <a:latin typeface="Tahoma"/>
                <a:cs typeface="Tahoma"/>
              </a:rPr>
              <a:t>SAP</a:t>
            </a:r>
            <a:r>
              <a:rPr dirty="0" sz="2700" spc="-275" b="1">
                <a:latin typeface="Tahoma"/>
                <a:cs typeface="Tahoma"/>
              </a:rPr>
              <a:t> </a:t>
            </a:r>
            <a:r>
              <a:rPr dirty="0" sz="2700" spc="-165" b="1">
                <a:latin typeface="Tahoma"/>
                <a:cs typeface="Tahoma"/>
              </a:rPr>
              <a:t>FICO</a:t>
            </a:r>
            <a:r>
              <a:rPr dirty="0" sz="2700" spc="-280" b="1">
                <a:latin typeface="Tahoma"/>
                <a:cs typeface="Tahoma"/>
              </a:rPr>
              <a:t> </a:t>
            </a:r>
            <a:r>
              <a:rPr dirty="0" sz="2700" spc="-145" b="1">
                <a:latin typeface="Tahoma"/>
                <a:cs typeface="Tahoma"/>
              </a:rPr>
              <a:t>Reporting</a:t>
            </a:r>
            <a:r>
              <a:rPr dirty="0" sz="2700" spc="-275" b="1">
                <a:latin typeface="Tahoma"/>
                <a:cs typeface="Tahoma"/>
              </a:rPr>
              <a:t> </a:t>
            </a:r>
            <a:r>
              <a:rPr dirty="0" sz="2700" spc="-114" b="1">
                <a:latin typeface="Tahoma"/>
                <a:cs typeface="Tahoma"/>
              </a:rPr>
              <a:t>in</a:t>
            </a:r>
            <a:r>
              <a:rPr dirty="0" sz="2700" spc="-280" b="1">
                <a:latin typeface="Tahoma"/>
                <a:cs typeface="Tahoma"/>
              </a:rPr>
              <a:t> </a:t>
            </a:r>
            <a:r>
              <a:rPr dirty="0" sz="2700" spc="-10" b="1">
                <a:latin typeface="Tahoma"/>
                <a:cs typeface="Tahoma"/>
              </a:rPr>
              <a:t>S/4HANA</a:t>
            </a:r>
            <a:endParaRPr sz="2700">
              <a:latin typeface="Tahoma"/>
              <a:cs typeface="Tahoma"/>
            </a:endParaRPr>
          </a:p>
          <a:p>
            <a:pPr marL="12700" marR="257175">
              <a:lnSpc>
                <a:spcPct val="134300"/>
              </a:lnSpc>
              <a:spcBef>
                <a:spcPts val="1830"/>
              </a:spcBef>
            </a:pP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S/4HANA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latest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version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272424"/>
                </a:solidFill>
                <a:latin typeface="Verdana"/>
                <a:cs typeface="Verdana"/>
              </a:rPr>
              <a:t>of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ERP.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60">
                <a:solidFill>
                  <a:srgbClr val="272424"/>
                </a:solidFill>
                <a:latin typeface="Verdana"/>
                <a:cs typeface="Verdana"/>
              </a:rPr>
              <a:t>It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introduces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several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improvements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financial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reporting.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Universal </a:t>
            </a:r>
            <a:r>
              <a:rPr dirty="0" sz="1350" spc="-55">
                <a:solidFill>
                  <a:srgbClr val="272424"/>
                </a:solidFill>
                <a:latin typeface="Verdana"/>
                <a:cs typeface="Verdana"/>
              </a:rPr>
              <a:t>Journal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combines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FI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and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CO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into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single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source,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eliminating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reconciliation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between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the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two.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Fiori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provides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a </a:t>
            </a:r>
            <a:r>
              <a:rPr dirty="0" sz="1350" spc="-90">
                <a:solidFill>
                  <a:srgbClr val="272424"/>
                </a:solidFill>
                <a:latin typeface="Verdana"/>
                <a:cs typeface="Verdana"/>
              </a:rPr>
              <a:t>modern,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user-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friendly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interface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for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272424"/>
                </a:solidFill>
                <a:latin typeface="Verdana"/>
                <a:cs typeface="Verdana"/>
              </a:rPr>
              <a:t>accessing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reports.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Embedded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analytics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allow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users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view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reports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272424"/>
                </a:solidFill>
                <a:latin typeface="Verdana"/>
                <a:cs typeface="Verdana"/>
              </a:rPr>
              <a:t>directly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within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their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workflow.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Real-</a:t>
            </a:r>
            <a:r>
              <a:rPr dirty="0" sz="1350" spc="-105">
                <a:solidFill>
                  <a:srgbClr val="272424"/>
                </a:solidFill>
                <a:latin typeface="Verdana"/>
                <a:cs typeface="Verdana"/>
              </a:rPr>
              <a:t>time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reporting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means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data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is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available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272424"/>
                </a:solidFill>
                <a:latin typeface="Verdana"/>
                <a:cs typeface="Verdana"/>
              </a:rPr>
              <a:t>immediately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after</a:t>
            </a:r>
            <a:r>
              <a:rPr dirty="0" sz="1350" spc="-10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posting.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5324" y="8694237"/>
            <a:ext cx="7318012" cy="193588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866716" y="11027394"/>
            <a:ext cx="1167130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5090" marR="5080" indent="-73025">
              <a:lnSpc>
                <a:spcPct val="109400"/>
              </a:lnSpc>
              <a:spcBef>
                <a:spcPts val="90"/>
              </a:spcBef>
            </a:pPr>
            <a:r>
              <a:rPr dirty="0" sz="1700" spc="-55" b="1">
                <a:solidFill>
                  <a:srgbClr val="272424"/>
                </a:solidFill>
                <a:latin typeface="Tahoma"/>
                <a:cs typeface="Tahoma"/>
              </a:rPr>
              <a:t>Book</a:t>
            </a:r>
            <a:r>
              <a:rPr dirty="0" sz="1700" spc="-175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50" b="1">
                <a:solidFill>
                  <a:srgbClr val="272424"/>
                </a:solidFill>
                <a:latin typeface="Tahoma"/>
                <a:cs typeface="Tahoma"/>
              </a:rPr>
              <a:t>Value </a:t>
            </a: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Reviewed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79564" y="11027394"/>
            <a:ext cx="1344930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35890" marR="5080" indent="-123825">
              <a:lnSpc>
                <a:spcPct val="109400"/>
              </a:lnSpc>
              <a:spcBef>
                <a:spcPts val="90"/>
              </a:spcBef>
            </a:pP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Asset</a:t>
            </a:r>
            <a:r>
              <a:rPr dirty="0" sz="1700" spc="-160" b="1">
                <a:solidFill>
                  <a:srgbClr val="272424"/>
                </a:solidFill>
                <a:latin typeface="Tahoma"/>
                <a:cs typeface="Tahoma"/>
              </a:rPr>
              <a:t> </a:t>
            </a:r>
            <a:r>
              <a:rPr dirty="0" sz="1700" spc="-75" b="1">
                <a:solidFill>
                  <a:srgbClr val="272424"/>
                </a:solidFill>
                <a:latin typeface="Tahoma"/>
                <a:cs typeface="Tahoma"/>
              </a:rPr>
              <a:t>Report </a:t>
            </a: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Generated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01281" y="11027394"/>
            <a:ext cx="1325245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16205" marR="5080" indent="-104139">
              <a:lnSpc>
                <a:spcPct val="109400"/>
              </a:lnSpc>
              <a:spcBef>
                <a:spcPts val="90"/>
              </a:spcBef>
            </a:pPr>
            <a:r>
              <a:rPr dirty="0" sz="1700" spc="-65" b="1">
                <a:solidFill>
                  <a:srgbClr val="272424"/>
                </a:solidFill>
                <a:latin typeface="Tahoma"/>
                <a:cs typeface="Tahoma"/>
              </a:rPr>
              <a:t>Depreciation </a:t>
            </a: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Calculated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57977" y="11027394"/>
            <a:ext cx="956944" cy="592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68910">
              <a:lnSpc>
                <a:spcPct val="109400"/>
              </a:lnSpc>
              <a:spcBef>
                <a:spcPts val="90"/>
              </a:spcBef>
            </a:pPr>
            <a:r>
              <a:rPr dirty="0" sz="1700" spc="-10" b="1">
                <a:solidFill>
                  <a:srgbClr val="272424"/>
                </a:solidFill>
                <a:latin typeface="Tahoma"/>
                <a:cs typeface="Tahoma"/>
              </a:rPr>
              <a:t>Asset </a:t>
            </a:r>
            <a:r>
              <a:rPr dirty="0" sz="1700" spc="-40" b="1">
                <a:solidFill>
                  <a:srgbClr val="272424"/>
                </a:solidFill>
                <a:latin typeface="Tahoma"/>
                <a:cs typeface="Tahoma"/>
              </a:rPr>
              <a:t>Acquired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28675" y="12963525"/>
            <a:ext cx="9772650" cy="962025"/>
            <a:chOff x="828675" y="12963525"/>
            <a:chExt cx="9772650" cy="962025"/>
          </a:xfrm>
        </p:grpSpPr>
        <p:sp>
          <p:nvSpPr>
            <p:cNvPr id="26" name="object 26"/>
            <p:cNvSpPr/>
            <p:nvPr/>
          </p:nvSpPr>
          <p:spPr>
            <a:xfrm>
              <a:off x="828675" y="12963525"/>
              <a:ext cx="9772650" cy="962025"/>
            </a:xfrm>
            <a:custGeom>
              <a:avLst/>
              <a:gdLst/>
              <a:ahLst/>
              <a:cxnLst/>
              <a:rect l="l" t="t" r="r" b="b"/>
              <a:pathLst>
                <a:path w="9772650" h="962025">
                  <a:moveTo>
                    <a:pt x="9716585" y="962024"/>
                  </a:moveTo>
                  <a:lnTo>
                    <a:pt x="56064" y="962024"/>
                  </a:lnTo>
                  <a:lnTo>
                    <a:pt x="52168" y="961643"/>
                  </a:lnTo>
                  <a:lnTo>
                    <a:pt x="14792" y="941660"/>
                  </a:lnTo>
                  <a:lnTo>
                    <a:pt x="0" y="905960"/>
                  </a:lnTo>
                  <a:lnTo>
                    <a:pt x="0" y="902017"/>
                  </a:lnTo>
                  <a:lnTo>
                    <a:pt x="0" y="56064"/>
                  </a:lnTo>
                  <a:lnTo>
                    <a:pt x="14792" y="20364"/>
                  </a:lnTo>
                  <a:lnTo>
                    <a:pt x="52168" y="380"/>
                  </a:lnTo>
                  <a:lnTo>
                    <a:pt x="56064" y="0"/>
                  </a:lnTo>
                  <a:lnTo>
                    <a:pt x="9716585" y="0"/>
                  </a:lnTo>
                  <a:lnTo>
                    <a:pt x="9752285" y="14792"/>
                  </a:lnTo>
                  <a:lnTo>
                    <a:pt x="9772259" y="52168"/>
                  </a:lnTo>
                  <a:lnTo>
                    <a:pt x="9772650" y="56064"/>
                  </a:lnTo>
                  <a:lnTo>
                    <a:pt x="9772650" y="905960"/>
                  </a:lnTo>
                  <a:lnTo>
                    <a:pt x="9757857" y="941660"/>
                  </a:lnTo>
                  <a:lnTo>
                    <a:pt x="9720481" y="961643"/>
                  </a:lnTo>
                  <a:lnTo>
                    <a:pt x="9716585" y="962024"/>
                  </a:lnTo>
                  <a:close/>
                </a:path>
              </a:pathLst>
            </a:custGeom>
            <a:solidFill>
              <a:srgbClr val="DADB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2271" y="13212365"/>
              <a:ext cx="150018" cy="150018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15975" y="12156440"/>
            <a:ext cx="9765665" cy="1530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This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272424"/>
                </a:solidFill>
                <a:latin typeface="Verdana"/>
                <a:cs typeface="Verdana"/>
              </a:rPr>
              <a:t>flow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272424"/>
                </a:solidFill>
                <a:latin typeface="Verdana"/>
                <a:cs typeface="Verdana"/>
              </a:rPr>
              <a:t>shows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how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asset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accounting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reporting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works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>
                <a:solidFill>
                  <a:srgbClr val="272424"/>
                </a:solidFill>
                <a:latin typeface="Verdana"/>
                <a:cs typeface="Verdana"/>
              </a:rPr>
              <a:t>—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from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acquiring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an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272424"/>
                </a:solidFill>
                <a:latin typeface="Verdana"/>
                <a:cs typeface="Verdana"/>
              </a:rPr>
              <a:t>asset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272424"/>
                </a:solidFill>
                <a:latin typeface="Verdana"/>
                <a:cs typeface="Verdana"/>
              </a:rPr>
              <a:t>to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reviewing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its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272424"/>
                </a:solidFill>
                <a:latin typeface="Verdana"/>
                <a:cs typeface="Verdana"/>
              </a:rPr>
              <a:t>current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272424"/>
                </a:solidFill>
                <a:latin typeface="Verdana"/>
                <a:cs typeface="Verdana"/>
              </a:rPr>
              <a:t>book</a:t>
            </a:r>
            <a:r>
              <a:rPr dirty="0" sz="1350" spc="-110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272424"/>
                </a:solidFill>
                <a:latin typeface="Verdana"/>
                <a:cs typeface="Verdana"/>
              </a:rPr>
              <a:t>value</a:t>
            </a:r>
            <a:r>
              <a:rPr dirty="0" sz="1350" spc="-114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through </a:t>
            </a:r>
            <a:r>
              <a:rPr dirty="0" sz="1350" spc="-35">
                <a:solidFill>
                  <a:srgbClr val="272424"/>
                </a:solidFill>
                <a:latin typeface="Verdana"/>
                <a:cs typeface="Verdana"/>
              </a:rPr>
              <a:t>SAP</a:t>
            </a:r>
            <a:r>
              <a:rPr dirty="0" sz="1350" spc="-125">
                <a:solidFill>
                  <a:srgbClr val="272424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272424"/>
                </a:solidFill>
                <a:latin typeface="Verdana"/>
                <a:cs typeface="Verdana"/>
              </a:rPr>
              <a:t>reports.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350">
              <a:latin typeface="Verdana"/>
              <a:cs typeface="Verdana"/>
            </a:endParaRPr>
          </a:p>
          <a:p>
            <a:pPr marL="569595" marR="689610">
              <a:lnSpc>
                <a:spcPct val="134300"/>
              </a:lnSpc>
            </a:pPr>
            <a:r>
              <a:rPr dirty="0" sz="1350" spc="-105">
                <a:latin typeface="Verdana"/>
                <a:cs typeface="Verdana"/>
              </a:rPr>
              <a:t>Note:</a:t>
            </a:r>
            <a:r>
              <a:rPr dirty="0" sz="1350" spc="-114">
                <a:latin typeface="Verdana"/>
                <a:cs typeface="Verdana"/>
              </a:rPr>
              <a:t> </a:t>
            </a:r>
            <a:r>
              <a:rPr dirty="0" sz="1350" spc="-85">
                <a:latin typeface="Verdana"/>
                <a:cs typeface="Verdana"/>
              </a:rPr>
              <a:t>Available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75">
                <a:latin typeface="Verdana"/>
                <a:cs typeface="Verdana"/>
              </a:rPr>
              <a:t>reports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70">
                <a:latin typeface="Verdana"/>
                <a:cs typeface="Verdana"/>
              </a:rPr>
              <a:t>and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60">
                <a:latin typeface="Verdana"/>
                <a:cs typeface="Verdana"/>
              </a:rPr>
              <a:t>Fiori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65">
                <a:latin typeface="Verdana"/>
                <a:cs typeface="Verdana"/>
              </a:rPr>
              <a:t>applications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75">
                <a:latin typeface="Verdana"/>
                <a:cs typeface="Verdana"/>
              </a:rPr>
              <a:t>in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60">
                <a:latin typeface="Verdana"/>
                <a:cs typeface="Verdana"/>
              </a:rPr>
              <a:t>S/4HANA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40">
                <a:latin typeface="Verdana"/>
                <a:cs typeface="Verdana"/>
              </a:rPr>
              <a:t>can</a:t>
            </a:r>
            <a:r>
              <a:rPr dirty="0" sz="1350" spc="-114">
                <a:latin typeface="Verdana"/>
                <a:cs typeface="Verdana"/>
              </a:rPr>
              <a:t> </a:t>
            </a:r>
            <a:r>
              <a:rPr dirty="0" sz="1350" spc="-80">
                <a:latin typeface="Verdana"/>
                <a:cs typeface="Verdana"/>
              </a:rPr>
              <a:t>vary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65">
                <a:latin typeface="Verdana"/>
                <a:cs typeface="Verdana"/>
              </a:rPr>
              <a:t>depending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60">
                <a:latin typeface="Verdana"/>
                <a:cs typeface="Verdana"/>
              </a:rPr>
              <a:t>on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85">
                <a:latin typeface="Verdana"/>
                <a:cs typeface="Verdana"/>
              </a:rPr>
              <a:t>the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35">
                <a:latin typeface="Verdana"/>
                <a:cs typeface="Verdana"/>
              </a:rPr>
              <a:t>SAP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65">
                <a:latin typeface="Verdana"/>
                <a:cs typeface="Verdana"/>
              </a:rPr>
              <a:t>release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70">
                <a:latin typeface="Verdana"/>
                <a:cs typeface="Verdana"/>
              </a:rPr>
              <a:t>and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10">
                <a:latin typeface="Verdana"/>
                <a:cs typeface="Verdana"/>
              </a:rPr>
              <a:t>system </a:t>
            </a:r>
            <a:r>
              <a:rPr dirty="0" sz="1350" spc="-75">
                <a:latin typeface="Verdana"/>
                <a:cs typeface="Verdana"/>
              </a:rPr>
              <a:t>configuration.</a:t>
            </a:r>
            <a:r>
              <a:rPr dirty="0" sz="1350" spc="-114">
                <a:latin typeface="Verdana"/>
                <a:cs typeface="Verdana"/>
              </a:rPr>
              <a:t> </a:t>
            </a:r>
            <a:r>
              <a:rPr dirty="0" sz="1350" spc="-65">
                <a:latin typeface="Verdana"/>
                <a:cs typeface="Verdana"/>
              </a:rPr>
              <a:t>Not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80">
                <a:latin typeface="Verdana"/>
                <a:cs typeface="Verdana"/>
              </a:rPr>
              <a:t>all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60">
                <a:latin typeface="Verdana"/>
                <a:cs typeface="Verdana"/>
              </a:rPr>
              <a:t>companies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50">
                <a:latin typeface="Verdana"/>
                <a:cs typeface="Verdana"/>
              </a:rPr>
              <a:t>use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85">
                <a:latin typeface="Verdana"/>
                <a:cs typeface="Verdana"/>
              </a:rPr>
              <a:t>the</a:t>
            </a:r>
            <a:r>
              <a:rPr dirty="0" sz="1350" spc="-114">
                <a:latin typeface="Verdana"/>
                <a:cs typeface="Verdana"/>
              </a:rPr>
              <a:t> </a:t>
            </a:r>
            <a:r>
              <a:rPr dirty="0" sz="1350" spc="-80">
                <a:latin typeface="Verdana"/>
                <a:cs typeface="Verdana"/>
              </a:rPr>
              <a:t>same</a:t>
            </a:r>
            <a:r>
              <a:rPr dirty="0" sz="1350" spc="-110">
                <a:latin typeface="Verdana"/>
                <a:cs typeface="Verdana"/>
              </a:rPr>
              <a:t> </a:t>
            </a:r>
            <a:r>
              <a:rPr dirty="0" sz="1350" spc="-10">
                <a:latin typeface="Verdana"/>
                <a:cs typeface="Verdana"/>
              </a:rPr>
              <a:t>reports.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2026-09-10T12:58:58Z</dcterms:created>
  <dcterms:modified xsi:type="dcterms:W3CDTF">2026-09-10T12:58:58Z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2026-09-06T00:00:00Z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2026-09-10T00:00:00Z</vt:filetime>
  </property>
  <property fmtid="{D5CDD505-2E9C-101B-9397-08002B2CF9AE}" pid="6" name="Producer">
    <vt:lpwstr>pdf-lib (https://github.com/Hopding/pdf-lib)</vt:lpwstr>
  </property>
</Properties>
</file>