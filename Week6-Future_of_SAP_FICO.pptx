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1430000" cy="20104100"/>
  <p:notesSz cx="11430000" cy="201041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0" i="0">
                <a:solidFill>
                  <a:srgbClr val="020202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020202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0" i="0">
                <a:solidFill>
                  <a:srgbClr val="020202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50" b="0" i="0">
                <a:solidFill>
                  <a:srgbClr val="020202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0" i="0">
                <a:solidFill>
                  <a:srgbClr val="020202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0" i="0">
                <a:solidFill>
                  <a:srgbClr val="020202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5975" y="461168"/>
            <a:ext cx="6353809" cy="565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0" i="0">
                <a:solidFill>
                  <a:srgbClr val="020202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20928" y="2543620"/>
            <a:ext cx="4605020" cy="3418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020202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55741" y="661789"/>
            <a:ext cx="4519295" cy="1185545"/>
          </a:xfrm>
          <a:prstGeom prst="rect"/>
        </p:spPr>
        <p:txBody>
          <a:bodyPr wrap="square" lIns="0" tIns="1162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15"/>
              </a:spcBef>
            </a:pPr>
            <a:r>
              <a:rPr dirty="0" spc="-130"/>
              <a:t>YUVA</a:t>
            </a:r>
            <a:r>
              <a:rPr dirty="0" spc="-85"/>
              <a:t> </a:t>
            </a:r>
            <a:r>
              <a:rPr dirty="0" spc="-10"/>
              <a:t>INTERN</a:t>
            </a:r>
          </a:p>
          <a:p>
            <a:pPr algn="ctr">
              <a:lnSpc>
                <a:spcPct val="100000"/>
              </a:lnSpc>
              <a:spcBef>
                <a:spcPts val="690"/>
              </a:spcBef>
            </a:pPr>
            <a:r>
              <a:rPr dirty="0" sz="2800"/>
              <a:t>SAP</a:t>
            </a:r>
            <a:r>
              <a:rPr dirty="0" sz="2800" spc="-5"/>
              <a:t> </a:t>
            </a:r>
            <a:r>
              <a:rPr dirty="0" sz="2800" spc="-45"/>
              <a:t>FICO</a:t>
            </a:r>
            <a:r>
              <a:rPr dirty="0" sz="2800" spc="-5"/>
              <a:t> </a:t>
            </a:r>
            <a:r>
              <a:rPr dirty="0" sz="2800"/>
              <a:t>Internship </a:t>
            </a:r>
            <a:r>
              <a:rPr dirty="0" sz="2800" spc="-10"/>
              <a:t>Report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741787" y="2587625"/>
            <a:ext cx="3946525" cy="3041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23594">
              <a:lnSpc>
                <a:spcPct val="100000"/>
              </a:lnSpc>
              <a:spcBef>
                <a:spcPts val="100"/>
              </a:spcBef>
            </a:pP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Student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Name: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Ashish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Kumar</a:t>
            </a:r>
            <a:endParaRPr sz="1350">
              <a:latin typeface="Tahoma"/>
              <a:cs typeface="Tahoma"/>
            </a:endParaRPr>
          </a:p>
          <a:p>
            <a:pPr marL="597535" marR="589915" indent="102235">
              <a:lnSpc>
                <a:spcPct val="226900"/>
              </a:lnSpc>
            </a:pP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Roll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Number: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25SCS1003003125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Course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/ Department: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383838"/>
                </a:solidFill>
                <a:latin typeface="Tahoma"/>
                <a:cs typeface="Tahoma"/>
              </a:rPr>
              <a:t>B.Tech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(CSE)</a:t>
            </a:r>
            <a:endParaRPr sz="1350">
              <a:latin typeface="Tahoma"/>
              <a:cs typeface="Tahoma"/>
            </a:endParaRPr>
          </a:p>
          <a:p>
            <a:pPr marL="548640" marR="5080" indent="-536575">
              <a:lnSpc>
                <a:spcPct val="226900"/>
              </a:lnSpc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College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/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University: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70">
                <a:solidFill>
                  <a:srgbClr val="383838"/>
                </a:solidFill>
                <a:latin typeface="Tahoma"/>
                <a:cs typeface="Tahoma"/>
              </a:rPr>
              <a:t>IILM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University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Greater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Noida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Internship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Organization: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Yuva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Intern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Internship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Title: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Internship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350">
              <a:latin typeface="Tahoma"/>
              <a:cs typeface="Tahoma"/>
            </a:endParaRPr>
          </a:p>
          <a:p>
            <a:pPr marL="775970">
              <a:lnSpc>
                <a:spcPct val="100000"/>
              </a:lnSpc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Submission</a:t>
            </a:r>
            <a:r>
              <a:rPr dirty="0" sz="1350" spc="1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Date:</a:t>
            </a:r>
            <a:r>
              <a:rPr dirty="0" sz="1350" spc="1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06/09/2026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15975" y="1839436"/>
            <a:ext cx="9754870" cy="1168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56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dirty="0" spc="-10"/>
              <a:t> </a:t>
            </a:r>
            <a:r>
              <a:rPr dirty="0"/>
              <a:t>of SAP</a:t>
            </a:r>
            <a:r>
              <a:rPr dirty="0" spc="-5"/>
              <a:t> </a:t>
            </a:r>
            <a:r>
              <a:rPr dirty="0" spc="-120"/>
              <a:t>FICO</a:t>
            </a:r>
            <a:r>
              <a:rPr dirty="0" spc="-140"/>
              <a:t> </a:t>
            </a:r>
            <a:r>
              <a:rPr dirty="0" spc="-100"/>
              <a:t>–</a:t>
            </a:r>
            <a:r>
              <a:rPr dirty="0" spc="-140"/>
              <a:t> </a:t>
            </a:r>
            <a:r>
              <a:rPr dirty="0" spc="-30"/>
              <a:t>Trends,</a:t>
            </a:r>
            <a:r>
              <a:rPr dirty="0" spc="-140"/>
              <a:t> </a:t>
            </a:r>
            <a:r>
              <a:rPr dirty="0"/>
              <a:t>Opportunities,</a:t>
            </a:r>
            <a:r>
              <a:rPr dirty="0" spc="-140"/>
              <a:t> </a:t>
            </a:r>
            <a:r>
              <a:rPr dirty="0" spc="-25"/>
              <a:t>and </a:t>
            </a:r>
            <a:r>
              <a:rPr dirty="0"/>
              <a:t>Impact</a:t>
            </a:r>
            <a:r>
              <a:rPr dirty="0" spc="-40"/>
              <a:t> </a:t>
            </a:r>
            <a:r>
              <a:rPr dirty="0"/>
              <a:t>on</a:t>
            </a:r>
            <a:r>
              <a:rPr dirty="0" spc="-40"/>
              <a:t> </a:t>
            </a:r>
            <a:r>
              <a:rPr dirty="0" spc="-10"/>
              <a:t>Businesses</a:t>
            </a:r>
          </a:p>
        </p:txBody>
      </p:sp>
      <p:sp>
        <p:nvSpPr>
          <p:cNvPr id="3" name="object 3"/>
          <p:cNvSpPr/>
          <p:nvPr/>
        </p:nvSpPr>
        <p:spPr>
          <a:xfrm>
            <a:off x="828675" y="3276600"/>
            <a:ext cx="2009775" cy="257175"/>
          </a:xfrm>
          <a:custGeom>
            <a:avLst/>
            <a:gdLst/>
            <a:ahLst/>
            <a:cxnLst/>
            <a:rect l="l" t="t" r="r" b="b"/>
            <a:pathLst>
              <a:path w="2009775" h="257175">
                <a:moveTo>
                  <a:pt x="1994906" y="257174"/>
                </a:moveTo>
                <a:lnTo>
                  <a:pt x="14868" y="257174"/>
                </a:lnTo>
                <a:lnTo>
                  <a:pt x="12687" y="256736"/>
                </a:lnTo>
                <a:lnTo>
                  <a:pt x="0" y="242306"/>
                </a:lnTo>
                <a:lnTo>
                  <a:pt x="0" y="240029"/>
                </a:lnTo>
                <a:lnTo>
                  <a:pt x="0" y="14868"/>
                </a:lnTo>
                <a:lnTo>
                  <a:pt x="14868" y="0"/>
                </a:lnTo>
                <a:lnTo>
                  <a:pt x="1994906" y="0"/>
                </a:lnTo>
                <a:lnTo>
                  <a:pt x="2009775" y="14868"/>
                </a:lnTo>
                <a:lnTo>
                  <a:pt x="2009775" y="242306"/>
                </a:lnTo>
                <a:lnTo>
                  <a:pt x="1997087" y="256736"/>
                </a:lnTo>
                <a:lnTo>
                  <a:pt x="1994906" y="257174"/>
                </a:lnTo>
                <a:close/>
              </a:path>
            </a:pathLst>
          </a:custGeom>
          <a:solidFill>
            <a:srgbClr val="FFDE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18815" y="3298190"/>
            <a:ext cx="1834514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383838"/>
                </a:solidFill>
                <a:latin typeface="Tahoma"/>
                <a:cs typeface="Tahoma"/>
              </a:rPr>
              <a:t>WEEK</a:t>
            </a:r>
            <a:r>
              <a:rPr dirty="0" sz="10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50" spc="95">
                <a:solidFill>
                  <a:srgbClr val="383838"/>
                </a:solidFill>
                <a:latin typeface="Tahoma"/>
                <a:cs typeface="Tahoma"/>
              </a:rPr>
              <a:t>6</a:t>
            </a:r>
            <a:r>
              <a:rPr dirty="0" sz="10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383838"/>
                </a:solidFill>
                <a:latin typeface="Tahoma"/>
                <a:cs typeface="Tahoma"/>
              </a:rPr>
              <a:t>INTERNSHIP</a:t>
            </a:r>
            <a:r>
              <a:rPr dirty="0" sz="10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383838"/>
                </a:solidFill>
                <a:latin typeface="Tahoma"/>
                <a:cs typeface="Tahoma"/>
              </a:rPr>
              <a:t>REPORT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28937" y="3281362"/>
            <a:ext cx="2505075" cy="247650"/>
          </a:xfrm>
          <a:custGeom>
            <a:avLst/>
            <a:gdLst/>
            <a:ahLst/>
            <a:cxnLst/>
            <a:rect l="l" t="t" r="r" b="b"/>
            <a:pathLst>
              <a:path w="2505075" h="247650">
                <a:moveTo>
                  <a:pt x="0" y="235267"/>
                </a:moveTo>
                <a:lnTo>
                  <a:pt x="0" y="12382"/>
                </a:lnTo>
                <a:lnTo>
                  <a:pt x="0" y="8963"/>
                </a:lnTo>
                <a:lnTo>
                  <a:pt x="1209" y="6048"/>
                </a:lnTo>
                <a:lnTo>
                  <a:pt x="3629" y="3629"/>
                </a:lnTo>
                <a:lnTo>
                  <a:pt x="6048" y="1209"/>
                </a:lnTo>
                <a:lnTo>
                  <a:pt x="8963" y="0"/>
                </a:lnTo>
                <a:lnTo>
                  <a:pt x="12382" y="0"/>
                </a:lnTo>
                <a:lnTo>
                  <a:pt x="2492692" y="0"/>
                </a:lnTo>
                <a:lnTo>
                  <a:pt x="2496111" y="0"/>
                </a:lnTo>
                <a:lnTo>
                  <a:pt x="2499026" y="1209"/>
                </a:lnTo>
                <a:lnTo>
                  <a:pt x="2501445" y="3629"/>
                </a:lnTo>
                <a:lnTo>
                  <a:pt x="2503865" y="6048"/>
                </a:lnTo>
                <a:lnTo>
                  <a:pt x="2505075" y="8963"/>
                </a:lnTo>
                <a:lnTo>
                  <a:pt x="2505075" y="12382"/>
                </a:lnTo>
                <a:lnTo>
                  <a:pt x="2505075" y="235267"/>
                </a:lnTo>
                <a:lnTo>
                  <a:pt x="2505075" y="238686"/>
                </a:lnTo>
                <a:lnTo>
                  <a:pt x="2503865" y="241601"/>
                </a:lnTo>
                <a:lnTo>
                  <a:pt x="2501445" y="244020"/>
                </a:lnTo>
                <a:lnTo>
                  <a:pt x="2499026" y="246440"/>
                </a:lnTo>
                <a:lnTo>
                  <a:pt x="2496111" y="247649"/>
                </a:lnTo>
                <a:lnTo>
                  <a:pt x="2492692" y="247649"/>
                </a:lnTo>
                <a:lnTo>
                  <a:pt x="12382" y="247649"/>
                </a:lnTo>
                <a:lnTo>
                  <a:pt x="8963" y="247649"/>
                </a:lnTo>
                <a:lnTo>
                  <a:pt x="6048" y="246440"/>
                </a:lnTo>
                <a:lnTo>
                  <a:pt x="3629" y="244020"/>
                </a:lnTo>
                <a:lnTo>
                  <a:pt x="1209" y="241601"/>
                </a:lnTo>
                <a:lnTo>
                  <a:pt x="0" y="238686"/>
                </a:lnTo>
                <a:lnTo>
                  <a:pt x="0" y="235267"/>
                </a:lnTo>
                <a:close/>
              </a:path>
            </a:pathLst>
          </a:custGeom>
          <a:ln w="9525">
            <a:solidFill>
              <a:srgbClr val="DF4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928937" y="3281362"/>
            <a:ext cx="2505075" cy="24765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260"/>
              </a:spcBef>
            </a:pPr>
            <a:r>
              <a:rPr dirty="0" sz="1050" spc="55">
                <a:solidFill>
                  <a:srgbClr val="DF4F00"/>
                </a:solidFill>
                <a:latin typeface="Tahoma"/>
                <a:cs typeface="Tahoma"/>
              </a:rPr>
              <a:t>SAP</a:t>
            </a:r>
            <a:r>
              <a:rPr dirty="0" sz="1050" spc="15">
                <a:solidFill>
                  <a:srgbClr val="DF4F00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DF4F00"/>
                </a:solidFill>
                <a:latin typeface="Tahoma"/>
                <a:cs typeface="Tahoma"/>
              </a:rPr>
              <a:t>FICO</a:t>
            </a:r>
            <a:r>
              <a:rPr dirty="0" sz="1050" spc="15">
                <a:solidFill>
                  <a:srgbClr val="DF4F00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DF4F00"/>
                </a:solidFill>
                <a:latin typeface="Tahoma"/>
                <a:cs typeface="Tahoma"/>
              </a:rPr>
              <a:t>INTERNSHIP</a:t>
            </a:r>
            <a:r>
              <a:rPr dirty="0" sz="1050" spc="20">
                <a:solidFill>
                  <a:srgbClr val="DF4F00"/>
                </a:solidFill>
                <a:latin typeface="Tahoma"/>
                <a:cs typeface="Tahoma"/>
              </a:rPr>
              <a:t> </a:t>
            </a:r>
            <a:r>
              <a:rPr dirty="0" sz="1050" spc="-170">
                <a:solidFill>
                  <a:srgbClr val="DF4F00"/>
                </a:solidFill>
                <a:latin typeface="Tahoma"/>
                <a:cs typeface="Tahoma"/>
              </a:rPr>
              <a:t>·</a:t>
            </a:r>
            <a:r>
              <a:rPr dirty="0" sz="1050" spc="15">
                <a:solidFill>
                  <a:srgbClr val="DF4F00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DF4F00"/>
                </a:solidFill>
                <a:latin typeface="Tahoma"/>
                <a:cs typeface="Tahoma"/>
              </a:rPr>
              <a:t>YUVA</a:t>
            </a:r>
            <a:r>
              <a:rPr dirty="0" sz="1050" spc="20">
                <a:solidFill>
                  <a:srgbClr val="DF4F00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DF4F00"/>
                </a:solidFill>
                <a:latin typeface="Tahoma"/>
                <a:cs typeface="Tahoma"/>
              </a:rPr>
              <a:t>INTERN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5973" y="3660140"/>
            <a:ext cx="9696450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This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report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was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prepared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as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part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383838"/>
                </a:solidFill>
                <a:latin typeface="Tahoma"/>
                <a:cs typeface="Tahoma"/>
              </a:rPr>
              <a:t>B.Tech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Computer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Science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internship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with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Yuva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Intern.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explores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how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evolving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covering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S/4HANA,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cloud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technology,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artificial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intelligence,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automation,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real-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time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analytics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what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these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changes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mean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businesses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professionals.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Table</a:t>
            </a:r>
            <a:r>
              <a:rPr dirty="0" spc="5"/>
              <a:t> </a:t>
            </a:r>
            <a:r>
              <a:rPr dirty="0"/>
              <a:t>of </a:t>
            </a:r>
            <a:r>
              <a:rPr dirty="0" spc="-1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975" y="1316989"/>
            <a:ext cx="9761220" cy="1301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This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report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follows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structured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research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approach,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beginning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with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an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overview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as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exists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today,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then</a:t>
            </a:r>
            <a:r>
              <a:rPr dirty="0" sz="1350" spc="5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exploring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major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technological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forces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shaping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its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future,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concluding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with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personal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reflections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realistic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outlook.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Each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section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builds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on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previous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one,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so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ideas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flow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naturally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from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foundation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future.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326765" algn="l"/>
                <a:tab pos="6641465" algn="l"/>
              </a:tabLst>
            </a:pPr>
            <a:r>
              <a:rPr dirty="0" sz="1350" spc="-25">
                <a:solidFill>
                  <a:srgbClr val="383838"/>
                </a:solidFill>
                <a:latin typeface="Georgia"/>
                <a:cs typeface="Georgia"/>
              </a:rPr>
              <a:t>01</a:t>
            </a:r>
            <a:r>
              <a:rPr dirty="0" sz="1350">
                <a:solidFill>
                  <a:srgbClr val="383838"/>
                </a:solidFill>
                <a:latin typeface="Georgia"/>
                <a:cs typeface="Georgia"/>
              </a:rPr>
              <a:t>	</a:t>
            </a:r>
            <a:r>
              <a:rPr dirty="0" sz="1350" spc="-25">
                <a:solidFill>
                  <a:srgbClr val="383838"/>
                </a:solidFill>
                <a:latin typeface="Georgia"/>
                <a:cs typeface="Georgia"/>
              </a:rPr>
              <a:t>02</a:t>
            </a:r>
            <a:r>
              <a:rPr dirty="0" sz="1350">
                <a:solidFill>
                  <a:srgbClr val="383838"/>
                </a:solidFill>
                <a:latin typeface="Georgia"/>
                <a:cs typeface="Georgia"/>
              </a:rPr>
              <a:t>	</a:t>
            </a:r>
            <a:r>
              <a:rPr dirty="0" sz="1350" spc="-25">
                <a:solidFill>
                  <a:srgbClr val="383838"/>
                </a:solidFill>
                <a:latin typeface="Georgia"/>
                <a:cs typeface="Georgia"/>
              </a:rPr>
              <a:t>03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8675" y="2667000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15975" y="2772219"/>
            <a:ext cx="3009900" cy="9232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Introduction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595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What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is,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why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matters,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why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this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research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was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undertaken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43375" y="2667000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30675" y="2756446"/>
            <a:ext cx="3057525" cy="12153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29590">
              <a:lnSpc>
                <a:spcPct val="107100"/>
              </a:lnSpc>
              <a:spcBef>
                <a:spcPts val="95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Understanding</a:t>
            </a:r>
            <a:r>
              <a:rPr dirty="0" sz="1750" spc="-1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SAP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45">
                <a:solidFill>
                  <a:srgbClr val="383838"/>
                </a:solidFill>
                <a:latin typeface="Georgia"/>
                <a:cs typeface="Georgia"/>
              </a:rPr>
              <a:t>FICO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Today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520"/>
              </a:spcBef>
            </a:pP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Core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modules,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FI–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CO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integration,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why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these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functions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remain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important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8075" y="2667000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445375" y="2772219"/>
            <a:ext cx="3165475" cy="9232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Why</a:t>
            </a:r>
            <a:r>
              <a:rPr dirty="0" sz="1750" spc="-3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SAP</a:t>
            </a:r>
            <a:r>
              <a:rPr dirty="0" sz="1750" spc="-3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35">
                <a:solidFill>
                  <a:srgbClr val="383838"/>
                </a:solidFill>
                <a:latin typeface="Georgia"/>
                <a:cs typeface="Georgia"/>
              </a:rPr>
              <a:t>FICO</a:t>
            </a:r>
            <a:r>
              <a:rPr dirty="0" sz="1750" spc="-3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Is</a:t>
            </a:r>
            <a:r>
              <a:rPr dirty="0" sz="1750" spc="-3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Changing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595"/>
              </a:spcBef>
            </a:pP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business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technology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pressures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driving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evolution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5975" y="4292600"/>
            <a:ext cx="20827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5">
                <a:solidFill>
                  <a:srgbClr val="383838"/>
                </a:solidFill>
                <a:latin typeface="Georgia"/>
                <a:cs typeface="Georgia"/>
              </a:rPr>
              <a:t>04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28675" y="4581525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15975" y="4670971"/>
            <a:ext cx="2966720" cy="12153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95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SAP</a:t>
            </a:r>
            <a:r>
              <a:rPr dirty="0" sz="1750" spc="4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75">
                <a:solidFill>
                  <a:srgbClr val="383838"/>
                </a:solidFill>
                <a:latin typeface="Georgia"/>
                <a:cs typeface="Georgia"/>
              </a:rPr>
              <a:t>S/4HANA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 and</a:t>
            </a:r>
            <a:r>
              <a:rPr dirty="0" sz="1750" spc="4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the</a:t>
            </a:r>
            <a:r>
              <a:rPr dirty="0" sz="1750" spc="4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Future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of</a:t>
            </a:r>
            <a:r>
              <a:rPr dirty="0" sz="1750" spc="6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Finance</a:t>
            </a:r>
            <a:endParaRPr sz="1750">
              <a:latin typeface="Georgia"/>
              <a:cs typeface="Georgia"/>
            </a:endParaRPr>
          </a:p>
          <a:p>
            <a:pPr marL="12700" marR="14604">
              <a:lnSpc>
                <a:spcPct val="134300"/>
              </a:lnSpc>
              <a:spcBef>
                <a:spcPts val="520"/>
              </a:spcBef>
            </a:pP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Universal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Journal,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simplified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data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model,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embedded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analytics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30675" y="4292600"/>
            <a:ext cx="20827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383838"/>
                </a:solidFill>
                <a:latin typeface="Georgia"/>
                <a:cs typeface="Georgia"/>
              </a:rPr>
              <a:t>05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143375" y="4581525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130675" y="4686744"/>
            <a:ext cx="3045460" cy="9137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Cloud-Based</a:t>
            </a:r>
            <a:r>
              <a:rPr dirty="0" sz="1750" spc="3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SAP</a:t>
            </a:r>
            <a:r>
              <a:rPr dirty="0" sz="1750" spc="4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Finance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520"/>
              </a:spcBef>
            </a:pP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On-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premise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vs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cloud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deployment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 and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what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each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means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organisations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45375" y="4292600"/>
            <a:ext cx="20827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5">
                <a:solidFill>
                  <a:srgbClr val="383838"/>
                </a:solidFill>
                <a:latin typeface="Georgia"/>
                <a:cs typeface="Georgia"/>
              </a:rPr>
              <a:t>06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458075" y="4581525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445375" y="4670971"/>
            <a:ext cx="2885440" cy="12153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8890">
              <a:lnSpc>
                <a:spcPct val="107100"/>
              </a:lnSpc>
              <a:spcBef>
                <a:spcPts val="95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Artificial</a:t>
            </a:r>
            <a:r>
              <a:rPr dirty="0" sz="1750" spc="16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Intelligence</a:t>
            </a:r>
            <a:r>
              <a:rPr dirty="0" sz="1750" spc="16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in</a:t>
            </a:r>
            <a:r>
              <a:rPr dirty="0" sz="1750" spc="16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25">
                <a:solidFill>
                  <a:srgbClr val="383838"/>
                </a:solidFill>
                <a:latin typeface="Georgia"/>
                <a:cs typeface="Georgia"/>
              </a:rPr>
              <a:t>SAP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Finance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520"/>
              </a:spcBef>
            </a:pP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Current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capabilities,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emerging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applications,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future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possibilities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5975" y="6207125"/>
            <a:ext cx="20827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383838"/>
                </a:solidFill>
                <a:latin typeface="Georgia"/>
                <a:cs typeface="Georgia"/>
              </a:rPr>
              <a:t>07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8675" y="6496050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815975" y="6601269"/>
            <a:ext cx="2776220" cy="118999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45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Automation</a:t>
            </a:r>
            <a:r>
              <a:rPr dirty="0" sz="1750" spc="9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and</a:t>
            </a:r>
            <a:r>
              <a:rPr dirty="0" sz="1750" spc="9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Intelligent Finance</a:t>
            </a:r>
            <a:endParaRPr sz="1750">
              <a:latin typeface="Georgia"/>
              <a:cs typeface="Georgia"/>
            </a:endParaRPr>
          </a:p>
          <a:p>
            <a:pPr marL="12700" marR="38100">
              <a:lnSpc>
                <a:spcPct val="134300"/>
              </a:lnSpc>
              <a:spcBef>
                <a:spcPts val="520"/>
              </a:spcBef>
            </a:pP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How</a:t>
            </a:r>
            <a:r>
              <a:rPr dirty="0" sz="135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automation</a:t>
            </a:r>
            <a:r>
              <a:rPr dirty="0" sz="135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changes</a:t>
            </a:r>
            <a:r>
              <a:rPr dirty="0" sz="135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financial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processes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professional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roles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30675" y="6207125"/>
            <a:ext cx="20827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75">
                <a:solidFill>
                  <a:srgbClr val="383838"/>
                </a:solidFill>
                <a:latin typeface="Georgia"/>
                <a:cs typeface="Georgia"/>
              </a:rPr>
              <a:t>08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143375" y="6496050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130675" y="6601269"/>
            <a:ext cx="3050540" cy="118999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587375">
              <a:lnSpc>
                <a:spcPct val="103600"/>
              </a:lnSpc>
              <a:spcBef>
                <a:spcPts val="45"/>
              </a:spcBef>
            </a:pPr>
            <a:r>
              <a:rPr dirty="0" sz="1750" spc="-25">
                <a:solidFill>
                  <a:srgbClr val="383838"/>
                </a:solidFill>
                <a:latin typeface="Georgia"/>
                <a:cs typeface="Georgia"/>
              </a:rPr>
              <a:t>Real-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Time</a:t>
            </a:r>
            <a:r>
              <a:rPr dirty="0" sz="1750" spc="9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Analytics</a:t>
            </a:r>
            <a:r>
              <a:rPr dirty="0" sz="1750" spc="14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25">
                <a:solidFill>
                  <a:srgbClr val="383838"/>
                </a:solidFill>
                <a:latin typeface="Georgia"/>
                <a:cs typeface="Georgia"/>
              </a:rPr>
              <a:t>and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Reporting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520"/>
              </a:spcBef>
            </a:pP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Embedded</a:t>
            </a:r>
            <a:r>
              <a:rPr dirty="0" sz="1350" spc="1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analytics,</a:t>
            </a:r>
            <a:r>
              <a:rPr dirty="0" sz="1350" spc="1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dashboards,</a:t>
            </a:r>
            <a:r>
              <a:rPr dirty="0" sz="1350" spc="1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faster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business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decisions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445375" y="6207125"/>
            <a:ext cx="20827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5">
                <a:solidFill>
                  <a:srgbClr val="383838"/>
                </a:solidFill>
                <a:latin typeface="Georgia"/>
                <a:cs typeface="Georgia"/>
              </a:rPr>
              <a:t>09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458075" y="6496050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7445375" y="6601269"/>
            <a:ext cx="3111500" cy="118999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397510">
              <a:lnSpc>
                <a:spcPct val="103600"/>
              </a:lnSpc>
              <a:spcBef>
                <a:spcPts val="45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SAP</a:t>
            </a:r>
            <a:r>
              <a:rPr dirty="0" sz="1750" spc="-3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Fiori</a:t>
            </a:r>
            <a:r>
              <a:rPr dirty="0" sz="1750" spc="-3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and</a:t>
            </a:r>
            <a:r>
              <a:rPr dirty="0" sz="1750" spc="-2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Modern</a:t>
            </a:r>
            <a:r>
              <a:rPr dirty="0" sz="1750" spc="-30">
                <a:solidFill>
                  <a:srgbClr val="383838"/>
                </a:solidFill>
                <a:latin typeface="Georgia"/>
                <a:cs typeface="Georgia"/>
              </a:rPr>
              <a:t> User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Experience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52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Role-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based</a:t>
            </a:r>
            <a:r>
              <a:rPr dirty="0" sz="1350" spc="1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design,</a:t>
            </a:r>
            <a:r>
              <a:rPr dirty="0" sz="1350" spc="1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mobile</a:t>
            </a:r>
            <a:r>
              <a:rPr dirty="0" sz="1350" spc="1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access,</a:t>
            </a:r>
            <a:r>
              <a:rPr dirty="0" sz="1350" spc="1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personalised</a:t>
            </a:r>
            <a:r>
              <a:rPr dirty="0" sz="1350" spc="2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interfaces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15975" y="8112125"/>
            <a:ext cx="20827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383838"/>
                </a:solidFill>
                <a:latin typeface="Georgia"/>
                <a:cs typeface="Georgia"/>
              </a:rPr>
              <a:t>10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28675" y="8401050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815975" y="8490496"/>
            <a:ext cx="3143885" cy="12153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95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Integration</a:t>
            </a:r>
            <a:r>
              <a:rPr dirty="0" sz="1750" spc="14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with</a:t>
            </a:r>
            <a:r>
              <a:rPr dirty="0" sz="1750" spc="14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Other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Technologies</a:t>
            </a:r>
            <a:r>
              <a:rPr dirty="0" sz="1750" spc="4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and</a:t>
            </a:r>
            <a:r>
              <a:rPr dirty="0" sz="1750" spc="5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SAP</a:t>
            </a:r>
            <a:r>
              <a:rPr dirty="0" sz="1750" spc="5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Modules</a:t>
            </a:r>
            <a:endParaRPr sz="1750">
              <a:latin typeface="Georgia"/>
              <a:cs typeface="Georgia"/>
            </a:endParaRPr>
          </a:p>
          <a:p>
            <a:pPr marL="12700" marR="60325">
              <a:lnSpc>
                <a:spcPct val="134300"/>
              </a:lnSpc>
              <a:spcBef>
                <a:spcPts val="52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How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connects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with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MM,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70">
                <a:solidFill>
                  <a:srgbClr val="383838"/>
                </a:solidFill>
                <a:latin typeface="Tahoma"/>
                <a:cs typeface="Tahoma"/>
              </a:rPr>
              <a:t>SD,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PP,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HCM,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supply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chain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130675" y="8112125"/>
            <a:ext cx="20827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114">
                <a:solidFill>
                  <a:srgbClr val="383838"/>
                </a:solidFill>
                <a:latin typeface="Georgia"/>
                <a:cs typeface="Georgia"/>
              </a:rPr>
              <a:t>11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143375" y="8401050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130675" y="8490496"/>
            <a:ext cx="2921000" cy="12153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641350">
              <a:lnSpc>
                <a:spcPct val="107100"/>
              </a:lnSpc>
              <a:spcBef>
                <a:spcPts val="95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Future Role of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Finance Professionals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52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shift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from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data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entry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analysis,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insights,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decision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support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445375" y="8112125"/>
            <a:ext cx="20827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25">
                <a:solidFill>
                  <a:srgbClr val="383838"/>
                </a:solidFill>
                <a:latin typeface="Georgia"/>
                <a:cs typeface="Georgia"/>
              </a:rPr>
              <a:t>12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58075" y="8401050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7445375" y="8506269"/>
            <a:ext cx="2871470" cy="9137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Impact</a:t>
            </a:r>
            <a:r>
              <a:rPr dirty="0" sz="1750" spc="2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on</a:t>
            </a:r>
            <a:r>
              <a:rPr dirty="0" sz="1750" spc="2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Businesses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52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Positive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negative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effects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SAP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50" spc="1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evolution</a:t>
            </a:r>
            <a:r>
              <a:rPr dirty="0" sz="1350" spc="1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on</a:t>
            </a:r>
            <a:r>
              <a:rPr dirty="0" sz="1350" spc="1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organisations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5975" y="10026650"/>
            <a:ext cx="20827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25">
                <a:solidFill>
                  <a:srgbClr val="383838"/>
                </a:solidFill>
                <a:latin typeface="Georgia"/>
                <a:cs typeface="Georgia"/>
              </a:rPr>
              <a:t>13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28675" y="10315575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815975" y="10420794"/>
            <a:ext cx="2738755" cy="9137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Benefits</a:t>
            </a:r>
            <a:r>
              <a:rPr dirty="0" sz="1750" spc="6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and</a:t>
            </a:r>
            <a:r>
              <a:rPr dirty="0" sz="1750" spc="7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Opportunities</a:t>
            </a:r>
            <a:endParaRPr sz="1750">
              <a:latin typeface="Georgia"/>
              <a:cs typeface="Georgia"/>
            </a:endParaRPr>
          </a:p>
          <a:p>
            <a:pPr marL="12700" marR="584835">
              <a:lnSpc>
                <a:spcPct val="134300"/>
              </a:lnSpc>
              <a:spcBef>
                <a:spcPts val="52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What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businesses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SAP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professionals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stand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gain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130675" y="10026650"/>
            <a:ext cx="20827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383838"/>
                </a:solidFill>
                <a:latin typeface="Georgia"/>
                <a:cs typeface="Georgia"/>
              </a:rPr>
              <a:t>14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143375" y="10315575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130675" y="10420794"/>
            <a:ext cx="2593975" cy="9137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Challenges</a:t>
            </a:r>
            <a:r>
              <a:rPr dirty="0" sz="1750" spc="13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and</a:t>
            </a:r>
            <a:r>
              <a:rPr dirty="0" sz="1750" spc="13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20">
                <a:solidFill>
                  <a:srgbClr val="383838"/>
                </a:solidFill>
                <a:latin typeface="Georgia"/>
                <a:cs typeface="Georgia"/>
              </a:rPr>
              <a:t>Risks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52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Migration,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training,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security,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data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quality,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skill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gaps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445375" y="10026650"/>
            <a:ext cx="20827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45">
                <a:solidFill>
                  <a:srgbClr val="383838"/>
                </a:solidFill>
                <a:latin typeface="Georgia"/>
                <a:cs typeface="Georgia"/>
              </a:rPr>
              <a:t>15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458075" y="10315575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7445375" y="10420794"/>
            <a:ext cx="3034030" cy="118999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45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Future</a:t>
            </a:r>
            <a:r>
              <a:rPr dirty="0" sz="1750" spc="-1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Skills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 Required</a:t>
            </a:r>
            <a:r>
              <a:rPr dirty="0" sz="1750" spc="-1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for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25">
                <a:solidFill>
                  <a:srgbClr val="383838"/>
                </a:solidFill>
                <a:latin typeface="Georgia"/>
                <a:cs typeface="Georgia"/>
              </a:rPr>
              <a:t>SAP </a:t>
            </a:r>
            <a:r>
              <a:rPr dirty="0" sz="1750" spc="-35">
                <a:solidFill>
                  <a:srgbClr val="383838"/>
                </a:solidFill>
                <a:latin typeface="Georgia"/>
                <a:cs typeface="Georgia"/>
              </a:rPr>
              <a:t>FICO</a:t>
            </a:r>
            <a:r>
              <a:rPr dirty="0" sz="1750" spc="-4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Professionals</a:t>
            </a:r>
            <a:endParaRPr sz="1750">
              <a:latin typeface="Georgia"/>
              <a:cs typeface="Georgia"/>
            </a:endParaRPr>
          </a:p>
          <a:p>
            <a:pPr marL="12700" marR="365760">
              <a:lnSpc>
                <a:spcPct val="129600"/>
              </a:lnSpc>
              <a:spcBef>
                <a:spcPts val="670"/>
              </a:spcBef>
            </a:pPr>
            <a:r>
              <a:rPr dirty="0" sz="1350" spc="-35">
                <a:solidFill>
                  <a:srgbClr val="383838"/>
                </a:solidFill>
                <a:latin typeface="Tahoma"/>
                <a:cs typeface="Tahoma"/>
              </a:rPr>
              <a:t>SAP,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technical,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business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skills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needed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going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forward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15975" y="11931650"/>
            <a:ext cx="20827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383838"/>
                </a:solidFill>
                <a:latin typeface="Georgia"/>
                <a:cs typeface="Georgia"/>
              </a:rPr>
              <a:t>16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828675" y="12220575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815975" y="12325794"/>
            <a:ext cx="3124835" cy="9137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Personal</a:t>
            </a:r>
            <a:r>
              <a:rPr dirty="0" sz="1750" spc="6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Insights</a:t>
            </a:r>
            <a:r>
              <a:rPr dirty="0" sz="1750" spc="6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and</a:t>
            </a:r>
            <a:r>
              <a:rPr dirty="0" sz="1750" spc="6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Learning</a:t>
            </a:r>
            <a:endParaRPr sz="1750">
              <a:latin typeface="Georgia"/>
              <a:cs typeface="Georgia"/>
            </a:endParaRPr>
          </a:p>
          <a:p>
            <a:pPr marL="12700" marR="292100">
              <a:lnSpc>
                <a:spcPct val="129600"/>
              </a:lnSpc>
              <a:spcBef>
                <a:spcPts val="670"/>
              </a:spcBef>
            </a:pP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Reflections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from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internship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as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a </a:t>
            </a:r>
            <a:r>
              <a:rPr dirty="0" sz="1350" spc="-35">
                <a:solidFill>
                  <a:srgbClr val="383838"/>
                </a:solidFill>
                <a:latin typeface="Tahoma"/>
                <a:cs typeface="Tahoma"/>
              </a:rPr>
              <a:t>B.Tech</a:t>
            </a:r>
            <a:r>
              <a:rPr dirty="0" sz="1350" spc="-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CSE</a:t>
            </a:r>
            <a:r>
              <a:rPr dirty="0" sz="1350" spc="-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student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130675" y="11931650"/>
            <a:ext cx="20827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65">
                <a:solidFill>
                  <a:srgbClr val="383838"/>
                </a:solidFill>
                <a:latin typeface="Georgia"/>
                <a:cs typeface="Georgia"/>
              </a:rPr>
              <a:t>17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143375" y="12220575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4130675" y="12325794"/>
            <a:ext cx="3157855" cy="9137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Future</a:t>
            </a:r>
            <a:r>
              <a:rPr dirty="0" sz="1750" spc="-5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Outlook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29600"/>
              </a:lnSpc>
              <a:spcBef>
                <a:spcPts val="67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What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happening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383838"/>
                </a:solidFill>
                <a:latin typeface="Tahoma"/>
                <a:cs typeface="Tahoma"/>
              </a:rPr>
              <a:t>now,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what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likely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to </a:t>
            </a:r>
            <a:r>
              <a:rPr dirty="0" sz="1350" spc="-35">
                <a:solidFill>
                  <a:srgbClr val="383838"/>
                </a:solidFill>
                <a:latin typeface="Tahoma"/>
                <a:cs typeface="Tahoma"/>
              </a:rPr>
              <a:t>grow,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what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remains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uncertain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445375" y="11931650"/>
            <a:ext cx="20827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383838"/>
                </a:solidFill>
                <a:latin typeface="Georgia"/>
                <a:cs typeface="Georgia"/>
              </a:rPr>
              <a:t>18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7458075" y="12220575"/>
            <a:ext cx="3143250" cy="19050"/>
          </a:xfrm>
          <a:custGeom>
            <a:avLst/>
            <a:gdLst/>
            <a:ahLst/>
            <a:cxnLst/>
            <a:rect l="l" t="t" r="r" b="b"/>
            <a:pathLst>
              <a:path w="3143250" h="19050">
                <a:moveTo>
                  <a:pt x="3143250" y="19050"/>
                </a:moveTo>
                <a:lnTo>
                  <a:pt x="0" y="19050"/>
                </a:lnTo>
                <a:lnTo>
                  <a:pt x="0" y="0"/>
                </a:lnTo>
                <a:lnTo>
                  <a:pt x="3143250" y="0"/>
                </a:lnTo>
                <a:lnTo>
                  <a:pt x="3143250" y="1905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7445375" y="12325794"/>
            <a:ext cx="2457450" cy="9137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Conclusion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29600"/>
              </a:lnSpc>
              <a:spcBef>
                <a:spcPts val="67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Summary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key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findings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a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personal</a:t>
            </a:r>
            <a:r>
              <a:rPr dirty="0" sz="1350" spc="2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closing</a:t>
            </a:r>
            <a:r>
              <a:rPr dirty="0" sz="1350" spc="229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reflection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828675" y="13849350"/>
            <a:ext cx="9772650" cy="19050"/>
          </a:xfrm>
          <a:custGeom>
            <a:avLst/>
            <a:gdLst/>
            <a:ahLst/>
            <a:cxnLst/>
            <a:rect l="l" t="t" r="r" b="b"/>
            <a:pathLst>
              <a:path w="9772650" h="19050">
                <a:moveTo>
                  <a:pt x="9772650" y="19050"/>
                </a:moveTo>
                <a:lnTo>
                  <a:pt x="0" y="19050"/>
                </a:lnTo>
                <a:lnTo>
                  <a:pt x="0" y="0"/>
                </a:lnTo>
                <a:lnTo>
                  <a:pt x="9772650" y="0"/>
                </a:lnTo>
                <a:lnTo>
                  <a:pt x="9772650" y="19050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815975" y="13560425"/>
            <a:ext cx="2861310" cy="1040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383838"/>
                </a:solidFill>
                <a:latin typeface="Georgia"/>
                <a:cs typeface="Georgia"/>
              </a:rPr>
              <a:t>19</a:t>
            </a:r>
            <a:endParaRPr sz="13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References</a:t>
            </a:r>
            <a:endParaRPr sz="17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Genuine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sources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used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this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report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975" y="1316989"/>
            <a:ext cx="9798050" cy="34258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269240">
              <a:lnSpc>
                <a:spcPct val="131900"/>
              </a:lnSpc>
              <a:spcBef>
                <a:spcPts val="135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(Financial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Accounting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Controlling)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one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the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most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important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modules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75">
                <a:solidFill>
                  <a:srgbClr val="383838"/>
                </a:solidFill>
                <a:latin typeface="Tahoma"/>
                <a:cs typeface="Tahoma"/>
              </a:rPr>
              <a:t>ERP.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helps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organisations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record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transactions,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manage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accounts,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track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costs,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produce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reports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that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support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business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decisions.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For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many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large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companies,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backbone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their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operations.</a:t>
            </a:r>
            <a:endParaRPr sz="1350">
              <a:latin typeface="Tahoma"/>
              <a:cs typeface="Tahoma"/>
            </a:endParaRPr>
          </a:p>
          <a:p>
            <a:pPr marL="12700" marR="29209">
              <a:lnSpc>
                <a:spcPct val="134300"/>
              </a:lnSpc>
              <a:spcBef>
                <a:spcPts val="150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Over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time,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enterprise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systems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have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changed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significantly.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Earlier,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processes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were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largely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manual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ledgers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were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maintained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by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hand,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reports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were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prepared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at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end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month,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decisions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were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often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made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with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delayed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information.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Then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ERP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systems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like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brought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these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processes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into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single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integrated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platform.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383838"/>
                </a:solidFill>
                <a:latin typeface="Tahoma"/>
                <a:cs typeface="Tahoma"/>
              </a:rPr>
              <a:t>Now,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with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technologies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like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S/4HANA,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cloud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computing,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artificial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intelligence,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automation,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evolving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again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this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time</a:t>
            </a:r>
            <a:r>
              <a:rPr dirty="0" sz="1350" spc="5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towards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faster,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smarter,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more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connected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operations.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1540"/>
              </a:spcBef>
            </a:pP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purpose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this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report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research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how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changing,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understand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major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technologies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influencing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SAP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Finance,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analyse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what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these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changes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may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mean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businesses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professionals.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research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based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on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official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sources,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Help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documentation,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Learning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materials,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reputable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business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technology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publications.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5975" y="5018404"/>
            <a:ext cx="4853940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-25">
                <a:solidFill>
                  <a:srgbClr val="020202"/>
                </a:solidFill>
                <a:latin typeface="Georgia"/>
                <a:cs typeface="Georgia"/>
              </a:rPr>
              <a:t>How</a:t>
            </a:r>
            <a:r>
              <a:rPr dirty="0" sz="2800" spc="-8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020202"/>
                </a:solidFill>
                <a:latin typeface="Georgia"/>
                <a:cs typeface="Georgia"/>
              </a:rPr>
              <a:t>SAP</a:t>
            </a:r>
            <a:r>
              <a:rPr dirty="0" sz="2800" spc="-8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020202"/>
                </a:solidFill>
                <a:latin typeface="Georgia"/>
                <a:cs typeface="Georgia"/>
              </a:rPr>
              <a:t>Finance</a:t>
            </a:r>
            <a:r>
              <a:rPr dirty="0" sz="2800" spc="-8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800" spc="-10">
                <a:solidFill>
                  <a:srgbClr val="020202"/>
                </a:solidFill>
                <a:latin typeface="Georgia"/>
                <a:cs typeface="Georgia"/>
              </a:rPr>
              <a:t>Has</a:t>
            </a:r>
            <a:r>
              <a:rPr dirty="0" sz="2800" spc="-8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800" spc="-10">
                <a:solidFill>
                  <a:srgbClr val="020202"/>
                </a:solidFill>
                <a:latin typeface="Georgia"/>
                <a:cs typeface="Georgia"/>
              </a:rPr>
              <a:t>Evolved</a:t>
            </a:r>
            <a:endParaRPr sz="2800">
              <a:latin typeface="Georgia"/>
              <a:cs typeface="Georg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685604" y="6879065"/>
            <a:ext cx="4144010" cy="2439670"/>
            <a:chOff x="3685604" y="6879065"/>
            <a:chExt cx="4144010" cy="2439670"/>
          </a:xfrm>
        </p:grpSpPr>
        <p:sp>
          <p:nvSpPr>
            <p:cNvPr id="6" name="object 6"/>
            <p:cNvSpPr/>
            <p:nvPr/>
          </p:nvSpPr>
          <p:spPr>
            <a:xfrm>
              <a:off x="3685604" y="6879104"/>
              <a:ext cx="1589405" cy="1589405"/>
            </a:xfrm>
            <a:custGeom>
              <a:avLst/>
              <a:gdLst/>
              <a:ahLst/>
              <a:cxnLst/>
              <a:rect l="l" t="t" r="r" b="b"/>
              <a:pathLst>
                <a:path w="1589404" h="1589404">
                  <a:moveTo>
                    <a:pt x="794548" y="1589077"/>
                  </a:moveTo>
                  <a:lnTo>
                    <a:pt x="0" y="794538"/>
                  </a:lnTo>
                  <a:lnTo>
                    <a:pt x="794548" y="0"/>
                  </a:lnTo>
                  <a:lnTo>
                    <a:pt x="1589087" y="794538"/>
                  </a:lnTo>
                  <a:lnTo>
                    <a:pt x="794548" y="1589077"/>
                  </a:lnTo>
                  <a:close/>
                </a:path>
              </a:pathLst>
            </a:custGeom>
            <a:solidFill>
              <a:srgbClr val="802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539598" y="7729257"/>
              <a:ext cx="1589405" cy="1589405"/>
            </a:xfrm>
            <a:custGeom>
              <a:avLst/>
              <a:gdLst/>
              <a:ahLst/>
              <a:cxnLst/>
              <a:rect l="l" t="t" r="r" b="b"/>
              <a:pathLst>
                <a:path w="1589404" h="1589404">
                  <a:moveTo>
                    <a:pt x="794548" y="1589077"/>
                  </a:moveTo>
                  <a:lnTo>
                    <a:pt x="0" y="794538"/>
                  </a:lnTo>
                  <a:lnTo>
                    <a:pt x="794548" y="0"/>
                  </a:lnTo>
                  <a:lnTo>
                    <a:pt x="1589087" y="794538"/>
                  </a:lnTo>
                  <a:lnTo>
                    <a:pt x="794548" y="1589077"/>
                  </a:lnTo>
                  <a:close/>
                </a:path>
              </a:pathLst>
            </a:custGeom>
            <a:solidFill>
              <a:srgbClr val="B03D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239982" y="7729257"/>
              <a:ext cx="1589405" cy="1589405"/>
            </a:xfrm>
            <a:custGeom>
              <a:avLst/>
              <a:gdLst/>
              <a:ahLst/>
              <a:cxnLst/>
              <a:rect l="l" t="t" r="r" b="b"/>
              <a:pathLst>
                <a:path w="1589404" h="1589404">
                  <a:moveTo>
                    <a:pt x="794548" y="1589077"/>
                  </a:moveTo>
                  <a:lnTo>
                    <a:pt x="0" y="794538"/>
                  </a:lnTo>
                  <a:lnTo>
                    <a:pt x="794548" y="0"/>
                  </a:lnTo>
                  <a:lnTo>
                    <a:pt x="1589087" y="794538"/>
                  </a:lnTo>
                  <a:lnTo>
                    <a:pt x="794548" y="1589077"/>
                  </a:lnTo>
                  <a:close/>
                </a:path>
              </a:pathLst>
            </a:custGeom>
            <a:solidFill>
              <a:srgbClr val="E25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389809" y="6879065"/>
              <a:ext cx="1589405" cy="1589405"/>
            </a:xfrm>
            <a:custGeom>
              <a:avLst/>
              <a:gdLst/>
              <a:ahLst/>
              <a:cxnLst/>
              <a:rect l="l" t="t" r="r" b="b"/>
              <a:pathLst>
                <a:path w="1589404" h="1589404">
                  <a:moveTo>
                    <a:pt x="794548" y="1589077"/>
                  </a:moveTo>
                  <a:lnTo>
                    <a:pt x="0" y="794538"/>
                  </a:lnTo>
                  <a:lnTo>
                    <a:pt x="794548" y="0"/>
                  </a:lnTo>
                  <a:lnTo>
                    <a:pt x="1589087" y="794538"/>
                  </a:lnTo>
                  <a:lnTo>
                    <a:pt x="794548" y="1589077"/>
                  </a:lnTo>
                  <a:close/>
                </a:path>
              </a:pathLst>
            </a:custGeom>
            <a:solidFill>
              <a:srgbClr val="FF681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2416889" y="8971808"/>
            <a:ext cx="2293620" cy="938530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marL="274320">
              <a:lnSpc>
                <a:spcPct val="100000"/>
              </a:lnSpc>
              <a:spcBef>
                <a:spcPts val="1055"/>
              </a:spcBef>
            </a:pPr>
            <a:r>
              <a:rPr dirty="0" sz="1800">
                <a:solidFill>
                  <a:srgbClr val="020202"/>
                </a:solidFill>
                <a:latin typeface="Georgia"/>
                <a:cs typeface="Georgia"/>
              </a:rPr>
              <a:t>Traditional</a:t>
            </a:r>
            <a:r>
              <a:rPr dirty="0" sz="1800" spc="3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800" spc="-10">
                <a:solidFill>
                  <a:srgbClr val="020202"/>
                </a:solidFill>
                <a:latin typeface="Georgia"/>
                <a:cs typeface="Georgia"/>
              </a:rPr>
              <a:t>Finance</a:t>
            </a:r>
            <a:endParaRPr sz="1800">
              <a:latin typeface="Georgia"/>
              <a:cs typeface="Georgia"/>
            </a:endParaRPr>
          </a:p>
          <a:p>
            <a:pPr algn="r" marR="5715">
              <a:lnSpc>
                <a:spcPct val="100000"/>
              </a:lnSpc>
              <a:spcBef>
                <a:spcPts val="75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Manual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ledgers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delayed</a:t>
            </a:r>
            <a:endParaRPr sz="1350">
              <a:latin typeface="Tahoma"/>
              <a:cs typeface="Tahoma"/>
            </a:endParaRPr>
          </a:p>
          <a:p>
            <a:pPr algn="r" marR="5715">
              <a:lnSpc>
                <a:spcPct val="100000"/>
              </a:lnSpc>
              <a:spcBef>
                <a:spcPts val="75"/>
              </a:spcBef>
            </a:pP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reports.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69125" y="6160336"/>
            <a:ext cx="2181225" cy="925830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440690">
              <a:lnSpc>
                <a:spcPct val="100000"/>
              </a:lnSpc>
              <a:spcBef>
                <a:spcPts val="950"/>
              </a:spcBef>
            </a:pPr>
            <a:r>
              <a:rPr dirty="0" sz="1800" spc="-75">
                <a:solidFill>
                  <a:srgbClr val="020202"/>
                </a:solidFill>
                <a:latin typeface="Georgia"/>
                <a:cs typeface="Georgia"/>
              </a:rPr>
              <a:t>ERP</a:t>
            </a:r>
            <a:r>
              <a:rPr dirty="0" sz="1800" spc="-1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800" spc="290">
                <a:solidFill>
                  <a:srgbClr val="020202"/>
                </a:solidFill>
                <a:latin typeface="Georgia"/>
                <a:cs typeface="Georgia"/>
              </a:rPr>
              <a:t>&amp;</a:t>
            </a:r>
            <a:r>
              <a:rPr dirty="0" sz="1800" spc="-1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800">
                <a:solidFill>
                  <a:srgbClr val="020202"/>
                </a:solidFill>
                <a:latin typeface="Georgia"/>
                <a:cs typeface="Georgia"/>
              </a:rPr>
              <a:t>SAP</a:t>
            </a:r>
            <a:r>
              <a:rPr dirty="0" sz="1800" spc="-1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800" spc="-30">
                <a:solidFill>
                  <a:srgbClr val="020202"/>
                </a:solidFill>
                <a:latin typeface="Georgia"/>
                <a:cs typeface="Georgia"/>
              </a:rPr>
              <a:t>FICO</a:t>
            </a:r>
            <a:endParaRPr sz="1800">
              <a:latin typeface="Georgia"/>
              <a:cs typeface="Georgia"/>
            </a:endParaRPr>
          </a:p>
          <a:p>
            <a:pPr marL="175260" marR="5715" indent="-163195">
              <a:lnSpc>
                <a:spcPct val="109300"/>
              </a:lnSpc>
              <a:spcBef>
                <a:spcPts val="525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Integrated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accounting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standardised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processes.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46319" y="6160336"/>
            <a:ext cx="1773555" cy="925830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1800">
                <a:solidFill>
                  <a:srgbClr val="020202"/>
                </a:solidFill>
                <a:latin typeface="Georgia"/>
                <a:cs typeface="Georgia"/>
              </a:rPr>
              <a:t>SAP</a:t>
            </a:r>
            <a:r>
              <a:rPr dirty="0" sz="1800" spc="-3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800" spc="-10">
                <a:solidFill>
                  <a:srgbClr val="020202"/>
                </a:solidFill>
                <a:latin typeface="Georgia"/>
                <a:cs typeface="Georgia"/>
              </a:rPr>
              <a:t>S/4HANA</a:t>
            </a:r>
            <a:endParaRPr sz="1800">
              <a:latin typeface="Georgia"/>
              <a:cs typeface="Georgia"/>
            </a:endParaRPr>
          </a:p>
          <a:p>
            <a:pPr marL="12700" marR="5080">
              <a:lnSpc>
                <a:spcPct val="109300"/>
              </a:lnSpc>
              <a:spcBef>
                <a:spcPts val="525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Real-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time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data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with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a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Universal</a:t>
            </a:r>
            <a:r>
              <a:rPr dirty="0" sz="1350" spc="2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Journal.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76995" y="8971808"/>
            <a:ext cx="2039620" cy="938530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800">
                <a:solidFill>
                  <a:srgbClr val="020202"/>
                </a:solidFill>
                <a:latin typeface="Georgia"/>
                <a:cs typeface="Georgia"/>
              </a:rPr>
              <a:t>Intelligent</a:t>
            </a:r>
            <a:r>
              <a:rPr dirty="0" sz="1800" spc="25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800" spc="-10">
                <a:solidFill>
                  <a:srgbClr val="020202"/>
                </a:solidFill>
                <a:latin typeface="Georgia"/>
                <a:cs typeface="Georgia"/>
              </a:rPr>
              <a:t>Finance</a:t>
            </a:r>
            <a:endParaRPr sz="1800">
              <a:latin typeface="Georgia"/>
              <a:cs typeface="Georgia"/>
            </a:endParaRPr>
          </a:p>
          <a:p>
            <a:pPr marL="12700" marR="5080">
              <a:lnSpc>
                <a:spcPct val="104500"/>
              </a:lnSpc>
              <a:spcBef>
                <a:spcPts val="675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Automation, </a:t>
            </a:r>
            <a:r>
              <a:rPr dirty="0" sz="1350" spc="-90">
                <a:solidFill>
                  <a:srgbClr val="383838"/>
                </a:solidFill>
                <a:latin typeface="Tahoma"/>
                <a:cs typeface="Tahoma"/>
              </a:rPr>
              <a:t>AI,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and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real-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time</a:t>
            </a:r>
            <a:r>
              <a:rPr dirty="0" sz="1350" spc="-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analytics.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5975" y="10584815"/>
            <a:ext cx="9650095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future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moving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towards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more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automation,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integrated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data,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faster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reporting,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intelligent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decision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support.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This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does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not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mean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disappearing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rather,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its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core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functions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are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becoming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part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more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intelligent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connected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environment.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sections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that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follow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explore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each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these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changes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detail.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Understanding</a:t>
            </a:r>
            <a:r>
              <a:rPr dirty="0" spc="-135"/>
              <a:t> </a:t>
            </a:r>
            <a:r>
              <a:rPr dirty="0"/>
              <a:t>SAP</a:t>
            </a:r>
            <a:r>
              <a:rPr dirty="0" spc="-135"/>
              <a:t> </a:t>
            </a:r>
            <a:r>
              <a:rPr dirty="0" spc="-85"/>
              <a:t>FICO</a:t>
            </a:r>
            <a:r>
              <a:rPr dirty="0" spc="-130"/>
              <a:t> </a:t>
            </a:r>
            <a:r>
              <a:rPr dirty="0" spc="-10"/>
              <a:t>Today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975" y="1326515"/>
            <a:ext cx="9540875" cy="83502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60"/>
              </a:spcBef>
            </a:pP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Before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exploring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future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Finance,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important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understand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what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does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today.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During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earlier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weeks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this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internship,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85">
                <a:solidFill>
                  <a:srgbClr val="383838"/>
                </a:solidFill>
                <a:latin typeface="Tahoma"/>
                <a:cs typeface="Tahoma"/>
              </a:rPr>
              <a:t>I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learned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about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core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components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how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they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work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together.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These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functions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remain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foundation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Finance,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even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as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technology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around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them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evolves.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4850" y="2390775"/>
            <a:ext cx="4924425" cy="3667125"/>
            <a:chOff x="704850" y="2390775"/>
            <a:chExt cx="4924425" cy="3667125"/>
          </a:xfrm>
        </p:grpSpPr>
        <p:sp>
          <p:nvSpPr>
            <p:cNvPr id="5" name="object 5"/>
            <p:cNvSpPr/>
            <p:nvPr/>
          </p:nvSpPr>
          <p:spPr>
            <a:xfrm>
              <a:off x="704850" y="2390775"/>
              <a:ext cx="4924425" cy="3667125"/>
            </a:xfrm>
            <a:custGeom>
              <a:avLst/>
              <a:gdLst/>
              <a:ahLst/>
              <a:cxnLst/>
              <a:rect l="l" t="t" r="r" b="b"/>
              <a:pathLst>
                <a:path w="4924425" h="3667125">
                  <a:moveTo>
                    <a:pt x="4905832" y="3667125"/>
                  </a:moveTo>
                  <a:lnTo>
                    <a:pt x="18592" y="3667125"/>
                  </a:lnTo>
                  <a:lnTo>
                    <a:pt x="15859" y="3666582"/>
                  </a:lnTo>
                  <a:lnTo>
                    <a:pt x="0" y="3648532"/>
                  </a:lnTo>
                  <a:lnTo>
                    <a:pt x="0" y="3645693"/>
                  </a:lnTo>
                  <a:lnTo>
                    <a:pt x="0" y="18592"/>
                  </a:lnTo>
                  <a:lnTo>
                    <a:pt x="18592" y="0"/>
                  </a:lnTo>
                  <a:lnTo>
                    <a:pt x="4905832" y="0"/>
                  </a:lnTo>
                  <a:lnTo>
                    <a:pt x="4924425" y="18592"/>
                  </a:lnTo>
                  <a:lnTo>
                    <a:pt x="4924425" y="3648532"/>
                  </a:lnTo>
                  <a:lnTo>
                    <a:pt x="4908565" y="3666582"/>
                  </a:lnTo>
                  <a:lnTo>
                    <a:pt x="4905832" y="3667125"/>
                  </a:lnTo>
                  <a:close/>
                </a:path>
              </a:pathLst>
            </a:custGeom>
            <a:solidFill>
              <a:srgbClr val="DF4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04875" y="3124211"/>
              <a:ext cx="57150" cy="2219325"/>
            </a:xfrm>
            <a:custGeom>
              <a:avLst/>
              <a:gdLst/>
              <a:ahLst/>
              <a:cxnLst/>
              <a:rect l="l" t="t" r="r" b="b"/>
              <a:pathLst>
                <a:path w="57150" h="2219325">
                  <a:moveTo>
                    <a:pt x="57150" y="2186952"/>
                  </a:moveTo>
                  <a:lnTo>
                    <a:pt x="32359" y="2162175"/>
                  </a:lnTo>
                  <a:lnTo>
                    <a:pt x="24777" y="2162175"/>
                  </a:lnTo>
                  <a:lnTo>
                    <a:pt x="0" y="2186952"/>
                  </a:lnTo>
                  <a:lnTo>
                    <a:pt x="0" y="2194534"/>
                  </a:lnTo>
                  <a:lnTo>
                    <a:pt x="24777" y="2219325"/>
                  </a:lnTo>
                  <a:lnTo>
                    <a:pt x="32359" y="2219325"/>
                  </a:lnTo>
                  <a:lnTo>
                    <a:pt x="57150" y="2194534"/>
                  </a:lnTo>
                  <a:lnTo>
                    <a:pt x="57150" y="2190750"/>
                  </a:lnTo>
                  <a:lnTo>
                    <a:pt x="57150" y="2186952"/>
                  </a:lnTo>
                  <a:close/>
                </a:path>
                <a:path w="57150" h="2219325">
                  <a:moveTo>
                    <a:pt x="57150" y="1577352"/>
                  </a:moveTo>
                  <a:lnTo>
                    <a:pt x="32359" y="1552575"/>
                  </a:lnTo>
                  <a:lnTo>
                    <a:pt x="24777" y="1552575"/>
                  </a:lnTo>
                  <a:lnTo>
                    <a:pt x="0" y="1577352"/>
                  </a:lnTo>
                  <a:lnTo>
                    <a:pt x="0" y="1584934"/>
                  </a:lnTo>
                  <a:lnTo>
                    <a:pt x="24777" y="1609725"/>
                  </a:lnTo>
                  <a:lnTo>
                    <a:pt x="32359" y="1609725"/>
                  </a:lnTo>
                  <a:lnTo>
                    <a:pt x="57150" y="1584934"/>
                  </a:lnTo>
                  <a:lnTo>
                    <a:pt x="57150" y="1581150"/>
                  </a:lnTo>
                  <a:lnTo>
                    <a:pt x="57150" y="1577352"/>
                  </a:lnTo>
                  <a:close/>
                </a:path>
                <a:path w="57150" h="2219325">
                  <a:moveTo>
                    <a:pt x="57150" y="967752"/>
                  </a:moveTo>
                  <a:lnTo>
                    <a:pt x="32359" y="942975"/>
                  </a:lnTo>
                  <a:lnTo>
                    <a:pt x="24777" y="942975"/>
                  </a:lnTo>
                  <a:lnTo>
                    <a:pt x="0" y="967752"/>
                  </a:lnTo>
                  <a:lnTo>
                    <a:pt x="0" y="975334"/>
                  </a:lnTo>
                  <a:lnTo>
                    <a:pt x="24777" y="1000125"/>
                  </a:lnTo>
                  <a:lnTo>
                    <a:pt x="32359" y="1000125"/>
                  </a:lnTo>
                  <a:lnTo>
                    <a:pt x="57150" y="975334"/>
                  </a:lnTo>
                  <a:lnTo>
                    <a:pt x="57150" y="971550"/>
                  </a:lnTo>
                  <a:lnTo>
                    <a:pt x="57150" y="967752"/>
                  </a:lnTo>
                  <a:close/>
                </a:path>
                <a:path w="57150" h="2219325">
                  <a:moveTo>
                    <a:pt x="57150" y="634377"/>
                  </a:moveTo>
                  <a:lnTo>
                    <a:pt x="32359" y="609600"/>
                  </a:lnTo>
                  <a:lnTo>
                    <a:pt x="24777" y="609600"/>
                  </a:lnTo>
                  <a:lnTo>
                    <a:pt x="0" y="634377"/>
                  </a:lnTo>
                  <a:lnTo>
                    <a:pt x="0" y="641959"/>
                  </a:lnTo>
                  <a:lnTo>
                    <a:pt x="24777" y="666750"/>
                  </a:lnTo>
                  <a:lnTo>
                    <a:pt x="32359" y="666750"/>
                  </a:lnTo>
                  <a:lnTo>
                    <a:pt x="57150" y="641959"/>
                  </a:lnTo>
                  <a:lnTo>
                    <a:pt x="57150" y="638175"/>
                  </a:lnTo>
                  <a:lnTo>
                    <a:pt x="57150" y="634377"/>
                  </a:lnTo>
                  <a:close/>
                </a:path>
                <a:path w="57150" h="2219325">
                  <a:moveTo>
                    <a:pt x="57150" y="24777"/>
                  </a:moveTo>
                  <a:lnTo>
                    <a:pt x="32359" y="0"/>
                  </a:lnTo>
                  <a:lnTo>
                    <a:pt x="24777" y="0"/>
                  </a:lnTo>
                  <a:lnTo>
                    <a:pt x="0" y="24777"/>
                  </a:lnTo>
                  <a:lnTo>
                    <a:pt x="0" y="32359"/>
                  </a:lnTo>
                  <a:lnTo>
                    <a:pt x="24777" y="57150"/>
                  </a:lnTo>
                  <a:lnTo>
                    <a:pt x="32359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64047" y="2543620"/>
            <a:ext cx="4547870" cy="31426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020202"/>
                </a:solidFill>
                <a:latin typeface="Georgia"/>
                <a:cs typeface="Georgia"/>
              </a:rPr>
              <a:t>Financial</a:t>
            </a:r>
            <a:r>
              <a:rPr dirty="0" sz="1750" spc="2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020202"/>
                </a:solidFill>
                <a:latin typeface="Georgia"/>
                <a:cs typeface="Georgia"/>
              </a:rPr>
              <a:t>Accounting</a:t>
            </a:r>
            <a:r>
              <a:rPr dirty="0" sz="1750" spc="6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50" spc="-20">
                <a:solidFill>
                  <a:srgbClr val="020202"/>
                </a:solidFill>
                <a:latin typeface="Georgia"/>
                <a:cs typeface="Georgia"/>
              </a:rPr>
              <a:t>(FI)</a:t>
            </a:r>
            <a:endParaRPr sz="1750">
              <a:latin typeface="Georgia"/>
              <a:cs typeface="Georgia"/>
            </a:endParaRPr>
          </a:p>
          <a:p>
            <a:pPr marL="286385" marR="90805">
              <a:lnSpc>
                <a:spcPct val="134300"/>
              </a:lnSpc>
              <a:spcBef>
                <a:spcPts val="1120"/>
              </a:spcBef>
            </a:pPr>
            <a:r>
              <a:rPr dirty="0" sz="1350">
                <a:latin typeface="Tahoma"/>
                <a:cs typeface="Tahoma"/>
              </a:rPr>
              <a:t>General</a:t>
            </a:r>
            <a:r>
              <a:rPr dirty="0" sz="1350" spc="9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Ledger</a:t>
            </a:r>
            <a:r>
              <a:rPr dirty="0" sz="1350" spc="9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(G/L)</a:t>
            </a:r>
            <a:r>
              <a:rPr dirty="0" sz="1350" spc="90">
                <a:latin typeface="Tahoma"/>
                <a:cs typeface="Tahoma"/>
              </a:rPr>
              <a:t> </a:t>
            </a:r>
            <a:r>
              <a:rPr dirty="0" sz="1350" spc="-50">
                <a:latin typeface="Tahoma"/>
                <a:cs typeface="Tahoma"/>
              </a:rPr>
              <a:t>—</a:t>
            </a:r>
            <a:r>
              <a:rPr dirty="0" sz="1350" spc="9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central</a:t>
            </a:r>
            <a:r>
              <a:rPr dirty="0" sz="1350" spc="9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record</a:t>
            </a:r>
            <a:r>
              <a:rPr dirty="0" sz="1350" spc="9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of</a:t>
            </a:r>
            <a:r>
              <a:rPr dirty="0" sz="1350" spc="9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all</a:t>
            </a:r>
            <a:r>
              <a:rPr dirty="0" sz="1350" spc="90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financial transactions</a:t>
            </a:r>
            <a:endParaRPr sz="135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dirty="0" sz="1350" spc="70">
                <a:latin typeface="Tahoma"/>
                <a:cs typeface="Tahoma"/>
              </a:rPr>
              <a:t>Accounts</a:t>
            </a:r>
            <a:r>
              <a:rPr dirty="0" sz="1350">
                <a:latin typeface="Tahoma"/>
                <a:cs typeface="Tahoma"/>
              </a:rPr>
              <a:t> Payable</a:t>
            </a:r>
            <a:r>
              <a:rPr dirty="0" sz="1350" spc="5">
                <a:latin typeface="Tahoma"/>
                <a:cs typeface="Tahoma"/>
              </a:rPr>
              <a:t> </a:t>
            </a:r>
            <a:r>
              <a:rPr dirty="0" sz="1350" spc="-50">
                <a:latin typeface="Tahoma"/>
                <a:cs typeface="Tahoma"/>
              </a:rPr>
              <a:t>—</a:t>
            </a:r>
            <a:r>
              <a:rPr dirty="0" sz="1350" spc="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managing</a:t>
            </a:r>
            <a:r>
              <a:rPr dirty="0" sz="1350" spc="5">
                <a:latin typeface="Tahoma"/>
                <a:cs typeface="Tahoma"/>
              </a:rPr>
              <a:t> </a:t>
            </a:r>
            <a:r>
              <a:rPr dirty="0" sz="1350" spc="50">
                <a:latin typeface="Tahoma"/>
                <a:cs typeface="Tahoma"/>
              </a:rPr>
              <a:t>payments</a:t>
            </a:r>
            <a:r>
              <a:rPr dirty="0" sz="1350" spc="5">
                <a:latin typeface="Tahoma"/>
                <a:cs typeface="Tahoma"/>
              </a:rPr>
              <a:t> </a:t>
            </a:r>
            <a:r>
              <a:rPr dirty="0" sz="1350" spc="55">
                <a:latin typeface="Tahoma"/>
                <a:cs typeface="Tahoma"/>
              </a:rPr>
              <a:t>to</a:t>
            </a:r>
            <a:r>
              <a:rPr dirty="0" sz="1350" spc="5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suppliers</a:t>
            </a:r>
            <a:endParaRPr sz="1350">
              <a:latin typeface="Tahoma"/>
              <a:cs typeface="Tahoma"/>
            </a:endParaRPr>
          </a:p>
          <a:p>
            <a:pPr marL="286385" marR="472440">
              <a:lnSpc>
                <a:spcPct val="134300"/>
              </a:lnSpc>
              <a:spcBef>
                <a:spcPts val="450"/>
              </a:spcBef>
            </a:pPr>
            <a:r>
              <a:rPr dirty="0" sz="1350" spc="70">
                <a:latin typeface="Tahoma"/>
                <a:cs typeface="Tahoma"/>
              </a:rPr>
              <a:t>Accounts</a:t>
            </a:r>
            <a:r>
              <a:rPr dirty="0" sz="1350" spc="4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Receivable</a:t>
            </a:r>
            <a:r>
              <a:rPr dirty="0" sz="1350" spc="50">
                <a:latin typeface="Tahoma"/>
                <a:cs typeface="Tahoma"/>
              </a:rPr>
              <a:t> </a:t>
            </a:r>
            <a:r>
              <a:rPr dirty="0" sz="1350" spc="-50">
                <a:latin typeface="Tahoma"/>
                <a:cs typeface="Tahoma"/>
              </a:rPr>
              <a:t>—</a:t>
            </a:r>
            <a:r>
              <a:rPr dirty="0" sz="1350" spc="5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managing</a:t>
            </a:r>
            <a:r>
              <a:rPr dirty="0" sz="1350" spc="50">
                <a:latin typeface="Tahoma"/>
                <a:cs typeface="Tahoma"/>
              </a:rPr>
              <a:t> receipts </a:t>
            </a:r>
            <a:r>
              <a:rPr dirty="0" sz="1350" spc="-20">
                <a:latin typeface="Tahoma"/>
                <a:cs typeface="Tahoma"/>
              </a:rPr>
              <a:t>from </a:t>
            </a:r>
            <a:r>
              <a:rPr dirty="0" sz="1350" spc="45">
                <a:latin typeface="Tahoma"/>
                <a:cs typeface="Tahoma"/>
              </a:rPr>
              <a:t>customers</a:t>
            </a:r>
            <a:endParaRPr sz="1350">
              <a:latin typeface="Tahoma"/>
              <a:cs typeface="Tahoma"/>
            </a:endParaRPr>
          </a:p>
          <a:p>
            <a:pPr marL="286385" marR="634365">
              <a:lnSpc>
                <a:spcPct val="129600"/>
              </a:lnSpc>
              <a:spcBef>
                <a:spcPts val="525"/>
              </a:spcBef>
            </a:pPr>
            <a:r>
              <a:rPr dirty="0" sz="1350" spc="60">
                <a:latin typeface="Tahoma"/>
                <a:cs typeface="Tahoma"/>
              </a:rPr>
              <a:t>Asset</a:t>
            </a:r>
            <a:r>
              <a:rPr dirty="0" sz="1350" spc="15">
                <a:latin typeface="Tahoma"/>
                <a:cs typeface="Tahoma"/>
              </a:rPr>
              <a:t> </a:t>
            </a:r>
            <a:r>
              <a:rPr dirty="0" sz="1350" spc="55">
                <a:latin typeface="Tahoma"/>
                <a:cs typeface="Tahoma"/>
              </a:rPr>
              <a:t>Accounting</a:t>
            </a:r>
            <a:r>
              <a:rPr dirty="0" sz="1350" spc="10">
                <a:latin typeface="Tahoma"/>
                <a:cs typeface="Tahoma"/>
              </a:rPr>
              <a:t> </a:t>
            </a:r>
            <a:r>
              <a:rPr dirty="0" sz="1350" spc="-50">
                <a:latin typeface="Tahoma"/>
                <a:cs typeface="Tahoma"/>
              </a:rPr>
              <a:t>—</a:t>
            </a:r>
            <a:r>
              <a:rPr dirty="0" sz="1350" spc="1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tracking</a:t>
            </a:r>
            <a:r>
              <a:rPr dirty="0" sz="1350" spc="1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fixed</a:t>
            </a:r>
            <a:r>
              <a:rPr dirty="0" sz="1350" spc="15">
                <a:latin typeface="Tahoma"/>
                <a:cs typeface="Tahoma"/>
              </a:rPr>
              <a:t> </a:t>
            </a:r>
            <a:r>
              <a:rPr dirty="0" sz="1350" spc="55">
                <a:latin typeface="Tahoma"/>
                <a:cs typeface="Tahoma"/>
              </a:rPr>
              <a:t>assets</a:t>
            </a:r>
            <a:r>
              <a:rPr dirty="0" sz="1350" spc="15">
                <a:latin typeface="Tahoma"/>
                <a:cs typeface="Tahoma"/>
              </a:rPr>
              <a:t> </a:t>
            </a:r>
            <a:r>
              <a:rPr dirty="0" sz="1350" spc="-25">
                <a:latin typeface="Tahoma"/>
                <a:cs typeface="Tahoma"/>
              </a:rPr>
              <a:t>and </a:t>
            </a:r>
            <a:r>
              <a:rPr dirty="0" sz="1350" spc="-10">
                <a:latin typeface="Tahoma"/>
                <a:cs typeface="Tahoma"/>
              </a:rPr>
              <a:t>depreciation</a:t>
            </a:r>
            <a:endParaRPr sz="1350">
              <a:latin typeface="Tahoma"/>
              <a:cs typeface="Tahoma"/>
            </a:endParaRPr>
          </a:p>
          <a:p>
            <a:pPr marL="286385" marR="97155">
              <a:lnSpc>
                <a:spcPct val="129600"/>
              </a:lnSpc>
              <a:spcBef>
                <a:spcPts val="600"/>
              </a:spcBef>
            </a:pPr>
            <a:r>
              <a:rPr dirty="0" sz="1350">
                <a:latin typeface="Tahoma"/>
                <a:cs typeface="Tahoma"/>
              </a:rPr>
              <a:t>Bank</a:t>
            </a:r>
            <a:r>
              <a:rPr dirty="0" sz="1350" spc="90">
                <a:latin typeface="Tahoma"/>
                <a:cs typeface="Tahoma"/>
              </a:rPr>
              <a:t> </a:t>
            </a:r>
            <a:r>
              <a:rPr dirty="0" sz="1350" spc="55">
                <a:latin typeface="Tahoma"/>
                <a:cs typeface="Tahoma"/>
              </a:rPr>
              <a:t>Accounting</a:t>
            </a:r>
            <a:r>
              <a:rPr dirty="0" sz="1350" spc="90">
                <a:latin typeface="Tahoma"/>
                <a:cs typeface="Tahoma"/>
              </a:rPr>
              <a:t> </a:t>
            </a:r>
            <a:r>
              <a:rPr dirty="0" sz="1350" spc="-50">
                <a:latin typeface="Tahoma"/>
                <a:cs typeface="Tahoma"/>
              </a:rPr>
              <a:t>—</a:t>
            </a:r>
            <a:r>
              <a:rPr dirty="0" sz="1350" spc="9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managing</a:t>
            </a:r>
            <a:r>
              <a:rPr dirty="0" sz="1350" spc="9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bank</a:t>
            </a:r>
            <a:r>
              <a:rPr dirty="0" sz="1350" spc="9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transactions</a:t>
            </a:r>
            <a:r>
              <a:rPr dirty="0" sz="1350" spc="90">
                <a:latin typeface="Tahoma"/>
                <a:cs typeface="Tahoma"/>
              </a:rPr>
              <a:t> </a:t>
            </a:r>
            <a:r>
              <a:rPr dirty="0" sz="1350" spc="-25">
                <a:latin typeface="Tahoma"/>
                <a:cs typeface="Tahoma"/>
              </a:rPr>
              <a:t>and </a:t>
            </a:r>
            <a:r>
              <a:rPr dirty="0" sz="1350" spc="-10">
                <a:latin typeface="Tahoma"/>
                <a:cs typeface="Tahoma"/>
              </a:rPr>
              <a:t>reconciliations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62650" y="31242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38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962650" y="37338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38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62650" y="43434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38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62650" y="49434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38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962650" y="55530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38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Controlling</a:t>
            </a:r>
            <a:r>
              <a:rPr dirty="0" spc="200"/>
              <a:t> </a:t>
            </a:r>
            <a:r>
              <a:rPr dirty="0" spc="-20"/>
              <a:t>(CO)</a:t>
            </a:r>
          </a:p>
          <a:p>
            <a:pPr marL="286385" marR="444500">
              <a:lnSpc>
                <a:spcPct val="134300"/>
              </a:lnSpc>
              <a:spcBef>
                <a:spcPts val="1120"/>
              </a:spcBef>
            </a:pP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Centers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tracking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costs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by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department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or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function</a:t>
            </a:r>
            <a:endParaRPr sz="1350">
              <a:latin typeface="Tahoma"/>
              <a:cs typeface="Tahoma"/>
            </a:endParaRPr>
          </a:p>
          <a:p>
            <a:pPr marL="286385" marR="221615">
              <a:lnSpc>
                <a:spcPct val="134300"/>
              </a:lnSpc>
              <a:spcBef>
                <a:spcPts val="45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Profit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Centers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measuring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profitability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business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units</a:t>
            </a:r>
            <a:endParaRPr sz="1350">
              <a:latin typeface="Tahoma"/>
              <a:cs typeface="Tahoma"/>
            </a:endParaRPr>
          </a:p>
          <a:p>
            <a:pPr marL="286385" marR="116205">
              <a:lnSpc>
                <a:spcPct val="129600"/>
              </a:lnSpc>
              <a:spcBef>
                <a:spcPts val="525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Internal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Orders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tracking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costs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specific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projects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or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tasks</a:t>
            </a:r>
            <a:endParaRPr sz="1350">
              <a:latin typeface="Tahoma"/>
              <a:cs typeface="Tahoma"/>
            </a:endParaRPr>
          </a:p>
          <a:p>
            <a:pPr marL="286385" marR="5080">
              <a:lnSpc>
                <a:spcPct val="134300"/>
              </a:lnSpc>
              <a:spcBef>
                <a:spcPts val="45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Profitability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Analysis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(CO-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PA)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analysing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revenue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costs</a:t>
            </a:r>
            <a:r>
              <a:rPr dirty="0" sz="1350" spc="-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by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segment</a:t>
            </a:r>
            <a:endParaRPr sz="1350">
              <a:latin typeface="Tahoma"/>
              <a:cs typeface="Tahoma"/>
            </a:endParaRPr>
          </a:p>
          <a:p>
            <a:pPr marL="286385" marR="163830">
              <a:lnSpc>
                <a:spcPct val="134300"/>
              </a:lnSpc>
              <a:spcBef>
                <a:spcPts val="450"/>
              </a:spcBef>
            </a:pP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Product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Costing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calculating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producing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goods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or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services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5978" y="6203315"/>
            <a:ext cx="9662160" cy="1111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dirty="0" sz="1350" spc="-90">
                <a:solidFill>
                  <a:srgbClr val="383838"/>
                </a:solidFill>
                <a:latin typeface="Tahoma"/>
                <a:cs typeface="Tahoma"/>
              </a:rPr>
              <a:t>FI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383838"/>
                </a:solidFill>
                <a:latin typeface="Tahoma"/>
                <a:cs typeface="Tahoma"/>
              </a:rPr>
              <a:t>CO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are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closely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integrated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SAP.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90">
                <a:solidFill>
                  <a:srgbClr val="383838"/>
                </a:solidFill>
                <a:latin typeface="Tahoma"/>
                <a:cs typeface="Tahoma"/>
              </a:rPr>
              <a:t>FI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records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external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transactions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statutory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reporting,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while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383838"/>
                </a:solidFill>
                <a:latin typeface="Tahoma"/>
                <a:cs typeface="Tahoma"/>
              </a:rPr>
              <a:t>CO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focuses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on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internal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management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accounting.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Together,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they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provide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complete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picture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organisation's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position.</a:t>
            </a:r>
            <a:endParaRPr sz="1350">
              <a:latin typeface="Tahoma"/>
              <a:cs typeface="Tahoma"/>
            </a:endParaRPr>
          </a:p>
          <a:p>
            <a:pPr marL="12700" marR="596900">
              <a:lnSpc>
                <a:spcPct val="134300"/>
              </a:lnSpc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Reporting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includes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statements,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reports,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management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dashboards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all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which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are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essential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business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decisions.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5978" y="7590156"/>
            <a:ext cx="4859655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-25">
                <a:solidFill>
                  <a:srgbClr val="020202"/>
                </a:solidFill>
                <a:latin typeface="Georgia"/>
                <a:cs typeface="Georgia"/>
              </a:rPr>
              <a:t>How</a:t>
            </a:r>
            <a:r>
              <a:rPr dirty="0" sz="2800" spc="-75">
                <a:solidFill>
                  <a:srgbClr val="020202"/>
                </a:solidFill>
                <a:latin typeface="Georgia"/>
                <a:cs typeface="Georgia"/>
              </a:rPr>
              <a:t> FI </a:t>
            </a:r>
            <a:r>
              <a:rPr dirty="0" sz="2800">
                <a:solidFill>
                  <a:srgbClr val="020202"/>
                </a:solidFill>
                <a:latin typeface="Georgia"/>
                <a:cs typeface="Georgia"/>
              </a:rPr>
              <a:t>and</a:t>
            </a:r>
            <a:r>
              <a:rPr dirty="0" sz="2800" spc="-7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020202"/>
                </a:solidFill>
                <a:latin typeface="Georgia"/>
                <a:cs typeface="Georgia"/>
              </a:rPr>
              <a:t>CO</a:t>
            </a:r>
            <a:r>
              <a:rPr dirty="0" sz="2800" spc="-7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800" spc="-60">
                <a:solidFill>
                  <a:srgbClr val="020202"/>
                </a:solidFill>
                <a:latin typeface="Georgia"/>
                <a:cs typeface="Georgia"/>
              </a:rPr>
              <a:t>Work</a:t>
            </a:r>
            <a:r>
              <a:rPr dirty="0" sz="2800" spc="-7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800" spc="-10">
                <a:solidFill>
                  <a:srgbClr val="020202"/>
                </a:solidFill>
                <a:latin typeface="Georgia"/>
                <a:cs typeface="Georgia"/>
              </a:rPr>
              <a:t>Together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891879" y="9673574"/>
            <a:ext cx="1622425" cy="1622425"/>
          </a:xfrm>
          <a:custGeom>
            <a:avLst/>
            <a:gdLst/>
            <a:ahLst/>
            <a:cxnLst/>
            <a:rect l="l" t="t" r="r" b="b"/>
            <a:pathLst>
              <a:path w="1622425" h="1622425">
                <a:moveTo>
                  <a:pt x="811099" y="1622198"/>
                </a:moveTo>
                <a:lnTo>
                  <a:pt x="771296" y="1621221"/>
                </a:lnTo>
                <a:lnTo>
                  <a:pt x="731601" y="1618289"/>
                </a:lnTo>
                <a:lnTo>
                  <a:pt x="692082" y="1613422"/>
                </a:lnTo>
                <a:lnTo>
                  <a:pt x="652856" y="1606611"/>
                </a:lnTo>
                <a:lnTo>
                  <a:pt x="614021" y="1597894"/>
                </a:lnTo>
                <a:lnTo>
                  <a:pt x="575645" y="1587272"/>
                </a:lnTo>
                <a:lnTo>
                  <a:pt x="537846" y="1574783"/>
                </a:lnTo>
                <a:lnTo>
                  <a:pt x="500702" y="1560457"/>
                </a:lnTo>
                <a:lnTo>
                  <a:pt x="464310" y="1544323"/>
                </a:lnTo>
                <a:lnTo>
                  <a:pt x="428748" y="1526420"/>
                </a:lnTo>
                <a:lnTo>
                  <a:pt x="394106" y="1506797"/>
                </a:lnTo>
                <a:lnTo>
                  <a:pt x="360479" y="1485503"/>
                </a:lnTo>
                <a:lnTo>
                  <a:pt x="327928" y="1462577"/>
                </a:lnTo>
                <a:lnTo>
                  <a:pt x="296539" y="1438088"/>
                </a:lnTo>
                <a:lnTo>
                  <a:pt x="266402" y="1412084"/>
                </a:lnTo>
                <a:lnTo>
                  <a:pt x="237564" y="1384634"/>
                </a:lnTo>
                <a:lnTo>
                  <a:pt x="210113" y="1355796"/>
                </a:lnTo>
                <a:lnTo>
                  <a:pt x="184109" y="1325658"/>
                </a:lnTo>
                <a:lnTo>
                  <a:pt x="159620" y="1294269"/>
                </a:lnTo>
                <a:lnTo>
                  <a:pt x="136694" y="1261718"/>
                </a:lnTo>
                <a:lnTo>
                  <a:pt x="115391" y="1228092"/>
                </a:lnTo>
                <a:lnTo>
                  <a:pt x="95768" y="1193449"/>
                </a:lnTo>
                <a:lnTo>
                  <a:pt x="77875" y="1157888"/>
                </a:lnTo>
                <a:lnTo>
                  <a:pt x="61741" y="1121496"/>
                </a:lnTo>
                <a:lnTo>
                  <a:pt x="47415" y="1084351"/>
                </a:lnTo>
                <a:lnTo>
                  <a:pt x="34926" y="1046552"/>
                </a:lnTo>
                <a:lnTo>
                  <a:pt x="24303" y="1008176"/>
                </a:lnTo>
                <a:lnTo>
                  <a:pt x="15586" y="969341"/>
                </a:lnTo>
                <a:lnTo>
                  <a:pt x="8775" y="930115"/>
                </a:lnTo>
                <a:lnTo>
                  <a:pt x="3908" y="890596"/>
                </a:lnTo>
                <a:lnTo>
                  <a:pt x="977" y="850901"/>
                </a:lnTo>
                <a:lnTo>
                  <a:pt x="0" y="811099"/>
                </a:lnTo>
                <a:lnTo>
                  <a:pt x="243" y="791194"/>
                </a:lnTo>
                <a:lnTo>
                  <a:pt x="2201" y="751430"/>
                </a:lnTo>
                <a:lnTo>
                  <a:pt x="6100" y="711812"/>
                </a:lnTo>
                <a:lnTo>
                  <a:pt x="11942" y="672432"/>
                </a:lnTo>
                <a:lnTo>
                  <a:pt x="19707" y="633384"/>
                </a:lnTo>
                <a:lnTo>
                  <a:pt x="29380" y="594767"/>
                </a:lnTo>
                <a:lnTo>
                  <a:pt x="40936" y="556669"/>
                </a:lnTo>
                <a:lnTo>
                  <a:pt x="54347" y="519186"/>
                </a:lnTo>
                <a:lnTo>
                  <a:pt x="69584" y="482407"/>
                </a:lnTo>
                <a:lnTo>
                  <a:pt x="86606" y="446419"/>
                </a:lnTo>
                <a:lnTo>
                  <a:pt x="105372" y="411310"/>
                </a:lnTo>
                <a:lnTo>
                  <a:pt x="125837" y="377161"/>
                </a:lnTo>
                <a:lnTo>
                  <a:pt x="147959" y="344061"/>
                </a:lnTo>
                <a:lnTo>
                  <a:pt x="171670" y="312083"/>
                </a:lnTo>
                <a:lnTo>
                  <a:pt x="196928" y="281309"/>
                </a:lnTo>
                <a:lnTo>
                  <a:pt x="223663" y="251814"/>
                </a:lnTo>
                <a:lnTo>
                  <a:pt x="251814" y="223663"/>
                </a:lnTo>
                <a:lnTo>
                  <a:pt x="281309" y="196928"/>
                </a:lnTo>
                <a:lnTo>
                  <a:pt x="312083" y="171670"/>
                </a:lnTo>
                <a:lnTo>
                  <a:pt x="344061" y="147959"/>
                </a:lnTo>
                <a:lnTo>
                  <a:pt x="377161" y="125838"/>
                </a:lnTo>
                <a:lnTo>
                  <a:pt x="411310" y="105373"/>
                </a:lnTo>
                <a:lnTo>
                  <a:pt x="446419" y="86606"/>
                </a:lnTo>
                <a:lnTo>
                  <a:pt x="482407" y="69584"/>
                </a:lnTo>
                <a:lnTo>
                  <a:pt x="519186" y="54347"/>
                </a:lnTo>
                <a:lnTo>
                  <a:pt x="556669" y="40936"/>
                </a:lnTo>
                <a:lnTo>
                  <a:pt x="594767" y="29380"/>
                </a:lnTo>
                <a:lnTo>
                  <a:pt x="633384" y="19707"/>
                </a:lnTo>
                <a:lnTo>
                  <a:pt x="672432" y="11942"/>
                </a:lnTo>
                <a:lnTo>
                  <a:pt x="711812" y="6100"/>
                </a:lnTo>
                <a:lnTo>
                  <a:pt x="751430" y="2201"/>
                </a:lnTo>
                <a:lnTo>
                  <a:pt x="791194" y="243"/>
                </a:lnTo>
                <a:lnTo>
                  <a:pt x="811099" y="0"/>
                </a:lnTo>
                <a:lnTo>
                  <a:pt x="831004" y="243"/>
                </a:lnTo>
                <a:lnTo>
                  <a:pt x="870767" y="2201"/>
                </a:lnTo>
                <a:lnTo>
                  <a:pt x="910385" y="6100"/>
                </a:lnTo>
                <a:lnTo>
                  <a:pt x="949764" y="11942"/>
                </a:lnTo>
                <a:lnTo>
                  <a:pt x="988812" y="19707"/>
                </a:lnTo>
                <a:lnTo>
                  <a:pt x="1027430" y="29380"/>
                </a:lnTo>
                <a:lnTo>
                  <a:pt x="1065525" y="40936"/>
                </a:lnTo>
                <a:lnTo>
                  <a:pt x="1103011" y="54347"/>
                </a:lnTo>
                <a:lnTo>
                  <a:pt x="1139791" y="69584"/>
                </a:lnTo>
                <a:lnTo>
                  <a:pt x="1175778" y="86606"/>
                </a:lnTo>
                <a:lnTo>
                  <a:pt x="1210886" y="105373"/>
                </a:lnTo>
                <a:lnTo>
                  <a:pt x="1245036" y="125838"/>
                </a:lnTo>
                <a:lnTo>
                  <a:pt x="1278137" y="147959"/>
                </a:lnTo>
                <a:lnTo>
                  <a:pt x="1310114" y="171670"/>
                </a:lnTo>
                <a:lnTo>
                  <a:pt x="1340888" y="196928"/>
                </a:lnTo>
                <a:lnTo>
                  <a:pt x="1370383" y="223663"/>
                </a:lnTo>
                <a:lnTo>
                  <a:pt x="1398535" y="251814"/>
                </a:lnTo>
                <a:lnTo>
                  <a:pt x="1425269" y="281309"/>
                </a:lnTo>
                <a:lnTo>
                  <a:pt x="1450527" y="312083"/>
                </a:lnTo>
                <a:lnTo>
                  <a:pt x="1474238" y="344061"/>
                </a:lnTo>
                <a:lnTo>
                  <a:pt x="1496359" y="377161"/>
                </a:lnTo>
                <a:lnTo>
                  <a:pt x="1516825" y="411310"/>
                </a:lnTo>
                <a:lnTo>
                  <a:pt x="1535591" y="446419"/>
                </a:lnTo>
                <a:lnTo>
                  <a:pt x="1552613" y="482407"/>
                </a:lnTo>
                <a:lnTo>
                  <a:pt x="1567847" y="519186"/>
                </a:lnTo>
                <a:lnTo>
                  <a:pt x="1581262" y="556673"/>
                </a:lnTo>
                <a:lnTo>
                  <a:pt x="1592814" y="594767"/>
                </a:lnTo>
                <a:lnTo>
                  <a:pt x="1602491" y="633384"/>
                </a:lnTo>
                <a:lnTo>
                  <a:pt x="1610255" y="672432"/>
                </a:lnTo>
                <a:lnTo>
                  <a:pt x="1616098" y="711812"/>
                </a:lnTo>
                <a:lnTo>
                  <a:pt x="1619997" y="751430"/>
                </a:lnTo>
                <a:lnTo>
                  <a:pt x="1621955" y="791194"/>
                </a:lnTo>
                <a:lnTo>
                  <a:pt x="1622198" y="811099"/>
                </a:lnTo>
                <a:lnTo>
                  <a:pt x="1621955" y="831004"/>
                </a:lnTo>
                <a:lnTo>
                  <a:pt x="1619997" y="870767"/>
                </a:lnTo>
                <a:lnTo>
                  <a:pt x="1616098" y="910385"/>
                </a:lnTo>
                <a:lnTo>
                  <a:pt x="1610255" y="949765"/>
                </a:lnTo>
                <a:lnTo>
                  <a:pt x="1602491" y="988814"/>
                </a:lnTo>
                <a:lnTo>
                  <a:pt x="1592814" y="1027430"/>
                </a:lnTo>
                <a:lnTo>
                  <a:pt x="1581262" y="1065525"/>
                </a:lnTo>
                <a:lnTo>
                  <a:pt x="1567847" y="1103011"/>
                </a:lnTo>
                <a:lnTo>
                  <a:pt x="1552613" y="1139791"/>
                </a:lnTo>
                <a:lnTo>
                  <a:pt x="1535591" y="1175778"/>
                </a:lnTo>
                <a:lnTo>
                  <a:pt x="1516825" y="1210888"/>
                </a:lnTo>
                <a:lnTo>
                  <a:pt x="1496359" y="1245037"/>
                </a:lnTo>
                <a:lnTo>
                  <a:pt x="1474238" y="1278137"/>
                </a:lnTo>
                <a:lnTo>
                  <a:pt x="1450523" y="1310114"/>
                </a:lnTo>
                <a:lnTo>
                  <a:pt x="1425269" y="1340888"/>
                </a:lnTo>
                <a:lnTo>
                  <a:pt x="1398535" y="1370383"/>
                </a:lnTo>
                <a:lnTo>
                  <a:pt x="1370383" y="1398535"/>
                </a:lnTo>
                <a:lnTo>
                  <a:pt x="1340888" y="1425269"/>
                </a:lnTo>
                <a:lnTo>
                  <a:pt x="1310114" y="1450527"/>
                </a:lnTo>
                <a:lnTo>
                  <a:pt x="1278137" y="1474238"/>
                </a:lnTo>
                <a:lnTo>
                  <a:pt x="1245036" y="1496359"/>
                </a:lnTo>
                <a:lnTo>
                  <a:pt x="1210886" y="1516825"/>
                </a:lnTo>
                <a:lnTo>
                  <a:pt x="1175778" y="1535591"/>
                </a:lnTo>
                <a:lnTo>
                  <a:pt x="1139791" y="1552613"/>
                </a:lnTo>
                <a:lnTo>
                  <a:pt x="1103011" y="1567847"/>
                </a:lnTo>
                <a:lnTo>
                  <a:pt x="1065525" y="1581262"/>
                </a:lnTo>
                <a:lnTo>
                  <a:pt x="1027430" y="1592814"/>
                </a:lnTo>
                <a:lnTo>
                  <a:pt x="988812" y="1602491"/>
                </a:lnTo>
                <a:lnTo>
                  <a:pt x="949764" y="1610255"/>
                </a:lnTo>
                <a:lnTo>
                  <a:pt x="910385" y="1616098"/>
                </a:lnTo>
                <a:lnTo>
                  <a:pt x="870767" y="1619997"/>
                </a:lnTo>
                <a:lnTo>
                  <a:pt x="831004" y="1621955"/>
                </a:lnTo>
                <a:lnTo>
                  <a:pt x="811099" y="1622198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590653" y="11090554"/>
            <a:ext cx="2282190" cy="1564005"/>
          </a:xfrm>
          <a:custGeom>
            <a:avLst/>
            <a:gdLst/>
            <a:ahLst/>
            <a:cxnLst/>
            <a:rect l="l" t="t" r="r" b="b"/>
            <a:pathLst>
              <a:path w="2282190" h="1564004">
                <a:moveTo>
                  <a:pt x="2125470" y="1563564"/>
                </a:moveTo>
                <a:lnTo>
                  <a:pt x="288282" y="1563564"/>
                </a:lnTo>
                <a:lnTo>
                  <a:pt x="238859" y="1555593"/>
                </a:lnTo>
                <a:lnTo>
                  <a:pt x="195938" y="1533398"/>
                </a:lnTo>
                <a:lnTo>
                  <a:pt x="162092" y="1499552"/>
                </a:lnTo>
                <a:lnTo>
                  <a:pt x="139896" y="1456630"/>
                </a:lnTo>
                <a:lnTo>
                  <a:pt x="131925" y="1407208"/>
                </a:lnTo>
                <a:lnTo>
                  <a:pt x="131925" y="166177"/>
                </a:lnTo>
                <a:lnTo>
                  <a:pt x="0" y="0"/>
                </a:lnTo>
                <a:lnTo>
                  <a:pt x="268737" y="0"/>
                </a:lnTo>
                <a:lnTo>
                  <a:pt x="268737" y="1211"/>
                </a:lnTo>
                <a:lnTo>
                  <a:pt x="275138" y="410"/>
                </a:lnTo>
                <a:lnTo>
                  <a:pt x="281666" y="0"/>
                </a:lnTo>
                <a:lnTo>
                  <a:pt x="288282" y="0"/>
                </a:lnTo>
                <a:lnTo>
                  <a:pt x="2125470" y="0"/>
                </a:lnTo>
                <a:lnTo>
                  <a:pt x="2174889" y="7970"/>
                </a:lnTo>
                <a:lnTo>
                  <a:pt x="2217810" y="30166"/>
                </a:lnTo>
                <a:lnTo>
                  <a:pt x="2251657" y="64012"/>
                </a:lnTo>
                <a:lnTo>
                  <a:pt x="2273855" y="106934"/>
                </a:lnTo>
                <a:lnTo>
                  <a:pt x="2281827" y="156356"/>
                </a:lnTo>
                <a:lnTo>
                  <a:pt x="2281827" y="1407208"/>
                </a:lnTo>
                <a:lnTo>
                  <a:pt x="2273855" y="1456630"/>
                </a:lnTo>
                <a:lnTo>
                  <a:pt x="2251657" y="1499552"/>
                </a:lnTo>
                <a:lnTo>
                  <a:pt x="2217810" y="1533398"/>
                </a:lnTo>
                <a:lnTo>
                  <a:pt x="2174889" y="1555593"/>
                </a:lnTo>
                <a:lnTo>
                  <a:pt x="2125470" y="1563564"/>
                </a:lnTo>
                <a:close/>
              </a:path>
            </a:pathLst>
          </a:custGeom>
          <a:solidFill>
            <a:srgbClr val="FFA9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536838" y="11090554"/>
            <a:ext cx="2282190" cy="1564005"/>
          </a:xfrm>
          <a:custGeom>
            <a:avLst/>
            <a:gdLst/>
            <a:ahLst/>
            <a:cxnLst/>
            <a:rect l="l" t="t" r="r" b="b"/>
            <a:pathLst>
              <a:path w="2282190" h="1564004">
                <a:moveTo>
                  <a:pt x="1993544" y="1563564"/>
                </a:moveTo>
                <a:lnTo>
                  <a:pt x="156356" y="1563564"/>
                </a:lnTo>
                <a:lnTo>
                  <a:pt x="106934" y="1555593"/>
                </a:lnTo>
                <a:lnTo>
                  <a:pt x="64012" y="1533398"/>
                </a:lnTo>
                <a:lnTo>
                  <a:pt x="30166" y="1499552"/>
                </a:lnTo>
                <a:lnTo>
                  <a:pt x="7970" y="1456630"/>
                </a:lnTo>
                <a:lnTo>
                  <a:pt x="0" y="1407208"/>
                </a:lnTo>
                <a:lnTo>
                  <a:pt x="0" y="156356"/>
                </a:lnTo>
                <a:lnTo>
                  <a:pt x="7970" y="106934"/>
                </a:lnTo>
                <a:lnTo>
                  <a:pt x="30166" y="64012"/>
                </a:lnTo>
                <a:lnTo>
                  <a:pt x="64012" y="30166"/>
                </a:lnTo>
                <a:lnTo>
                  <a:pt x="106934" y="7970"/>
                </a:lnTo>
                <a:lnTo>
                  <a:pt x="156356" y="0"/>
                </a:lnTo>
                <a:lnTo>
                  <a:pt x="1993544" y="0"/>
                </a:lnTo>
                <a:lnTo>
                  <a:pt x="2000160" y="0"/>
                </a:lnTo>
                <a:lnTo>
                  <a:pt x="2006688" y="410"/>
                </a:lnTo>
                <a:lnTo>
                  <a:pt x="2013089" y="1211"/>
                </a:lnTo>
                <a:lnTo>
                  <a:pt x="2013089" y="0"/>
                </a:lnTo>
                <a:lnTo>
                  <a:pt x="2281827" y="0"/>
                </a:lnTo>
                <a:lnTo>
                  <a:pt x="2149901" y="166177"/>
                </a:lnTo>
                <a:lnTo>
                  <a:pt x="2149901" y="1407208"/>
                </a:lnTo>
                <a:lnTo>
                  <a:pt x="2141929" y="1456630"/>
                </a:lnTo>
                <a:lnTo>
                  <a:pt x="2119732" y="1499552"/>
                </a:lnTo>
                <a:lnTo>
                  <a:pt x="2085884" y="1533398"/>
                </a:lnTo>
                <a:lnTo>
                  <a:pt x="2042963" y="1555593"/>
                </a:lnTo>
                <a:lnTo>
                  <a:pt x="1993544" y="1563564"/>
                </a:lnTo>
                <a:close/>
              </a:path>
            </a:pathLst>
          </a:custGeom>
          <a:solidFill>
            <a:srgbClr val="FFA9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536838" y="8442266"/>
            <a:ext cx="2282190" cy="1564005"/>
          </a:xfrm>
          <a:custGeom>
            <a:avLst/>
            <a:gdLst/>
            <a:ahLst/>
            <a:cxnLst/>
            <a:rect l="l" t="t" r="r" b="b"/>
            <a:pathLst>
              <a:path w="2282190" h="1564004">
                <a:moveTo>
                  <a:pt x="2281827" y="1563564"/>
                </a:moveTo>
                <a:lnTo>
                  <a:pt x="2013089" y="1563564"/>
                </a:lnTo>
                <a:lnTo>
                  <a:pt x="2013089" y="1562352"/>
                </a:lnTo>
                <a:lnTo>
                  <a:pt x="2006688" y="1563154"/>
                </a:lnTo>
                <a:lnTo>
                  <a:pt x="2000160" y="1563564"/>
                </a:lnTo>
                <a:lnTo>
                  <a:pt x="1993544" y="1563564"/>
                </a:lnTo>
                <a:lnTo>
                  <a:pt x="156356" y="1563564"/>
                </a:lnTo>
                <a:lnTo>
                  <a:pt x="106934" y="1555593"/>
                </a:lnTo>
                <a:lnTo>
                  <a:pt x="64012" y="1533398"/>
                </a:lnTo>
                <a:lnTo>
                  <a:pt x="30166" y="1499552"/>
                </a:lnTo>
                <a:lnTo>
                  <a:pt x="7970" y="1456630"/>
                </a:lnTo>
                <a:lnTo>
                  <a:pt x="0" y="1407208"/>
                </a:lnTo>
                <a:lnTo>
                  <a:pt x="0" y="156356"/>
                </a:lnTo>
                <a:lnTo>
                  <a:pt x="7970" y="106934"/>
                </a:lnTo>
                <a:lnTo>
                  <a:pt x="30166" y="64012"/>
                </a:lnTo>
                <a:lnTo>
                  <a:pt x="64012" y="30166"/>
                </a:lnTo>
                <a:lnTo>
                  <a:pt x="106934" y="7970"/>
                </a:lnTo>
                <a:lnTo>
                  <a:pt x="156356" y="0"/>
                </a:lnTo>
                <a:lnTo>
                  <a:pt x="1993544" y="0"/>
                </a:lnTo>
                <a:lnTo>
                  <a:pt x="2042963" y="7970"/>
                </a:lnTo>
                <a:lnTo>
                  <a:pt x="2085884" y="30166"/>
                </a:lnTo>
                <a:lnTo>
                  <a:pt x="2119732" y="64012"/>
                </a:lnTo>
                <a:lnTo>
                  <a:pt x="2141929" y="106934"/>
                </a:lnTo>
                <a:lnTo>
                  <a:pt x="2149901" y="156356"/>
                </a:lnTo>
                <a:lnTo>
                  <a:pt x="2149901" y="1397387"/>
                </a:lnTo>
                <a:lnTo>
                  <a:pt x="2281827" y="1563564"/>
                </a:lnTo>
                <a:close/>
              </a:path>
            </a:pathLst>
          </a:custGeom>
          <a:solidFill>
            <a:srgbClr val="FFA9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602106" y="8442266"/>
            <a:ext cx="2282190" cy="1564005"/>
          </a:xfrm>
          <a:custGeom>
            <a:avLst/>
            <a:gdLst/>
            <a:ahLst/>
            <a:cxnLst/>
            <a:rect l="l" t="t" r="r" b="b"/>
            <a:pathLst>
              <a:path w="2282190" h="1564004">
                <a:moveTo>
                  <a:pt x="2125470" y="1563564"/>
                </a:moveTo>
                <a:lnTo>
                  <a:pt x="288282" y="1563564"/>
                </a:lnTo>
                <a:lnTo>
                  <a:pt x="281656" y="1563564"/>
                </a:lnTo>
                <a:lnTo>
                  <a:pt x="275138" y="1563154"/>
                </a:lnTo>
                <a:lnTo>
                  <a:pt x="268737" y="1562352"/>
                </a:lnTo>
                <a:lnTo>
                  <a:pt x="268737" y="1563564"/>
                </a:lnTo>
                <a:lnTo>
                  <a:pt x="0" y="1563564"/>
                </a:lnTo>
                <a:lnTo>
                  <a:pt x="131925" y="1397387"/>
                </a:lnTo>
                <a:lnTo>
                  <a:pt x="131925" y="156356"/>
                </a:lnTo>
                <a:lnTo>
                  <a:pt x="139896" y="106934"/>
                </a:lnTo>
                <a:lnTo>
                  <a:pt x="162092" y="64012"/>
                </a:lnTo>
                <a:lnTo>
                  <a:pt x="195938" y="30166"/>
                </a:lnTo>
                <a:lnTo>
                  <a:pt x="238859" y="7970"/>
                </a:lnTo>
                <a:lnTo>
                  <a:pt x="288282" y="0"/>
                </a:lnTo>
                <a:lnTo>
                  <a:pt x="2125470" y="0"/>
                </a:lnTo>
                <a:lnTo>
                  <a:pt x="2174889" y="7970"/>
                </a:lnTo>
                <a:lnTo>
                  <a:pt x="2217810" y="30166"/>
                </a:lnTo>
                <a:lnTo>
                  <a:pt x="2251657" y="64012"/>
                </a:lnTo>
                <a:lnTo>
                  <a:pt x="2273855" y="106934"/>
                </a:lnTo>
                <a:lnTo>
                  <a:pt x="2281827" y="156356"/>
                </a:lnTo>
                <a:lnTo>
                  <a:pt x="2281827" y="1407208"/>
                </a:lnTo>
                <a:lnTo>
                  <a:pt x="2273855" y="1456630"/>
                </a:lnTo>
                <a:lnTo>
                  <a:pt x="2251657" y="1499552"/>
                </a:lnTo>
                <a:lnTo>
                  <a:pt x="2217810" y="1533398"/>
                </a:lnTo>
                <a:lnTo>
                  <a:pt x="2174889" y="1555593"/>
                </a:lnTo>
                <a:lnTo>
                  <a:pt x="2125470" y="1563564"/>
                </a:lnTo>
                <a:close/>
              </a:path>
            </a:pathLst>
          </a:custGeom>
          <a:solidFill>
            <a:srgbClr val="FFA9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143947" y="10026153"/>
            <a:ext cx="1102360" cy="879475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algn="ctr" marL="12700" marR="5080">
              <a:lnSpc>
                <a:spcPct val="105100"/>
              </a:lnSpc>
              <a:spcBef>
                <a:spcPts val="5"/>
              </a:spcBef>
            </a:pPr>
            <a:r>
              <a:rPr dirty="0" sz="1800" spc="-10">
                <a:solidFill>
                  <a:srgbClr val="FFFFFF"/>
                </a:solidFill>
                <a:latin typeface="Georgia"/>
                <a:cs typeface="Georgia"/>
              </a:rPr>
              <a:t>Integrated Financial </a:t>
            </a:r>
            <a:r>
              <a:rPr dirty="0" sz="1800" spc="-20">
                <a:solidFill>
                  <a:srgbClr val="FFFFFF"/>
                </a:solidFill>
                <a:latin typeface="Georgia"/>
                <a:cs typeface="Georgia"/>
              </a:rPr>
              <a:t>Data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85922" y="11306370"/>
            <a:ext cx="1797050" cy="110299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algn="ctr" marL="176530" marR="168275">
              <a:lnSpc>
                <a:spcPct val="103299"/>
              </a:lnSpc>
              <a:spcBef>
                <a:spcPts val="45"/>
              </a:spcBef>
            </a:pPr>
            <a:r>
              <a:rPr dirty="0" sz="1800">
                <a:solidFill>
                  <a:srgbClr val="383838"/>
                </a:solidFill>
                <a:latin typeface="Georgia"/>
                <a:cs typeface="Georgia"/>
              </a:rPr>
              <a:t>CO</a:t>
            </a:r>
            <a:r>
              <a:rPr dirty="0" sz="1800" spc="-9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800" spc="60">
                <a:solidFill>
                  <a:srgbClr val="383838"/>
                </a:solidFill>
                <a:latin typeface="Georgia"/>
                <a:cs typeface="Georgia"/>
              </a:rPr>
              <a:t>—</a:t>
            </a:r>
            <a:r>
              <a:rPr dirty="0" sz="1800" spc="-8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800" spc="-10">
                <a:solidFill>
                  <a:srgbClr val="383838"/>
                </a:solidFill>
                <a:latin typeface="Georgia"/>
                <a:cs typeface="Georgia"/>
              </a:rPr>
              <a:t>Internal Management</a:t>
            </a:r>
            <a:endParaRPr sz="1800">
              <a:latin typeface="Georgia"/>
              <a:cs typeface="Georgia"/>
            </a:endParaRPr>
          </a:p>
          <a:p>
            <a:pPr algn="ctr" marL="12065" marR="5080">
              <a:lnSpc>
                <a:spcPct val="104500"/>
              </a:lnSpc>
              <a:spcBef>
                <a:spcPts val="680"/>
              </a:spcBef>
            </a:pP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&amp;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Profit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Centers, </a:t>
            </a:r>
            <a:r>
              <a:rPr dirty="0" sz="1350" spc="185">
                <a:solidFill>
                  <a:srgbClr val="383838"/>
                </a:solidFill>
                <a:latin typeface="Tahoma"/>
                <a:cs typeface="Tahoma"/>
              </a:rPr>
              <a:t>CO-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PA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45087" y="11306370"/>
            <a:ext cx="1497330" cy="110299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algn="ctr" marL="238760" marR="230504" indent="-635">
              <a:lnSpc>
                <a:spcPct val="103299"/>
              </a:lnSpc>
              <a:spcBef>
                <a:spcPts val="45"/>
              </a:spcBef>
            </a:pPr>
            <a:r>
              <a:rPr dirty="0" sz="1800" spc="-10">
                <a:solidFill>
                  <a:srgbClr val="383838"/>
                </a:solidFill>
                <a:latin typeface="Georgia"/>
                <a:cs typeface="Georgia"/>
              </a:rPr>
              <a:t>Supports Reporting</a:t>
            </a:r>
            <a:endParaRPr sz="1800">
              <a:latin typeface="Georgia"/>
              <a:cs typeface="Georgia"/>
            </a:endParaRPr>
          </a:p>
          <a:p>
            <a:pPr algn="ctr" marL="12700" marR="5080" indent="-635">
              <a:lnSpc>
                <a:spcPct val="104500"/>
              </a:lnSpc>
              <a:spcBef>
                <a:spcPts val="680"/>
              </a:spcBef>
            </a:pP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350" spc="2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regulatory</a:t>
            </a:r>
            <a:r>
              <a:rPr dirty="0" sz="1350" spc="2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reports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04908" y="8657982"/>
            <a:ext cx="1778000" cy="110299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algn="ctr" marL="12700" marR="5080">
              <a:lnSpc>
                <a:spcPct val="103299"/>
              </a:lnSpc>
              <a:spcBef>
                <a:spcPts val="45"/>
              </a:spcBef>
            </a:pPr>
            <a:r>
              <a:rPr dirty="0" sz="1800">
                <a:solidFill>
                  <a:srgbClr val="383838"/>
                </a:solidFill>
                <a:latin typeface="Georgia"/>
                <a:cs typeface="Georgia"/>
              </a:rPr>
              <a:t>Enables</a:t>
            </a:r>
            <a:r>
              <a:rPr dirty="0" sz="1800" spc="-6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800" spc="-10">
                <a:solidFill>
                  <a:srgbClr val="383838"/>
                </a:solidFill>
                <a:latin typeface="Georgia"/>
                <a:cs typeface="Georgia"/>
              </a:rPr>
              <a:t>Business Decisions</a:t>
            </a:r>
            <a:endParaRPr sz="1800">
              <a:latin typeface="Georgia"/>
              <a:cs typeface="Georgia"/>
            </a:endParaRPr>
          </a:p>
          <a:p>
            <a:pPr algn="ctr" marL="190500" marR="183515">
              <a:lnSpc>
                <a:spcPct val="104500"/>
              </a:lnSpc>
              <a:spcBef>
                <a:spcPts val="680"/>
              </a:spcBef>
            </a:pP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Operational</a:t>
            </a:r>
            <a:r>
              <a:rPr dirty="0" sz="135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strategic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insights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25798" y="8765481"/>
            <a:ext cx="1540510" cy="88773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algn="ctr" marL="83820" marR="75565">
              <a:lnSpc>
                <a:spcPct val="103299"/>
              </a:lnSpc>
              <a:spcBef>
                <a:spcPts val="45"/>
              </a:spcBef>
            </a:pPr>
            <a:r>
              <a:rPr dirty="0" sz="1800" spc="-85">
                <a:solidFill>
                  <a:srgbClr val="383838"/>
                </a:solidFill>
                <a:latin typeface="Georgia"/>
                <a:cs typeface="Georgia"/>
              </a:rPr>
              <a:t>FI</a:t>
            </a:r>
            <a:r>
              <a:rPr dirty="0" sz="1800" spc="-6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800" spc="60">
                <a:solidFill>
                  <a:srgbClr val="383838"/>
                </a:solidFill>
                <a:latin typeface="Georgia"/>
                <a:cs typeface="Georgia"/>
              </a:rPr>
              <a:t>—</a:t>
            </a:r>
            <a:r>
              <a:rPr dirty="0" sz="1800" spc="-6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800" spc="-10">
                <a:solidFill>
                  <a:srgbClr val="383838"/>
                </a:solidFill>
                <a:latin typeface="Georgia"/>
                <a:cs typeface="Georgia"/>
              </a:rPr>
              <a:t>External Accounting</a:t>
            </a:r>
            <a:endParaRPr sz="18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75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G/L,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383838"/>
                </a:solidFill>
                <a:latin typeface="Tahoma"/>
                <a:cs typeface="Tahoma"/>
              </a:rPr>
              <a:t>AP,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AR,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Assets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5975" y="12908914"/>
            <a:ext cx="9476105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Even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as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evolves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with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new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technologies,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these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core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functions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continue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be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important.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What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changing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is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how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quickly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data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processed,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how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intelligently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analysed,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how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seamlessly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connects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with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other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parts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the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business.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foundation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90">
                <a:solidFill>
                  <a:srgbClr val="383838"/>
                </a:solidFill>
                <a:latin typeface="Tahoma"/>
                <a:cs typeface="Tahoma"/>
              </a:rPr>
              <a:t>FI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383838"/>
                </a:solidFill>
                <a:latin typeface="Tahoma"/>
                <a:cs typeface="Tahoma"/>
              </a:rPr>
              <a:t>CO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remains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central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all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this.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Why</a:t>
            </a:r>
            <a:r>
              <a:rPr dirty="0" spc="-140"/>
              <a:t> </a:t>
            </a:r>
            <a:r>
              <a:rPr dirty="0"/>
              <a:t>SAP</a:t>
            </a:r>
            <a:r>
              <a:rPr dirty="0" spc="-140"/>
              <a:t> </a:t>
            </a:r>
            <a:r>
              <a:rPr dirty="0" spc="-85"/>
              <a:t>FICO</a:t>
            </a:r>
            <a:r>
              <a:rPr dirty="0" spc="-130"/>
              <a:t> </a:t>
            </a:r>
            <a:r>
              <a:rPr dirty="0"/>
              <a:t>Is</a:t>
            </a:r>
            <a:r>
              <a:rPr dirty="0" spc="-135"/>
              <a:t> </a:t>
            </a:r>
            <a:r>
              <a:rPr dirty="0" spc="-10"/>
              <a:t>Changing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975" y="1326514"/>
            <a:ext cx="9686925" cy="83502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6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not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changing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because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failing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changing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because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world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business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changing.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Organisations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today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operate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much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more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complex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environment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than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they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did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even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ten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years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ago.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They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deal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with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larger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volumes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of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data,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faster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business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cycles,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global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operations,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increasing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pressure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make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decisions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quickly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accurately.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8675" y="2390775"/>
            <a:ext cx="4800600" cy="1552575"/>
          </a:xfrm>
          <a:custGeom>
            <a:avLst/>
            <a:gdLst/>
            <a:ahLst/>
            <a:cxnLst/>
            <a:rect l="l" t="t" r="r" b="b"/>
            <a:pathLst>
              <a:path w="4800600" h="1552575">
                <a:moveTo>
                  <a:pt x="4782007" y="1552575"/>
                </a:moveTo>
                <a:lnTo>
                  <a:pt x="18592" y="1552575"/>
                </a:lnTo>
                <a:lnTo>
                  <a:pt x="15859" y="1552032"/>
                </a:lnTo>
                <a:lnTo>
                  <a:pt x="0" y="1533982"/>
                </a:lnTo>
                <a:lnTo>
                  <a:pt x="0" y="1531143"/>
                </a:lnTo>
                <a:lnTo>
                  <a:pt x="0" y="18592"/>
                </a:lnTo>
                <a:lnTo>
                  <a:pt x="18592" y="0"/>
                </a:lnTo>
                <a:lnTo>
                  <a:pt x="4782007" y="0"/>
                </a:lnTo>
                <a:lnTo>
                  <a:pt x="4800600" y="18592"/>
                </a:lnTo>
                <a:lnTo>
                  <a:pt x="4800600" y="1533982"/>
                </a:lnTo>
                <a:lnTo>
                  <a:pt x="4784740" y="1552032"/>
                </a:lnTo>
                <a:lnTo>
                  <a:pt x="4782007" y="1552575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87425" y="2543619"/>
            <a:ext cx="4329430" cy="1189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Data</a:t>
            </a:r>
            <a:r>
              <a:rPr dirty="0" sz="1750" spc="-4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Volume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1900"/>
              </a:lnSpc>
              <a:spcBef>
                <a:spcPts val="635"/>
              </a:spcBef>
            </a:pP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Businesses</a:t>
            </a:r>
            <a:r>
              <a:rPr dirty="0" sz="1350" spc="1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generate</a:t>
            </a:r>
            <a:r>
              <a:rPr dirty="0" sz="1350" spc="1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enormous</a:t>
            </a:r>
            <a:r>
              <a:rPr dirty="0" sz="1350" spc="1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amounts</a:t>
            </a:r>
            <a:r>
              <a:rPr dirty="0" sz="1350" spc="1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1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financial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data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daily.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Traditional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systems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struggle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process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analyse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this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data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real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time.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00725" y="2390775"/>
            <a:ext cx="4800600" cy="1552575"/>
          </a:xfrm>
          <a:custGeom>
            <a:avLst/>
            <a:gdLst/>
            <a:ahLst/>
            <a:cxnLst/>
            <a:rect l="l" t="t" r="r" b="b"/>
            <a:pathLst>
              <a:path w="4800600" h="1552575">
                <a:moveTo>
                  <a:pt x="4782007" y="1552575"/>
                </a:moveTo>
                <a:lnTo>
                  <a:pt x="18592" y="1552575"/>
                </a:lnTo>
                <a:lnTo>
                  <a:pt x="15859" y="1552032"/>
                </a:lnTo>
                <a:lnTo>
                  <a:pt x="0" y="1533982"/>
                </a:lnTo>
                <a:lnTo>
                  <a:pt x="0" y="1531143"/>
                </a:lnTo>
                <a:lnTo>
                  <a:pt x="0" y="18592"/>
                </a:lnTo>
                <a:lnTo>
                  <a:pt x="18592" y="0"/>
                </a:lnTo>
                <a:lnTo>
                  <a:pt x="4782007" y="0"/>
                </a:lnTo>
                <a:lnTo>
                  <a:pt x="4800600" y="18592"/>
                </a:lnTo>
                <a:lnTo>
                  <a:pt x="4800600" y="1533982"/>
                </a:lnTo>
                <a:lnTo>
                  <a:pt x="4784740" y="1552032"/>
                </a:lnTo>
                <a:lnTo>
                  <a:pt x="4782007" y="1552575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959475" y="2543619"/>
            <a:ext cx="3945254" cy="1189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25">
                <a:solidFill>
                  <a:srgbClr val="383838"/>
                </a:solidFill>
                <a:latin typeface="Georgia"/>
                <a:cs typeface="Georgia"/>
              </a:rPr>
              <a:t>Real-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Time</a:t>
            </a:r>
            <a:r>
              <a:rPr dirty="0" sz="1750" spc="7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Demand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1900"/>
              </a:lnSpc>
              <a:spcBef>
                <a:spcPts val="635"/>
              </a:spcBef>
            </a:pP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Management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teams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need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14">
                <a:solidFill>
                  <a:srgbClr val="383838"/>
                </a:solidFill>
                <a:latin typeface="Tahoma"/>
                <a:cs typeface="Tahoma"/>
              </a:rPr>
              <a:t>up-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to-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date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financial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information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make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timely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decisions.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Month-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end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reports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are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no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longer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sufficient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on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their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own.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28675" y="4114800"/>
            <a:ext cx="4800600" cy="1552575"/>
          </a:xfrm>
          <a:custGeom>
            <a:avLst/>
            <a:gdLst/>
            <a:ahLst/>
            <a:cxnLst/>
            <a:rect l="l" t="t" r="r" b="b"/>
            <a:pathLst>
              <a:path w="4800600" h="1552575">
                <a:moveTo>
                  <a:pt x="4782007" y="1552575"/>
                </a:moveTo>
                <a:lnTo>
                  <a:pt x="18592" y="1552575"/>
                </a:lnTo>
                <a:lnTo>
                  <a:pt x="15859" y="1552032"/>
                </a:lnTo>
                <a:lnTo>
                  <a:pt x="0" y="1533982"/>
                </a:lnTo>
                <a:lnTo>
                  <a:pt x="0" y="1531143"/>
                </a:lnTo>
                <a:lnTo>
                  <a:pt x="0" y="18592"/>
                </a:lnTo>
                <a:lnTo>
                  <a:pt x="18592" y="0"/>
                </a:lnTo>
                <a:lnTo>
                  <a:pt x="4782007" y="0"/>
                </a:lnTo>
                <a:lnTo>
                  <a:pt x="4800600" y="18592"/>
                </a:lnTo>
                <a:lnTo>
                  <a:pt x="4800600" y="1533982"/>
                </a:lnTo>
                <a:lnTo>
                  <a:pt x="4784740" y="1552032"/>
                </a:lnTo>
                <a:lnTo>
                  <a:pt x="4782007" y="1552575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87425" y="4267644"/>
            <a:ext cx="4441190" cy="1189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Cloud</a:t>
            </a:r>
            <a:r>
              <a:rPr dirty="0" sz="1750" spc="1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Adoption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520"/>
              </a:spcBef>
            </a:pP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Cloud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technology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offers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flexibility,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scalability,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easier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updates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compared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traditional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on-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premise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infrastructure.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00725" y="4114800"/>
            <a:ext cx="4800600" cy="1552575"/>
          </a:xfrm>
          <a:custGeom>
            <a:avLst/>
            <a:gdLst/>
            <a:ahLst/>
            <a:cxnLst/>
            <a:rect l="l" t="t" r="r" b="b"/>
            <a:pathLst>
              <a:path w="4800600" h="1552575">
                <a:moveTo>
                  <a:pt x="4782007" y="1552575"/>
                </a:moveTo>
                <a:lnTo>
                  <a:pt x="18592" y="1552575"/>
                </a:lnTo>
                <a:lnTo>
                  <a:pt x="15859" y="1552032"/>
                </a:lnTo>
                <a:lnTo>
                  <a:pt x="0" y="1533982"/>
                </a:lnTo>
                <a:lnTo>
                  <a:pt x="0" y="1531143"/>
                </a:lnTo>
                <a:lnTo>
                  <a:pt x="0" y="18592"/>
                </a:lnTo>
                <a:lnTo>
                  <a:pt x="18592" y="0"/>
                </a:lnTo>
                <a:lnTo>
                  <a:pt x="4782007" y="0"/>
                </a:lnTo>
                <a:lnTo>
                  <a:pt x="4800600" y="18592"/>
                </a:lnTo>
                <a:lnTo>
                  <a:pt x="4800600" y="1533982"/>
                </a:lnTo>
                <a:lnTo>
                  <a:pt x="4784740" y="1552032"/>
                </a:lnTo>
                <a:lnTo>
                  <a:pt x="4782007" y="1552575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959475" y="4267644"/>
            <a:ext cx="4325620" cy="1189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Automation</a:t>
            </a:r>
            <a:r>
              <a:rPr dirty="0" sz="1750" spc="10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295">
                <a:solidFill>
                  <a:srgbClr val="383838"/>
                </a:solidFill>
                <a:latin typeface="Georgia"/>
                <a:cs typeface="Georgia"/>
              </a:rPr>
              <a:t>&amp;</a:t>
            </a:r>
            <a:r>
              <a:rPr dirty="0" sz="1750" spc="6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35">
                <a:solidFill>
                  <a:srgbClr val="383838"/>
                </a:solidFill>
                <a:latin typeface="Georgia"/>
                <a:cs typeface="Georgia"/>
              </a:rPr>
              <a:t>AI</a:t>
            </a:r>
            <a:endParaRPr sz="1750">
              <a:latin typeface="Georgia"/>
              <a:cs typeface="Georgia"/>
            </a:endParaRPr>
          </a:p>
          <a:p>
            <a:pPr algn="just" marL="12700" marR="5080">
              <a:lnSpc>
                <a:spcPct val="134300"/>
              </a:lnSpc>
              <a:spcBef>
                <a:spcPts val="52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Repetitive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tasks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can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be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automated,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65">
                <a:solidFill>
                  <a:srgbClr val="383838"/>
                </a:solidFill>
                <a:latin typeface="Tahoma"/>
                <a:cs typeface="Tahoma"/>
              </a:rPr>
              <a:t>AI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can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help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identify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patterns,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anomalies,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opportunities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in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350" spc="1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data.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5975" y="5793740"/>
            <a:ext cx="9636760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6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important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understand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that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not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disappearing.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Instead,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its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functionality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evolving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into</a:t>
            </a:r>
            <a:r>
              <a:rPr dirty="0" sz="135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more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integrated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intelligent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environment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within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S/4HANA.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core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accounting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principles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remain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same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what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changing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speed,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intelligence,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connectivity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systems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that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support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them.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3437" y="6881813"/>
            <a:ext cx="9763125" cy="3552825"/>
          </a:xfrm>
          <a:custGeom>
            <a:avLst/>
            <a:gdLst/>
            <a:ahLst/>
            <a:cxnLst/>
            <a:rect l="l" t="t" r="r" b="b"/>
            <a:pathLst>
              <a:path w="9763125" h="3552825">
                <a:moveTo>
                  <a:pt x="0" y="3536156"/>
                </a:moveTo>
                <a:lnTo>
                  <a:pt x="0" y="16668"/>
                </a:lnTo>
                <a:lnTo>
                  <a:pt x="0" y="14458"/>
                </a:lnTo>
                <a:lnTo>
                  <a:pt x="419" y="12334"/>
                </a:lnTo>
                <a:lnTo>
                  <a:pt x="1266" y="10287"/>
                </a:lnTo>
                <a:lnTo>
                  <a:pt x="2114" y="8248"/>
                </a:lnTo>
                <a:lnTo>
                  <a:pt x="3314" y="6448"/>
                </a:lnTo>
                <a:lnTo>
                  <a:pt x="4886" y="4886"/>
                </a:lnTo>
                <a:lnTo>
                  <a:pt x="6448" y="3314"/>
                </a:lnTo>
                <a:lnTo>
                  <a:pt x="8248" y="2114"/>
                </a:lnTo>
                <a:lnTo>
                  <a:pt x="10287" y="1266"/>
                </a:lnTo>
                <a:lnTo>
                  <a:pt x="12334" y="419"/>
                </a:lnTo>
                <a:lnTo>
                  <a:pt x="14458" y="0"/>
                </a:lnTo>
                <a:lnTo>
                  <a:pt x="16668" y="0"/>
                </a:lnTo>
                <a:lnTo>
                  <a:pt x="9746456" y="0"/>
                </a:lnTo>
                <a:lnTo>
                  <a:pt x="9748666" y="0"/>
                </a:lnTo>
                <a:lnTo>
                  <a:pt x="9750790" y="419"/>
                </a:lnTo>
                <a:lnTo>
                  <a:pt x="9752828" y="1266"/>
                </a:lnTo>
                <a:lnTo>
                  <a:pt x="9754876" y="2114"/>
                </a:lnTo>
                <a:lnTo>
                  <a:pt x="9756676" y="3314"/>
                </a:lnTo>
                <a:lnTo>
                  <a:pt x="9758238" y="4886"/>
                </a:lnTo>
                <a:lnTo>
                  <a:pt x="9759800" y="6448"/>
                </a:lnTo>
                <a:lnTo>
                  <a:pt x="9761010" y="8248"/>
                </a:lnTo>
                <a:lnTo>
                  <a:pt x="9761858" y="10287"/>
                </a:lnTo>
                <a:lnTo>
                  <a:pt x="9762696" y="12334"/>
                </a:lnTo>
                <a:lnTo>
                  <a:pt x="9763125" y="14458"/>
                </a:lnTo>
                <a:lnTo>
                  <a:pt x="9763125" y="16668"/>
                </a:lnTo>
                <a:lnTo>
                  <a:pt x="9763125" y="3536156"/>
                </a:lnTo>
                <a:lnTo>
                  <a:pt x="9763125" y="3538366"/>
                </a:lnTo>
                <a:lnTo>
                  <a:pt x="9762696" y="3540490"/>
                </a:lnTo>
                <a:lnTo>
                  <a:pt x="9761858" y="3542538"/>
                </a:lnTo>
                <a:lnTo>
                  <a:pt x="9761010" y="3544576"/>
                </a:lnTo>
                <a:lnTo>
                  <a:pt x="9759800" y="3546376"/>
                </a:lnTo>
                <a:lnTo>
                  <a:pt x="9758238" y="3547938"/>
                </a:lnTo>
                <a:lnTo>
                  <a:pt x="9756676" y="3549500"/>
                </a:lnTo>
                <a:lnTo>
                  <a:pt x="9754876" y="3550710"/>
                </a:lnTo>
                <a:lnTo>
                  <a:pt x="9752828" y="3551558"/>
                </a:lnTo>
                <a:lnTo>
                  <a:pt x="9750790" y="3552405"/>
                </a:lnTo>
                <a:lnTo>
                  <a:pt x="9748666" y="3552825"/>
                </a:lnTo>
                <a:lnTo>
                  <a:pt x="9746456" y="3552825"/>
                </a:lnTo>
                <a:lnTo>
                  <a:pt x="16668" y="3552825"/>
                </a:lnTo>
                <a:lnTo>
                  <a:pt x="14458" y="3552825"/>
                </a:lnTo>
                <a:lnTo>
                  <a:pt x="12334" y="3552405"/>
                </a:lnTo>
                <a:lnTo>
                  <a:pt x="10287" y="3551558"/>
                </a:lnTo>
                <a:lnTo>
                  <a:pt x="8248" y="3550710"/>
                </a:lnTo>
                <a:lnTo>
                  <a:pt x="6448" y="3549500"/>
                </a:lnTo>
                <a:lnTo>
                  <a:pt x="4886" y="3547938"/>
                </a:lnTo>
                <a:lnTo>
                  <a:pt x="3314" y="3546376"/>
                </a:lnTo>
                <a:lnTo>
                  <a:pt x="2114" y="3544576"/>
                </a:lnTo>
                <a:lnTo>
                  <a:pt x="1266" y="3542538"/>
                </a:lnTo>
                <a:lnTo>
                  <a:pt x="419" y="3540490"/>
                </a:lnTo>
                <a:lnTo>
                  <a:pt x="0" y="3538366"/>
                </a:lnTo>
                <a:lnTo>
                  <a:pt x="0" y="3536156"/>
                </a:lnTo>
                <a:close/>
              </a:path>
            </a:pathLst>
          </a:custGeom>
          <a:ln w="9525">
            <a:solidFill>
              <a:srgbClr val="B3B3B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833437" y="6881813"/>
          <a:ext cx="9839325" cy="3552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5825"/>
                <a:gridCol w="6337300"/>
              </a:tblGrid>
              <a:tr h="504190"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10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Driver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827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687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40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Impact</a:t>
                      </a:r>
                      <a:r>
                        <a:rPr dirty="0" sz="1350" spc="-60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35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on</a:t>
                      </a:r>
                      <a:r>
                        <a:rPr dirty="0" sz="1350" spc="-60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30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SAP</a:t>
                      </a:r>
                      <a:r>
                        <a:rPr dirty="0" sz="1350" spc="-60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Finance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827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Business</a:t>
                      </a:r>
                      <a:r>
                        <a:rPr dirty="0" sz="1350" spc="2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complexity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687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Need</a:t>
                      </a:r>
                      <a:r>
                        <a:rPr dirty="0" sz="1350" spc="1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1350" spc="1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more</a:t>
                      </a:r>
                      <a:r>
                        <a:rPr dirty="0" sz="1350" spc="10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integrated</a:t>
                      </a:r>
                      <a:r>
                        <a:rPr dirty="0" sz="1350" spc="1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10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flexible</a:t>
                      </a:r>
                      <a:r>
                        <a:rPr dirty="0" sz="1350" spc="1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finance</a:t>
                      </a:r>
                      <a:r>
                        <a:rPr dirty="0" sz="1350" spc="10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systems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Large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data</a:t>
                      </a: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volumes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687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Demand</a:t>
                      </a:r>
                      <a:r>
                        <a:rPr dirty="0" sz="13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13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faster</a:t>
                      </a:r>
                      <a:r>
                        <a:rPr dirty="0" sz="13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processing</a:t>
                      </a:r>
                      <a:r>
                        <a:rPr dirty="0" sz="13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real-</a:t>
                      </a:r>
                      <a:r>
                        <a:rPr dirty="0" sz="1350" spc="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time</a:t>
                      </a:r>
                      <a:r>
                        <a:rPr dirty="0" sz="13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analytics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Cloud</a:t>
                      </a:r>
                      <a:r>
                        <a:rPr dirty="0" sz="1350" spc="-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technology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687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Shift</a:t>
                      </a:r>
                      <a:r>
                        <a:rPr dirty="0" sz="13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towards</a:t>
                      </a:r>
                      <a:r>
                        <a:rPr dirty="0" sz="13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cloud-</a:t>
                      </a:r>
                      <a:r>
                        <a:rPr dirty="0" sz="13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based</a:t>
                      </a:r>
                      <a:r>
                        <a:rPr dirty="0" sz="1350" spc="8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SAP</a:t>
                      </a:r>
                      <a:r>
                        <a:rPr dirty="0" sz="13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deployments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Automation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687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Reduction</a:t>
                      </a:r>
                      <a:r>
                        <a:rPr dirty="0" sz="1350" spc="1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</a:t>
                      </a:r>
                      <a:r>
                        <a:rPr dirty="0" sz="1350" spc="1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manual,</a:t>
                      </a:r>
                      <a:r>
                        <a:rPr dirty="0" sz="1350" spc="1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repetitive</a:t>
                      </a:r>
                      <a:r>
                        <a:rPr dirty="0" sz="1350" spc="1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finance</a:t>
                      </a:r>
                      <a:r>
                        <a:rPr dirty="0" sz="1350" spc="1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tasks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Artificial</a:t>
                      </a:r>
                      <a:r>
                        <a:rPr dirty="0" sz="1350" spc="21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Intelligence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8270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687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Smarter</a:t>
                      </a:r>
                      <a:r>
                        <a:rPr dirty="0" sz="1350" spc="1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analysis,</a:t>
                      </a:r>
                      <a:r>
                        <a:rPr dirty="0" sz="1350" spc="1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forecasting,</a:t>
                      </a:r>
                      <a:r>
                        <a:rPr dirty="0" sz="1350" spc="1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1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anomaly</a:t>
                      </a:r>
                      <a:r>
                        <a:rPr dirty="0" sz="1350" spc="1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detection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8270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Global</a:t>
                      </a:r>
                      <a:r>
                        <a:rPr dirty="0" sz="1350" spc="19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operations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2687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Need</a:t>
                      </a:r>
                      <a:r>
                        <a:rPr dirty="0" sz="1350" spc="1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1350" spc="10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standardised,</a:t>
                      </a:r>
                      <a:r>
                        <a:rPr dirty="0" sz="1350" spc="10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scalable</a:t>
                      </a:r>
                      <a:r>
                        <a:rPr dirty="0" sz="1350" spc="10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finance</a:t>
                      </a:r>
                      <a:r>
                        <a:rPr dirty="0" sz="1350" spc="10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processes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5975" y="461168"/>
            <a:ext cx="9590405" cy="19767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550">
                <a:solidFill>
                  <a:srgbClr val="020202"/>
                </a:solidFill>
                <a:latin typeface="Georgia"/>
                <a:cs typeface="Georgia"/>
              </a:rPr>
              <a:t>SAP</a:t>
            </a:r>
            <a:r>
              <a:rPr dirty="0" sz="3550" spc="-14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3550" spc="-165">
                <a:solidFill>
                  <a:srgbClr val="020202"/>
                </a:solidFill>
                <a:latin typeface="Georgia"/>
                <a:cs typeface="Georgia"/>
              </a:rPr>
              <a:t>S/4HANA</a:t>
            </a:r>
            <a:r>
              <a:rPr dirty="0" sz="3550" spc="-6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3550">
                <a:solidFill>
                  <a:srgbClr val="020202"/>
                </a:solidFill>
                <a:latin typeface="Georgia"/>
                <a:cs typeface="Georgia"/>
              </a:rPr>
              <a:t>and</a:t>
            </a:r>
            <a:r>
              <a:rPr dirty="0" sz="3550" spc="-7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3550">
                <a:solidFill>
                  <a:srgbClr val="020202"/>
                </a:solidFill>
                <a:latin typeface="Georgia"/>
                <a:cs typeface="Georgia"/>
              </a:rPr>
              <a:t>Cloud-Based</a:t>
            </a:r>
            <a:r>
              <a:rPr dirty="0" sz="3550" spc="-7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3550">
                <a:solidFill>
                  <a:srgbClr val="020202"/>
                </a:solidFill>
                <a:latin typeface="Georgia"/>
                <a:cs typeface="Georgia"/>
              </a:rPr>
              <a:t>SAP</a:t>
            </a:r>
            <a:r>
              <a:rPr dirty="0" sz="3550" spc="-7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3550" spc="-10">
                <a:solidFill>
                  <a:srgbClr val="020202"/>
                </a:solidFill>
                <a:latin typeface="Georgia"/>
                <a:cs typeface="Georgia"/>
              </a:rPr>
              <a:t>Finance</a:t>
            </a:r>
            <a:endParaRPr sz="3550">
              <a:latin typeface="Georgia"/>
              <a:cs typeface="Georgia"/>
            </a:endParaRPr>
          </a:p>
          <a:p>
            <a:pPr marL="12700" marR="5080">
              <a:lnSpc>
                <a:spcPct val="132700"/>
              </a:lnSpc>
              <a:spcBef>
                <a:spcPts val="2515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S/4HANA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SAP's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next-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generation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ERP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suite,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built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on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HANA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in-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memory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database.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represents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significant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shift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how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operates.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One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most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important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innovations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S/4HANA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40" b="1">
                <a:solidFill>
                  <a:srgbClr val="383838"/>
                </a:solidFill>
                <a:latin typeface="Tahoma"/>
                <a:cs typeface="Tahoma"/>
              </a:rPr>
              <a:t>Universal</a:t>
            </a:r>
            <a:r>
              <a:rPr dirty="0" sz="1350" spc="45" b="1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 b="1">
                <a:solidFill>
                  <a:srgbClr val="383838"/>
                </a:solidFill>
                <a:latin typeface="Tahoma"/>
                <a:cs typeface="Tahoma"/>
              </a:rPr>
              <a:t>Journal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(table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ACDOCA),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which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combines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Accounting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383838"/>
                </a:solidFill>
                <a:latin typeface="Tahoma"/>
                <a:cs typeface="Tahoma"/>
              </a:rPr>
              <a:t>(FI)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Controlling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(CO)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data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into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single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integrated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source.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This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means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there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no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longer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need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reconciliation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between </a:t>
            </a:r>
            <a:r>
              <a:rPr dirty="0" sz="1350" spc="-90">
                <a:solidFill>
                  <a:srgbClr val="383838"/>
                </a:solidFill>
                <a:latin typeface="Tahoma"/>
                <a:cs typeface="Tahoma"/>
              </a:rPr>
              <a:t>FI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20">
                <a:solidFill>
                  <a:srgbClr val="383838"/>
                </a:solidFill>
                <a:latin typeface="Tahoma"/>
                <a:cs typeface="Tahoma"/>
              </a:rPr>
              <a:t>CO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the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data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already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unified.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5975" y="2713354"/>
            <a:ext cx="5602605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>
                <a:solidFill>
                  <a:srgbClr val="020202"/>
                </a:solidFill>
                <a:latin typeface="Georgia"/>
                <a:cs typeface="Georgia"/>
              </a:rPr>
              <a:t>The</a:t>
            </a:r>
            <a:r>
              <a:rPr dirty="0" sz="2800" spc="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020202"/>
                </a:solidFill>
                <a:latin typeface="Georgia"/>
                <a:cs typeface="Georgia"/>
              </a:rPr>
              <a:t>Universal </a:t>
            </a:r>
            <a:r>
              <a:rPr dirty="0" sz="2800" spc="-55">
                <a:solidFill>
                  <a:srgbClr val="020202"/>
                </a:solidFill>
                <a:latin typeface="Georgia"/>
                <a:cs typeface="Georgia"/>
              </a:rPr>
              <a:t>Journal</a:t>
            </a:r>
            <a:r>
              <a:rPr dirty="0" sz="2800" spc="-10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800" spc="95">
                <a:solidFill>
                  <a:srgbClr val="020202"/>
                </a:solidFill>
                <a:latin typeface="Georgia"/>
                <a:cs typeface="Georgia"/>
              </a:rPr>
              <a:t>—</a:t>
            </a:r>
            <a:r>
              <a:rPr dirty="0" sz="2800" spc="-11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800" spc="-10">
                <a:solidFill>
                  <a:srgbClr val="020202"/>
                </a:solidFill>
                <a:latin typeface="Georgia"/>
                <a:cs typeface="Georgia"/>
              </a:rPr>
              <a:t>Simplified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01217" y="5285223"/>
            <a:ext cx="1622425" cy="1622425"/>
          </a:xfrm>
          <a:custGeom>
            <a:avLst/>
            <a:gdLst/>
            <a:ahLst/>
            <a:cxnLst/>
            <a:rect l="l" t="t" r="r" b="b"/>
            <a:pathLst>
              <a:path w="1622425" h="1622425">
                <a:moveTo>
                  <a:pt x="811112" y="1622225"/>
                </a:moveTo>
                <a:lnTo>
                  <a:pt x="771309" y="1621248"/>
                </a:lnTo>
                <a:lnTo>
                  <a:pt x="731613" y="1618316"/>
                </a:lnTo>
                <a:lnTo>
                  <a:pt x="692094" y="1613449"/>
                </a:lnTo>
                <a:lnTo>
                  <a:pt x="652867" y="1606638"/>
                </a:lnTo>
                <a:lnTo>
                  <a:pt x="614031" y="1597921"/>
                </a:lnTo>
                <a:lnTo>
                  <a:pt x="575655" y="1587298"/>
                </a:lnTo>
                <a:lnTo>
                  <a:pt x="537855" y="1574809"/>
                </a:lnTo>
                <a:lnTo>
                  <a:pt x="500710" y="1560483"/>
                </a:lnTo>
                <a:lnTo>
                  <a:pt x="464318" y="1544348"/>
                </a:lnTo>
                <a:lnTo>
                  <a:pt x="428756" y="1526445"/>
                </a:lnTo>
                <a:lnTo>
                  <a:pt x="394112" y="1506822"/>
                </a:lnTo>
                <a:lnTo>
                  <a:pt x="360485" y="1485528"/>
                </a:lnTo>
                <a:lnTo>
                  <a:pt x="327933" y="1462602"/>
                </a:lnTo>
                <a:lnTo>
                  <a:pt x="296544" y="1438112"/>
                </a:lnTo>
                <a:lnTo>
                  <a:pt x="266406" y="1412108"/>
                </a:lnTo>
                <a:lnTo>
                  <a:pt x="237568" y="1384657"/>
                </a:lnTo>
                <a:lnTo>
                  <a:pt x="210117" y="1355818"/>
                </a:lnTo>
                <a:lnTo>
                  <a:pt x="184112" y="1325680"/>
                </a:lnTo>
                <a:lnTo>
                  <a:pt x="159623" y="1294291"/>
                </a:lnTo>
                <a:lnTo>
                  <a:pt x="136696" y="1261739"/>
                </a:lnTo>
                <a:lnTo>
                  <a:pt x="115402" y="1228112"/>
                </a:lnTo>
                <a:lnTo>
                  <a:pt x="95779" y="1193469"/>
                </a:lnTo>
                <a:lnTo>
                  <a:pt x="77876" y="1157907"/>
                </a:lnTo>
                <a:lnTo>
                  <a:pt x="61742" y="1121514"/>
                </a:lnTo>
                <a:lnTo>
                  <a:pt x="47415" y="1084369"/>
                </a:lnTo>
                <a:lnTo>
                  <a:pt x="34926" y="1046569"/>
                </a:lnTo>
                <a:lnTo>
                  <a:pt x="24304" y="1008193"/>
                </a:lnTo>
                <a:lnTo>
                  <a:pt x="15587" y="969357"/>
                </a:lnTo>
                <a:lnTo>
                  <a:pt x="8775" y="930131"/>
                </a:lnTo>
                <a:lnTo>
                  <a:pt x="3908" y="890611"/>
                </a:lnTo>
                <a:lnTo>
                  <a:pt x="977" y="850915"/>
                </a:lnTo>
                <a:lnTo>
                  <a:pt x="0" y="811112"/>
                </a:lnTo>
                <a:lnTo>
                  <a:pt x="243" y="791207"/>
                </a:lnTo>
                <a:lnTo>
                  <a:pt x="2201" y="751443"/>
                </a:lnTo>
                <a:lnTo>
                  <a:pt x="6100" y="711824"/>
                </a:lnTo>
                <a:lnTo>
                  <a:pt x="11943" y="672444"/>
                </a:lnTo>
                <a:lnTo>
                  <a:pt x="19707" y="633394"/>
                </a:lnTo>
                <a:lnTo>
                  <a:pt x="29380" y="594777"/>
                </a:lnTo>
                <a:lnTo>
                  <a:pt x="40936" y="556678"/>
                </a:lnTo>
                <a:lnTo>
                  <a:pt x="54348" y="519195"/>
                </a:lnTo>
                <a:lnTo>
                  <a:pt x="69585" y="482415"/>
                </a:lnTo>
                <a:lnTo>
                  <a:pt x="86608" y="446427"/>
                </a:lnTo>
                <a:lnTo>
                  <a:pt x="105375" y="411317"/>
                </a:lnTo>
                <a:lnTo>
                  <a:pt x="125840" y="377167"/>
                </a:lnTo>
                <a:lnTo>
                  <a:pt x="147962" y="344066"/>
                </a:lnTo>
                <a:lnTo>
                  <a:pt x="171673" y="312089"/>
                </a:lnTo>
                <a:lnTo>
                  <a:pt x="196931" y="281314"/>
                </a:lnTo>
                <a:lnTo>
                  <a:pt x="223666" y="251818"/>
                </a:lnTo>
                <a:lnTo>
                  <a:pt x="251818" y="223666"/>
                </a:lnTo>
                <a:lnTo>
                  <a:pt x="281314" y="196931"/>
                </a:lnTo>
                <a:lnTo>
                  <a:pt x="312089" y="171673"/>
                </a:lnTo>
                <a:lnTo>
                  <a:pt x="344066" y="147962"/>
                </a:lnTo>
                <a:lnTo>
                  <a:pt x="377167" y="125840"/>
                </a:lnTo>
                <a:lnTo>
                  <a:pt x="411317" y="105375"/>
                </a:lnTo>
                <a:lnTo>
                  <a:pt x="446427" y="86608"/>
                </a:lnTo>
                <a:lnTo>
                  <a:pt x="482415" y="69585"/>
                </a:lnTo>
                <a:lnTo>
                  <a:pt x="519195" y="54348"/>
                </a:lnTo>
                <a:lnTo>
                  <a:pt x="556678" y="40936"/>
                </a:lnTo>
                <a:lnTo>
                  <a:pt x="594777" y="29380"/>
                </a:lnTo>
                <a:lnTo>
                  <a:pt x="633394" y="19707"/>
                </a:lnTo>
                <a:lnTo>
                  <a:pt x="672444" y="11943"/>
                </a:lnTo>
                <a:lnTo>
                  <a:pt x="711824" y="6100"/>
                </a:lnTo>
                <a:lnTo>
                  <a:pt x="751443" y="2201"/>
                </a:lnTo>
                <a:lnTo>
                  <a:pt x="791207" y="243"/>
                </a:lnTo>
                <a:lnTo>
                  <a:pt x="811112" y="0"/>
                </a:lnTo>
                <a:lnTo>
                  <a:pt x="831017" y="243"/>
                </a:lnTo>
                <a:lnTo>
                  <a:pt x="870781" y="2201"/>
                </a:lnTo>
                <a:lnTo>
                  <a:pt x="910400" y="6100"/>
                </a:lnTo>
                <a:lnTo>
                  <a:pt x="949781" y="11943"/>
                </a:lnTo>
                <a:lnTo>
                  <a:pt x="988830" y="19707"/>
                </a:lnTo>
                <a:lnTo>
                  <a:pt x="1027447" y="29380"/>
                </a:lnTo>
                <a:lnTo>
                  <a:pt x="1065543" y="40936"/>
                </a:lnTo>
                <a:lnTo>
                  <a:pt x="1103030" y="54348"/>
                </a:lnTo>
                <a:lnTo>
                  <a:pt x="1139809" y="69585"/>
                </a:lnTo>
                <a:lnTo>
                  <a:pt x="1175798" y="86608"/>
                </a:lnTo>
                <a:lnTo>
                  <a:pt x="1210908" y="105375"/>
                </a:lnTo>
                <a:lnTo>
                  <a:pt x="1245057" y="125840"/>
                </a:lnTo>
                <a:lnTo>
                  <a:pt x="1278158" y="147962"/>
                </a:lnTo>
                <a:lnTo>
                  <a:pt x="1310136" y="171673"/>
                </a:lnTo>
                <a:lnTo>
                  <a:pt x="1340910" y="196931"/>
                </a:lnTo>
                <a:lnTo>
                  <a:pt x="1370406" y="223666"/>
                </a:lnTo>
                <a:lnTo>
                  <a:pt x="1398558" y="251818"/>
                </a:lnTo>
                <a:lnTo>
                  <a:pt x="1425293" y="281314"/>
                </a:lnTo>
                <a:lnTo>
                  <a:pt x="1450551" y="312089"/>
                </a:lnTo>
                <a:lnTo>
                  <a:pt x="1474263" y="344066"/>
                </a:lnTo>
                <a:lnTo>
                  <a:pt x="1496384" y="377167"/>
                </a:lnTo>
                <a:lnTo>
                  <a:pt x="1516850" y="411317"/>
                </a:lnTo>
                <a:lnTo>
                  <a:pt x="1535617" y="446427"/>
                </a:lnTo>
                <a:lnTo>
                  <a:pt x="1552639" y="482415"/>
                </a:lnTo>
                <a:lnTo>
                  <a:pt x="1567873" y="519195"/>
                </a:lnTo>
                <a:lnTo>
                  <a:pt x="1581288" y="556682"/>
                </a:lnTo>
                <a:lnTo>
                  <a:pt x="1592844" y="594777"/>
                </a:lnTo>
                <a:lnTo>
                  <a:pt x="1602518" y="633394"/>
                </a:lnTo>
                <a:lnTo>
                  <a:pt x="1610282" y="672444"/>
                </a:lnTo>
                <a:lnTo>
                  <a:pt x="1616124" y="711824"/>
                </a:lnTo>
                <a:lnTo>
                  <a:pt x="1620024" y="751443"/>
                </a:lnTo>
                <a:lnTo>
                  <a:pt x="1621982" y="791207"/>
                </a:lnTo>
                <a:lnTo>
                  <a:pt x="1622225" y="811112"/>
                </a:lnTo>
                <a:lnTo>
                  <a:pt x="1621982" y="831017"/>
                </a:lnTo>
                <a:lnTo>
                  <a:pt x="1620024" y="870781"/>
                </a:lnTo>
                <a:lnTo>
                  <a:pt x="1616124" y="910400"/>
                </a:lnTo>
                <a:lnTo>
                  <a:pt x="1610282" y="949781"/>
                </a:lnTo>
                <a:lnTo>
                  <a:pt x="1602518" y="988830"/>
                </a:lnTo>
                <a:lnTo>
                  <a:pt x="1592844" y="1027447"/>
                </a:lnTo>
                <a:lnTo>
                  <a:pt x="1581288" y="1065543"/>
                </a:lnTo>
                <a:lnTo>
                  <a:pt x="1567873" y="1103030"/>
                </a:lnTo>
                <a:lnTo>
                  <a:pt x="1552639" y="1139809"/>
                </a:lnTo>
                <a:lnTo>
                  <a:pt x="1535617" y="1175798"/>
                </a:lnTo>
                <a:lnTo>
                  <a:pt x="1516850" y="1210908"/>
                </a:lnTo>
                <a:lnTo>
                  <a:pt x="1496384" y="1245057"/>
                </a:lnTo>
                <a:lnTo>
                  <a:pt x="1474263" y="1278158"/>
                </a:lnTo>
                <a:lnTo>
                  <a:pt x="1450548" y="1310136"/>
                </a:lnTo>
                <a:lnTo>
                  <a:pt x="1425293" y="1340910"/>
                </a:lnTo>
                <a:lnTo>
                  <a:pt x="1398558" y="1370406"/>
                </a:lnTo>
                <a:lnTo>
                  <a:pt x="1370406" y="1398558"/>
                </a:lnTo>
                <a:lnTo>
                  <a:pt x="1340910" y="1425293"/>
                </a:lnTo>
                <a:lnTo>
                  <a:pt x="1310136" y="1450551"/>
                </a:lnTo>
                <a:lnTo>
                  <a:pt x="1278158" y="1474263"/>
                </a:lnTo>
                <a:lnTo>
                  <a:pt x="1245057" y="1496384"/>
                </a:lnTo>
                <a:lnTo>
                  <a:pt x="1210908" y="1516850"/>
                </a:lnTo>
                <a:lnTo>
                  <a:pt x="1175798" y="1535617"/>
                </a:lnTo>
                <a:lnTo>
                  <a:pt x="1139809" y="1552639"/>
                </a:lnTo>
                <a:lnTo>
                  <a:pt x="1103030" y="1567873"/>
                </a:lnTo>
                <a:lnTo>
                  <a:pt x="1065543" y="1581288"/>
                </a:lnTo>
                <a:lnTo>
                  <a:pt x="1027447" y="1592840"/>
                </a:lnTo>
                <a:lnTo>
                  <a:pt x="988829" y="1602518"/>
                </a:lnTo>
                <a:lnTo>
                  <a:pt x="949779" y="1610282"/>
                </a:lnTo>
                <a:lnTo>
                  <a:pt x="910400" y="1616124"/>
                </a:lnTo>
                <a:lnTo>
                  <a:pt x="870781" y="1620024"/>
                </a:lnTo>
                <a:lnTo>
                  <a:pt x="831017" y="1621982"/>
                </a:lnTo>
                <a:lnTo>
                  <a:pt x="811112" y="1622225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601700" y="6702227"/>
            <a:ext cx="2282190" cy="1564005"/>
          </a:xfrm>
          <a:custGeom>
            <a:avLst/>
            <a:gdLst/>
            <a:ahLst/>
            <a:cxnLst/>
            <a:rect l="l" t="t" r="r" b="b"/>
            <a:pathLst>
              <a:path w="2282190" h="1564004">
                <a:moveTo>
                  <a:pt x="2125506" y="1563590"/>
                </a:moveTo>
                <a:lnTo>
                  <a:pt x="288287" y="1563590"/>
                </a:lnTo>
                <a:lnTo>
                  <a:pt x="238863" y="1555619"/>
                </a:lnTo>
                <a:lnTo>
                  <a:pt x="195941" y="1533423"/>
                </a:lnTo>
                <a:lnTo>
                  <a:pt x="162094" y="1499577"/>
                </a:lnTo>
                <a:lnTo>
                  <a:pt x="139898" y="1456654"/>
                </a:lnTo>
                <a:lnTo>
                  <a:pt x="131927" y="1407231"/>
                </a:lnTo>
                <a:lnTo>
                  <a:pt x="131927" y="166180"/>
                </a:lnTo>
                <a:lnTo>
                  <a:pt x="0" y="0"/>
                </a:lnTo>
                <a:lnTo>
                  <a:pt x="268742" y="0"/>
                </a:lnTo>
                <a:lnTo>
                  <a:pt x="268742" y="1211"/>
                </a:lnTo>
                <a:lnTo>
                  <a:pt x="275143" y="410"/>
                </a:lnTo>
                <a:lnTo>
                  <a:pt x="281661" y="0"/>
                </a:lnTo>
                <a:lnTo>
                  <a:pt x="288287" y="0"/>
                </a:lnTo>
                <a:lnTo>
                  <a:pt x="2125506" y="0"/>
                </a:lnTo>
                <a:lnTo>
                  <a:pt x="2174925" y="7970"/>
                </a:lnTo>
                <a:lnTo>
                  <a:pt x="2217847" y="30166"/>
                </a:lnTo>
                <a:lnTo>
                  <a:pt x="2251695" y="64013"/>
                </a:lnTo>
                <a:lnTo>
                  <a:pt x="2273893" y="106935"/>
                </a:lnTo>
                <a:lnTo>
                  <a:pt x="2281865" y="156359"/>
                </a:lnTo>
                <a:lnTo>
                  <a:pt x="2281865" y="1407231"/>
                </a:lnTo>
                <a:lnTo>
                  <a:pt x="2273893" y="1456654"/>
                </a:lnTo>
                <a:lnTo>
                  <a:pt x="2251695" y="1499577"/>
                </a:lnTo>
                <a:lnTo>
                  <a:pt x="2217847" y="1533423"/>
                </a:lnTo>
                <a:lnTo>
                  <a:pt x="2174925" y="1555619"/>
                </a:lnTo>
                <a:lnTo>
                  <a:pt x="2125506" y="1563590"/>
                </a:lnTo>
                <a:close/>
              </a:path>
            </a:pathLst>
          </a:custGeom>
          <a:solidFill>
            <a:srgbClr val="FFA9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546136" y="6702227"/>
            <a:ext cx="2282190" cy="1564005"/>
          </a:xfrm>
          <a:custGeom>
            <a:avLst/>
            <a:gdLst/>
            <a:ahLst/>
            <a:cxnLst/>
            <a:rect l="l" t="t" r="r" b="b"/>
            <a:pathLst>
              <a:path w="2282190" h="1564004">
                <a:moveTo>
                  <a:pt x="1993578" y="1563590"/>
                </a:moveTo>
                <a:lnTo>
                  <a:pt x="156359" y="1563590"/>
                </a:lnTo>
                <a:lnTo>
                  <a:pt x="106935" y="1555619"/>
                </a:lnTo>
                <a:lnTo>
                  <a:pt x="64013" y="1533423"/>
                </a:lnTo>
                <a:lnTo>
                  <a:pt x="30166" y="1499577"/>
                </a:lnTo>
                <a:lnTo>
                  <a:pt x="7970" y="1456654"/>
                </a:lnTo>
                <a:lnTo>
                  <a:pt x="0" y="1407231"/>
                </a:lnTo>
                <a:lnTo>
                  <a:pt x="0" y="156359"/>
                </a:lnTo>
                <a:lnTo>
                  <a:pt x="7970" y="106935"/>
                </a:lnTo>
                <a:lnTo>
                  <a:pt x="30166" y="64013"/>
                </a:lnTo>
                <a:lnTo>
                  <a:pt x="64013" y="30166"/>
                </a:lnTo>
                <a:lnTo>
                  <a:pt x="106935" y="7970"/>
                </a:lnTo>
                <a:lnTo>
                  <a:pt x="156359" y="0"/>
                </a:lnTo>
                <a:lnTo>
                  <a:pt x="1993578" y="0"/>
                </a:lnTo>
                <a:lnTo>
                  <a:pt x="2000194" y="0"/>
                </a:lnTo>
                <a:lnTo>
                  <a:pt x="2006722" y="410"/>
                </a:lnTo>
                <a:lnTo>
                  <a:pt x="2013123" y="1211"/>
                </a:lnTo>
                <a:lnTo>
                  <a:pt x="2013123" y="0"/>
                </a:lnTo>
                <a:lnTo>
                  <a:pt x="2281865" y="0"/>
                </a:lnTo>
                <a:lnTo>
                  <a:pt x="2149937" y="166180"/>
                </a:lnTo>
                <a:lnTo>
                  <a:pt x="2149937" y="1407231"/>
                </a:lnTo>
                <a:lnTo>
                  <a:pt x="2141965" y="1456654"/>
                </a:lnTo>
                <a:lnTo>
                  <a:pt x="2119767" y="1499577"/>
                </a:lnTo>
                <a:lnTo>
                  <a:pt x="2085919" y="1533423"/>
                </a:lnTo>
                <a:lnTo>
                  <a:pt x="2042997" y="1555619"/>
                </a:lnTo>
                <a:lnTo>
                  <a:pt x="1993578" y="1563590"/>
                </a:lnTo>
                <a:close/>
              </a:path>
            </a:pathLst>
          </a:custGeom>
          <a:solidFill>
            <a:srgbClr val="FFA9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637361" y="3565273"/>
            <a:ext cx="2150110" cy="1593215"/>
          </a:xfrm>
          <a:custGeom>
            <a:avLst/>
            <a:gdLst/>
            <a:ahLst/>
            <a:cxnLst/>
            <a:rect l="l" t="t" r="r" b="b"/>
            <a:pathLst>
              <a:path w="2150109" h="1593214">
                <a:moveTo>
                  <a:pt x="1074968" y="1592908"/>
                </a:moveTo>
                <a:lnTo>
                  <a:pt x="912755" y="1368141"/>
                </a:lnTo>
                <a:lnTo>
                  <a:pt x="156359" y="1368141"/>
                </a:lnTo>
                <a:lnTo>
                  <a:pt x="106935" y="1360171"/>
                </a:lnTo>
                <a:lnTo>
                  <a:pt x="64013" y="1337974"/>
                </a:lnTo>
                <a:lnTo>
                  <a:pt x="30166" y="1304128"/>
                </a:lnTo>
                <a:lnTo>
                  <a:pt x="7970" y="1261206"/>
                </a:lnTo>
                <a:lnTo>
                  <a:pt x="0" y="1211782"/>
                </a:lnTo>
                <a:lnTo>
                  <a:pt x="0" y="156359"/>
                </a:lnTo>
                <a:lnTo>
                  <a:pt x="7970" y="106935"/>
                </a:lnTo>
                <a:lnTo>
                  <a:pt x="30166" y="64013"/>
                </a:lnTo>
                <a:lnTo>
                  <a:pt x="64013" y="30166"/>
                </a:lnTo>
                <a:lnTo>
                  <a:pt x="106935" y="7970"/>
                </a:lnTo>
                <a:lnTo>
                  <a:pt x="156359" y="0"/>
                </a:lnTo>
                <a:lnTo>
                  <a:pt x="1993578" y="0"/>
                </a:lnTo>
                <a:lnTo>
                  <a:pt x="2043001" y="7970"/>
                </a:lnTo>
                <a:lnTo>
                  <a:pt x="2085923" y="30166"/>
                </a:lnTo>
                <a:lnTo>
                  <a:pt x="2119770" y="64013"/>
                </a:lnTo>
                <a:lnTo>
                  <a:pt x="2141966" y="106935"/>
                </a:lnTo>
                <a:lnTo>
                  <a:pt x="2149937" y="156359"/>
                </a:lnTo>
                <a:lnTo>
                  <a:pt x="2149937" y="1211782"/>
                </a:lnTo>
                <a:lnTo>
                  <a:pt x="2141966" y="1261206"/>
                </a:lnTo>
                <a:lnTo>
                  <a:pt x="2119770" y="1304128"/>
                </a:lnTo>
                <a:lnTo>
                  <a:pt x="2085923" y="1337974"/>
                </a:lnTo>
                <a:lnTo>
                  <a:pt x="2043001" y="1360171"/>
                </a:lnTo>
                <a:lnTo>
                  <a:pt x="1993578" y="1368141"/>
                </a:lnTo>
                <a:lnTo>
                  <a:pt x="1237181" y="1368141"/>
                </a:lnTo>
                <a:lnTo>
                  <a:pt x="1074968" y="1592908"/>
                </a:lnTo>
                <a:close/>
              </a:path>
            </a:pathLst>
          </a:custGeom>
          <a:solidFill>
            <a:srgbClr val="FFA9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156031" y="5637812"/>
            <a:ext cx="1112520" cy="879475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algn="ctr" marL="12700" marR="5080">
              <a:lnSpc>
                <a:spcPct val="105100"/>
              </a:lnSpc>
              <a:spcBef>
                <a:spcPts val="5"/>
              </a:spcBef>
            </a:pPr>
            <a:r>
              <a:rPr dirty="0" sz="1800" spc="-10">
                <a:solidFill>
                  <a:srgbClr val="FFFFFF"/>
                </a:solidFill>
                <a:latin typeface="Georgia"/>
                <a:cs typeface="Georgia"/>
              </a:rPr>
              <a:t>Universal Journal </a:t>
            </a:r>
            <a:r>
              <a:rPr dirty="0" sz="1800" spc="-40">
                <a:solidFill>
                  <a:srgbClr val="FFFFFF"/>
                </a:solidFill>
                <a:latin typeface="Georgia"/>
                <a:cs typeface="Georgia"/>
              </a:rPr>
              <a:t>(ACDOCA)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18156" y="6918029"/>
            <a:ext cx="1771014" cy="110299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algn="ctr" marL="187960" marR="179705">
              <a:lnSpc>
                <a:spcPct val="103299"/>
              </a:lnSpc>
              <a:spcBef>
                <a:spcPts val="45"/>
              </a:spcBef>
            </a:pPr>
            <a:r>
              <a:rPr dirty="0" sz="1800">
                <a:solidFill>
                  <a:srgbClr val="383838"/>
                </a:solidFill>
                <a:latin typeface="Georgia"/>
                <a:cs typeface="Georgia"/>
              </a:rPr>
              <a:t>Combine</a:t>
            </a:r>
            <a:r>
              <a:rPr dirty="0" sz="1800" spc="3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800" spc="-20">
                <a:solidFill>
                  <a:srgbClr val="383838"/>
                </a:solidFill>
                <a:latin typeface="Georgia"/>
                <a:cs typeface="Georgia"/>
              </a:rPr>
              <a:t>into </a:t>
            </a:r>
            <a:r>
              <a:rPr dirty="0" sz="1800" spc="-10">
                <a:solidFill>
                  <a:srgbClr val="383838"/>
                </a:solidFill>
                <a:latin typeface="Georgia"/>
                <a:cs typeface="Georgia"/>
              </a:rPr>
              <a:t>ACDOCA</a:t>
            </a:r>
            <a:endParaRPr sz="1800">
              <a:latin typeface="Georgia"/>
              <a:cs typeface="Georgia"/>
            </a:endParaRPr>
          </a:p>
          <a:p>
            <a:pPr algn="ctr" marL="12700" marR="5080" indent="-635">
              <a:lnSpc>
                <a:spcPct val="104500"/>
              </a:lnSpc>
              <a:spcBef>
                <a:spcPts val="68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Single</a:t>
            </a:r>
            <a:r>
              <a:rPr dirty="0" sz="1350" spc="1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ledger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recording</a:t>
            </a:r>
            <a:r>
              <a:rPr dirty="0" sz="1350" spc="-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all</a:t>
            </a:r>
            <a:r>
              <a:rPr dirty="0" sz="1350" spc="-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postings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41560" y="6918029"/>
            <a:ext cx="1738630" cy="110299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algn="ctr" marL="362585" marR="354330">
              <a:lnSpc>
                <a:spcPct val="103299"/>
              </a:lnSpc>
              <a:spcBef>
                <a:spcPts val="45"/>
              </a:spcBef>
            </a:pPr>
            <a:r>
              <a:rPr dirty="0" sz="1800" spc="-10">
                <a:solidFill>
                  <a:srgbClr val="383838"/>
                </a:solidFill>
                <a:latin typeface="Georgia"/>
                <a:cs typeface="Georgia"/>
              </a:rPr>
              <a:t>Real-</a:t>
            </a:r>
            <a:r>
              <a:rPr dirty="0" sz="1800" spc="-20">
                <a:solidFill>
                  <a:srgbClr val="383838"/>
                </a:solidFill>
                <a:latin typeface="Georgia"/>
                <a:cs typeface="Georgia"/>
              </a:rPr>
              <a:t>time </a:t>
            </a:r>
            <a:r>
              <a:rPr dirty="0" sz="1800" spc="-10">
                <a:solidFill>
                  <a:srgbClr val="383838"/>
                </a:solidFill>
                <a:latin typeface="Georgia"/>
                <a:cs typeface="Georgia"/>
              </a:rPr>
              <a:t>analysis</a:t>
            </a:r>
            <a:endParaRPr sz="1800">
              <a:latin typeface="Georgia"/>
              <a:cs typeface="Georgia"/>
            </a:endParaRPr>
          </a:p>
          <a:p>
            <a:pPr algn="ctr" marL="12700" marR="5080">
              <a:lnSpc>
                <a:spcPct val="104500"/>
              </a:lnSpc>
              <a:spcBef>
                <a:spcPts val="680"/>
              </a:spcBef>
            </a:pP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Instant</a:t>
            </a:r>
            <a:r>
              <a:rPr dirty="0" sz="1350" spc="1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reporting</a:t>
            </a:r>
            <a:r>
              <a:rPr dirty="0" sz="1350" spc="1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and insights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15818" y="3647554"/>
            <a:ext cx="1583690" cy="11290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06900"/>
              </a:lnSpc>
              <a:spcBef>
                <a:spcPts val="95"/>
              </a:spcBef>
            </a:pPr>
            <a:r>
              <a:rPr dirty="0" sz="1800" spc="-50">
                <a:solidFill>
                  <a:srgbClr val="383838"/>
                </a:solidFill>
                <a:latin typeface="Georgia"/>
                <a:cs typeface="Georgia"/>
              </a:rPr>
              <a:t>FI</a:t>
            </a:r>
            <a:r>
              <a:rPr dirty="0" sz="1800" spc="-3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800" spc="290">
                <a:solidFill>
                  <a:srgbClr val="383838"/>
                </a:solidFill>
                <a:latin typeface="Georgia"/>
                <a:cs typeface="Georgia"/>
              </a:rPr>
              <a:t>&amp;</a:t>
            </a:r>
            <a:r>
              <a:rPr dirty="0" sz="1800" spc="-2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800">
                <a:solidFill>
                  <a:srgbClr val="383838"/>
                </a:solidFill>
                <a:latin typeface="Georgia"/>
                <a:cs typeface="Georgia"/>
              </a:rPr>
              <a:t>CO</a:t>
            </a:r>
            <a:r>
              <a:rPr dirty="0" sz="1800" spc="-2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800" spc="-10">
                <a:solidFill>
                  <a:srgbClr val="383838"/>
                </a:solidFill>
                <a:latin typeface="Georgia"/>
                <a:cs typeface="Georgia"/>
              </a:rPr>
              <a:t>source </a:t>
            </a:r>
            <a:r>
              <a:rPr dirty="0" sz="1800" spc="-20">
                <a:solidFill>
                  <a:srgbClr val="383838"/>
                </a:solidFill>
                <a:latin typeface="Georgia"/>
                <a:cs typeface="Georgia"/>
              </a:rPr>
              <a:t>data</a:t>
            </a:r>
            <a:endParaRPr sz="1800">
              <a:latin typeface="Georgia"/>
              <a:cs typeface="Georgia"/>
            </a:endParaRPr>
          </a:p>
          <a:p>
            <a:pPr algn="ctr" marL="40640" marR="33655">
              <a:lnSpc>
                <a:spcPct val="109300"/>
              </a:lnSpc>
              <a:spcBef>
                <a:spcPts val="525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G/L,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383838"/>
                </a:solidFill>
                <a:latin typeface="Tahoma"/>
                <a:cs typeface="Tahoma"/>
              </a:rPr>
              <a:t>AP,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AR,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95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&amp;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profit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centers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5975" y="8517890"/>
            <a:ext cx="9634220" cy="2644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9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simpler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terms,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Universal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Journal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means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that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all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information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whether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external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accounting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entry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or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internal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allocation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stored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one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place.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This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simplifies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the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data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model,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reduces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redundancy,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enables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real-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time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reporting. Features and availability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can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vary depending on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specific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SAP release and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deployment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model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(on-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premise,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private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cloud,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or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public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cloud).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800">
                <a:solidFill>
                  <a:srgbClr val="020202"/>
                </a:solidFill>
                <a:latin typeface="Georgia"/>
                <a:cs typeface="Georgia"/>
              </a:rPr>
              <a:t>On-Premise</a:t>
            </a:r>
            <a:r>
              <a:rPr dirty="0" sz="2800" spc="12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020202"/>
                </a:solidFill>
                <a:latin typeface="Georgia"/>
                <a:cs typeface="Georgia"/>
              </a:rPr>
              <a:t>vs</a:t>
            </a:r>
            <a:r>
              <a:rPr dirty="0" sz="2800" spc="12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020202"/>
                </a:solidFill>
                <a:latin typeface="Georgia"/>
                <a:cs typeface="Georgia"/>
              </a:rPr>
              <a:t>Cloud</a:t>
            </a:r>
            <a:r>
              <a:rPr dirty="0" sz="2800" spc="12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800" spc="-10">
                <a:solidFill>
                  <a:srgbClr val="020202"/>
                </a:solidFill>
                <a:latin typeface="Georgia"/>
                <a:cs typeface="Georgia"/>
              </a:rPr>
              <a:t>Deployment</a:t>
            </a:r>
            <a:endParaRPr sz="2800">
              <a:latin typeface="Georgia"/>
              <a:cs typeface="Georgia"/>
            </a:endParaRPr>
          </a:p>
          <a:p>
            <a:pPr marL="12700" marR="145415">
              <a:lnSpc>
                <a:spcPct val="134300"/>
              </a:lnSpc>
              <a:spcBef>
                <a:spcPts val="1810"/>
              </a:spcBef>
            </a:pP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Organisations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can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deploy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S/4HANA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different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ways.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choice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between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on-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premise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cloud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depends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on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the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organisation's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requirements,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budget,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14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strategy.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Neither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option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universally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better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each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has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its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own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advantages.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3437" y="11396663"/>
            <a:ext cx="9763125" cy="5200650"/>
          </a:xfrm>
          <a:custGeom>
            <a:avLst/>
            <a:gdLst/>
            <a:ahLst/>
            <a:cxnLst/>
            <a:rect l="l" t="t" r="r" b="b"/>
            <a:pathLst>
              <a:path w="9763125" h="5200650">
                <a:moveTo>
                  <a:pt x="0" y="5183981"/>
                </a:moveTo>
                <a:lnTo>
                  <a:pt x="0" y="16668"/>
                </a:lnTo>
                <a:lnTo>
                  <a:pt x="0" y="14458"/>
                </a:lnTo>
                <a:lnTo>
                  <a:pt x="419" y="12334"/>
                </a:lnTo>
                <a:lnTo>
                  <a:pt x="14458" y="0"/>
                </a:lnTo>
                <a:lnTo>
                  <a:pt x="16668" y="0"/>
                </a:lnTo>
                <a:lnTo>
                  <a:pt x="9746456" y="0"/>
                </a:lnTo>
                <a:lnTo>
                  <a:pt x="9748666" y="0"/>
                </a:lnTo>
                <a:lnTo>
                  <a:pt x="9750790" y="419"/>
                </a:lnTo>
                <a:lnTo>
                  <a:pt x="9752828" y="1266"/>
                </a:lnTo>
                <a:lnTo>
                  <a:pt x="9754876" y="2114"/>
                </a:lnTo>
                <a:lnTo>
                  <a:pt x="9763125" y="14458"/>
                </a:lnTo>
                <a:lnTo>
                  <a:pt x="9763125" y="16668"/>
                </a:lnTo>
                <a:lnTo>
                  <a:pt x="9763125" y="5183981"/>
                </a:lnTo>
                <a:lnTo>
                  <a:pt x="9763125" y="5186191"/>
                </a:lnTo>
                <a:lnTo>
                  <a:pt x="9762696" y="5188315"/>
                </a:lnTo>
                <a:lnTo>
                  <a:pt x="9761858" y="5190363"/>
                </a:lnTo>
                <a:lnTo>
                  <a:pt x="9761010" y="5192401"/>
                </a:lnTo>
                <a:lnTo>
                  <a:pt x="9759800" y="5194201"/>
                </a:lnTo>
                <a:lnTo>
                  <a:pt x="9758238" y="5195763"/>
                </a:lnTo>
                <a:lnTo>
                  <a:pt x="9756676" y="5197325"/>
                </a:lnTo>
                <a:lnTo>
                  <a:pt x="9754876" y="5198535"/>
                </a:lnTo>
                <a:lnTo>
                  <a:pt x="9752828" y="5199373"/>
                </a:lnTo>
                <a:lnTo>
                  <a:pt x="9750790" y="5200221"/>
                </a:lnTo>
                <a:lnTo>
                  <a:pt x="9748666" y="5200650"/>
                </a:lnTo>
                <a:lnTo>
                  <a:pt x="9746456" y="5200650"/>
                </a:lnTo>
                <a:lnTo>
                  <a:pt x="16668" y="5200650"/>
                </a:lnTo>
                <a:lnTo>
                  <a:pt x="14458" y="5200650"/>
                </a:lnTo>
                <a:lnTo>
                  <a:pt x="12334" y="5200221"/>
                </a:lnTo>
                <a:lnTo>
                  <a:pt x="10287" y="5199373"/>
                </a:lnTo>
                <a:lnTo>
                  <a:pt x="8248" y="5198535"/>
                </a:lnTo>
                <a:lnTo>
                  <a:pt x="6448" y="5197325"/>
                </a:lnTo>
                <a:lnTo>
                  <a:pt x="4886" y="5195763"/>
                </a:lnTo>
                <a:lnTo>
                  <a:pt x="3314" y="5194201"/>
                </a:lnTo>
                <a:lnTo>
                  <a:pt x="2114" y="5192401"/>
                </a:lnTo>
                <a:lnTo>
                  <a:pt x="1266" y="5190363"/>
                </a:lnTo>
                <a:lnTo>
                  <a:pt x="419" y="5188315"/>
                </a:lnTo>
                <a:lnTo>
                  <a:pt x="0" y="5186191"/>
                </a:lnTo>
                <a:lnTo>
                  <a:pt x="0" y="5183981"/>
                </a:lnTo>
                <a:close/>
              </a:path>
            </a:pathLst>
          </a:custGeom>
          <a:ln w="9525">
            <a:solidFill>
              <a:srgbClr val="B3B3B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833437" y="11396663"/>
          <a:ext cx="9839325" cy="5200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0"/>
                <a:gridCol w="3248025"/>
                <a:gridCol w="3257550"/>
              </a:tblGrid>
              <a:tr h="504190"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20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Area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8270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40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Traditional</a:t>
                      </a:r>
                      <a:r>
                        <a:rPr dirty="0" sz="1350" spc="-10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10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1350" spc="-5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On-</a:t>
                      </a:r>
                      <a:r>
                        <a:rPr dirty="0" sz="1350" spc="-10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Premise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827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10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Cloud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8270">
                    <a:lnL w="9525">
                      <a:solidFill>
                        <a:srgbClr val="B3B3B3"/>
                      </a:solidFill>
                      <a:prstDash val="solid"/>
                    </a:lnL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Infrastructure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Managed</a:t>
                      </a:r>
                      <a:r>
                        <a:rPr dirty="0" sz="1350" spc="3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by</a:t>
                      </a:r>
                      <a:r>
                        <a:rPr dirty="0" sz="1350" spc="3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dirty="0" sz="1350" spc="3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organisation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 marR="571500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Managed</a:t>
                      </a:r>
                      <a:r>
                        <a:rPr dirty="0" sz="1350" spc="8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through</a:t>
                      </a:r>
                      <a:r>
                        <a:rPr dirty="0" sz="1350" spc="8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cloud</a:t>
                      </a:r>
                      <a:r>
                        <a:rPr dirty="0" sz="1350" spc="8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service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provider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Updates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844550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Organisation-managed,</a:t>
                      </a:r>
                      <a:r>
                        <a:rPr dirty="0" sz="1350" spc="10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 </a:t>
                      </a:r>
                      <a:r>
                        <a:rPr dirty="0" sz="1350" spc="-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less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frequent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Regular</a:t>
                      </a:r>
                      <a:r>
                        <a:rPr dirty="0" sz="1350" spc="1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provider-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managed</a:t>
                      </a:r>
                      <a:r>
                        <a:rPr dirty="0" sz="1350" spc="10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updates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90575"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Scalability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668020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More</a:t>
                      </a:r>
                      <a:r>
                        <a:rPr dirty="0" sz="1350" spc="8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planning</a:t>
                      </a:r>
                      <a:r>
                        <a:rPr dirty="0" sz="1350" spc="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investment required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Easier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faster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3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scale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Accessibility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8270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Depends</a:t>
                      </a:r>
                      <a:r>
                        <a:rPr dirty="0" sz="1350" spc="3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on</a:t>
                      </a:r>
                      <a:r>
                        <a:rPr dirty="0" sz="1350" spc="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organisation's</a:t>
                      </a:r>
                      <a:r>
                        <a:rPr dirty="0" sz="1350" spc="3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14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IT</a:t>
                      </a:r>
                      <a:r>
                        <a:rPr dirty="0" sz="1350" spc="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setup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827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 marR="178435">
                        <a:lnSpc>
                          <a:spcPct val="134300"/>
                        </a:lnSpc>
                        <a:spcBef>
                          <a:spcPts val="455"/>
                        </a:spcBef>
                      </a:pPr>
                      <a:r>
                        <a:rPr dirty="0" sz="1350" spc="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Accessible</a:t>
                      </a:r>
                      <a:r>
                        <a:rPr dirty="0" sz="1350" spc="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through</a:t>
                      </a: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supported</a:t>
                      </a: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cloud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environment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Customisation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988060">
                        <a:lnSpc>
                          <a:spcPct val="129600"/>
                        </a:lnSpc>
                        <a:spcBef>
                          <a:spcPts val="60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Greater</a:t>
                      </a:r>
                      <a:r>
                        <a:rPr dirty="0" sz="1350" spc="1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flexibility</a:t>
                      </a:r>
                      <a:r>
                        <a:rPr dirty="0" sz="1350" spc="1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1350" spc="1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deep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customisation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7683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 marR="683260">
                        <a:lnSpc>
                          <a:spcPct val="129600"/>
                        </a:lnSpc>
                        <a:spcBef>
                          <a:spcPts val="605"/>
                        </a:spcBef>
                      </a:pP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More</a:t>
                      </a:r>
                      <a:r>
                        <a:rPr dirty="0" sz="1350" spc="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standardised,</a:t>
                      </a:r>
                      <a:r>
                        <a:rPr dirty="0" sz="1350" spc="9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with</a:t>
                      </a:r>
                      <a:r>
                        <a:rPr dirty="0" sz="1350" spc="9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some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limitations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7683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Cost</a:t>
                      </a:r>
                      <a:r>
                        <a:rPr dirty="0" sz="1350" spc="-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Model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Higher</a:t>
                      </a:r>
                      <a:r>
                        <a:rPr dirty="0" sz="1350" spc="1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upfront</a:t>
                      </a:r>
                      <a:r>
                        <a:rPr dirty="0" sz="1350" spc="1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capital</a:t>
                      </a:r>
                      <a:r>
                        <a:rPr dirty="0" sz="1350" spc="1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investment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7165" marR="504190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Subscription-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based,</a:t>
                      </a:r>
                      <a:r>
                        <a:rPr dirty="0" sz="1350" spc="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operational expenditure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815971" y="16728440"/>
            <a:ext cx="9761220" cy="1130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Cloud-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based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Finance,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including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S/4HANA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Cloud,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growing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adoption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because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reduces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infrastructure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management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burden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enables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faster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access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new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features.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However,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many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large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organisations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still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use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on-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premise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or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hybrid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deployments,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especially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where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data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sovereignty,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customisation,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or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existing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infrastructure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investments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are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important considerations.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5975" y="461168"/>
            <a:ext cx="9471660" cy="17100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550">
                <a:solidFill>
                  <a:srgbClr val="020202"/>
                </a:solidFill>
                <a:latin typeface="Georgia"/>
                <a:cs typeface="Georgia"/>
              </a:rPr>
              <a:t>Artificial</a:t>
            </a:r>
            <a:r>
              <a:rPr dirty="0" sz="3550" spc="8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3550">
                <a:solidFill>
                  <a:srgbClr val="020202"/>
                </a:solidFill>
                <a:latin typeface="Georgia"/>
                <a:cs typeface="Georgia"/>
              </a:rPr>
              <a:t>Intelligence</a:t>
            </a:r>
            <a:r>
              <a:rPr dirty="0" sz="3550" spc="9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3550">
                <a:solidFill>
                  <a:srgbClr val="020202"/>
                </a:solidFill>
                <a:latin typeface="Georgia"/>
                <a:cs typeface="Georgia"/>
              </a:rPr>
              <a:t>in</a:t>
            </a:r>
            <a:r>
              <a:rPr dirty="0" sz="3550" spc="8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3550">
                <a:solidFill>
                  <a:srgbClr val="020202"/>
                </a:solidFill>
                <a:latin typeface="Georgia"/>
                <a:cs typeface="Georgia"/>
              </a:rPr>
              <a:t>SAP</a:t>
            </a:r>
            <a:r>
              <a:rPr dirty="0" sz="3550" spc="8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3550" spc="-10">
                <a:solidFill>
                  <a:srgbClr val="020202"/>
                </a:solidFill>
                <a:latin typeface="Georgia"/>
                <a:cs typeface="Georgia"/>
              </a:rPr>
              <a:t>Finance</a:t>
            </a:r>
            <a:endParaRPr sz="3550">
              <a:latin typeface="Georgia"/>
              <a:cs typeface="Georgia"/>
            </a:endParaRPr>
          </a:p>
          <a:p>
            <a:pPr marL="12700" marR="5080">
              <a:lnSpc>
                <a:spcPct val="134300"/>
              </a:lnSpc>
              <a:spcBef>
                <a:spcPts val="2485"/>
              </a:spcBef>
            </a:pP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Artificial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Intelligence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one of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most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discussed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5">
                <a:solidFill>
                  <a:srgbClr val="383838"/>
                </a:solidFill>
                <a:latin typeface="Tahoma"/>
                <a:cs typeface="Tahoma"/>
              </a:rPr>
              <a:t>topics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future of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Finance.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SAP has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been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integrating</a:t>
            </a:r>
            <a:r>
              <a:rPr dirty="0" sz="135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AI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capabilities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into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its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products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through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Business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383838"/>
                </a:solidFill>
                <a:latin typeface="Tahoma"/>
                <a:cs typeface="Tahoma"/>
              </a:rPr>
              <a:t>AI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HANA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Cloud.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important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distinguish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between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what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383838"/>
                </a:solidFill>
                <a:latin typeface="Tahoma"/>
                <a:cs typeface="Tahoma"/>
              </a:rPr>
              <a:t>AI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can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do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today,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what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emerging,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what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remains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future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possibility.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5975" y="2437129"/>
            <a:ext cx="7469505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>
                <a:solidFill>
                  <a:srgbClr val="020202"/>
                </a:solidFill>
                <a:latin typeface="Georgia"/>
                <a:cs typeface="Georgia"/>
              </a:rPr>
              <a:t>Current,</a:t>
            </a:r>
            <a:r>
              <a:rPr dirty="0" sz="2800" spc="-9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020202"/>
                </a:solidFill>
                <a:latin typeface="Georgia"/>
                <a:cs typeface="Georgia"/>
              </a:rPr>
              <a:t>Emerging,</a:t>
            </a:r>
            <a:r>
              <a:rPr dirty="0" sz="2800" spc="-8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020202"/>
                </a:solidFill>
                <a:latin typeface="Georgia"/>
                <a:cs typeface="Georgia"/>
              </a:rPr>
              <a:t>and</a:t>
            </a:r>
            <a:r>
              <a:rPr dirty="0" sz="2800" spc="2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020202"/>
                </a:solidFill>
                <a:latin typeface="Georgia"/>
                <a:cs typeface="Georgia"/>
              </a:rPr>
              <a:t>Future</a:t>
            </a:r>
            <a:r>
              <a:rPr dirty="0" sz="2800" spc="-3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020202"/>
                </a:solidFill>
                <a:latin typeface="Georgia"/>
                <a:cs typeface="Georgia"/>
              </a:rPr>
              <a:t>AI</a:t>
            </a:r>
            <a:r>
              <a:rPr dirty="0" sz="2800" spc="-3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800" spc="-10">
                <a:solidFill>
                  <a:srgbClr val="020202"/>
                </a:solidFill>
                <a:latin typeface="Georgia"/>
                <a:cs typeface="Georgia"/>
              </a:rPr>
              <a:t>Applications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3437" y="3176587"/>
            <a:ext cx="9763125" cy="6257925"/>
          </a:xfrm>
          <a:custGeom>
            <a:avLst/>
            <a:gdLst/>
            <a:ahLst/>
            <a:cxnLst/>
            <a:rect l="l" t="t" r="r" b="b"/>
            <a:pathLst>
              <a:path w="9763125" h="6257925">
                <a:moveTo>
                  <a:pt x="0" y="6241256"/>
                </a:moveTo>
                <a:lnTo>
                  <a:pt x="0" y="16668"/>
                </a:lnTo>
                <a:lnTo>
                  <a:pt x="0" y="14458"/>
                </a:lnTo>
                <a:lnTo>
                  <a:pt x="419" y="12334"/>
                </a:lnTo>
                <a:lnTo>
                  <a:pt x="1266" y="10287"/>
                </a:lnTo>
                <a:lnTo>
                  <a:pt x="2114" y="8248"/>
                </a:lnTo>
                <a:lnTo>
                  <a:pt x="3314" y="6448"/>
                </a:lnTo>
                <a:lnTo>
                  <a:pt x="4886" y="4886"/>
                </a:lnTo>
                <a:lnTo>
                  <a:pt x="6448" y="3314"/>
                </a:lnTo>
                <a:lnTo>
                  <a:pt x="8248" y="2114"/>
                </a:lnTo>
                <a:lnTo>
                  <a:pt x="10287" y="1266"/>
                </a:lnTo>
                <a:lnTo>
                  <a:pt x="12334" y="419"/>
                </a:lnTo>
                <a:lnTo>
                  <a:pt x="14458" y="0"/>
                </a:lnTo>
                <a:lnTo>
                  <a:pt x="16668" y="0"/>
                </a:lnTo>
                <a:lnTo>
                  <a:pt x="9746456" y="0"/>
                </a:lnTo>
                <a:lnTo>
                  <a:pt x="9748666" y="0"/>
                </a:lnTo>
                <a:lnTo>
                  <a:pt x="9750790" y="419"/>
                </a:lnTo>
                <a:lnTo>
                  <a:pt x="9752828" y="1266"/>
                </a:lnTo>
                <a:lnTo>
                  <a:pt x="9754876" y="2114"/>
                </a:lnTo>
                <a:lnTo>
                  <a:pt x="9756676" y="3314"/>
                </a:lnTo>
                <a:lnTo>
                  <a:pt x="9758238" y="4886"/>
                </a:lnTo>
                <a:lnTo>
                  <a:pt x="9759800" y="6448"/>
                </a:lnTo>
                <a:lnTo>
                  <a:pt x="9761010" y="8248"/>
                </a:lnTo>
                <a:lnTo>
                  <a:pt x="9761858" y="10287"/>
                </a:lnTo>
                <a:lnTo>
                  <a:pt x="9762696" y="12334"/>
                </a:lnTo>
                <a:lnTo>
                  <a:pt x="9763125" y="14458"/>
                </a:lnTo>
                <a:lnTo>
                  <a:pt x="9763125" y="16668"/>
                </a:lnTo>
                <a:lnTo>
                  <a:pt x="9763125" y="6241256"/>
                </a:lnTo>
                <a:lnTo>
                  <a:pt x="9763125" y="6243466"/>
                </a:lnTo>
                <a:lnTo>
                  <a:pt x="9762696" y="6245590"/>
                </a:lnTo>
                <a:lnTo>
                  <a:pt x="9761858" y="6247638"/>
                </a:lnTo>
                <a:lnTo>
                  <a:pt x="9761010" y="6249676"/>
                </a:lnTo>
                <a:lnTo>
                  <a:pt x="9759800" y="6251476"/>
                </a:lnTo>
                <a:lnTo>
                  <a:pt x="9758238" y="6253038"/>
                </a:lnTo>
                <a:lnTo>
                  <a:pt x="9756676" y="6254600"/>
                </a:lnTo>
                <a:lnTo>
                  <a:pt x="9754876" y="6255810"/>
                </a:lnTo>
                <a:lnTo>
                  <a:pt x="9752828" y="6256658"/>
                </a:lnTo>
                <a:lnTo>
                  <a:pt x="9750790" y="6257496"/>
                </a:lnTo>
                <a:lnTo>
                  <a:pt x="9748666" y="6257925"/>
                </a:lnTo>
                <a:lnTo>
                  <a:pt x="9746456" y="6257925"/>
                </a:lnTo>
                <a:lnTo>
                  <a:pt x="16668" y="6257925"/>
                </a:lnTo>
                <a:lnTo>
                  <a:pt x="14458" y="6257925"/>
                </a:lnTo>
                <a:lnTo>
                  <a:pt x="12334" y="6257496"/>
                </a:lnTo>
                <a:lnTo>
                  <a:pt x="10287" y="6256658"/>
                </a:lnTo>
                <a:lnTo>
                  <a:pt x="8248" y="6255810"/>
                </a:lnTo>
                <a:lnTo>
                  <a:pt x="6448" y="6254600"/>
                </a:lnTo>
                <a:lnTo>
                  <a:pt x="4886" y="6253038"/>
                </a:lnTo>
                <a:lnTo>
                  <a:pt x="3314" y="6251476"/>
                </a:lnTo>
                <a:lnTo>
                  <a:pt x="2114" y="6249676"/>
                </a:lnTo>
                <a:lnTo>
                  <a:pt x="1266" y="6247638"/>
                </a:lnTo>
                <a:lnTo>
                  <a:pt x="419" y="6245590"/>
                </a:lnTo>
                <a:lnTo>
                  <a:pt x="0" y="6243466"/>
                </a:lnTo>
                <a:lnTo>
                  <a:pt x="0" y="6241256"/>
                </a:lnTo>
                <a:close/>
              </a:path>
            </a:pathLst>
          </a:custGeom>
          <a:ln w="9525">
            <a:solidFill>
              <a:srgbClr val="B3B3B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33437" y="3176587"/>
          <a:ext cx="9839325" cy="6257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0535"/>
                <a:gridCol w="2795269"/>
                <a:gridCol w="3957320"/>
              </a:tblGrid>
              <a:tr h="504190"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10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Application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827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719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10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Status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827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185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10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Description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827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1057275"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Automated</a:t>
                      </a:r>
                      <a:r>
                        <a:rPr dirty="0" sz="1350" spc="7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invoice</a:t>
                      </a:r>
                      <a:r>
                        <a:rPr dirty="0" sz="1350" spc="7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processing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719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Current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1855" marR="518795">
                        <a:lnSpc>
                          <a:spcPct val="131900"/>
                        </a:lnSpc>
                        <a:spcBef>
                          <a:spcPts val="570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Intelligent</a:t>
                      </a:r>
                      <a:r>
                        <a:rPr dirty="0" sz="1350" spc="-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document</a:t>
                      </a:r>
                      <a:r>
                        <a:rPr dirty="0" sz="1350" spc="-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processing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extracts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data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from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invoices automatically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72390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Anomaly</a:t>
                      </a:r>
                      <a:r>
                        <a:rPr dirty="0" sz="1350" spc="2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detection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719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Current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1855" marR="447675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 spc="-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AI</a:t>
                      </a:r>
                      <a:r>
                        <a:rPr dirty="0" sz="1350" spc="1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identifies</a:t>
                      </a:r>
                      <a:r>
                        <a:rPr dirty="0" sz="1350" spc="1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unusual</a:t>
                      </a:r>
                      <a:r>
                        <a:rPr dirty="0" sz="1350" spc="1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transactions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that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may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indicate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errors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or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fraud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Automated</a:t>
                      </a:r>
                      <a:r>
                        <a:rPr dirty="0" sz="1350" spc="-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reconciliation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719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Current</a:t>
                      </a:r>
                      <a:r>
                        <a:rPr dirty="0" sz="1350" spc="-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1350" spc="-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Emerging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1855" marR="530860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Bank and </a:t>
                      </a:r>
                      <a:r>
                        <a:rPr dirty="0" sz="1350" spc="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account</a:t>
                      </a:r>
                      <a:r>
                        <a:rPr dirty="0" sz="1350" spc="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reconciliation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assisted</a:t>
                      </a:r>
                      <a:r>
                        <a:rPr dirty="0" sz="1350" spc="-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by</a:t>
                      </a:r>
                      <a:r>
                        <a:rPr dirty="0" sz="1350" spc="-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machine</a:t>
                      </a:r>
                      <a:r>
                        <a:rPr dirty="0" sz="1350" spc="-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learning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90575"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Cash</a:t>
                      </a:r>
                      <a:r>
                        <a:rPr dirty="0" sz="1350" spc="-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flow</a:t>
                      </a:r>
                      <a:r>
                        <a:rPr dirty="0" sz="1350" spc="-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prediction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719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Emerging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1855" marR="390525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 spc="-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AI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models</a:t>
                      </a:r>
                      <a:r>
                        <a:rPr dirty="0" sz="1350" spc="-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forecast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future</a:t>
                      </a:r>
                      <a:r>
                        <a:rPr dirty="0" sz="1350" spc="-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cash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positions </a:t>
                      </a: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based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on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historical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data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Financial</a:t>
                      </a:r>
                      <a:r>
                        <a:rPr dirty="0" sz="1350" spc="1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forecasting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8270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719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Emerging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8270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1855" marR="347345">
                        <a:lnSpc>
                          <a:spcPct val="134300"/>
                        </a:lnSpc>
                        <a:spcBef>
                          <a:spcPts val="455"/>
                        </a:spcBef>
                      </a:pP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Predictive</a:t>
                      </a:r>
                      <a:r>
                        <a:rPr dirty="0" sz="1350" spc="2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analytics</a:t>
                      </a:r>
                      <a:r>
                        <a:rPr dirty="0" sz="1350" spc="2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support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planning</a:t>
                      </a:r>
                      <a:r>
                        <a:rPr dirty="0" sz="1350" spc="1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1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budgeting</a:t>
                      </a:r>
                      <a:r>
                        <a:rPr dirty="0" sz="1350" spc="1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processes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5778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Generative</a:t>
                      </a:r>
                      <a:r>
                        <a:rPr dirty="0" sz="1350" spc="1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AI</a:t>
                      </a:r>
                      <a:r>
                        <a:rPr dirty="0" sz="1350" spc="1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assistance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719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Emerging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1855" marR="480695">
                        <a:lnSpc>
                          <a:spcPct val="129600"/>
                        </a:lnSpc>
                        <a:spcBef>
                          <a:spcPts val="60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Natural language queries and </a:t>
                      </a:r>
                      <a:r>
                        <a:rPr dirty="0" sz="1350" spc="-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AI-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generated</a:t>
                      </a:r>
                      <a:r>
                        <a:rPr dirty="0" sz="1350" spc="2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financial</a:t>
                      </a:r>
                      <a:r>
                        <a:rPr dirty="0" sz="1350" spc="2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summaries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7683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Fully</a:t>
                      </a:r>
                      <a:r>
                        <a:rPr dirty="0" sz="1350" spc="1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autonomous</a:t>
                      </a:r>
                      <a:r>
                        <a:rPr dirty="0" sz="1350" spc="1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finance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1719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Future</a:t>
                      </a:r>
                      <a:r>
                        <a:rPr dirty="0" sz="1350" spc="1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possibility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71855" marR="354330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 spc="8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End-</a:t>
                      </a:r>
                      <a:r>
                        <a:rPr dirty="0" sz="135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to-</a:t>
                      </a:r>
                      <a:r>
                        <a:rPr dirty="0" sz="1350" spc="1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end</a:t>
                      </a:r>
                      <a:r>
                        <a:rPr dirty="0" sz="1350" spc="-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automated</a:t>
                      </a:r>
                      <a:r>
                        <a:rPr dirty="0" sz="1350" spc="-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financial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decision-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making</a:t>
                      </a:r>
                      <a:r>
                        <a:rPr dirty="0" sz="1350" spc="1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(still</a:t>
                      </a:r>
                      <a:r>
                        <a:rPr dirty="0" sz="1350" spc="18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speculative)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1370225" y="11870532"/>
            <a:ext cx="4933950" cy="3340735"/>
            <a:chOff x="1370225" y="11870532"/>
            <a:chExt cx="4933950" cy="3340735"/>
          </a:xfrm>
        </p:grpSpPr>
        <p:sp>
          <p:nvSpPr>
            <p:cNvPr id="7" name="object 7"/>
            <p:cNvSpPr/>
            <p:nvPr/>
          </p:nvSpPr>
          <p:spPr>
            <a:xfrm>
              <a:off x="5619698" y="14469944"/>
              <a:ext cx="684530" cy="684530"/>
            </a:xfrm>
            <a:custGeom>
              <a:avLst/>
              <a:gdLst/>
              <a:ahLst/>
              <a:cxnLst/>
              <a:rect l="l" t="t" r="r" b="b"/>
              <a:pathLst>
                <a:path w="684529" h="684530">
                  <a:moveTo>
                    <a:pt x="342028" y="684056"/>
                  </a:moveTo>
                  <a:lnTo>
                    <a:pt x="300157" y="681485"/>
                  </a:lnTo>
                  <a:lnTo>
                    <a:pt x="258923" y="673807"/>
                  </a:lnTo>
                  <a:lnTo>
                    <a:pt x="218935" y="661137"/>
                  </a:lnTo>
                  <a:lnTo>
                    <a:pt x="180796" y="643667"/>
                  </a:lnTo>
                  <a:lnTo>
                    <a:pt x="145082" y="621663"/>
                  </a:lnTo>
                  <a:lnTo>
                    <a:pt x="112335" y="595452"/>
                  </a:lnTo>
                  <a:lnTo>
                    <a:pt x="83045" y="565434"/>
                  </a:lnTo>
                  <a:lnTo>
                    <a:pt x="57646" y="532048"/>
                  </a:lnTo>
                  <a:lnTo>
                    <a:pt x="36518" y="495806"/>
                  </a:lnTo>
                  <a:lnTo>
                    <a:pt x="19995" y="457254"/>
                  </a:lnTo>
                  <a:lnTo>
                    <a:pt x="8307" y="416966"/>
                  </a:lnTo>
                  <a:lnTo>
                    <a:pt x="1651" y="375556"/>
                  </a:lnTo>
                  <a:lnTo>
                    <a:pt x="0" y="342028"/>
                  </a:lnTo>
                  <a:lnTo>
                    <a:pt x="102" y="333632"/>
                  </a:lnTo>
                  <a:lnTo>
                    <a:pt x="3702" y="291842"/>
                  </a:lnTo>
                  <a:lnTo>
                    <a:pt x="12386" y="250807"/>
                  </a:lnTo>
                  <a:lnTo>
                    <a:pt x="26033" y="211138"/>
                  </a:lnTo>
                  <a:lnTo>
                    <a:pt x="44435" y="173439"/>
                  </a:lnTo>
                  <a:lnTo>
                    <a:pt x="67305" y="138280"/>
                  </a:lnTo>
                  <a:lnTo>
                    <a:pt x="94313" y="106187"/>
                  </a:lnTo>
                  <a:lnTo>
                    <a:pt x="125045" y="77640"/>
                  </a:lnTo>
                  <a:lnTo>
                    <a:pt x="159044" y="53065"/>
                  </a:lnTo>
                  <a:lnTo>
                    <a:pt x="195791" y="32837"/>
                  </a:lnTo>
                  <a:lnTo>
                    <a:pt x="234736" y="17264"/>
                  </a:lnTo>
                  <a:lnTo>
                    <a:pt x="275303" y="6576"/>
                  </a:lnTo>
                  <a:lnTo>
                    <a:pt x="316867" y="927"/>
                  </a:lnTo>
                  <a:lnTo>
                    <a:pt x="342028" y="0"/>
                  </a:lnTo>
                  <a:lnTo>
                    <a:pt x="350423" y="102"/>
                  </a:lnTo>
                  <a:lnTo>
                    <a:pt x="392213" y="3703"/>
                  </a:lnTo>
                  <a:lnTo>
                    <a:pt x="433248" y="12386"/>
                  </a:lnTo>
                  <a:lnTo>
                    <a:pt x="472917" y="26033"/>
                  </a:lnTo>
                  <a:lnTo>
                    <a:pt x="510616" y="44436"/>
                  </a:lnTo>
                  <a:lnTo>
                    <a:pt x="545775" y="67306"/>
                  </a:lnTo>
                  <a:lnTo>
                    <a:pt x="577868" y="94313"/>
                  </a:lnTo>
                  <a:lnTo>
                    <a:pt x="606415" y="125045"/>
                  </a:lnTo>
                  <a:lnTo>
                    <a:pt x="630990" y="159044"/>
                  </a:lnTo>
                  <a:lnTo>
                    <a:pt x="651218" y="195791"/>
                  </a:lnTo>
                  <a:lnTo>
                    <a:pt x="666791" y="234736"/>
                  </a:lnTo>
                  <a:lnTo>
                    <a:pt x="677479" y="275303"/>
                  </a:lnTo>
                  <a:lnTo>
                    <a:pt x="683128" y="316867"/>
                  </a:lnTo>
                  <a:lnTo>
                    <a:pt x="684056" y="342028"/>
                  </a:lnTo>
                  <a:lnTo>
                    <a:pt x="683953" y="350423"/>
                  </a:lnTo>
                  <a:lnTo>
                    <a:pt x="680352" y="392213"/>
                  </a:lnTo>
                  <a:lnTo>
                    <a:pt x="671669" y="433248"/>
                  </a:lnTo>
                  <a:lnTo>
                    <a:pt x="658022" y="472917"/>
                  </a:lnTo>
                  <a:lnTo>
                    <a:pt x="639619" y="510616"/>
                  </a:lnTo>
                  <a:lnTo>
                    <a:pt x="616749" y="545775"/>
                  </a:lnTo>
                  <a:lnTo>
                    <a:pt x="589742" y="577868"/>
                  </a:lnTo>
                  <a:lnTo>
                    <a:pt x="559010" y="606415"/>
                  </a:lnTo>
                  <a:lnTo>
                    <a:pt x="525011" y="630990"/>
                  </a:lnTo>
                  <a:lnTo>
                    <a:pt x="488264" y="651218"/>
                  </a:lnTo>
                  <a:lnTo>
                    <a:pt x="449319" y="666791"/>
                  </a:lnTo>
                  <a:lnTo>
                    <a:pt x="408752" y="677479"/>
                  </a:lnTo>
                  <a:lnTo>
                    <a:pt x="367188" y="683128"/>
                  </a:lnTo>
                  <a:lnTo>
                    <a:pt x="342028" y="684056"/>
                  </a:lnTo>
                  <a:close/>
                </a:path>
              </a:pathLst>
            </a:custGeom>
            <a:solidFill>
              <a:srgbClr val="FF8F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370215" y="12081382"/>
              <a:ext cx="4255135" cy="3129915"/>
            </a:xfrm>
            <a:custGeom>
              <a:avLst/>
              <a:gdLst/>
              <a:ahLst/>
              <a:cxnLst/>
              <a:rect l="l" t="t" r="r" b="b"/>
              <a:pathLst>
                <a:path w="4255135" h="3129915">
                  <a:moveTo>
                    <a:pt x="4254766" y="2633611"/>
                  </a:moveTo>
                  <a:lnTo>
                    <a:pt x="2961805" y="2270277"/>
                  </a:lnTo>
                  <a:lnTo>
                    <a:pt x="2962719" y="2268499"/>
                  </a:lnTo>
                  <a:lnTo>
                    <a:pt x="2971241" y="2251303"/>
                  </a:lnTo>
                  <a:lnTo>
                    <a:pt x="2987675" y="2216581"/>
                  </a:lnTo>
                  <a:lnTo>
                    <a:pt x="3003232" y="2181466"/>
                  </a:lnTo>
                  <a:lnTo>
                    <a:pt x="3017926" y="2145982"/>
                  </a:lnTo>
                  <a:lnTo>
                    <a:pt x="3031756" y="2110143"/>
                  </a:lnTo>
                  <a:lnTo>
                    <a:pt x="3044698" y="2073986"/>
                  </a:lnTo>
                  <a:lnTo>
                    <a:pt x="3056737" y="2037511"/>
                  </a:lnTo>
                  <a:lnTo>
                    <a:pt x="3067888" y="2000770"/>
                  </a:lnTo>
                  <a:lnTo>
                    <a:pt x="3078137" y="1963750"/>
                  </a:lnTo>
                  <a:lnTo>
                    <a:pt x="3087471" y="1926488"/>
                  </a:lnTo>
                  <a:lnTo>
                    <a:pt x="3095879" y="1889010"/>
                  </a:lnTo>
                  <a:lnTo>
                    <a:pt x="3103372" y="1851342"/>
                  </a:lnTo>
                  <a:lnTo>
                    <a:pt x="3109938" y="1813509"/>
                  </a:lnTo>
                  <a:lnTo>
                    <a:pt x="3115576" y="1775510"/>
                  </a:lnTo>
                  <a:lnTo>
                    <a:pt x="3120275" y="1737398"/>
                  </a:lnTo>
                  <a:lnTo>
                    <a:pt x="3124047" y="1699171"/>
                  </a:lnTo>
                  <a:lnTo>
                    <a:pt x="3126867" y="1660867"/>
                  </a:lnTo>
                  <a:lnTo>
                    <a:pt x="3128759" y="1622501"/>
                  </a:lnTo>
                  <a:lnTo>
                    <a:pt x="3129699" y="1584109"/>
                  </a:lnTo>
                  <a:lnTo>
                    <a:pt x="3129813" y="1564906"/>
                  </a:lnTo>
                  <a:lnTo>
                    <a:pt x="3129699" y="1545704"/>
                  </a:lnTo>
                  <a:lnTo>
                    <a:pt x="3128759" y="1507299"/>
                  </a:lnTo>
                  <a:lnTo>
                    <a:pt x="3126867" y="1468945"/>
                  </a:lnTo>
                  <a:lnTo>
                    <a:pt x="3124047" y="1430642"/>
                  </a:lnTo>
                  <a:lnTo>
                    <a:pt x="3120275" y="1392415"/>
                  </a:lnTo>
                  <a:lnTo>
                    <a:pt x="3115576" y="1354302"/>
                  </a:lnTo>
                  <a:lnTo>
                    <a:pt x="3109938" y="1316304"/>
                  </a:lnTo>
                  <a:lnTo>
                    <a:pt x="3103372" y="1278470"/>
                  </a:lnTo>
                  <a:lnTo>
                    <a:pt x="3095879" y="1240790"/>
                  </a:lnTo>
                  <a:lnTo>
                    <a:pt x="3087471" y="1203325"/>
                  </a:lnTo>
                  <a:lnTo>
                    <a:pt x="3078137" y="1166063"/>
                  </a:lnTo>
                  <a:lnTo>
                    <a:pt x="3067888" y="1129042"/>
                  </a:lnTo>
                  <a:lnTo>
                    <a:pt x="3056750" y="1092288"/>
                  </a:lnTo>
                  <a:lnTo>
                    <a:pt x="3044698" y="1055827"/>
                  </a:lnTo>
                  <a:lnTo>
                    <a:pt x="3031756" y="1019657"/>
                  </a:lnTo>
                  <a:lnTo>
                    <a:pt x="3017926" y="983830"/>
                  </a:lnTo>
                  <a:lnTo>
                    <a:pt x="3003232" y="948347"/>
                  </a:lnTo>
                  <a:lnTo>
                    <a:pt x="2987675" y="913231"/>
                  </a:lnTo>
                  <a:lnTo>
                    <a:pt x="2971254" y="878509"/>
                  </a:lnTo>
                  <a:lnTo>
                    <a:pt x="2953982" y="844207"/>
                  </a:lnTo>
                  <a:lnTo>
                    <a:pt x="2935871" y="810336"/>
                  </a:lnTo>
                  <a:lnTo>
                    <a:pt x="2916948" y="776922"/>
                  </a:lnTo>
                  <a:lnTo>
                    <a:pt x="2897200" y="743978"/>
                  </a:lnTo>
                  <a:lnTo>
                    <a:pt x="2876651" y="711530"/>
                  </a:lnTo>
                  <a:lnTo>
                    <a:pt x="2855315" y="679589"/>
                  </a:lnTo>
                  <a:lnTo>
                    <a:pt x="2833192" y="648195"/>
                  </a:lnTo>
                  <a:lnTo>
                    <a:pt x="2810319" y="617334"/>
                  </a:lnTo>
                  <a:lnTo>
                    <a:pt x="2786684" y="587057"/>
                  </a:lnTo>
                  <a:lnTo>
                    <a:pt x="2762326" y="557377"/>
                  </a:lnTo>
                  <a:lnTo>
                    <a:pt x="2737231" y="528294"/>
                  </a:lnTo>
                  <a:lnTo>
                    <a:pt x="2711437" y="499833"/>
                  </a:lnTo>
                  <a:lnTo>
                    <a:pt x="2684957" y="472008"/>
                  </a:lnTo>
                  <a:lnTo>
                    <a:pt x="2657805" y="444855"/>
                  </a:lnTo>
                  <a:lnTo>
                    <a:pt x="2629979" y="418376"/>
                  </a:lnTo>
                  <a:lnTo>
                    <a:pt x="2601518" y="392582"/>
                  </a:lnTo>
                  <a:lnTo>
                    <a:pt x="2572435" y="367499"/>
                  </a:lnTo>
                  <a:lnTo>
                    <a:pt x="2542756" y="343128"/>
                  </a:lnTo>
                  <a:lnTo>
                    <a:pt x="2512479" y="319493"/>
                  </a:lnTo>
                  <a:lnTo>
                    <a:pt x="2481630" y="296621"/>
                  </a:lnTo>
                  <a:lnTo>
                    <a:pt x="2450223" y="274497"/>
                  </a:lnTo>
                  <a:lnTo>
                    <a:pt x="2418296" y="253161"/>
                  </a:lnTo>
                  <a:lnTo>
                    <a:pt x="2385834" y="232613"/>
                  </a:lnTo>
                  <a:lnTo>
                    <a:pt x="2352891" y="212864"/>
                  </a:lnTo>
                  <a:lnTo>
                    <a:pt x="2319477" y="193941"/>
                  </a:lnTo>
                  <a:lnTo>
                    <a:pt x="2285606" y="175831"/>
                  </a:lnTo>
                  <a:lnTo>
                    <a:pt x="2251303" y="158559"/>
                  </a:lnTo>
                  <a:lnTo>
                    <a:pt x="2216581" y="142138"/>
                  </a:lnTo>
                  <a:lnTo>
                    <a:pt x="2181466" y="126580"/>
                  </a:lnTo>
                  <a:lnTo>
                    <a:pt x="2145982" y="111887"/>
                  </a:lnTo>
                  <a:lnTo>
                    <a:pt x="2110155" y="98056"/>
                  </a:lnTo>
                  <a:lnTo>
                    <a:pt x="2073986" y="85115"/>
                  </a:lnTo>
                  <a:lnTo>
                    <a:pt x="2037524" y="73075"/>
                  </a:lnTo>
                  <a:lnTo>
                    <a:pt x="2000770" y="61925"/>
                  </a:lnTo>
                  <a:lnTo>
                    <a:pt x="1963750" y="51676"/>
                  </a:lnTo>
                  <a:lnTo>
                    <a:pt x="1926488" y="42341"/>
                  </a:lnTo>
                  <a:lnTo>
                    <a:pt x="1889023" y="33934"/>
                  </a:lnTo>
                  <a:lnTo>
                    <a:pt x="1851342" y="26441"/>
                  </a:lnTo>
                  <a:lnTo>
                    <a:pt x="1813509" y="19875"/>
                  </a:lnTo>
                  <a:lnTo>
                    <a:pt x="1775510" y="14236"/>
                  </a:lnTo>
                  <a:lnTo>
                    <a:pt x="1737398" y="9537"/>
                  </a:lnTo>
                  <a:lnTo>
                    <a:pt x="1699171" y="5765"/>
                  </a:lnTo>
                  <a:lnTo>
                    <a:pt x="1660867" y="2946"/>
                  </a:lnTo>
                  <a:lnTo>
                    <a:pt x="1622513" y="1066"/>
                  </a:lnTo>
                  <a:lnTo>
                    <a:pt x="1584109" y="114"/>
                  </a:lnTo>
                  <a:lnTo>
                    <a:pt x="1564906" y="0"/>
                  </a:lnTo>
                  <a:lnTo>
                    <a:pt x="1545704" y="114"/>
                  </a:lnTo>
                  <a:lnTo>
                    <a:pt x="1507312" y="1066"/>
                  </a:lnTo>
                  <a:lnTo>
                    <a:pt x="1468945" y="2946"/>
                  </a:lnTo>
                  <a:lnTo>
                    <a:pt x="1430642" y="5765"/>
                  </a:lnTo>
                  <a:lnTo>
                    <a:pt x="1392428" y="9537"/>
                  </a:lnTo>
                  <a:lnTo>
                    <a:pt x="1354302" y="14236"/>
                  </a:lnTo>
                  <a:lnTo>
                    <a:pt x="1316304" y="19875"/>
                  </a:lnTo>
                  <a:lnTo>
                    <a:pt x="1278470" y="26441"/>
                  </a:lnTo>
                  <a:lnTo>
                    <a:pt x="1240802" y="33934"/>
                  </a:lnTo>
                  <a:lnTo>
                    <a:pt x="1203325" y="42341"/>
                  </a:lnTo>
                  <a:lnTo>
                    <a:pt x="1166063" y="51676"/>
                  </a:lnTo>
                  <a:lnTo>
                    <a:pt x="1129055" y="61925"/>
                  </a:lnTo>
                  <a:lnTo>
                    <a:pt x="1092288" y="73075"/>
                  </a:lnTo>
                  <a:lnTo>
                    <a:pt x="1055827" y="85115"/>
                  </a:lnTo>
                  <a:lnTo>
                    <a:pt x="1019670" y="98056"/>
                  </a:lnTo>
                  <a:lnTo>
                    <a:pt x="983830" y="111887"/>
                  </a:lnTo>
                  <a:lnTo>
                    <a:pt x="948347" y="126580"/>
                  </a:lnTo>
                  <a:lnTo>
                    <a:pt x="913231" y="142138"/>
                  </a:lnTo>
                  <a:lnTo>
                    <a:pt x="878509" y="158559"/>
                  </a:lnTo>
                  <a:lnTo>
                    <a:pt x="844207" y="175831"/>
                  </a:lnTo>
                  <a:lnTo>
                    <a:pt x="810336" y="193941"/>
                  </a:lnTo>
                  <a:lnTo>
                    <a:pt x="776922" y="212864"/>
                  </a:lnTo>
                  <a:lnTo>
                    <a:pt x="743978" y="232613"/>
                  </a:lnTo>
                  <a:lnTo>
                    <a:pt x="711530" y="253161"/>
                  </a:lnTo>
                  <a:lnTo>
                    <a:pt x="679589" y="274497"/>
                  </a:lnTo>
                  <a:lnTo>
                    <a:pt x="648195" y="296621"/>
                  </a:lnTo>
                  <a:lnTo>
                    <a:pt x="617334" y="319493"/>
                  </a:lnTo>
                  <a:lnTo>
                    <a:pt x="587070" y="343128"/>
                  </a:lnTo>
                  <a:lnTo>
                    <a:pt x="557377" y="367499"/>
                  </a:lnTo>
                  <a:lnTo>
                    <a:pt x="528294" y="392582"/>
                  </a:lnTo>
                  <a:lnTo>
                    <a:pt x="499833" y="418376"/>
                  </a:lnTo>
                  <a:lnTo>
                    <a:pt x="472008" y="444855"/>
                  </a:lnTo>
                  <a:lnTo>
                    <a:pt x="444855" y="472008"/>
                  </a:lnTo>
                  <a:lnTo>
                    <a:pt x="418376" y="499833"/>
                  </a:lnTo>
                  <a:lnTo>
                    <a:pt x="392582" y="528294"/>
                  </a:lnTo>
                  <a:lnTo>
                    <a:pt x="367499" y="557377"/>
                  </a:lnTo>
                  <a:lnTo>
                    <a:pt x="343128" y="587057"/>
                  </a:lnTo>
                  <a:lnTo>
                    <a:pt x="319493" y="617334"/>
                  </a:lnTo>
                  <a:lnTo>
                    <a:pt x="296621" y="648195"/>
                  </a:lnTo>
                  <a:lnTo>
                    <a:pt x="274510" y="679589"/>
                  </a:lnTo>
                  <a:lnTo>
                    <a:pt x="253161" y="711530"/>
                  </a:lnTo>
                  <a:lnTo>
                    <a:pt x="232613" y="743978"/>
                  </a:lnTo>
                  <a:lnTo>
                    <a:pt x="212877" y="776922"/>
                  </a:lnTo>
                  <a:lnTo>
                    <a:pt x="193941" y="810336"/>
                  </a:lnTo>
                  <a:lnTo>
                    <a:pt x="175831" y="844207"/>
                  </a:lnTo>
                  <a:lnTo>
                    <a:pt x="158572" y="878509"/>
                  </a:lnTo>
                  <a:lnTo>
                    <a:pt x="142151" y="913231"/>
                  </a:lnTo>
                  <a:lnTo>
                    <a:pt x="126580" y="948347"/>
                  </a:lnTo>
                  <a:lnTo>
                    <a:pt x="111887" y="983830"/>
                  </a:lnTo>
                  <a:lnTo>
                    <a:pt x="98056" y="1019657"/>
                  </a:lnTo>
                  <a:lnTo>
                    <a:pt x="85115" y="1055827"/>
                  </a:lnTo>
                  <a:lnTo>
                    <a:pt x="73075" y="1092288"/>
                  </a:lnTo>
                  <a:lnTo>
                    <a:pt x="61925" y="1129042"/>
                  </a:lnTo>
                  <a:lnTo>
                    <a:pt x="51676" y="1166063"/>
                  </a:lnTo>
                  <a:lnTo>
                    <a:pt x="42341" y="1203325"/>
                  </a:lnTo>
                  <a:lnTo>
                    <a:pt x="33934" y="1240790"/>
                  </a:lnTo>
                  <a:lnTo>
                    <a:pt x="26441" y="1278470"/>
                  </a:lnTo>
                  <a:lnTo>
                    <a:pt x="19875" y="1316304"/>
                  </a:lnTo>
                  <a:lnTo>
                    <a:pt x="14236" y="1354302"/>
                  </a:lnTo>
                  <a:lnTo>
                    <a:pt x="9537" y="1392415"/>
                  </a:lnTo>
                  <a:lnTo>
                    <a:pt x="5765" y="1430642"/>
                  </a:lnTo>
                  <a:lnTo>
                    <a:pt x="2946" y="1468945"/>
                  </a:lnTo>
                  <a:lnTo>
                    <a:pt x="1066" y="1507299"/>
                  </a:lnTo>
                  <a:lnTo>
                    <a:pt x="127" y="1545704"/>
                  </a:lnTo>
                  <a:lnTo>
                    <a:pt x="0" y="1564906"/>
                  </a:lnTo>
                  <a:lnTo>
                    <a:pt x="127" y="1584109"/>
                  </a:lnTo>
                  <a:lnTo>
                    <a:pt x="1066" y="1622501"/>
                  </a:lnTo>
                  <a:lnTo>
                    <a:pt x="2946" y="1660867"/>
                  </a:lnTo>
                  <a:lnTo>
                    <a:pt x="5765" y="1699171"/>
                  </a:lnTo>
                  <a:lnTo>
                    <a:pt x="9537" y="1737398"/>
                  </a:lnTo>
                  <a:lnTo>
                    <a:pt x="14236" y="1775510"/>
                  </a:lnTo>
                  <a:lnTo>
                    <a:pt x="19875" y="1813509"/>
                  </a:lnTo>
                  <a:lnTo>
                    <a:pt x="26441" y="1851342"/>
                  </a:lnTo>
                  <a:lnTo>
                    <a:pt x="33934" y="1889010"/>
                  </a:lnTo>
                  <a:lnTo>
                    <a:pt x="42341" y="1926488"/>
                  </a:lnTo>
                  <a:lnTo>
                    <a:pt x="51676" y="1963750"/>
                  </a:lnTo>
                  <a:lnTo>
                    <a:pt x="61925" y="2000770"/>
                  </a:lnTo>
                  <a:lnTo>
                    <a:pt x="73075" y="2037511"/>
                  </a:lnTo>
                  <a:lnTo>
                    <a:pt x="85115" y="2073986"/>
                  </a:lnTo>
                  <a:lnTo>
                    <a:pt x="98056" y="2110143"/>
                  </a:lnTo>
                  <a:lnTo>
                    <a:pt x="111887" y="2145982"/>
                  </a:lnTo>
                  <a:lnTo>
                    <a:pt x="126580" y="2181466"/>
                  </a:lnTo>
                  <a:lnTo>
                    <a:pt x="142151" y="2216581"/>
                  </a:lnTo>
                  <a:lnTo>
                    <a:pt x="158572" y="2251303"/>
                  </a:lnTo>
                  <a:lnTo>
                    <a:pt x="175831" y="2285606"/>
                  </a:lnTo>
                  <a:lnTo>
                    <a:pt x="193941" y="2319477"/>
                  </a:lnTo>
                  <a:lnTo>
                    <a:pt x="212877" y="2352891"/>
                  </a:lnTo>
                  <a:lnTo>
                    <a:pt x="232613" y="2385834"/>
                  </a:lnTo>
                  <a:lnTo>
                    <a:pt x="253161" y="2418283"/>
                  </a:lnTo>
                  <a:lnTo>
                    <a:pt x="274510" y="2450223"/>
                  </a:lnTo>
                  <a:lnTo>
                    <a:pt x="296621" y="2481618"/>
                  </a:lnTo>
                  <a:lnTo>
                    <a:pt x="319493" y="2512479"/>
                  </a:lnTo>
                  <a:lnTo>
                    <a:pt x="343128" y="2542756"/>
                  </a:lnTo>
                  <a:lnTo>
                    <a:pt x="367499" y="2572435"/>
                  </a:lnTo>
                  <a:lnTo>
                    <a:pt x="392582" y="2601518"/>
                  </a:lnTo>
                  <a:lnTo>
                    <a:pt x="418376" y="2629979"/>
                  </a:lnTo>
                  <a:lnTo>
                    <a:pt x="444855" y="2657805"/>
                  </a:lnTo>
                  <a:lnTo>
                    <a:pt x="472008" y="2684957"/>
                  </a:lnTo>
                  <a:lnTo>
                    <a:pt x="499833" y="2711437"/>
                  </a:lnTo>
                  <a:lnTo>
                    <a:pt x="528294" y="2737231"/>
                  </a:lnTo>
                  <a:lnTo>
                    <a:pt x="557377" y="2762313"/>
                  </a:lnTo>
                  <a:lnTo>
                    <a:pt x="587070" y="2786684"/>
                  </a:lnTo>
                  <a:lnTo>
                    <a:pt x="617334" y="2810319"/>
                  </a:lnTo>
                  <a:lnTo>
                    <a:pt x="648195" y="2833192"/>
                  </a:lnTo>
                  <a:lnTo>
                    <a:pt x="679589" y="2855315"/>
                  </a:lnTo>
                  <a:lnTo>
                    <a:pt x="711530" y="2876651"/>
                  </a:lnTo>
                  <a:lnTo>
                    <a:pt x="743978" y="2897200"/>
                  </a:lnTo>
                  <a:lnTo>
                    <a:pt x="776922" y="2916936"/>
                  </a:lnTo>
                  <a:lnTo>
                    <a:pt x="810336" y="2935871"/>
                  </a:lnTo>
                  <a:lnTo>
                    <a:pt x="844207" y="2953969"/>
                  </a:lnTo>
                  <a:lnTo>
                    <a:pt x="878509" y="2971241"/>
                  </a:lnTo>
                  <a:lnTo>
                    <a:pt x="913231" y="2987662"/>
                  </a:lnTo>
                  <a:lnTo>
                    <a:pt x="948347" y="3003232"/>
                  </a:lnTo>
                  <a:lnTo>
                    <a:pt x="983830" y="3017926"/>
                  </a:lnTo>
                  <a:lnTo>
                    <a:pt x="1019670" y="3031756"/>
                  </a:lnTo>
                  <a:lnTo>
                    <a:pt x="1055827" y="3044698"/>
                  </a:lnTo>
                  <a:lnTo>
                    <a:pt x="1092288" y="3056737"/>
                  </a:lnTo>
                  <a:lnTo>
                    <a:pt x="1129055" y="3067888"/>
                  </a:lnTo>
                  <a:lnTo>
                    <a:pt x="1166063" y="3078137"/>
                  </a:lnTo>
                  <a:lnTo>
                    <a:pt x="1203325" y="3087471"/>
                  </a:lnTo>
                  <a:lnTo>
                    <a:pt x="1240802" y="3095879"/>
                  </a:lnTo>
                  <a:lnTo>
                    <a:pt x="1278470" y="3103372"/>
                  </a:lnTo>
                  <a:lnTo>
                    <a:pt x="1316304" y="3109938"/>
                  </a:lnTo>
                  <a:lnTo>
                    <a:pt x="1354302" y="3115576"/>
                  </a:lnTo>
                  <a:lnTo>
                    <a:pt x="1392428" y="3120275"/>
                  </a:lnTo>
                  <a:lnTo>
                    <a:pt x="1430642" y="3124047"/>
                  </a:lnTo>
                  <a:lnTo>
                    <a:pt x="1468945" y="3126867"/>
                  </a:lnTo>
                  <a:lnTo>
                    <a:pt x="1507312" y="3128746"/>
                  </a:lnTo>
                  <a:lnTo>
                    <a:pt x="1545704" y="3129699"/>
                  </a:lnTo>
                  <a:lnTo>
                    <a:pt x="1564906" y="3129813"/>
                  </a:lnTo>
                  <a:lnTo>
                    <a:pt x="1584109" y="3129699"/>
                  </a:lnTo>
                  <a:lnTo>
                    <a:pt x="1622513" y="3128746"/>
                  </a:lnTo>
                  <a:lnTo>
                    <a:pt x="1660867" y="3126867"/>
                  </a:lnTo>
                  <a:lnTo>
                    <a:pt x="1699171" y="3124047"/>
                  </a:lnTo>
                  <a:lnTo>
                    <a:pt x="1737398" y="3120275"/>
                  </a:lnTo>
                  <a:lnTo>
                    <a:pt x="1775510" y="3115576"/>
                  </a:lnTo>
                  <a:lnTo>
                    <a:pt x="1813509" y="3109938"/>
                  </a:lnTo>
                  <a:lnTo>
                    <a:pt x="1851342" y="3103372"/>
                  </a:lnTo>
                  <a:lnTo>
                    <a:pt x="1889023" y="3095879"/>
                  </a:lnTo>
                  <a:lnTo>
                    <a:pt x="1926488" y="3087471"/>
                  </a:lnTo>
                  <a:lnTo>
                    <a:pt x="1963750" y="3078137"/>
                  </a:lnTo>
                  <a:lnTo>
                    <a:pt x="2000770" y="3067888"/>
                  </a:lnTo>
                  <a:lnTo>
                    <a:pt x="2037524" y="3056737"/>
                  </a:lnTo>
                  <a:lnTo>
                    <a:pt x="2073986" y="3044698"/>
                  </a:lnTo>
                  <a:lnTo>
                    <a:pt x="2110155" y="3031756"/>
                  </a:lnTo>
                  <a:lnTo>
                    <a:pt x="2145982" y="3017926"/>
                  </a:lnTo>
                  <a:lnTo>
                    <a:pt x="2181466" y="3003232"/>
                  </a:lnTo>
                  <a:lnTo>
                    <a:pt x="2216581" y="2987662"/>
                  </a:lnTo>
                  <a:lnTo>
                    <a:pt x="2251303" y="2971241"/>
                  </a:lnTo>
                  <a:lnTo>
                    <a:pt x="2285606" y="2953969"/>
                  </a:lnTo>
                  <a:lnTo>
                    <a:pt x="2319477" y="2935871"/>
                  </a:lnTo>
                  <a:lnTo>
                    <a:pt x="2352891" y="2916936"/>
                  </a:lnTo>
                  <a:lnTo>
                    <a:pt x="2385834" y="2897200"/>
                  </a:lnTo>
                  <a:lnTo>
                    <a:pt x="2418296" y="2876651"/>
                  </a:lnTo>
                  <a:lnTo>
                    <a:pt x="2450223" y="2855315"/>
                  </a:lnTo>
                  <a:lnTo>
                    <a:pt x="2481630" y="2833192"/>
                  </a:lnTo>
                  <a:lnTo>
                    <a:pt x="2512479" y="2810319"/>
                  </a:lnTo>
                  <a:lnTo>
                    <a:pt x="2542756" y="2786684"/>
                  </a:lnTo>
                  <a:lnTo>
                    <a:pt x="2572435" y="2762313"/>
                  </a:lnTo>
                  <a:lnTo>
                    <a:pt x="2601518" y="2737231"/>
                  </a:lnTo>
                  <a:lnTo>
                    <a:pt x="2629979" y="2711437"/>
                  </a:lnTo>
                  <a:lnTo>
                    <a:pt x="2657805" y="2684957"/>
                  </a:lnTo>
                  <a:lnTo>
                    <a:pt x="2684957" y="2657805"/>
                  </a:lnTo>
                  <a:lnTo>
                    <a:pt x="2711437" y="2629979"/>
                  </a:lnTo>
                  <a:lnTo>
                    <a:pt x="2737231" y="2601518"/>
                  </a:lnTo>
                  <a:lnTo>
                    <a:pt x="2762326" y="2572435"/>
                  </a:lnTo>
                  <a:lnTo>
                    <a:pt x="2786684" y="2542756"/>
                  </a:lnTo>
                  <a:lnTo>
                    <a:pt x="2810319" y="2512479"/>
                  </a:lnTo>
                  <a:lnTo>
                    <a:pt x="2833192" y="2481618"/>
                  </a:lnTo>
                  <a:lnTo>
                    <a:pt x="2855315" y="2450223"/>
                  </a:lnTo>
                  <a:lnTo>
                    <a:pt x="2876651" y="2418283"/>
                  </a:lnTo>
                  <a:lnTo>
                    <a:pt x="2897200" y="2385834"/>
                  </a:lnTo>
                  <a:lnTo>
                    <a:pt x="2916948" y="2352891"/>
                  </a:lnTo>
                  <a:lnTo>
                    <a:pt x="2935871" y="2319477"/>
                  </a:lnTo>
                  <a:lnTo>
                    <a:pt x="2952712" y="2288019"/>
                  </a:lnTo>
                  <a:lnTo>
                    <a:pt x="4249471" y="2652420"/>
                  </a:lnTo>
                  <a:lnTo>
                    <a:pt x="4254766" y="2633611"/>
                  </a:lnTo>
                  <a:close/>
                </a:path>
              </a:pathLst>
            </a:custGeom>
            <a:solidFill>
              <a:srgbClr val="FF5D0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619698" y="13160466"/>
              <a:ext cx="684530" cy="684530"/>
            </a:xfrm>
            <a:custGeom>
              <a:avLst/>
              <a:gdLst/>
              <a:ahLst/>
              <a:cxnLst/>
              <a:rect l="l" t="t" r="r" b="b"/>
              <a:pathLst>
                <a:path w="684529" h="684530">
                  <a:moveTo>
                    <a:pt x="342028" y="684056"/>
                  </a:moveTo>
                  <a:lnTo>
                    <a:pt x="300157" y="681481"/>
                  </a:lnTo>
                  <a:lnTo>
                    <a:pt x="258923" y="673807"/>
                  </a:lnTo>
                  <a:lnTo>
                    <a:pt x="218935" y="661137"/>
                  </a:lnTo>
                  <a:lnTo>
                    <a:pt x="180796" y="643667"/>
                  </a:lnTo>
                  <a:lnTo>
                    <a:pt x="145082" y="621663"/>
                  </a:lnTo>
                  <a:lnTo>
                    <a:pt x="112335" y="595452"/>
                  </a:lnTo>
                  <a:lnTo>
                    <a:pt x="83045" y="565434"/>
                  </a:lnTo>
                  <a:lnTo>
                    <a:pt x="57646" y="532048"/>
                  </a:lnTo>
                  <a:lnTo>
                    <a:pt x="36518" y="495806"/>
                  </a:lnTo>
                  <a:lnTo>
                    <a:pt x="19995" y="457254"/>
                  </a:lnTo>
                  <a:lnTo>
                    <a:pt x="8307" y="416966"/>
                  </a:lnTo>
                  <a:lnTo>
                    <a:pt x="1651" y="375556"/>
                  </a:lnTo>
                  <a:lnTo>
                    <a:pt x="0" y="342028"/>
                  </a:lnTo>
                  <a:lnTo>
                    <a:pt x="102" y="333632"/>
                  </a:lnTo>
                  <a:lnTo>
                    <a:pt x="3702" y="291842"/>
                  </a:lnTo>
                  <a:lnTo>
                    <a:pt x="12386" y="250807"/>
                  </a:lnTo>
                  <a:lnTo>
                    <a:pt x="26033" y="211138"/>
                  </a:lnTo>
                  <a:lnTo>
                    <a:pt x="44435" y="173439"/>
                  </a:lnTo>
                  <a:lnTo>
                    <a:pt x="67305" y="138280"/>
                  </a:lnTo>
                  <a:lnTo>
                    <a:pt x="94313" y="106187"/>
                  </a:lnTo>
                  <a:lnTo>
                    <a:pt x="125045" y="77640"/>
                  </a:lnTo>
                  <a:lnTo>
                    <a:pt x="159044" y="53065"/>
                  </a:lnTo>
                  <a:lnTo>
                    <a:pt x="195791" y="32837"/>
                  </a:lnTo>
                  <a:lnTo>
                    <a:pt x="234736" y="17264"/>
                  </a:lnTo>
                  <a:lnTo>
                    <a:pt x="275303" y="6576"/>
                  </a:lnTo>
                  <a:lnTo>
                    <a:pt x="316867" y="927"/>
                  </a:lnTo>
                  <a:lnTo>
                    <a:pt x="342028" y="0"/>
                  </a:lnTo>
                  <a:lnTo>
                    <a:pt x="350423" y="102"/>
                  </a:lnTo>
                  <a:lnTo>
                    <a:pt x="392213" y="3703"/>
                  </a:lnTo>
                  <a:lnTo>
                    <a:pt x="433248" y="12386"/>
                  </a:lnTo>
                  <a:lnTo>
                    <a:pt x="472917" y="26033"/>
                  </a:lnTo>
                  <a:lnTo>
                    <a:pt x="510616" y="44436"/>
                  </a:lnTo>
                  <a:lnTo>
                    <a:pt x="545775" y="67306"/>
                  </a:lnTo>
                  <a:lnTo>
                    <a:pt x="577868" y="94313"/>
                  </a:lnTo>
                  <a:lnTo>
                    <a:pt x="606415" y="125045"/>
                  </a:lnTo>
                  <a:lnTo>
                    <a:pt x="630990" y="159044"/>
                  </a:lnTo>
                  <a:lnTo>
                    <a:pt x="651218" y="195791"/>
                  </a:lnTo>
                  <a:lnTo>
                    <a:pt x="666791" y="234736"/>
                  </a:lnTo>
                  <a:lnTo>
                    <a:pt x="677479" y="275303"/>
                  </a:lnTo>
                  <a:lnTo>
                    <a:pt x="683128" y="316867"/>
                  </a:lnTo>
                  <a:lnTo>
                    <a:pt x="684056" y="342028"/>
                  </a:lnTo>
                  <a:lnTo>
                    <a:pt x="683953" y="350423"/>
                  </a:lnTo>
                  <a:lnTo>
                    <a:pt x="680352" y="392213"/>
                  </a:lnTo>
                  <a:lnTo>
                    <a:pt x="671669" y="433248"/>
                  </a:lnTo>
                  <a:lnTo>
                    <a:pt x="658022" y="472917"/>
                  </a:lnTo>
                  <a:lnTo>
                    <a:pt x="639619" y="510616"/>
                  </a:lnTo>
                  <a:lnTo>
                    <a:pt x="616749" y="545775"/>
                  </a:lnTo>
                  <a:lnTo>
                    <a:pt x="589742" y="577868"/>
                  </a:lnTo>
                  <a:lnTo>
                    <a:pt x="559010" y="606415"/>
                  </a:lnTo>
                  <a:lnTo>
                    <a:pt x="525011" y="630990"/>
                  </a:lnTo>
                  <a:lnTo>
                    <a:pt x="488264" y="651218"/>
                  </a:lnTo>
                  <a:lnTo>
                    <a:pt x="449319" y="666791"/>
                  </a:lnTo>
                  <a:lnTo>
                    <a:pt x="408752" y="677479"/>
                  </a:lnTo>
                  <a:lnTo>
                    <a:pt x="367188" y="683128"/>
                  </a:lnTo>
                  <a:lnTo>
                    <a:pt x="342028" y="684056"/>
                  </a:lnTo>
                  <a:close/>
                </a:path>
              </a:pathLst>
            </a:custGeom>
            <a:solidFill>
              <a:srgbClr val="FF63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794395" y="12501587"/>
              <a:ext cx="3825875" cy="2280285"/>
            </a:xfrm>
            <a:custGeom>
              <a:avLst/>
              <a:gdLst/>
              <a:ahLst/>
              <a:cxnLst/>
              <a:rect l="l" t="t" r="r" b="b"/>
              <a:pathLst>
                <a:path w="3825875" h="2280284">
                  <a:moveTo>
                    <a:pt x="3825290" y="1069314"/>
                  </a:moveTo>
                  <a:lnTo>
                    <a:pt x="3822458" y="1049985"/>
                  </a:lnTo>
                  <a:lnTo>
                    <a:pt x="2277135" y="1276946"/>
                  </a:lnTo>
                  <a:lnTo>
                    <a:pt x="2281440" y="1235773"/>
                  </a:lnTo>
                  <a:lnTo>
                    <a:pt x="2284425" y="1188097"/>
                  </a:lnTo>
                  <a:lnTo>
                    <a:pt x="2285428" y="1139913"/>
                  </a:lnTo>
                  <a:lnTo>
                    <a:pt x="2284425" y="1091730"/>
                  </a:lnTo>
                  <a:lnTo>
                    <a:pt x="2281440" y="1044054"/>
                  </a:lnTo>
                  <a:lnTo>
                    <a:pt x="2276525" y="996924"/>
                  </a:lnTo>
                  <a:lnTo>
                    <a:pt x="2269706" y="950391"/>
                  </a:lnTo>
                  <a:lnTo>
                    <a:pt x="2261031" y="904481"/>
                  </a:lnTo>
                  <a:lnTo>
                    <a:pt x="2250529" y="859243"/>
                  </a:lnTo>
                  <a:lnTo>
                    <a:pt x="2238248" y="814705"/>
                  </a:lnTo>
                  <a:lnTo>
                    <a:pt x="2224227" y="770915"/>
                  </a:lnTo>
                  <a:lnTo>
                    <a:pt x="2208504" y="727925"/>
                  </a:lnTo>
                  <a:lnTo>
                    <a:pt x="2191131" y="685749"/>
                  </a:lnTo>
                  <a:lnTo>
                    <a:pt x="2172131" y="644436"/>
                  </a:lnTo>
                  <a:lnTo>
                    <a:pt x="2151545" y="604037"/>
                  </a:lnTo>
                  <a:lnTo>
                    <a:pt x="2129409" y="564578"/>
                  </a:lnTo>
                  <a:lnTo>
                    <a:pt x="2105787" y="526110"/>
                  </a:lnTo>
                  <a:lnTo>
                    <a:pt x="2080691" y="488657"/>
                  </a:lnTo>
                  <a:lnTo>
                    <a:pt x="2054174" y="452272"/>
                  </a:lnTo>
                  <a:lnTo>
                    <a:pt x="2026272" y="416991"/>
                  </a:lnTo>
                  <a:lnTo>
                    <a:pt x="1997036" y="382854"/>
                  </a:lnTo>
                  <a:lnTo>
                    <a:pt x="1966480" y="349897"/>
                  </a:lnTo>
                  <a:lnTo>
                    <a:pt x="1934667" y="318160"/>
                  </a:lnTo>
                  <a:lnTo>
                    <a:pt x="1901634" y="287693"/>
                  </a:lnTo>
                  <a:lnTo>
                    <a:pt x="1867408" y="258521"/>
                  </a:lnTo>
                  <a:lnTo>
                    <a:pt x="1832038" y="230695"/>
                  </a:lnTo>
                  <a:lnTo>
                    <a:pt x="1795564" y="204241"/>
                  </a:lnTo>
                  <a:lnTo>
                    <a:pt x="1758035" y="179209"/>
                  </a:lnTo>
                  <a:lnTo>
                    <a:pt x="1719465" y="155638"/>
                  </a:lnTo>
                  <a:lnTo>
                    <a:pt x="1679905" y="133565"/>
                  </a:lnTo>
                  <a:lnTo>
                    <a:pt x="1639404" y="113030"/>
                  </a:lnTo>
                  <a:lnTo>
                    <a:pt x="1597990" y="94068"/>
                  </a:lnTo>
                  <a:lnTo>
                    <a:pt x="1555724" y="76733"/>
                  </a:lnTo>
                  <a:lnTo>
                    <a:pt x="1512608" y="61048"/>
                  </a:lnTo>
                  <a:lnTo>
                    <a:pt x="1468716" y="47066"/>
                  </a:lnTo>
                  <a:lnTo>
                    <a:pt x="1424076" y="34810"/>
                  </a:lnTo>
                  <a:lnTo>
                    <a:pt x="1378724" y="24345"/>
                  </a:lnTo>
                  <a:lnTo>
                    <a:pt x="1332699" y="15684"/>
                  </a:lnTo>
                  <a:lnTo>
                    <a:pt x="1286040" y="8877"/>
                  </a:lnTo>
                  <a:lnTo>
                    <a:pt x="1238796" y="3975"/>
                  </a:lnTo>
                  <a:lnTo>
                    <a:pt x="1191006" y="1003"/>
                  </a:lnTo>
                  <a:lnTo>
                    <a:pt x="1142707" y="0"/>
                  </a:lnTo>
                  <a:lnTo>
                    <a:pt x="1094397" y="1003"/>
                  </a:lnTo>
                  <a:lnTo>
                    <a:pt x="1046607" y="3975"/>
                  </a:lnTo>
                  <a:lnTo>
                    <a:pt x="999363" y="8877"/>
                  </a:lnTo>
                  <a:lnTo>
                    <a:pt x="952703" y="15684"/>
                  </a:lnTo>
                  <a:lnTo>
                    <a:pt x="906691" y="24345"/>
                  </a:lnTo>
                  <a:lnTo>
                    <a:pt x="861339" y="34810"/>
                  </a:lnTo>
                  <a:lnTo>
                    <a:pt x="816686" y="47066"/>
                  </a:lnTo>
                  <a:lnTo>
                    <a:pt x="772795" y="61048"/>
                  </a:lnTo>
                  <a:lnTo>
                    <a:pt x="729691" y="76733"/>
                  </a:lnTo>
                  <a:lnTo>
                    <a:pt x="687412" y="94068"/>
                  </a:lnTo>
                  <a:lnTo>
                    <a:pt x="646010" y="113030"/>
                  </a:lnTo>
                  <a:lnTo>
                    <a:pt x="605510" y="133565"/>
                  </a:lnTo>
                  <a:lnTo>
                    <a:pt x="565950" y="155638"/>
                  </a:lnTo>
                  <a:lnTo>
                    <a:pt x="527380" y="179209"/>
                  </a:lnTo>
                  <a:lnTo>
                    <a:pt x="489839" y="204241"/>
                  </a:lnTo>
                  <a:lnTo>
                    <a:pt x="453377" y="230695"/>
                  </a:lnTo>
                  <a:lnTo>
                    <a:pt x="418007" y="258521"/>
                  </a:lnTo>
                  <a:lnTo>
                    <a:pt x="383781" y="287693"/>
                  </a:lnTo>
                  <a:lnTo>
                    <a:pt x="350748" y="318173"/>
                  </a:lnTo>
                  <a:lnTo>
                    <a:pt x="318935" y="349897"/>
                  </a:lnTo>
                  <a:lnTo>
                    <a:pt x="288391" y="382854"/>
                  </a:lnTo>
                  <a:lnTo>
                    <a:pt x="259143" y="417004"/>
                  </a:lnTo>
                  <a:lnTo>
                    <a:pt x="231241" y="452285"/>
                  </a:lnTo>
                  <a:lnTo>
                    <a:pt x="204724" y="488670"/>
                  </a:lnTo>
                  <a:lnTo>
                    <a:pt x="179641" y="526110"/>
                  </a:lnTo>
                  <a:lnTo>
                    <a:pt x="156006" y="564591"/>
                  </a:lnTo>
                  <a:lnTo>
                    <a:pt x="133883" y="604037"/>
                  </a:lnTo>
                  <a:lnTo>
                    <a:pt x="113296" y="644448"/>
                  </a:lnTo>
                  <a:lnTo>
                    <a:pt x="94297" y="685749"/>
                  </a:lnTo>
                  <a:lnTo>
                    <a:pt x="76911" y="727925"/>
                  </a:lnTo>
                  <a:lnTo>
                    <a:pt x="61188" y="770928"/>
                  </a:lnTo>
                  <a:lnTo>
                    <a:pt x="47167" y="814705"/>
                  </a:lnTo>
                  <a:lnTo>
                    <a:pt x="34899" y="859243"/>
                  </a:lnTo>
                  <a:lnTo>
                    <a:pt x="24396" y="904481"/>
                  </a:lnTo>
                  <a:lnTo>
                    <a:pt x="15722" y="950391"/>
                  </a:lnTo>
                  <a:lnTo>
                    <a:pt x="8902" y="996924"/>
                  </a:lnTo>
                  <a:lnTo>
                    <a:pt x="3975" y="1044054"/>
                  </a:lnTo>
                  <a:lnTo>
                    <a:pt x="1003" y="1091730"/>
                  </a:lnTo>
                  <a:lnTo>
                    <a:pt x="0" y="1139913"/>
                  </a:lnTo>
                  <a:lnTo>
                    <a:pt x="1003" y="1188097"/>
                  </a:lnTo>
                  <a:lnTo>
                    <a:pt x="3975" y="1235773"/>
                  </a:lnTo>
                  <a:lnTo>
                    <a:pt x="8902" y="1282903"/>
                  </a:lnTo>
                  <a:lnTo>
                    <a:pt x="15722" y="1329436"/>
                  </a:lnTo>
                  <a:lnTo>
                    <a:pt x="24396" y="1375346"/>
                  </a:lnTo>
                  <a:lnTo>
                    <a:pt x="34899" y="1420583"/>
                  </a:lnTo>
                  <a:lnTo>
                    <a:pt x="47167" y="1465110"/>
                  </a:lnTo>
                  <a:lnTo>
                    <a:pt x="61188" y="1508899"/>
                  </a:lnTo>
                  <a:lnTo>
                    <a:pt x="76911" y="1551901"/>
                  </a:lnTo>
                  <a:lnTo>
                    <a:pt x="94297" y="1594065"/>
                  </a:lnTo>
                  <a:lnTo>
                    <a:pt x="113296" y="1635379"/>
                  </a:lnTo>
                  <a:lnTo>
                    <a:pt x="133883" y="1675777"/>
                  </a:lnTo>
                  <a:lnTo>
                    <a:pt x="156006" y="1715236"/>
                  </a:lnTo>
                  <a:lnTo>
                    <a:pt x="179641" y="1753704"/>
                  </a:lnTo>
                  <a:lnTo>
                    <a:pt x="204724" y="1791157"/>
                  </a:lnTo>
                  <a:lnTo>
                    <a:pt x="231241" y="1827542"/>
                  </a:lnTo>
                  <a:lnTo>
                    <a:pt x="259143" y="1862823"/>
                  </a:lnTo>
                  <a:lnTo>
                    <a:pt x="288391" y="1896960"/>
                  </a:lnTo>
                  <a:lnTo>
                    <a:pt x="318935" y="1929917"/>
                  </a:lnTo>
                  <a:lnTo>
                    <a:pt x="350748" y="1961654"/>
                  </a:lnTo>
                  <a:lnTo>
                    <a:pt x="383781" y="1992122"/>
                  </a:lnTo>
                  <a:lnTo>
                    <a:pt x="418007" y="2021293"/>
                  </a:lnTo>
                  <a:lnTo>
                    <a:pt x="453377" y="2049132"/>
                  </a:lnTo>
                  <a:lnTo>
                    <a:pt x="489839" y="2075573"/>
                  </a:lnTo>
                  <a:lnTo>
                    <a:pt x="527380" y="2100605"/>
                  </a:lnTo>
                  <a:lnTo>
                    <a:pt x="565950" y="2124176"/>
                  </a:lnTo>
                  <a:lnTo>
                    <a:pt x="605510" y="2146249"/>
                  </a:lnTo>
                  <a:lnTo>
                    <a:pt x="646010" y="2166785"/>
                  </a:lnTo>
                  <a:lnTo>
                    <a:pt x="687412" y="2185746"/>
                  </a:lnTo>
                  <a:lnTo>
                    <a:pt x="729691" y="2203081"/>
                  </a:lnTo>
                  <a:lnTo>
                    <a:pt x="772795" y="2218766"/>
                  </a:lnTo>
                  <a:lnTo>
                    <a:pt x="816686" y="2232749"/>
                  </a:lnTo>
                  <a:lnTo>
                    <a:pt x="861339" y="2245004"/>
                  </a:lnTo>
                  <a:lnTo>
                    <a:pt x="906691" y="2255469"/>
                  </a:lnTo>
                  <a:lnTo>
                    <a:pt x="952703" y="2264130"/>
                  </a:lnTo>
                  <a:lnTo>
                    <a:pt x="999363" y="2270937"/>
                  </a:lnTo>
                  <a:lnTo>
                    <a:pt x="1046607" y="2275840"/>
                  </a:lnTo>
                  <a:lnTo>
                    <a:pt x="1094397" y="2278811"/>
                  </a:lnTo>
                  <a:lnTo>
                    <a:pt x="1142707" y="2279815"/>
                  </a:lnTo>
                  <a:lnTo>
                    <a:pt x="1191006" y="2278811"/>
                  </a:lnTo>
                  <a:lnTo>
                    <a:pt x="1238796" y="2275840"/>
                  </a:lnTo>
                  <a:lnTo>
                    <a:pt x="1286040" y="2270937"/>
                  </a:lnTo>
                  <a:lnTo>
                    <a:pt x="1332699" y="2264130"/>
                  </a:lnTo>
                  <a:lnTo>
                    <a:pt x="1378724" y="2255469"/>
                  </a:lnTo>
                  <a:lnTo>
                    <a:pt x="1424076" y="2245004"/>
                  </a:lnTo>
                  <a:lnTo>
                    <a:pt x="1468716" y="2232749"/>
                  </a:lnTo>
                  <a:lnTo>
                    <a:pt x="1512608" y="2218766"/>
                  </a:lnTo>
                  <a:lnTo>
                    <a:pt x="1555724" y="2203081"/>
                  </a:lnTo>
                  <a:lnTo>
                    <a:pt x="1597990" y="2185746"/>
                  </a:lnTo>
                  <a:lnTo>
                    <a:pt x="1639404" y="2166785"/>
                  </a:lnTo>
                  <a:lnTo>
                    <a:pt x="1679905" y="2146249"/>
                  </a:lnTo>
                  <a:lnTo>
                    <a:pt x="1719465" y="2124176"/>
                  </a:lnTo>
                  <a:lnTo>
                    <a:pt x="1758035" y="2100605"/>
                  </a:lnTo>
                  <a:lnTo>
                    <a:pt x="1795564" y="2075573"/>
                  </a:lnTo>
                  <a:lnTo>
                    <a:pt x="1832038" y="2049132"/>
                  </a:lnTo>
                  <a:lnTo>
                    <a:pt x="1867408" y="2021293"/>
                  </a:lnTo>
                  <a:lnTo>
                    <a:pt x="1901634" y="1992122"/>
                  </a:lnTo>
                  <a:lnTo>
                    <a:pt x="1934667" y="1961654"/>
                  </a:lnTo>
                  <a:lnTo>
                    <a:pt x="1966480" y="1929917"/>
                  </a:lnTo>
                  <a:lnTo>
                    <a:pt x="1997036" y="1896960"/>
                  </a:lnTo>
                  <a:lnTo>
                    <a:pt x="2026272" y="1862823"/>
                  </a:lnTo>
                  <a:lnTo>
                    <a:pt x="2054174" y="1827542"/>
                  </a:lnTo>
                  <a:lnTo>
                    <a:pt x="2080691" y="1791157"/>
                  </a:lnTo>
                  <a:lnTo>
                    <a:pt x="2105787" y="1753704"/>
                  </a:lnTo>
                  <a:lnTo>
                    <a:pt x="2129409" y="1715236"/>
                  </a:lnTo>
                  <a:lnTo>
                    <a:pt x="2151545" y="1675777"/>
                  </a:lnTo>
                  <a:lnTo>
                    <a:pt x="2172131" y="1635379"/>
                  </a:lnTo>
                  <a:lnTo>
                    <a:pt x="2191131" y="1594065"/>
                  </a:lnTo>
                  <a:lnTo>
                    <a:pt x="2208504" y="1551901"/>
                  </a:lnTo>
                  <a:lnTo>
                    <a:pt x="2224227" y="1508899"/>
                  </a:lnTo>
                  <a:lnTo>
                    <a:pt x="2238248" y="1465110"/>
                  </a:lnTo>
                  <a:lnTo>
                    <a:pt x="2250529" y="1420583"/>
                  </a:lnTo>
                  <a:lnTo>
                    <a:pt x="2261031" y="1375346"/>
                  </a:lnTo>
                  <a:lnTo>
                    <a:pt x="2269706" y="1329436"/>
                  </a:lnTo>
                  <a:lnTo>
                    <a:pt x="2274443" y="1297101"/>
                  </a:lnTo>
                  <a:lnTo>
                    <a:pt x="3825290" y="1069314"/>
                  </a:lnTo>
                  <a:close/>
                </a:path>
              </a:pathLst>
            </a:custGeom>
            <a:solidFill>
              <a:srgbClr val="C244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619698" y="11870532"/>
              <a:ext cx="684530" cy="684530"/>
            </a:xfrm>
            <a:custGeom>
              <a:avLst/>
              <a:gdLst/>
              <a:ahLst/>
              <a:cxnLst/>
              <a:rect l="l" t="t" r="r" b="b"/>
              <a:pathLst>
                <a:path w="684529" h="684529">
                  <a:moveTo>
                    <a:pt x="342028" y="684056"/>
                  </a:moveTo>
                  <a:lnTo>
                    <a:pt x="300157" y="681481"/>
                  </a:lnTo>
                  <a:lnTo>
                    <a:pt x="258923" y="673807"/>
                  </a:lnTo>
                  <a:lnTo>
                    <a:pt x="218935" y="661137"/>
                  </a:lnTo>
                  <a:lnTo>
                    <a:pt x="180796" y="643667"/>
                  </a:lnTo>
                  <a:lnTo>
                    <a:pt x="145082" y="621663"/>
                  </a:lnTo>
                  <a:lnTo>
                    <a:pt x="112335" y="595452"/>
                  </a:lnTo>
                  <a:lnTo>
                    <a:pt x="83045" y="565434"/>
                  </a:lnTo>
                  <a:lnTo>
                    <a:pt x="57646" y="532048"/>
                  </a:lnTo>
                  <a:lnTo>
                    <a:pt x="36518" y="495806"/>
                  </a:lnTo>
                  <a:lnTo>
                    <a:pt x="19995" y="457254"/>
                  </a:lnTo>
                  <a:lnTo>
                    <a:pt x="8307" y="416966"/>
                  </a:lnTo>
                  <a:lnTo>
                    <a:pt x="1651" y="375556"/>
                  </a:lnTo>
                  <a:lnTo>
                    <a:pt x="0" y="342028"/>
                  </a:lnTo>
                  <a:lnTo>
                    <a:pt x="102" y="333632"/>
                  </a:lnTo>
                  <a:lnTo>
                    <a:pt x="3702" y="291842"/>
                  </a:lnTo>
                  <a:lnTo>
                    <a:pt x="12386" y="250807"/>
                  </a:lnTo>
                  <a:lnTo>
                    <a:pt x="26033" y="211138"/>
                  </a:lnTo>
                  <a:lnTo>
                    <a:pt x="44435" y="173439"/>
                  </a:lnTo>
                  <a:lnTo>
                    <a:pt x="67305" y="138280"/>
                  </a:lnTo>
                  <a:lnTo>
                    <a:pt x="94313" y="106187"/>
                  </a:lnTo>
                  <a:lnTo>
                    <a:pt x="125045" y="77640"/>
                  </a:lnTo>
                  <a:lnTo>
                    <a:pt x="159044" y="53065"/>
                  </a:lnTo>
                  <a:lnTo>
                    <a:pt x="195791" y="32837"/>
                  </a:lnTo>
                  <a:lnTo>
                    <a:pt x="234736" y="17264"/>
                  </a:lnTo>
                  <a:lnTo>
                    <a:pt x="275303" y="6576"/>
                  </a:lnTo>
                  <a:lnTo>
                    <a:pt x="316867" y="927"/>
                  </a:lnTo>
                  <a:lnTo>
                    <a:pt x="342028" y="0"/>
                  </a:lnTo>
                  <a:lnTo>
                    <a:pt x="350423" y="102"/>
                  </a:lnTo>
                  <a:lnTo>
                    <a:pt x="392213" y="3703"/>
                  </a:lnTo>
                  <a:lnTo>
                    <a:pt x="433248" y="12386"/>
                  </a:lnTo>
                  <a:lnTo>
                    <a:pt x="472917" y="26033"/>
                  </a:lnTo>
                  <a:lnTo>
                    <a:pt x="510616" y="44436"/>
                  </a:lnTo>
                  <a:lnTo>
                    <a:pt x="545775" y="67306"/>
                  </a:lnTo>
                  <a:lnTo>
                    <a:pt x="577868" y="94313"/>
                  </a:lnTo>
                  <a:lnTo>
                    <a:pt x="606415" y="125045"/>
                  </a:lnTo>
                  <a:lnTo>
                    <a:pt x="630990" y="159044"/>
                  </a:lnTo>
                  <a:lnTo>
                    <a:pt x="651218" y="195791"/>
                  </a:lnTo>
                  <a:lnTo>
                    <a:pt x="666791" y="234736"/>
                  </a:lnTo>
                  <a:lnTo>
                    <a:pt x="677479" y="275303"/>
                  </a:lnTo>
                  <a:lnTo>
                    <a:pt x="683128" y="316867"/>
                  </a:lnTo>
                  <a:lnTo>
                    <a:pt x="684056" y="342028"/>
                  </a:lnTo>
                  <a:lnTo>
                    <a:pt x="683953" y="350423"/>
                  </a:lnTo>
                  <a:lnTo>
                    <a:pt x="680352" y="392213"/>
                  </a:lnTo>
                  <a:lnTo>
                    <a:pt x="671669" y="433248"/>
                  </a:lnTo>
                  <a:lnTo>
                    <a:pt x="658022" y="472917"/>
                  </a:lnTo>
                  <a:lnTo>
                    <a:pt x="639619" y="510616"/>
                  </a:lnTo>
                  <a:lnTo>
                    <a:pt x="616749" y="545775"/>
                  </a:lnTo>
                  <a:lnTo>
                    <a:pt x="589742" y="577868"/>
                  </a:lnTo>
                  <a:lnTo>
                    <a:pt x="559010" y="606415"/>
                  </a:lnTo>
                  <a:lnTo>
                    <a:pt x="525011" y="630990"/>
                  </a:lnTo>
                  <a:lnTo>
                    <a:pt x="488264" y="651218"/>
                  </a:lnTo>
                  <a:lnTo>
                    <a:pt x="449319" y="666791"/>
                  </a:lnTo>
                  <a:lnTo>
                    <a:pt x="408752" y="677479"/>
                  </a:lnTo>
                  <a:lnTo>
                    <a:pt x="367188" y="683128"/>
                  </a:lnTo>
                  <a:lnTo>
                    <a:pt x="342028" y="684056"/>
                  </a:lnTo>
                  <a:close/>
                </a:path>
              </a:pathLst>
            </a:custGeom>
            <a:solidFill>
              <a:srgbClr val="CC47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73452" y="12322822"/>
              <a:ext cx="3375660" cy="1979295"/>
            </a:xfrm>
            <a:custGeom>
              <a:avLst/>
              <a:gdLst/>
              <a:ahLst/>
              <a:cxnLst/>
              <a:rect l="l" t="t" r="r" b="b"/>
              <a:pathLst>
                <a:path w="3375660" h="1979294">
                  <a:moveTo>
                    <a:pt x="3375558" y="16776"/>
                  </a:moveTo>
                  <a:lnTo>
                    <a:pt x="3365538" y="0"/>
                  </a:lnTo>
                  <a:lnTo>
                    <a:pt x="1305001" y="1230731"/>
                  </a:lnTo>
                  <a:lnTo>
                    <a:pt x="1304493" y="1226947"/>
                  </a:lnTo>
                  <a:lnTo>
                    <a:pt x="1295666" y="1179487"/>
                  </a:lnTo>
                  <a:lnTo>
                    <a:pt x="1283347" y="1132814"/>
                  </a:lnTo>
                  <a:lnTo>
                    <a:pt x="1267650" y="1087158"/>
                  </a:lnTo>
                  <a:lnTo>
                    <a:pt x="1248625" y="1042784"/>
                  </a:lnTo>
                  <a:lnTo>
                    <a:pt x="1226400" y="999921"/>
                  </a:lnTo>
                  <a:lnTo>
                    <a:pt x="1201064" y="958837"/>
                  </a:lnTo>
                  <a:lnTo>
                    <a:pt x="1172794" y="919708"/>
                  </a:lnTo>
                  <a:lnTo>
                    <a:pt x="1141717" y="882764"/>
                  </a:lnTo>
                  <a:lnTo>
                    <a:pt x="1107986" y="848207"/>
                  </a:lnTo>
                  <a:lnTo>
                    <a:pt x="1071829" y="816241"/>
                  </a:lnTo>
                  <a:lnTo>
                    <a:pt x="1033411" y="787006"/>
                  </a:lnTo>
                  <a:lnTo>
                    <a:pt x="992949" y="760679"/>
                  </a:lnTo>
                  <a:lnTo>
                    <a:pt x="950645" y="737400"/>
                  </a:lnTo>
                  <a:lnTo>
                    <a:pt x="906754" y="717296"/>
                  </a:lnTo>
                  <a:lnTo>
                    <a:pt x="861517" y="700481"/>
                  </a:lnTo>
                  <a:lnTo>
                    <a:pt x="815149" y="687031"/>
                  </a:lnTo>
                  <a:lnTo>
                    <a:pt x="767905" y="677024"/>
                  </a:lnTo>
                  <a:lnTo>
                    <a:pt x="720077" y="670534"/>
                  </a:lnTo>
                  <a:lnTo>
                    <a:pt x="671893" y="667575"/>
                  </a:lnTo>
                  <a:lnTo>
                    <a:pt x="655802" y="667385"/>
                  </a:lnTo>
                  <a:lnTo>
                    <a:pt x="639699" y="667575"/>
                  </a:lnTo>
                  <a:lnTo>
                    <a:pt x="591515" y="670534"/>
                  </a:lnTo>
                  <a:lnTo>
                    <a:pt x="543687" y="677024"/>
                  </a:lnTo>
                  <a:lnTo>
                    <a:pt x="496455" y="687031"/>
                  </a:lnTo>
                  <a:lnTo>
                    <a:pt x="450075" y="700481"/>
                  </a:lnTo>
                  <a:lnTo>
                    <a:pt x="404837" y="717296"/>
                  </a:lnTo>
                  <a:lnTo>
                    <a:pt x="360946" y="737400"/>
                  </a:lnTo>
                  <a:lnTo>
                    <a:pt x="318655" y="760679"/>
                  </a:lnTo>
                  <a:lnTo>
                    <a:pt x="278180" y="787006"/>
                  </a:lnTo>
                  <a:lnTo>
                    <a:pt x="239763" y="816241"/>
                  </a:lnTo>
                  <a:lnTo>
                    <a:pt x="203606" y="848207"/>
                  </a:lnTo>
                  <a:lnTo>
                    <a:pt x="169887" y="882764"/>
                  </a:lnTo>
                  <a:lnTo>
                    <a:pt x="138798" y="919708"/>
                  </a:lnTo>
                  <a:lnTo>
                    <a:pt x="110515" y="958837"/>
                  </a:lnTo>
                  <a:lnTo>
                    <a:pt x="85204" y="999921"/>
                  </a:lnTo>
                  <a:lnTo>
                    <a:pt x="62966" y="1042784"/>
                  </a:lnTo>
                  <a:lnTo>
                    <a:pt x="43942" y="1087158"/>
                  </a:lnTo>
                  <a:lnTo>
                    <a:pt x="28232" y="1132814"/>
                  </a:lnTo>
                  <a:lnTo>
                    <a:pt x="15938" y="1179487"/>
                  </a:lnTo>
                  <a:lnTo>
                    <a:pt x="7099" y="1226947"/>
                  </a:lnTo>
                  <a:lnTo>
                    <a:pt x="1778" y="1274940"/>
                  </a:lnTo>
                  <a:lnTo>
                    <a:pt x="0" y="1323174"/>
                  </a:lnTo>
                  <a:lnTo>
                    <a:pt x="203" y="1339278"/>
                  </a:lnTo>
                  <a:lnTo>
                    <a:pt x="3162" y="1387462"/>
                  </a:lnTo>
                  <a:lnTo>
                    <a:pt x="9652" y="1435277"/>
                  </a:lnTo>
                  <a:lnTo>
                    <a:pt x="19646" y="1482521"/>
                  </a:lnTo>
                  <a:lnTo>
                    <a:pt x="33096" y="1528889"/>
                  </a:lnTo>
                  <a:lnTo>
                    <a:pt x="49923" y="1574139"/>
                  </a:lnTo>
                  <a:lnTo>
                    <a:pt x="70027" y="1618030"/>
                  </a:lnTo>
                  <a:lnTo>
                    <a:pt x="93306" y="1660321"/>
                  </a:lnTo>
                  <a:lnTo>
                    <a:pt x="119621" y="1700796"/>
                  </a:lnTo>
                  <a:lnTo>
                    <a:pt x="148856" y="1739214"/>
                  </a:lnTo>
                  <a:lnTo>
                    <a:pt x="180835" y="1775371"/>
                  </a:lnTo>
                  <a:lnTo>
                    <a:pt x="215392" y="1809089"/>
                  </a:lnTo>
                  <a:lnTo>
                    <a:pt x="252336" y="1840166"/>
                  </a:lnTo>
                  <a:lnTo>
                    <a:pt x="291452" y="1868449"/>
                  </a:lnTo>
                  <a:lnTo>
                    <a:pt x="332549" y="1893773"/>
                  </a:lnTo>
                  <a:lnTo>
                    <a:pt x="375412" y="1916010"/>
                  </a:lnTo>
                  <a:lnTo>
                    <a:pt x="419785" y="1935035"/>
                  </a:lnTo>
                  <a:lnTo>
                    <a:pt x="465429" y="1950732"/>
                  </a:lnTo>
                  <a:lnTo>
                    <a:pt x="512102" y="1963039"/>
                  </a:lnTo>
                  <a:lnTo>
                    <a:pt x="559574" y="1971878"/>
                  </a:lnTo>
                  <a:lnTo>
                    <a:pt x="607555" y="1977199"/>
                  </a:lnTo>
                  <a:lnTo>
                    <a:pt x="655802" y="1978964"/>
                  </a:lnTo>
                  <a:lnTo>
                    <a:pt x="671893" y="1978774"/>
                  </a:lnTo>
                  <a:lnTo>
                    <a:pt x="720077" y="1975815"/>
                  </a:lnTo>
                  <a:lnTo>
                    <a:pt x="767905" y="1969325"/>
                  </a:lnTo>
                  <a:lnTo>
                    <a:pt x="815149" y="1959317"/>
                  </a:lnTo>
                  <a:lnTo>
                    <a:pt x="861517" y="1945881"/>
                  </a:lnTo>
                  <a:lnTo>
                    <a:pt x="906754" y="1929053"/>
                  </a:lnTo>
                  <a:lnTo>
                    <a:pt x="950645" y="1908949"/>
                  </a:lnTo>
                  <a:lnTo>
                    <a:pt x="992949" y="1885670"/>
                  </a:lnTo>
                  <a:lnTo>
                    <a:pt x="1033411" y="1859343"/>
                  </a:lnTo>
                  <a:lnTo>
                    <a:pt x="1071829" y="1830108"/>
                  </a:lnTo>
                  <a:lnTo>
                    <a:pt x="1107986" y="1798142"/>
                  </a:lnTo>
                  <a:lnTo>
                    <a:pt x="1141717" y="1763585"/>
                  </a:lnTo>
                  <a:lnTo>
                    <a:pt x="1172794" y="1726641"/>
                  </a:lnTo>
                  <a:lnTo>
                    <a:pt x="1201064" y="1687512"/>
                  </a:lnTo>
                  <a:lnTo>
                    <a:pt x="1226400" y="1646428"/>
                  </a:lnTo>
                  <a:lnTo>
                    <a:pt x="1248625" y="1603565"/>
                  </a:lnTo>
                  <a:lnTo>
                    <a:pt x="1267650" y="1559191"/>
                  </a:lnTo>
                  <a:lnTo>
                    <a:pt x="1283347" y="1513535"/>
                  </a:lnTo>
                  <a:lnTo>
                    <a:pt x="1295666" y="1466862"/>
                  </a:lnTo>
                  <a:lnTo>
                    <a:pt x="1304493" y="1419402"/>
                  </a:lnTo>
                  <a:lnTo>
                    <a:pt x="1309814" y="1371409"/>
                  </a:lnTo>
                  <a:lnTo>
                    <a:pt x="1311592" y="1323174"/>
                  </a:lnTo>
                  <a:lnTo>
                    <a:pt x="1311402" y="1307071"/>
                  </a:lnTo>
                  <a:lnTo>
                    <a:pt x="1310805" y="1290993"/>
                  </a:lnTo>
                  <a:lnTo>
                    <a:pt x="1309814" y="1274940"/>
                  </a:lnTo>
                  <a:lnTo>
                    <a:pt x="1308442" y="1258887"/>
                  </a:lnTo>
                  <a:lnTo>
                    <a:pt x="1307655" y="1251902"/>
                  </a:lnTo>
                  <a:lnTo>
                    <a:pt x="3375558" y="16776"/>
                  </a:lnTo>
                  <a:close/>
                </a:path>
              </a:pathLst>
            </a:custGeom>
            <a:solidFill>
              <a:srgbClr val="802C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24424" y="14665388"/>
              <a:ext cx="274603" cy="29965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859313" y="13355910"/>
              <a:ext cx="205104" cy="293370"/>
            </a:xfrm>
            <a:custGeom>
              <a:avLst/>
              <a:gdLst/>
              <a:ahLst/>
              <a:cxnLst/>
              <a:rect l="l" t="t" r="r" b="b"/>
              <a:pathLst>
                <a:path w="205104" h="293369">
                  <a:moveTo>
                    <a:pt x="54880" y="236417"/>
                  </a:moveTo>
                  <a:lnTo>
                    <a:pt x="59807" y="275371"/>
                  </a:lnTo>
                  <a:lnTo>
                    <a:pt x="101076" y="293127"/>
                  </a:lnTo>
                  <a:lnTo>
                    <a:pt x="114248" y="293161"/>
                  </a:lnTo>
                  <a:lnTo>
                    <a:pt x="120699" y="292478"/>
                  </a:lnTo>
                  <a:lnTo>
                    <a:pt x="149245" y="264230"/>
                  </a:lnTo>
                  <a:lnTo>
                    <a:pt x="149819" y="246183"/>
                  </a:lnTo>
                  <a:lnTo>
                    <a:pt x="150181" y="234227"/>
                  </a:lnTo>
                  <a:lnTo>
                    <a:pt x="160572" y="196535"/>
                  </a:lnTo>
                  <a:lnTo>
                    <a:pt x="180644" y="165135"/>
                  </a:lnTo>
                  <a:lnTo>
                    <a:pt x="186530" y="157199"/>
                  </a:lnTo>
                  <a:lnTo>
                    <a:pt x="203304" y="116695"/>
                  </a:lnTo>
                  <a:lnTo>
                    <a:pt x="204813" y="95078"/>
                  </a:lnTo>
                  <a:lnTo>
                    <a:pt x="203828" y="87877"/>
                  </a:lnTo>
                  <a:lnTo>
                    <a:pt x="188451" y="46713"/>
                  </a:lnTo>
                  <a:lnTo>
                    <a:pt x="156420" y="15460"/>
                  </a:lnTo>
                  <a:lnTo>
                    <a:pt x="114123" y="851"/>
                  </a:lnTo>
                  <a:lnTo>
                    <a:pt x="106632" y="0"/>
                  </a:lnTo>
                  <a:lnTo>
                    <a:pt x="98969" y="185"/>
                  </a:lnTo>
                  <a:lnTo>
                    <a:pt x="57773" y="9884"/>
                  </a:lnTo>
                  <a:lnTo>
                    <a:pt x="23162" y="37073"/>
                  </a:lnTo>
                  <a:lnTo>
                    <a:pt x="3512" y="74509"/>
                  </a:lnTo>
                  <a:lnTo>
                    <a:pt x="0" y="98436"/>
                  </a:lnTo>
                  <a:lnTo>
                    <a:pt x="130" y="104837"/>
                  </a:lnTo>
                  <a:lnTo>
                    <a:pt x="10817" y="144896"/>
                  </a:lnTo>
                  <a:lnTo>
                    <a:pt x="25301" y="166580"/>
                  </a:lnTo>
                  <a:lnTo>
                    <a:pt x="30833" y="174210"/>
                  </a:lnTo>
                  <a:lnTo>
                    <a:pt x="49763" y="210083"/>
                  </a:lnTo>
                  <a:lnTo>
                    <a:pt x="54901" y="231903"/>
                  </a:lnTo>
                  <a:lnTo>
                    <a:pt x="54880" y="236417"/>
                  </a:lnTo>
                </a:path>
              </a:pathLst>
            </a:custGeom>
            <a:ln w="12990">
              <a:solidFill>
                <a:srgbClr val="3838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914215" y="13587804"/>
              <a:ext cx="95250" cy="635"/>
            </a:xfrm>
            <a:custGeom>
              <a:avLst/>
              <a:gdLst/>
              <a:ahLst/>
              <a:cxnLst/>
              <a:rect l="l" t="t" r="r" b="b"/>
              <a:pathLst>
                <a:path w="95250" h="634">
                  <a:moveTo>
                    <a:pt x="95017" y="0"/>
                  </a:moveTo>
                  <a:lnTo>
                    <a:pt x="0" y="8"/>
                  </a:lnTo>
                </a:path>
              </a:pathLst>
            </a:custGeom>
            <a:ln w="12990">
              <a:solidFill>
                <a:srgbClr val="38383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894329" y="13396583"/>
              <a:ext cx="38735" cy="49530"/>
            </a:xfrm>
            <a:custGeom>
              <a:avLst/>
              <a:gdLst/>
              <a:ahLst/>
              <a:cxnLst/>
              <a:rect l="l" t="t" r="r" b="b"/>
              <a:pathLst>
                <a:path w="38735" h="49530">
                  <a:moveTo>
                    <a:pt x="0" y="49151"/>
                  </a:moveTo>
                  <a:lnTo>
                    <a:pt x="18460" y="13512"/>
                  </a:lnTo>
                  <a:lnTo>
                    <a:pt x="31242" y="3688"/>
                  </a:lnTo>
                  <a:lnTo>
                    <a:pt x="38574" y="0"/>
                  </a:lnTo>
                </a:path>
              </a:pathLst>
            </a:custGeom>
            <a:ln w="12990">
              <a:solidFill>
                <a:srgbClr val="38383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0238" y="12059453"/>
              <a:ext cx="303011" cy="306184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15971" y="9676131"/>
            <a:ext cx="9681845" cy="57118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-60">
                <a:solidFill>
                  <a:srgbClr val="020202"/>
                </a:solidFill>
                <a:latin typeface="Georgia"/>
                <a:cs typeface="Georgia"/>
              </a:rPr>
              <a:t>How</a:t>
            </a:r>
            <a:r>
              <a:rPr dirty="0" sz="2800" spc="-1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020202"/>
                </a:solidFill>
                <a:latin typeface="Georgia"/>
                <a:cs typeface="Georgia"/>
              </a:rPr>
              <a:t>AI</a:t>
            </a:r>
            <a:r>
              <a:rPr dirty="0" sz="2800" spc="5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020202"/>
                </a:solidFill>
                <a:latin typeface="Georgia"/>
                <a:cs typeface="Georgia"/>
              </a:rPr>
              <a:t>Changes</a:t>
            </a:r>
            <a:r>
              <a:rPr dirty="0" sz="2800" spc="4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020202"/>
                </a:solidFill>
                <a:latin typeface="Georgia"/>
                <a:cs typeface="Georgia"/>
              </a:rPr>
              <a:t>Finance</a:t>
            </a:r>
            <a:r>
              <a:rPr dirty="0" sz="2800" spc="5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800" spc="-20">
                <a:solidFill>
                  <a:srgbClr val="020202"/>
                </a:solidFill>
                <a:latin typeface="Georgia"/>
                <a:cs typeface="Georgia"/>
              </a:rPr>
              <a:t>Work</a:t>
            </a:r>
            <a:endParaRPr sz="2800">
              <a:latin typeface="Georgia"/>
              <a:cs typeface="Georgia"/>
            </a:endParaRPr>
          </a:p>
          <a:p>
            <a:pPr marL="12700" marR="13970">
              <a:lnSpc>
                <a:spcPct val="134300"/>
              </a:lnSpc>
              <a:spcBef>
                <a:spcPts val="1810"/>
              </a:spcBef>
            </a:pP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give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simple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example: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instead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employee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manually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checking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thousands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invoices,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intelligent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systems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383838"/>
                </a:solidFill>
                <a:latin typeface="Tahoma"/>
                <a:cs typeface="Tahoma"/>
              </a:rPr>
              <a:t>can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help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identify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unusual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invoices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or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extract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relevant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information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automatically.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This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does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not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replace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professional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</a:pP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allows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them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focus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on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reviewing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exceptions,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making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judgments,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providing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insights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rather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than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spending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time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on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repetitive</a:t>
            </a:r>
            <a:r>
              <a:rPr dirty="0" sz="1350" spc="1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data</a:t>
            </a:r>
            <a:r>
              <a:rPr dirty="0" sz="1350" spc="1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checks.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1350">
              <a:latin typeface="Tahoma"/>
              <a:cs typeface="Tahoma"/>
            </a:endParaRPr>
          </a:p>
          <a:p>
            <a:pPr marL="5609590">
              <a:lnSpc>
                <a:spcPct val="100000"/>
              </a:lnSpc>
            </a:pPr>
            <a:r>
              <a:rPr dirty="0" sz="1800">
                <a:solidFill>
                  <a:srgbClr val="383838"/>
                </a:solidFill>
                <a:latin typeface="Georgia"/>
                <a:cs typeface="Georgia"/>
              </a:rPr>
              <a:t>Current</a:t>
            </a:r>
            <a:r>
              <a:rPr dirty="0" sz="1800" spc="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800" spc="-10">
                <a:solidFill>
                  <a:srgbClr val="383838"/>
                </a:solidFill>
                <a:latin typeface="Georgia"/>
                <a:cs typeface="Georgia"/>
              </a:rPr>
              <a:t>Capabilities</a:t>
            </a:r>
            <a:endParaRPr sz="1800">
              <a:latin typeface="Georgia"/>
              <a:cs typeface="Georgia"/>
            </a:endParaRPr>
          </a:p>
          <a:p>
            <a:pPr marL="5609590" marR="802640">
              <a:lnSpc>
                <a:spcPct val="104500"/>
              </a:lnSpc>
              <a:spcBef>
                <a:spcPts val="680"/>
              </a:spcBef>
            </a:pP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Automated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invoices,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anomaly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detection,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reconciliation.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350">
              <a:latin typeface="Tahoma"/>
              <a:cs typeface="Tahoma"/>
            </a:endParaRPr>
          </a:p>
          <a:p>
            <a:pPr marL="5609590">
              <a:lnSpc>
                <a:spcPct val="100000"/>
              </a:lnSpc>
            </a:pPr>
            <a:r>
              <a:rPr dirty="0" sz="1800">
                <a:solidFill>
                  <a:srgbClr val="383838"/>
                </a:solidFill>
                <a:latin typeface="Georgia"/>
                <a:cs typeface="Georgia"/>
              </a:rPr>
              <a:t>Emerging</a:t>
            </a:r>
            <a:r>
              <a:rPr dirty="0" sz="1800" spc="-7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800" spc="-10">
                <a:solidFill>
                  <a:srgbClr val="383838"/>
                </a:solidFill>
                <a:latin typeface="Georgia"/>
                <a:cs typeface="Georgia"/>
              </a:rPr>
              <a:t>Technologies</a:t>
            </a:r>
            <a:endParaRPr sz="1800">
              <a:latin typeface="Georgia"/>
              <a:cs typeface="Georgia"/>
            </a:endParaRPr>
          </a:p>
          <a:p>
            <a:pPr marL="5609590" marR="1362075">
              <a:lnSpc>
                <a:spcPct val="104500"/>
              </a:lnSpc>
              <a:spcBef>
                <a:spcPts val="680"/>
              </a:spcBef>
            </a:pP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Cash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flow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prediction,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forecasting,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generative</a:t>
            </a:r>
            <a:r>
              <a:rPr dirty="0" sz="1350" spc="2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AI.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350">
              <a:latin typeface="Tahoma"/>
              <a:cs typeface="Tahoma"/>
            </a:endParaRPr>
          </a:p>
          <a:p>
            <a:pPr marL="561911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383838"/>
                </a:solidFill>
                <a:latin typeface="Georgia"/>
                <a:cs typeface="Georgia"/>
              </a:rPr>
              <a:t>Possible</a:t>
            </a:r>
            <a:r>
              <a:rPr dirty="0" sz="1800" spc="-1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800">
                <a:solidFill>
                  <a:srgbClr val="383838"/>
                </a:solidFill>
                <a:latin typeface="Georgia"/>
                <a:cs typeface="Georgia"/>
              </a:rPr>
              <a:t>Future</a:t>
            </a:r>
            <a:r>
              <a:rPr dirty="0" sz="1800" spc="-4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800" spc="-10">
                <a:solidFill>
                  <a:srgbClr val="383838"/>
                </a:solidFill>
                <a:latin typeface="Georgia"/>
                <a:cs typeface="Georgia"/>
              </a:rPr>
              <a:t>Applications</a:t>
            </a:r>
            <a:endParaRPr sz="1800">
              <a:latin typeface="Georgia"/>
              <a:cs typeface="Georgia"/>
            </a:endParaRPr>
          </a:p>
          <a:p>
            <a:pPr marL="5619115" marR="1370965">
              <a:lnSpc>
                <a:spcPct val="104500"/>
              </a:lnSpc>
              <a:spcBef>
                <a:spcPts val="68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Intelligent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recommendations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autonomous</a:t>
            </a:r>
            <a:r>
              <a:rPr dirty="0" sz="135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analysis.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28675" y="15925800"/>
            <a:ext cx="9772650" cy="1238250"/>
            <a:chOff x="828675" y="15925800"/>
            <a:chExt cx="9772650" cy="1238250"/>
          </a:xfrm>
        </p:grpSpPr>
        <p:sp>
          <p:nvSpPr>
            <p:cNvPr id="20" name="object 20"/>
            <p:cNvSpPr/>
            <p:nvPr/>
          </p:nvSpPr>
          <p:spPr>
            <a:xfrm>
              <a:off x="828675" y="15925800"/>
              <a:ext cx="9772650" cy="1238250"/>
            </a:xfrm>
            <a:custGeom>
              <a:avLst/>
              <a:gdLst/>
              <a:ahLst/>
              <a:cxnLst/>
              <a:rect l="l" t="t" r="r" b="b"/>
              <a:pathLst>
                <a:path w="9772650" h="1238250">
                  <a:moveTo>
                    <a:pt x="9754057" y="1238250"/>
                  </a:moveTo>
                  <a:lnTo>
                    <a:pt x="18592" y="1238250"/>
                  </a:lnTo>
                  <a:lnTo>
                    <a:pt x="15859" y="1237707"/>
                  </a:lnTo>
                  <a:lnTo>
                    <a:pt x="0" y="1219657"/>
                  </a:lnTo>
                  <a:lnTo>
                    <a:pt x="0" y="1216818"/>
                  </a:lnTo>
                  <a:lnTo>
                    <a:pt x="0" y="18592"/>
                  </a:lnTo>
                  <a:lnTo>
                    <a:pt x="18592" y="0"/>
                  </a:lnTo>
                  <a:lnTo>
                    <a:pt x="9754057" y="0"/>
                  </a:lnTo>
                  <a:lnTo>
                    <a:pt x="9772650" y="18592"/>
                  </a:lnTo>
                  <a:lnTo>
                    <a:pt x="9772650" y="1219657"/>
                  </a:lnTo>
                  <a:lnTo>
                    <a:pt x="9756790" y="1237707"/>
                  </a:lnTo>
                  <a:lnTo>
                    <a:pt x="9754057" y="1238250"/>
                  </a:lnTo>
                  <a:close/>
                </a:path>
              </a:pathLst>
            </a:custGeom>
            <a:solidFill>
              <a:srgbClr val="FFDE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2271" y="16174639"/>
              <a:ext cx="150018" cy="150018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373187" y="16080739"/>
            <a:ext cx="9023350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55">
                <a:latin typeface="Tahoma"/>
                <a:cs typeface="Tahoma"/>
              </a:rPr>
              <a:t>AI</a:t>
            </a:r>
            <a:r>
              <a:rPr dirty="0" sz="1350" spc="7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capabilities</a:t>
            </a:r>
            <a:r>
              <a:rPr dirty="0" sz="1350" spc="7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in</a:t>
            </a:r>
            <a:r>
              <a:rPr dirty="0" sz="1350" spc="8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SAP</a:t>
            </a:r>
            <a:r>
              <a:rPr dirty="0" sz="1350" spc="7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Finance</a:t>
            </a:r>
            <a:r>
              <a:rPr dirty="0" sz="1350" spc="7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are</a:t>
            </a:r>
            <a:r>
              <a:rPr dirty="0" sz="1350" spc="8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still</a:t>
            </a:r>
            <a:r>
              <a:rPr dirty="0" sz="1350" spc="7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developing.</a:t>
            </a:r>
            <a:r>
              <a:rPr dirty="0" sz="1350" spc="7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Not</a:t>
            </a:r>
            <a:r>
              <a:rPr dirty="0" sz="1350" spc="8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all</a:t>
            </a:r>
            <a:r>
              <a:rPr dirty="0" sz="1350" spc="7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features</a:t>
            </a:r>
            <a:r>
              <a:rPr dirty="0" sz="1350" spc="7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are</a:t>
            </a:r>
            <a:r>
              <a:rPr dirty="0" sz="1350" spc="8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available</a:t>
            </a:r>
            <a:r>
              <a:rPr dirty="0" sz="1350" spc="7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in</a:t>
            </a:r>
            <a:r>
              <a:rPr dirty="0" sz="1350" spc="7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every</a:t>
            </a:r>
            <a:r>
              <a:rPr dirty="0" sz="1350" spc="80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SAP</a:t>
            </a:r>
            <a:r>
              <a:rPr dirty="0" sz="1350" spc="7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release</a:t>
            </a:r>
            <a:r>
              <a:rPr dirty="0" sz="1350" spc="75">
                <a:latin typeface="Tahoma"/>
                <a:cs typeface="Tahoma"/>
              </a:rPr>
              <a:t> </a:t>
            </a:r>
            <a:r>
              <a:rPr dirty="0" sz="1350">
                <a:latin typeface="Tahoma"/>
                <a:cs typeface="Tahoma"/>
              </a:rPr>
              <a:t>or</a:t>
            </a:r>
            <a:r>
              <a:rPr dirty="0" sz="1350" spc="80">
                <a:latin typeface="Tahoma"/>
                <a:cs typeface="Tahoma"/>
              </a:rPr>
              <a:t> </a:t>
            </a:r>
            <a:r>
              <a:rPr dirty="0" sz="1350" spc="40">
                <a:latin typeface="Tahoma"/>
                <a:cs typeface="Tahoma"/>
              </a:rPr>
              <a:t>deployment </a:t>
            </a:r>
            <a:r>
              <a:rPr dirty="0" sz="1350" spc="20">
                <a:latin typeface="Tahoma"/>
                <a:cs typeface="Tahoma"/>
              </a:rPr>
              <a:t>model.</a:t>
            </a:r>
            <a:r>
              <a:rPr dirty="0" sz="1350" spc="55">
                <a:latin typeface="Tahoma"/>
                <a:cs typeface="Tahoma"/>
              </a:rPr>
              <a:t> </a:t>
            </a:r>
            <a:r>
              <a:rPr dirty="0" sz="1350" spc="20">
                <a:latin typeface="Tahoma"/>
                <a:cs typeface="Tahoma"/>
              </a:rPr>
              <a:t>Organisations</a:t>
            </a:r>
            <a:r>
              <a:rPr dirty="0" sz="1350" spc="55">
                <a:latin typeface="Tahoma"/>
                <a:cs typeface="Tahoma"/>
              </a:rPr>
              <a:t> </a:t>
            </a:r>
            <a:r>
              <a:rPr dirty="0" sz="1350" spc="20">
                <a:latin typeface="Tahoma"/>
                <a:cs typeface="Tahoma"/>
              </a:rPr>
              <a:t>should</a:t>
            </a:r>
            <a:r>
              <a:rPr dirty="0" sz="1350" spc="55">
                <a:latin typeface="Tahoma"/>
                <a:cs typeface="Tahoma"/>
              </a:rPr>
              <a:t> </a:t>
            </a:r>
            <a:r>
              <a:rPr dirty="0" sz="1350" spc="20">
                <a:latin typeface="Tahoma"/>
                <a:cs typeface="Tahoma"/>
              </a:rPr>
              <a:t>verify</a:t>
            </a:r>
            <a:r>
              <a:rPr dirty="0" sz="1350" spc="55">
                <a:latin typeface="Tahoma"/>
                <a:cs typeface="Tahoma"/>
              </a:rPr>
              <a:t> </a:t>
            </a:r>
            <a:r>
              <a:rPr dirty="0" sz="1350" spc="20">
                <a:latin typeface="Tahoma"/>
                <a:cs typeface="Tahoma"/>
              </a:rPr>
              <a:t>current</a:t>
            </a:r>
            <a:r>
              <a:rPr dirty="0" sz="1350" spc="55">
                <a:latin typeface="Tahoma"/>
                <a:cs typeface="Tahoma"/>
              </a:rPr>
              <a:t> </a:t>
            </a:r>
            <a:r>
              <a:rPr dirty="0" sz="1350" spc="20">
                <a:latin typeface="Tahoma"/>
                <a:cs typeface="Tahoma"/>
              </a:rPr>
              <a:t>capabilities</a:t>
            </a:r>
            <a:r>
              <a:rPr dirty="0" sz="1350" spc="55">
                <a:latin typeface="Tahoma"/>
                <a:cs typeface="Tahoma"/>
              </a:rPr>
              <a:t> </a:t>
            </a:r>
            <a:r>
              <a:rPr dirty="0" sz="1350" spc="20">
                <a:latin typeface="Tahoma"/>
                <a:cs typeface="Tahoma"/>
              </a:rPr>
              <a:t>with</a:t>
            </a:r>
            <a:r>
              <a:rPr dirty="0" sz="1350" spc="55">
                <a:latin typeface="Tahoma"/>
                <a:cs typeface="Tahoma"/>
              </a:rPr>
              <a:t> </a:t>
            </a:r>
            <a:r>
              <a:rPr dirty="0" sz="1350" spc="20">
                <a:latin typeface="Tahoma"/>
                <a:cs typeface="Tahoma"/>
              </a:rPr>
              <a:t>official</a:t>
            </a:r>
            <a:r>
              <a:rPr dirty="0" sz="1350" spc="55">
                <a:latin typeface="Tahoma"/>
                <a:cs typeface="Tahoma"/>
              </a:rPr>
              <a:t> </a:t>
            </a:r>
            <a:r>
              <a:rPr dirty="0" sz="1350" spc="20">
                <a:latin typeface="Tahoma"/>
                <a:cs typeface="Tahoma"/>
              </a:rPr>
              <a:t>SAP</a:t>
            </a:r>
            <a:r>
              <a:rPr dirty="0" sz="1350" spc="55">
                <a:latin typeface="Tahoma"/>
                <a:cs typeface="Tahoma"/>
              </a:rPr>
              <a:t> </a:t>
            </a:r>
            <a:r>
              <a:rPr dirty="0" sz="1350" spc="50">
                <a:latin typeface="Tahoma"/>
                <a:cs typeface="Tahoma"/>
              </a:rPr>
              <a:t>documentation</a:t>
            </a:r>
            <a:r>
              <a:rPr dirty="0" sz="1350" spc="55">
                <a:latin typeface="Tahoma"/>
                <a:cs typeface="Tahoma"/>
              </a:rPr>
              <a:t> </a:t>
            </a:r>
            <a:r>
              <a:rPr dirty="0" sz="1350" spc="20">
                <a:latin typeface="Tahoma"/>
                <a:cs typeface="Tahoma"/>
              </a:rPr>
              <a:t>before</a:t>
            </a:r>
            <a:r>
              <a:rPr dirty="0" sz="1350" spc="55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making </a:t>
            </a:r>
            <a:r>
              <a:rPr dirty="0" sz="1350" spc="20">
                <a:latin typeface="Tahoma"/>
                <a:cs typeface="Tahoma"/>
              </a:rPr>
              <a:t>implementation</a:t>
            </a:r>
            <a:r>
              <a:rPr dirty="0" sz="1350" spc="210">
                <a:latin typeface="Tahoma"/>
                <a:cs typeface="Tahoma"/>
              </a:rPr>
              <a:t> </a:t>
            </a:r>
            <a:r>
              <a:rPr dirty="0" sz="1350" spc="-10">
                <a:latin typeface="Tahoma"/>
                <a:cs typeface="Tahoma"/>
              </a:rPr>
              <a:t>decisions.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4761" y="443319"/>
            <a:ext cx="9269730" cy="16376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400">
                <a:solidFill>
                  <a:srgbClr val="020202"/>
                </a:solidFill>
                <a:latin typeface="Georgia"/>
                <a:cs typeface="Georgia"/>
              </a:rPr>
              <a:t>Automation,</a:t>
            </a:r>
            <a:r>
              <a:rPr dirty="0" sz="3400" spc="-2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3400" spc="-50">
                <a:solidFill>
                  <a:srgbClr val="020202"/>
                </a:solidFill>
                <a:latin typeface="Georgia"/>
                <a:cs typeface="Georgia"/>
              </a:rPr>
              <a:t>Real-</a:t>
            </a:r>
            <a:r>
              <a:rPr dirty="0" sz="3400">
                <a:solidFill>
                  <a:srgbClr val="020202"/>
                </a:solidFill>
                <a:latin typeface="Georgia"/>
                <a:cs typeface="Georgia"/>
              </a:rPr>
              <a:t>Time</a:t>
            </a:r>
            <a:r>
              <a:rPr dirty="0" sz="3400" spc="5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3400">
                <a:solidFill>
                  <a:srgbClr val="020202"/>
                </a:solidFill>
                <a:latin typeface="Georgia"/>
                <a:cs typeface="Georgia"/>
              </a:rPr>
              <a:t>Analytics,</a:t>
            </a:r>
            <a:r>
              <a:rPr dirty="0" sz="3400" spc="-2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3400">
                <a:solidFill>
                  <a:srgbClr val="020202"/>
                </a:solidFill>
                <a:latin typeface="Georgia"/>
                <a:cs typeface="Georgia"/>
              </a:rPr>
              <a:t>and</a:t>
            </a:r>
            <a:r>
              <a:rPr dirty="0" sz="3400" spc="13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3400">
                <a:solidFill>
                  <a:srgbClr val="020202"/>
                </a:solidFill>
                <a:latin typeface="Georgia"/>
                <a:cs typeface="Georgia"/>
              </a:rPr>
              <a:t>SAP</a:t>
            </a:r>
            <a:r>
              <a:rPr dirty="0" sz="3400" spc="13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3400" spc="-10">
                <a:solidFill>
                  <a:srgbClr val="020202"/>
                </a:solidFill>
                <a:latin typeface="Georgia"/>
                <a:cs typeface="Georgia"/>
              </a:rPr>
              <a:t>Fiori</a:t>
            </a:r>
            <a:endParaRPr sz="3400">
              <a:latin typeface="Georgia"/>
              <a:cs typeface="Georgia"/>
            </a:endParaRPr>
          </a:p>
          <a:p>
            <a:pPr marL="12700" marR="5080">
              <a:lnSpc>
                <a:spcPct val="131900"/>
              </a:lnSpc>
              <a:spcBef>
                <a:spcPts val="2430"/>
              </a:spcBef>
            </a:pP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Alongside</a:t>
            </a:r>
            <a:r>
              <a:rPr dirty="0" sz="130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-90">
                <a:solidFill>
                  <a:srgbClr val="383838"/>
                </a:solidFill>
                <a:latin typeface="Tahoma"/>
                <a:cs typeface="Tahoma"/>
              </a:rPr>
              <a:t>AI,</a:t>
            </a:r>
            <a:r>
              <a:rPr dirty="0" sz="13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automation</a:t>
            </a:r>
            <a:r>
              <a:rPr dirty="0" sz="13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50">
                <a:solidFill>
                  <a:srgbClr val="383838"/>
                </a:solidFill>
                <a:latin typeface="Tahoma"/>
                <a:cs typeface="Tahoma"/>
              </a:rPr>
              <a:t>modern</a:t>
            </a:r>
            <a:r>
              <a:rPr dirty="0" sz="13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user</a:t>
            </a:r>
            <a:r>
              <a:rPr dirty="0" sz="13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experience</a:t>
            </a:r>
            <a:r>
              <a:rPr dirty="0" sz="13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are</a:t>
            </a:r>
            <a:r>
              <a:rPr dirty="0" sz="13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reshaping</a:t>
            </a:r>
            <a:r>
              <a:rPr dirty="0" sz="13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how</a:t>
            </a:r>
            <a:r>
              <a:rPr dirty="0" sz="13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50">
                <a:solidFill>
                  <a:srgbClr val="383838"/>
                </a:solidFill>
                <a:latin typeface="Tahoma"/>
                <a:cs typeface="Tahoma"/>
              </a:rPr>
              <a:t>teams</a:t>
            </a:r>
            <a:r>
              <a:rPr dirty="0" sz="13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work</a:t>
            </a:r>
            <a:r>
              <a:rPr dirty="0" sz="13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383838"/>
                </a:solidFill>
                <a:latin typeface="Tahoma"/>
                <a:cs typeface="Tahoma"/>
              </a:rPr>
              <a:t>SAP.</a:t>
            </a:r>
            <a:r>
              <a:rPr dirty="0" sz="130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These</a:t>
            </a:r>
            <a:r>
              <a:rPr dirty="0" sz="13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three</a:t>
            </a:r>
            <a:r>
              <a:rPr dirty="0" sz="13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areas</a:t>
            </a:r>
            <a:r>
              <a:rPr dirty="0" sz="13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-50">
                <a:solidFill>
                  <a:srgbClr val="383838"/>
                </a:solidFill>
                <a:latin typeface="Tahoma"/>
                <a:cs typeface="Tahoma"/>
              </a:rPr>
              <a:t>—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automation,</a:t>
            </a:r>
            <a:r>
              <a:rPr dirty="0" sz="13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real-</a:t>
            </a:r>
            <a:r>
              <a:rPr dirty="0" sz="1300" spc="60">
                <a:solidFill>
                  <a:srgbClr val="383838"/>
                </a:solidFill>
                <a:latin typeface="Tahoma"/>
                <a:cs typeface="Tahoma"/>
              </a:rPr>
              <a:t>time</a:t>
            </a:r>
            <a:r>
              <a:rPr dirty="0" sz="13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analytics,</a:t>
            </a:r>
            <a:r>
              <a:rPr dirty="0" sz="130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0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Fiori</a:t>
            </a:r>
            <a:r>
              <a:rPr dirty="0" sz="13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-65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0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work</a:t>
            </a:r>
            <a:r>
              <a:rPr dirty="0" sz="13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together</a:t>
            </a:r>
            <a:r>
              <a:rPr dirty="0" sz="13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0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make</a:t>
            </a:r>
            <a:r>
              <a:rPr dirty="0" sz="13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0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faster,</a:t>
            </a:r>
            <a:r>
              <a:rPr dirty="0" sz="130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more</a:t>
            </a:r>
            <a:r>
              <a:rPr dirty="0" sz="13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efficient,</a:t>
            </a:r>
            <a:r>
              <a:rPr dirty="0" sz="130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easier</a:t>
            </a:r>
            <a:r>
              <a:rPr dirty="0" sz="13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35">
                <a:solidFill>
                  <a:srgbClr val="383838"/>
                </a:solidFill>
                <a:latin typeface="Tahoma"/>
                <a:cs typeface="Tahoma"/>
              </a:rPr>
              <a:t>to </a:t>
            </a:r>
            <a:r>
              <a:rPr dirty="0" sz="1300" spc="-20">
                <a:solidFill>
                  <a:srgbClr val="383838"/>
                </a:solidFill>
                <a:latin typeface="Tahoma"/>
                <a:cs typeface="Tahoma"/>
              </a:rPr>
              <a:t>use.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4761" y="2344853"/>
            <a:ext cx="6141720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spc="-10">
                <a:solidFill>
                  <a:srgbClr val="020202"/>
                </a:solidFill>
                <a:latin typeface="Georgia"/>
                <a:cs typeface="Georgia"/>
              </a:rPr>
              <a:t>From</a:t>
            </a:r>
            <a:r>
              <a:rPr dirty="0" sz="2700" spc="4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700">
                <a:solidFill>
                  <a:srgbClr val="020202"/>
                </a:solidFill>
                <a:latin typeface="Georgia"/>
                <a:cs typeface="Georgia"/>
              </a:rPr>
              <a:t>Manual</a:t>
            </a:r>
            <a:r>
              <a:rPr dirty="0" sz="2700" spc="4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700" spc="55">
                <a:solidFill>
                  <a:srgbClr val="020202"/>
                </a:solidFill>
                <a:latin typeface="Georgia"/>
                <a:cs typeface="Georgia"/>
              </a:rPr>
              <a:t>to</a:t>
            </a:r>
            <a:r>
              <a:rPr dirty="0" sz="2700" spc="4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700">
                <a:solidFill>
                  <a:srgbClr val="020202"/>
                </a:solidFill>
                <a:latin typeface="Georgia"/>
                <a:cs typeface="Georgia"/>
              </a:rPr>
              <a:t>Intelligent</a:t>
            </a:r>
            <a:r>
              <a:rPr dirty="0" sz="2700" spc="-1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700" spc="-10">
                <a:solidFill>
                  <a:srgbClr val="020202"/>
                </a:solidFill>
                <a:latin typeface="Georgia"/>
                <a:cs typeface="Georgia"/>
              </a:rPr>
              <a:t>Automation</a:t>
            </a:r>
            <a:endParaRPr sz="27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438" y="4145817"/>
            <a:ext cx="9042592" cy="211538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89769" y="3097917"/>
            <a:ext cx="1494790" cy="858519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5"/>
              </a:spcBef>
            </a:pPr>
            <a:r>
              <a:rPr dirty="0" sz="1650" spc="-10">
                <a:solidFill>
                  <a:srgbClr val="383838"/>
                </a:solidFill>
                <a:latin typeface="Georgia"/>
                <a:cs typeface="Georgia"/>
              </a:rPr>
              <a:t>Manual</a:t>
            </a:r>
            <a:endParaRPr sz="1650">
              <a:latin typeface="Georgia"/>
              <a:cs typeface="Georgia"/>
            </a:endParaRPr>
          </a:p>
          <a:p>
            <a:pPr algn="ctr" marL="12700" marR="5080">
              <a:lnSpc>
                <a:spcPct val="109200"/>
              </a:lnSpc>
              <a:spcBef>
                <a:spcPts val="489"/>
              </a:spcBef>
            </a:pPr>
            <a:r>
              <a:rPr dirty="0" sz="1250">
                <a:solidFill>
                  <a:srgbClr val="383838"/>
                </a:solidFill>
                <a:latin typeface="Tahoma"/>
                <a:cs typeface="Tahoma"/>
              </a:rPr>
              <a:t>Human</a:t>
            </a:r>
            <a:r>
              <a:rPr dirty="0" sz="12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383838"/>
                </a:solidFill>
                <a:latin typeface="Tahoma"/>
                <a:cs typeface="Tahoma"/>
              </a:rPr>
              <a:t>performs</a:t>
            </a:r>
            <a:r>
              <a:rPr dirty="0" sz="12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250" spc="-25">
                <a:solidFill>
                  <a:srgbClr val="383838"/>
                </a:solidFill>
                <a:latin typeface="Tahoma"/>
                <a:cs typeface="Tahoma"/>
              </a:rPr>
              <a:t>all </a:t>
            </a:r>
            <a:r>
              <a:rPr dirty="0" sz="1250" spc="60">
                <a:solidFill>
                  <a:srgbClr val="383838"/>
                </a:solidFill>
                <a:latin typeface="Tahoma"/>
                <a:cs typeface="Tahoma"/>
              </a:rPr>
              <a:t>steps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95893" y="6271866"/>
            <a:ext cx="1146810" cy="858519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33655">
              <a:lnSpc>
                <a:spcPct val="100000"/>
              </a:lnSpc>
              <a:spcBef>
                <a:spcPts val="905"/>
              </a:spcBef>
            </a:pPr>
            <a:r>
              <a:rPr dirty="0" sz="1650">
                <a:solidFill>
                  <a:srgbClr val="383838"/>
                </a:solidFill>
                <a:latin typeface="Georgia"/>
                <a:cs typeface="Georgia"/>
              </a:rPr>
              <a:t>Rule-</a:t>
            </a:r>
            <a:r>
              <a:rPr dirty="0" sz="1650" spc="-10">
                <a:solidFill>
                  <a:srgbClr val="383838"/>
                </a:solidFill>
                <a:latin typeface="Georgia"/>
                <a:cs typeface="Georgia"/>
              </a:rPr>
              <a:t>Based</a:t>
            </a:r>
            <a:endParaRPr sz="1650">
              <a:latin typeface="Georgia"/>
              <a:cs typeface="Georgia"/>
            </a:endParaRPr>
          </a:p>
          <a:p>
            <a:pPr marL="80645" marR="5080" indent="-68580">
              <a:lnSpc>
                <a:spcPct val="109200"/>
              </a:lnSpc>
              <a:spcBef>
                <a:spcPts val="489"/>
              </a:spcBef>
            </a:pPr>
            <a:r>
              <a:rPr dirty="0" sz="1250" spc="55">
                <a:solidFill>
                  <a:srgbClr val="383838"/>
                </a:solidFill>
                <a:latin typeface="Tahoma"/>
                <a:cs typeface="Tahoma"/>
              </a:rPr>
              <a:t>System</a:t>
            </a:r>
            <a:r>
              <a:rPr dirty="0" sz="1250" spc="-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383838"/>
                </a:solidFill>
                <a:latin typeface="Tahoma"/>
                <a:cs typeface="Tahoma"/>
              </a:rPr>
              <a:t>follows </a:t>
            </a:r>
            <a:r>
              <a:rPr dirty="0" sz="1250" spc="60">
                <a:solidFill>
                  <a:srgbClr val="383838"/>
                </a:solidFill>
                <a:latin typeface="Tahoma"/>
                <a:cs typeface="Tahoma"/>
              </a:rPr>
              <a:t>defined</a:t>
            </a:r>
            <a:r>
              <a:rPr dirty="0" sz="1250" spc="-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383838"/>
                </a:solidFill>
                <a:latin typeface="Tahoma"/>
                <a:cs typeface="Tahoma"/>
              </a:rPr>
              <a:t>rules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67178" y="2950409"/>
            <a:ext cx="1214120" cy="1078230"/>
          </a:xfrm>
          <a:prstGeom prst="rect">
            <a:avLst/>
          </a:prstGeom>
        </p:spPr>
        <p:txBody>
          <a:bodyPr wrap="square" lIns="0" tIns="12636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94"/>
              </a:spcBef>
            </a:pPr>
            <a:r>
              <a:rPr dirty="0" sz="1650" spc="-10">
                <a:solidFill>
                  <a:srgbClr val="383838"/>
                </a:solidFill>
                <a:latin typeface="Georgia"/>
                <a:cs typeface="Georgia"/>
              </a:rPr>
              <a:t>Intelligent</a:t>
            </a:r>
            <a:endParaRPr sz="1650">
              <a:latin typeface="Georgia"/>
              <a:cs typeface="Georgia"/>
            </a:endParaRPr>
          </a:p>
          <a:p>
            <a:pPr algn="ctr" marL="12700" marR="5080">
              <a:lnSpc>
                <a:spcPct val="106800"/>
              </a:lnSpc>
              <a:spcBef>
                <a:spcPts val="600"/>
              </a:spcBef>
            </a:pPr>
            <a:r>
              <a:rPr dirty="0" sz="1250" spc="55">
                <a:solidFill>
                  <a:srgbClr val="383838"/>
                </a:solidFill>
                <a:latin typeface="Tahoma"/>
                <a:cs typeface="Tahoma"/>
              </a:rPr>
              <a:t>System</a:t>
            </a:r>
            <a:r>
              <a:rPr dirty="0" sz="1250" spc="-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383838"/>
                </a:solidFill>
                <a:latin typeface="Tahoma"/>
                <a:cs typeface="Tahoma"/>
              </a:rPr>
              <a:t>handles </a:t>
            </a:r>
            <a:r>
              <a:rPr dirty="0" sz="1250" spc="55">
                <a:solidFill>
                  <a:srgbClr val="383838"/>
                </a:solidFill>
                <a:latin typeface="Tahoma"/>
                <a:cs typeface="Tahoma"/>
              </a:rPr>
              <a:t>exceptions</a:t>
            </a:r>
            <a:r>
              <a:rPr dirty="0" sz="125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250" spc="35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250" spc="-10">
                <a:solidFill>
                  <a:srgbClr val="383838"/>
                </a:solidFill>
                <a:latin typeface="Tahoma"/>
                <a:cs typeface="Tahoma"/>
              </a:rPr>
              <a:t>learns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70897" y="6271866"/>
            <a:ext cx="1662430" cy="858519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5"/>
              </a:spcBef>
            </a:pPr>
            <a:r>
              <a:rPr dirty="0" sz="1650">
                <a:solidFill>
                  <a:srgbClr val="383838"/>
                </a:solidFill>
                <a:latin typeface="Georgia"/>
                <a:cs typeface="Georgia"/>
              </a:rPr>
              <a:t>AI-</a:t>
            </a:r>
            <a:r>
              <a:rPr dirty="0" sz="1650" spc="-10">
                <a:solidFill>
                  <a:srgbClr val="383838"/>
                </a:solidFill>
                <a:latin typeface="Georgia"/>
                <a:cs typeface="Georgia"/>
              </a:rPr>
              <a:t>Assisted</a:t>
            </a:r>
            <a:endParaRPr sz="1650">
              <a:latin typeface="Georgia"/>
              <a:cs typeface="Georgia"/>
            </a:endParaRPr>
          </a:p>
          <a:p>
            <a:pPr algn="ctr" marL="12700" marR="5080">
              <a:lnSpc>
                <a:spcPct val="109200"/>
              </a:lnSpc>
              <a:spcBef>
                <a:spcPts val="489"/>
              </a:spcBef>
            </a:pPr>
            <a:r>
              <a:rPr dirty="0" sz="1250" spc="55">
                <a:solidFill>
                  <a:srgbClr val="383838"/>
                </a:solidFill>
                <a:latin typeface="Tahoma"/>
                <a:cs typeface="Tahoma"/>
              </a:rPr>
              <a:t>System</a:t>
            </a:r>
            <a:r>
              <a:rPr dirty="0" sz="1250" spc="-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383838"/>
                </a:solidFill>
                <a:latin typeface="Tahoma"/>
                <a:cs typeface="Tahoma"/>
              </a:rPr>
              <a:t>recommends; </a:t>
            </a:r>
            <a:r>
              <a:rPr dirty="0" sz="1250">
                <a:solidFill>
                  <a:srgbClr val="383838"/>
                </a:solidFill>
                <a:latin typeface="Tahoma"/>
                <a:cs typeface="Tahoma"/>
              </a:rPr>
              <a:t>human</a:t>
            </a:r>
            <a:r>
              <a:rPr dirty="0" sz="1250" spc="1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250" spc="75">
                <a:solidFill>
                  <a:srgbClr val="383838"/>
                </a:solidFill>
                <a:latin typeface="Tahoma"/>
                <a:cs typeface="Tahoma"/>
              </a:rPr>
              <a:t>decides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4761" y="7399111"/>
            <a:ext cx="9300845" cy="2802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3025">
              <a:lnSpc>
                <a:spcPct val="134200"/>
              </a:lnSpc>
              <a:spcBef>
                <a:spcPts val="100"/>
              </a:spcBef>
            </a:pP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Automation</a:t>
            </a:r>
            <a:r>
              <a:rPr dirty="0" sz="130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0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383838"/>
                </a:solidFill>
                <a:latin typeface="Tahoma"/>
                <a:cs typeface="Tahoma"/>
              </a:rPr>
              <a:t>can</a:t>
            </a:r>
            <a:r>
              <a:rPr dirty="0" sz="130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handle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tasks</a:t>
            </a:r>
            <a:r>
              <a:rPr dirty="0" sz="130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65">
                <a:solidFill>
                  <a:srgbClr val="383838"/>
                </a:solidFill>
                <a:latin typeface="Tahoma"/>
                <a:cs typeface="Tahoma"/>
              </a:rPr>
              <a:t>such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as</a:t>
            </a:r>
            <a:r>
              <a:rPr dirty="0" sz="130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45">
                <a:solidFill>
                  <a:srgbClr val="383838"/>
                </a:solidFill>
                <a:latin typeface="Tahoma"/>
                <a:cs typeface="Tahoma"/>
              </a:rPr>
              <a:t>automated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journal</a:t>
            </a:r>
            <a:r>
              <a:rPr dirty="0" sz="130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entries,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50">
                <a:solidFill>
                  <a:srgbClr val="383838"/>
                </a:solidFill>
                <a:latin typeface="Tahoma"/>
                <a:cs typeface="Tahoma"/>
              </a:rPr>
              <a:t>payment</a:t>
            </a:r>
            <a:r>
              <a:rPr dirty="0" sz="130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runs,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bank</a:t>
            </a:r>
            <a:r>
              <a:rPr dirty="0" sz="130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reconciliation,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closing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activities.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goal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not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remove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professionals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from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process,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383838"/>
                </a:solidFill>
                <a:latin typeface="Tahoma"/>
                <a:cs typeface="Tahoma"/>
              </a:rPr>
              <a:t>but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55">
                <a:solidFill>
                  <a:srgbClr val="383838"/>
                </a:solidFill>
                <a:latin typeface="Tahoma"/>
                <a:cs typeface="Tahoma"/>
              </a:rPr>
              <a:t>reduce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repetitive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work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70">
                <a:solidFill>
                  <a:srgbClr val="383838"/>
                </a:solidFill>
                <a:latin typeface="Tahoma"/>
                <a:cs typeface="Tahoma"/>
              </a:rPr>
              <a:t>so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383838"/>
                </a:solidFill>
                <a:latin typeface="Tahoma"/>
                <a:cs typeface="Tahoma"/>
              </a:rPr>
              <a:t>they </a:t>
            </a:r>
            <a:r>
              <a:rPr dirty="0" sz="1300" spc="60">
                <a:solidFill>
                  <a:srgbClr val="383838"/>
                </a:solidFill>
                <a:latin typeface="Tahoma"/>
                <a:cs typeface="Tahoma"/>
              </a:rPr>
              <a:t>can</a:t>
            </a:r>
            <a:r>
              <a:rPr dirty="0" sz="13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383838"/>
                </a:solidFill>
                <a:latin typeface="Tahoma"/>
                <a:cs typeface="Tahoma"/>
              </a:rPr>
              <a:t>focus</a:t>
            </a:r>
            <a:r>
              <a:rPr dirty="0" sz="130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on</a:t>
            </a:r>
            <a:r>
              <a:rPr dirty="0" sz="130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analysis</a:t>
            </a:r>
            <a:r>
              <a:rPr dirty="0" sz="130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0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decision-</a:t>
            </a:r>
            <a:r>
              <a:rPr dirty="0" sz="1300" spc="-10">
                <a:solidFill>
                  <a:srgbClr val="383838"/>
                </a:solidFill>
                <a:latin typeface="Tahoma"/>
                <a:cs typeface="Tahoma"/>
              </a:rPr>
              <a:t>making.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700" spc="-40">
                <a:solidFill>
                  <a:srgbClr val="020202"/>
                </a:solidFill>
                <a:latin typeface="Georgia"/>
                <a:cs typeface="Georgia"/>
              </a:rPr>
              <a:t>Real-</a:t>
            </a:r>
            <a:r>
              <a:rPr dirty="0" sz="2700">
                <a:solidFill>
                  <a:srgbClr val="020202"/>
                </a:solidFill>
                <a:latin typeface="Georgia"/>
                <a:cs typeface="Georgia"/>
              </a:rPr>
              <a:t>Time</a:t>
            </a:r>
            <a:r>
              <a:rPr dirty="0" sz="2700" spc="7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700">
                <a:solidFill>
                  <a:srgbClr val="020202"/>
                </a:solidFill>
                <a:latin typeface="Georgia"/>
                <a:cs typeface="Georgia"/>
              </a:rPr>
              <a:t>Analytics</a:t>
            </a:r>
            <a:r>
              <a:rPr dirty="0" sz="2700" spc="14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700">
                <a:solidFill>
                  <a:srgbClr val="020202"/>
                </a:solidFill>
                <a:latin typeface="Georgia"/>
                <a:cs typeface="Georgia"/>
              </a:rPr>
              <a:t>and</a:t>
            </a:r>
            <a:r>
              <a:rPr dirty="0" sz="2700" spc="14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700" spc="-10">
                <a:solidFill>
                  <a:srgbClr val="020202"/>
                </a:solidFill>
                <a:latin typeface="Georgia"/>
                <a:cs typeface="Georgia"/>
              </a:rPr>
              <a:t>Reporting</a:t>
            </a:r>
            <a:endParaRPr sz="2700">
              <a:latin typeface="Georgia"/>
              <a:cs typeface="Georgia"/>
            </a:endParaRPr>
          </a:p>
          <a:p>
            <a:pPr marL="12700" marR="5080">
              <a:lnSpc>
                <a:spcPct val="132600"/>
              </a:lnSpc>
              <a:spcBef>
                <a:spcPts val="1765"/>
              </a:spcBef>
            </a:pP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Traditional</a:t>
            </a:r>
            <a:r>
              <a:rPr dirty="0" sz="130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0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reporting</a:t>
            </a:r>
            <a:r>
              <a:rPr dirty="0" sz="130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often</a:t>
            </a:r>
            <a:r>
              <a:rPr dirty="0" sz="130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involved</a:t>
            </a:r>
            <a:r>
              <a:rPr dirty="0" sz="130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running</a:t>
            </a:r>
            <a:r>
              <a:rPr dirty="0" sz="130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transactions,</a:t>
            </a:r>
            <a:r>
              <a:rPr dirty="0" sz="130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exporting</a:t>
            </a:r>
            <a:r>
              <a:rPr dirty="0" sz="130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data,</a:t>
            </a:r>
            <a:r>
              <a:rPr dirty="0" sz="130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0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preparing</a:t>
            </a:r>
            <a:r>
              <a:rPr dirty="0" sz="130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50">
                <a:solidFill>
                  <a:srgbClr val="383838"/>
                </a:solidFill>
                <a:latin typeface="Tahoma"/>
                <a:cs typeface="Tahoma"/>
              </a:rPr>
              <a:t>reports</a:t>
            </a:r>
            <a:r>
              <a:rPr dirty="0" sz="130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Tahoma"/>
                <a:cs typeface="Tahoma"/>
              </a:rPr>
              <a:t>manually.</a:t>
            </a:r>
            <a:r>
              <a:rPr dirty="0" sz="130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383838"/>
                </a:solidFill>
                <a:latin typeface="Tahoma"/>
                <a:cs typeface="Tahoma"/>
              </a:rPr>
              <a:t>With </a:t>
            </a:r>
            <a:r>
              <a:rPr dirty="0" sz="1300" spc="75">
                <a:solidFill>
                  <a:srgbClr val="383838"/>
                </a:solidFill>
                <a:latin typeface="Tahoma"/>
                <a:cs typeface="Tahoma"/>
              </a:rPr>
              <a:t>embedded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analytics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S/4HANA,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information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available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real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50">
                <a:solidFill>
                  <a:srgbClr val="383838"/>
                </a:solidFill>
                <a:latin typeface="Tahoma"/>
                <a:cs typeface="Tahoma"/>
              </a:rPr>
              <a:t>time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through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interactive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55">
                <a:solidFill>
                  <a:srgbClr val="383838"/>
                </a:solidFill>
                <a:latin typeface="Tahoma"/>
                <a:cs typeface="Tahoma"/>
              </a:rPr>
              <a:t>dashboards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383838"/>
                </a:solidFill>
                <a:latin typeface="Tahoma"/>
                <a:cs typeface="Tahoma"/>
              </a:rPr>
              <a:t>KPI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monitors.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Management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383838"/>
                </a:solidFill>
                <a:latin typeface="Tahoma"/>
                <a:cs typeface="Tahoma"/>
              </a:rPr>
              <a:t>can</a:t>
            </a:r>
            <a:r>
              <a:rPr dirty="0" sz="130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55">
                <a:solidFill>
                  <a:srgbClr val="383838"/>
                </a:solidFill>
                <a:latin typeface="Tahoma"/>
                <a:cs typeface="Tahoma"/>
              </a:rPr>
              <a:t>see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plan</a:t>
            </a:r>
            <a:r>
              <a:rPr dirty="0" sz="130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vs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actual</a:t>
            </a:r>
            <a:r>
              <a:rPr dirty="0" sz="130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comparisons,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profitability</a:t>
            </a:r>
            <a:r>
              <a:rPr dirty="0" sz="130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analysis,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0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383838"/>
                </a:solidFill>
                <a:latin typeface="Tahoma"/>
                <a:cs typeface="Tahoma"/>
              </a:rPr>
              <a:t>cash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flow</a:t>
            </a:r>
            <a:r>
              <a:rPr dirty="0" sz="130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55">
                <a:solidFill>
                  <a:srgbClr val="383838"/>
                </a:solidFill>
                <a:latin typeface="Tahoma"/>
                <a:cs typeface="Tahoma"/>
              </a:rPr>
              <a:t>positions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without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Tahoma"/>
                <a:cs typeface="Tahoma"/>
              </a:rPr>
              <a:t>waiting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0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65">
                <a:solidFill>
                  <a:srgbClr val="383838"/>
                </a:solidFill>
                <a:latin typeface="Tahoma"/>
                <a:cs typeface="Tahoma"/>
              </a:rPr>
              <a:t>month-</a:t>
            </a:r>
            <a:r>
              <a:rPr dirty="0" sz="1300" spc="70">
                <a:solidFill>
                  <a:srgbClr val="383838"/>
                </a:solidFill>
                <a:latin typeface="Tahoma"/>
                <a:cs typeface="Tahoma"/>
              </a:rPr>
              <a:t>end</a:t>
            </a:r>
            <a:r>
              <a:rPr dirty="0" sz="1300" spc="-10">
                <a:solidFill>
                  <a:srgbClr val="383838"/>
                </a:solidFill>
                <a:latin typeface="Tahoma"/>
                <a:cs typeface="Tahoma"/>
              </a:rPr>
              <a:t> reports.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406247" y="12182133"/>
            <a:ext cx="6189345" cy="1561465"/>
            <a:chOff x="2406247" y="12182133"/>
            <a:chExt cx="6189345" cy="1561465"/>
          </a:xfrm>
        </p:grpSpPr>
        <p:sp>
          <p:nvSpPr>
            <p:cNvPr id="11" name="object 11"/>
            <p:cNvSpPr/>
            <p:nvPr/>
          </p:nvSpPr>
          <p:spPr>
            <a:xfrm>
              <a:off x="4719710" y="12182133"/>
              <a:ext cx="1561465" cy="1561465"/>
            </a:xfrm>
            <a:custGeom>
              <a:avLst/>
              <a:gdLst/>
              <a:ahLst/>
              <a:cxnLst/>
              <a:rect l="l" t="t" r="r" b="b"/>
              <a:pathLst>
                <a:path w="1561464" h="1561465">
                  <a:moveTo>
                    <a:pt x="780558" y="1561117"/>
                  </a:moveTo>
                  <a:lnTo>
                    <a:pt x="742254" y="1560176"/>
                  </a:lnTo>
                  <a:lnTo>
                    <a:pt x="704054" y="1557355"/>
                  </a:lnTo>
                  <a:lnTo>
                    <a:pt x="666023" y="1552672"/>
                  </a:lnTo>
                  <a:lnTo>
                    <a:pt x="628274" y="1546117"/>
                  </a:lnTo>
                  <a:lnTo>
                    <a:pt x="590901" y="1537728"/>
                  </a:lnTo>
                  <a:lnTo>
                    <a:pt x="553970" y="1527506"/>
                  </a:lnTo>
                  <a:lnTo>
                    <a:pt x="517594" y="1515487"/>
                  </a:lnTo>
                  <a:lnTo>
                    <a:pt x="481849" y="1501700"/>
                  </a:lnTo>
                  <a:lnTo>
                    <a:pt x="446827" y="1486174"/>
                  </a:lnTo>
                  <a:lnTo>
                    <a:pt x="412605" y="1468945"/>
                  </a:lnTo>
                  <a:lnTo>
                    <a:pt x="379266" y="1450061"/>
                  </a:lnTo>
                  <a:lnTo>
                    <a:pt x="346906" y="1429569"/>
                  </a:lnTo>
                  <a:lnTo>
                    <a:pt x="315580" y="1407506"/>
                  </a:lnTo>
                  <a:lnTo>
                    <a:pt x="285374" y="1383939"/>
                  </a:lnTo>
                  <a:lnTo>
                    <a:pt x="256371" y="1358914"/>
                  </a:lnTo>
                  <a:lnTo>
                    <a:pt x="228619" y="1332498"/>
                  </a:lnTo>
                  <a:lnTo>
                    <a:pt x="202202" y="1304745"/>
                  </a:lnTo>
                  <a:lnTo>
                    <a:pt x="177177" y="1275743"/>
                  </a:lnTo>
                  <a:lnTo>
                    <a:pt x="153610" y="1245536"/>
                  </a:lnTo>
                  <a:lnTo>
                    <a:pt x="131547" y="1214210"/>
                  </a:lnTo>
                  <a:lnTo>
                    <a:pt x="111046" y="1181850"/>
                  </a:lnTo>
                  <a:lnTo>
                    <a:pt x="92162" y="1148512"/>
                  </a:lnTo>
                  <a:lnTo>
                    <a:pt x="74943" y="1114289"/>
                  </a:lnTo>
                  <a:lnTo>
                    <a:pt x="59416" y="1079267"/>
                  </a:lnTo>
                  <a:lnTo>
                    <a:pt x="45629" y="1043522"/>
                  </a:lnTo>
                  <a:lnTo>
                    <a:pt x="33611" y="1007146"/>
                  </a:lnTo>
                  <a:lnTo>
                    <a:pt x="23388" y="970215"/>
                  </a:lnTo>
                  <a:lnTo>
                    <a:pt x="14999" y="932842"/>
                  </a:lnTo>
                  <a:lnTo>
                    <a:pt x="8445" y="895093"/>
                  </a:lnTo>
                  <a:lnTo>
                    <a:pt x="3761" y="857062"/>
                  </a:lnTo>
                  <a:lnTo>
                    <a:pt x="940" y="818862"/>
                  </a:lnTo>
                  <a:lnTo>
                    <a:pt x="0" y="780558"/>
                  </a:lnTo>
                  <a:lnTo>
                    <a:pt x="233" y="761403"/>
                  </a:lnTo>
                  <a:lnTo>
                    <a:pt x="2118" y="723136"/>
                  </a:lnTo>
                  <a:lnTo>
                    <a:pt x="5870" y="685010"/>
                  </a:lnTo>
                  <a:lnTo>
                    <a:pt x="11493" y="647113"/>
                  </a:lnTo>
                  <a:lnTo>
                    <a:pt x="18964" y="609535"/>
                  </a:lnTo>
                  <a:lnTo>
                    <a:pt x="28274" y="572372"/>
                  </a:lnTo>
                  <a:lnTo>
                    <a:pt x="39394" y="535708"/>
                  </a:lnTo>
                  <a:lnTo>
                    <a:pt x="52300" y="499637"/>
                  </a:lnTo>
                  <a:lnTo>
                    <a:pt x="66964" y="464243"/>
                  </a:lnTo>
                  <a:lnTo>
                    <a:pt x="83345" y="429610"/>
                  </a:lnTo>
                  <a:lnTo>
                    <a:pt x="101404" y="395823"/>
                  </a:lnTo>
                  <a:lnTo>
                    <a:pt x="121099" y="362959"/>
                  </a:lnTo>
                  <a:lnTo>
                    <a:pt x="142388" y="331106"/>
                  </a:lnTo>
                  <a:lnTo>
                    <a:pt x="165206" y="300332"/>
                  </a:lnTo>
                  <a:lnTo>
                    <a:pt x="189513" y="270717"/>
                  </a:lnTo>
                  <a:lnTo>
                    <a:pt x="215241" y="242332"/>
                  </a:lnTo>
                  <a:lnTo>
                    <a:pt x="242332" y="215241"/>
                  </a:lnTo>
                  <a:lnTo>
                    <a:pt x="270717" y="189513"/>
                  </a:lnTo>
                  <a:lnTo>
                    <a:pt x="300332" y="165206"/>
                  </a:lnTo>
                  <a:lnTo>
                    <a:pt x="331106" y="142388"/>
                  </a:lnTo>
                  <a:lnTo>
                    <a:pt x="362959" y="121100"/>
                  </a:lnTo>
                  <a:lnTo>
                    <a:pt x="395823" y="101405"/>
                  </a:lnTo>
                  <a:lnTo>
                    <a:pt x="429610" y="83345"/>
                  </a:lnTo>
                  <a:lnTo>
                    <a:pt x="464243" y="66964"/>
                  </a:lnTo>
                  <a:lnTo>
                    <a:pt x="499637" y="52300"/>
                  </a:lnTo>
                  <a:lnTo>
                    <a:pt x="535708" y="39394"/>
                  </a:lnTo>
                  <a:lnTo>
                    <a:pt x="572372" y="28274"/>
                  </a:lnTo>
                  <a:lnTo>
                    <a:pt x="609535" y="18964"/>
                  </a:lnTo>
                  <a:lnTo>
                    <a:pt x="647113" y="11493"/>
                  </a:lnTo>
                  <a:lnTo>
                    <a:pt x="685010" y="5870"/>
                  </a:lnTo>
                  <a:lnTo>
                    <a:pt x="723136" y="2118"/>
                  </a:lnTo>
                  <a:lnTo>
                    <a:pt x="761403" y="233"/>
                  </a:lnTo>
                  <a:lnTo>
                    <a:pt x="780558" y="0"/>
                  </a:lnTo>
                  <a:lnTo>
                    <a:pt x="799713" y="233"/>
                  </a:lnTo>
                  <a:lnTo>
                    <a:pt x="837980" y="2118"/>
                  </a:lnTo>
                  <a:lnTo>
                    <a:pt x="876106" y="5870"/>
                  </a:lnTo>
                  <a:lnTo>
                    <a:pt x="914002" y="11493"/>
                  </a:lnTo>
                  <a:lnTo>
                    <a:pt x="951580" y="18964"/>
                  </a:lnTo>
                  <a:lnTo>
                    <a:pt x="988744" y="28274"/>
                  </a:lnTo>
                  <a:lnTo>
                    <a:pt x="1025404" y="39394"/>
                  </a:lnTo>
                  <a:lnTo>
                    <a:pt x="1061479" y="52300"/>
                  </a:lnTo>
                  <a:lnTo>
                    <a:pt x="1096874" y="66964"/>
                  </a:lnTo>
                  <a:lnTo>
                    <a:pt x="1131506" y="83345"/>
                  </a:lnTo>
                  <a:lnTo>
                    <a:pt x="1165292" y="101405"/>
                  </a:lnTo>
                  <a:lnTo>
                    <a:pt x="1198156" y="121100"/>
                  </a:lnTo>
                  <a:lnTo>
                    <a:pt x="1230011" y="142388"/>
                  </a:lnTo>
                  <a:lnTo>
                    <a:pt x="1260784" y="165206"/>
                  </a:lnTo>
                  <a:lnTo>
                    <a:pt x="1290399" y="189513"/>
                  </a:lnTo>
                  <a:lnTo>
                    <a:pt x="1318784" y="215241"/>
                  </a:lnTo>
                  <a:lnTo>
                    <a:pt x="1345875" y="242332"/>
                  </a:lnTo>
                  <a:lnTo>
                    <a:pt x="1371603" y="270717"/>
                  </a:lnTo>
                  <a:lnTo>
                    <a:pt x="1395910" y="300332"/>
                  </a:lnTo>
                  <a:lnTo>
                    <a:pt x="1418728" y="331106"/>
                  </a:lnTo>
                  <a:lnTo>
                    <a:pt x="1440016" y="362959"/>
                  </a:lnTo>
                  <a:lnTo>
                    <a:pt x="1459711" y="395823"/>
                  </a:lnTo>
                  <a:lnTo>
                    <a:pt x="1477771" y="429610"/>
                  </a:lnTo>
                  <a:lnTo>
                    <a:pt x="1494152" y="464243"/>
                  </a:lnTo>
                  <a:lnTo>
                    <a:pt x="1508812" y="499637"/>
                  </a:lnTo>
                  <a:lnTo>
                    <a:pt x="1521722" y="535712"/>
                  </a:lnTo>
                  <a:lnTo>
                    <a:pt x="1532839" y="572372"/>
                  </a:lnTo>
                  <a:lnTo>
                    <a:pt x="1542152" y="609535"/>
                  </a:lnTo>
                  <a:lnTo>
                    <a:pt x="1549623" y="647113"/>
                  </a:lnTo>
                  <a:lnTo>
                    <a:pt x="1555246" y="685010"/>
                  </a:lnTo>
                  <a:lnTo>
                    <a:pt x="1558998" y="723136"/>
                  </a:lnTo>
                  <a:lnTo>
                    <a:pt x="1560883" y="761403"/>
                  </a:lnTo>
                  <a:lnTo>
                    <a:pt x="1561117" y="780558"/>
                  </a:lnTo>
                  <a:lnTo>
                    <a:pt x="1560883" y="799713"/>
                  </a:lnTo>
                  <a:lnTo>
                    <a:pt x="1558998" y="837980"/>
                  </a:lnTo>
                  <a:lnTo>
                    <a:pt x="1555246" y="876106"/>
                  </a:lnTo>
                  <a:lnTo>
                    <a:pt x="1549623" y="914003"/>
                  </a:lnTo>
                  <a:lnTo>
                    <a:pt x="1542152" y="951582"/>
                  </a:lnTo>
                  <a:lnTo>
                    <a:pt x="1532839" y="988744"/>
                  </a:lnTo>
                  <a:lnTo>
                    <a:pt x="1521722" y="1025404"/>
                  </a:lnTo>
                  <a:lnTo>
                    <a:pt x="1508812" y="1061479"/>
                  </a:lnTo>
                  <a:lnTo>
                    <a:pt x="1494152" y="1096874"/>
                  </a:lnTo>
                  <a:lnTo>
                    <a:pt x="1477771" y="1131506"/>
                  </a:lnTo>
                  <a:lnTo>
                    <a:pt x="1459711" y="1165294"/>
                  </a:lnTo>
                  <a:lnTo>
                    <a:pt x="1440016" y="1198157"/>
                  </a:lnTo>
                  <a:lnTo>
                    <a:pt x="1418728" y="1230011"/>
                  </a:lnTo>
                  <a:lnTo>
                    <a:pt x="1395906" y="1260784"/>
                  </a:lnTo>
                  <a:lnTo>
                    <a:pt x="1371603" y="1290399"/>
                  </a:lnTo>
                  <a:lnTo>
                    <a:pt x="1345875" y="1318784"/>
                  </a:lnTo>
                  <a:lnTo>
                    <a:pt x="1318784" y="1345875"/>
                  </a:lnTo>
                  <a:lnTo>
                    <a:pt x="1290399" y="1371603"/>
                  </a:lnTo>
                  <a:lnTo>
                    <a:pt x="1260784" y="1395910"/>
                  </a:lnTo>
                  <a:lnTo>
                    <a:pt x="1230011" y="1418728"/>
                  </a:lnTo>
                  <a:lnTo>
                    <a:pt x="1198156" y="1440016"/>
                  </a:lnTo>
                  <a:lnTo>
                    <a:pt x="1165292" y="1459711"/>
                  </a:lnTo>
                  <a:lnTo>
                    <a:pt x="1131506" y="1477771"/>
                  </a:lnTo>
                  <a:lnTo>
                    <a:pt x="1096874" y="1494152"/>
                  </a:lnTo>
                  <a:lnTo>
                    <a:pt x="1061479" y="1508812"/>
                  </a:lnTo>
                  <a:lnTo>
                    <a:pt x="1025404" y="1521722"/>
                  </a:lnTo>
                  <a:lnTo>
                    <a:pt x="988744" y="1532839"/>
                  </a:lnTo>
                  <a:lnTo>
                    <a:pt x="951580" y="1542152"/>
                  </a:lnTo>
                  <a:lnTo>
                    <a:pt x="914002" y="1549623"/>
                  </a:lnTo>
                  <a:lnTo>
                    <a:pt x="876106" y="1555246"/>
                  </a:lnTo>
                  <a:lnTo>
                    <a:pt x="837980" y="1558998"/>
                  </a:lnTo>
                  <a:lnTo>
                    <a:pt x="799713" y="1560883"/>
                  </a:lnTo>
                  <a:lnTo>
                    <a:pt x="780558" y="1561117"/>
                  </a:lnTo>
                  <a:close/>
                </a:path>
              </a:pathLst>
            </a:custGeom>
            <a:solidFill>
              <a:srgbClr val="DF4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06243" y="12210351"/>
              <a:ext cx="6189345" cy="1504950"/>
            </a:xfrm>
            <a:custGeom>
              <a:avLst/>
              <a:gdLst/>
              <a:ahLst/>
              <a:cxnLst/>
              <a:rect l="l" t="t" r="r" b="b"/>
              <a:pathLst>
                <a:path w="6189345" h="1504950">
                  <a:moveTo>
                    <a:pt x="2285225" y="745947"/>
                  </a:moveTo>
                  <a:lnTo>
                    <a:pt x="2068944" y="598881"/>
                  </a:lnTo>
                  <a:lnTo>
                    <a:pt x="2068944" y="150469"/>
                  </a:lnTo>
                  <a:lnTo>
                    <a:pt x="2061273" y="102908"/>
                  </a:lnTo>
                  <a:lnTo>
                    <a:pt x="2039912" y="61607"/>
                  </a:lnTo>
                  <a:lnTo>
                    <a:pt x="2007349" y="29032"/>
                  </a:lnTo>
                  <a:lnTo>
                    <a:pt x="1966036" y="7670"/>
                  </a:lnTo>
                  <a:lnTo>
                    <a:pt x="1918474" y="0"/>
                  </a:lnTo>
                  <a:lnTo>
                    <a:pt x="150469" y="0"/>
                  </a:lnTo>
                  <a:lnTo>
                    <a:pt x="102908" y="7670"/>
                  </a:lnTo>
                  <a:lnTo>
                    <a:pt x="61595" y="29032"/>
                  </a:lnTo>
                  <a:lnTo>
                    <a:pt x="29032" y="61607"/>
                  </a:lnTo>
                  <a:lnTo>
                    <a:pt x="7670" y="102908"/>
                  </a:lnTo>
                  <a:lnTo>
                    <a:pt x="0" y="150469"/>
                  </a:lnTo>
                  <a:lnTo>
                    <a:pt x="0" y="1354226"/>
                  </a:lnTo>
                  <a:lnTo>
                    <a:pt x="7670" y="1401787"/>
                  </a:lnTo>
                  <a:lnTo>
                    <a:pt x="29032" y="1443088"/>
                  </a:lnTo>
                  <a:lnTo>
                    <a:pt x="61595" y="1475663"/>
                  </a:lnTo>
                  <a:lnTo>
                    <a:pt x="102908" y="1497025"/>
                  </a:lnTo>
                  <a:lnTo>
                    <a:pt x="150469" y="1504696"/>
                  </a:lnTo>
                  <a:lnTo>
                    <a:pt x="1918474" y="1504696"/>
                  </a:lnTo>
                  <a:lnTo>
                    <a:pt x="1966036" y="1497025"/>
                  </a:lnTo>
                  <a:lnTo>
                    <a:pt x="2007349" y="1475663"/>
                  </a:lnTo>
                  <a:lnTo>
                    <a:pt x="2039912" y="1443088"/>
                  </a:lnTo>
                  <a:lnTo>
                    <a:pt x="2061273" y="1401787"/>
                  </a:lnTo>
                  <a:lnTo>
                    <a:pt x="2068944" y="1354226"/>
                  </a:lnTo>
                  <a:lnTo>
                    <a:pt x="2068944" y="911072"/>
                  </a:lnTo>
                  <a:lnTo>
                    <a:pt x="2285225" y="745947"/>
                  </a:lnTo>
                  <a:close/>
                </a:path>
                <a:path w="6189345" h="1504950">
                  <a:moveTo>
                    <a:pt x="6189116" y="150469"/>
                  </a:moveTo>
                  <a:lnTo>
                    <a:pt x="6181445" y="102908"/>
                  </a:lnTo>
                  <a:lnTo>
                    <a:pt x="6160097" y="61607"/>
                  </a:lnTo>
                  <a:lnTo>
                    <a:pt x="6127521" y="29032"/>
                  </a:lnTo>
                  <a:lnTo>
                    <a:pt x="6086208" y="7670"/>
                  </a:lnTo>
                  <a:lnTo>
                    <a:pt x="6038647" y="0"/>
                  </a:lnTo>
                  <a:lnTo>
                    <a:pt x="4270641" y="0"/>
                  </a:lnTo>
                  <a:lnTo>
                    <a:pt x="4223080" y="7670"/>
                  </a:lnTo>
                  <a:lnTo>
                    <a:pt x="4181779" y="29032"/>
                  </a:lnTo>
                  <a:lnTo>
                    <a:pt x="4149204" y="61607"/>
                  </a:lnTo>
                  <a:lnTo>
                    <a:pt x="4127843" y="102908"/>
                  </a:lnTo>
                  <a:lnTo>
                    <a:pt x="4120172" y="150469"/>
                  </a:lnTo>
                  <a:lnTo>
                    <a:pt x="4120172" y="598881"/>
                  </a:lnTo>
                  <a:lnTo>
                    <a:pt x="3903891" y="745947"/>
                  </a:lnTo>
                  <a:lnTo>
                    <a:pt x="4120172" y="911072"/>
                  </a:lnTo>
                  <a:lnTo>
                    <a:pt x="4120172" y="1354226"/>
                  </a:lnTo>
                  <a:lnTo>
                    <a:pt x="4127843" y="1401787"/>
                  </a:lnTo>
                  <a:lnTo>
                    <a:pt x="4149204" y="1443088"/>
                  </a:lnTo>
                  <a:lnTo>
                    <a:pt x="4181779" y="1475663"/>
                  </a:lnTo>
                  <a:lnTo>
                    <a:pt x="4223080" y="1497025"/>
                  </a:lnTo>
                  <a:lnTo>
                    <a:pt x="4270641" y="1504696"/>
                  </a:lnTo>
                  <a:lnTo>
                    <a:pt x="6038647" y="1504696"/>
                  </a:lnTo>
                  <a:lnTo>
                    <a:pt x="6086208" y="1497025"/>
                  </a:lnTo>
                  <a:lnTo>
                    <a:pt x="6127521" y="1475663"/>
                  </a:lnTo>
                  <a:lnTo>
                    <a:pt x="6160097" y="1443088"/>
                  </a:lnTo>
                  <a:lnTo>
                    <a:pt x="6181445" y="1401787"/>
                  </a:lnTo>
                  <a:lnTo>
                    <a:pt x="6189116" y="1354226"/>
                  </a:lnTo>
                  <a:lnTo>
                    <a:pt x="6189116" y="150469"/>
                  </a:lnTo>
                  <a:close/>
                </a:path>
              </a:pathLst>
            </a:custGeom>
            <a:solidFill>
              <a:srgbClr val="FFA9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/>
          <p:nvPr/>
        </p:nvSpPr>
        <p:spPr>
          <a:xfrm>
            <a:off x="5763665" y="10545781"/>
            <a:ext cx="2196465" cy="1504950"/>
          </a:xfrm>
          <a:custGeom>
            <a:avLst/>
            <a:gdLst/>
            <a:ahLst/>
            <a:cxnLst/>
            <a:rect l="l" t="t" r="r" b="b"/>
            <a:pathLst>
              <a:path w="2196465" h="1504950">
                <a:moveTo>
                  <a:pt x="2045439" y="1504691"/>
                </a:moveTo>
                <a:lnTo>
                  <a:pt x="277427" y="1504691"/>
                </a:lnTo>
                <a:lnTo>
                  <a:pt x="271051" y="1504691"/>
                </a:lnTo>
                <a:lnTo>
                  <a:pt x="264778" y="1504296"/>
                </a:lnTo>
                <a:lnTo>
                  <a:pt x="258618" y="1503525"/>
                </a:lnTo>
                <a:lnTo>
                  <a:pt x="258618" y="1504691"/>
                </a:lnTo>
                <a:lnTo>
                  <a:pt x="0" y="1504691"/>
                </a:lnTo>
                <a:lnTo>
                  <a:pt x="126958" y="1344770"/>
                </a:lnTo>
                <a:lnTo>
                  <a:pt x="126958" y="150469"/>
                </a:lnTo>
                <a:lnTo>
                  <a:pt x="134628" y="102907"/>
                </a:lnTo>
                <a:lnTo>
                  <a:pt x="155988" y="61602"/>
                </a:lnTo>
                <a:lnTo>
                  <a:pt x="188560" y="29030"/>
                </a:lnTo>
                <a:lnTo>
                  <a:pt x="229865" y="7670"/>
                </a:lnTo>
                <a:lnTo>
                  <a:pt x="277427" y="0"/>
                </a:lnTo>
                <a:lnTo>
                  <a:pt x="2045439" y="0"/>
                </a:lnTo>
                <a:lnTo>
                  <a:pt x="2092997" y="7670"/>
                </a:lnTo>
                <a:lnTo>
                  <a:pt x="2134302" y="29030"/>
                </a:lnTo>
                <a:lnTo>
                  <a:pt x="2166875" y="61602"/>
                </a:lnTo>
                <a:lnTo>
                  <a:pt x="2188237" y="102907"/>
                </a:lnTo>
                <a:lnTo>
                  <a:pt x="2195908" y="150469"/>
                </a:lnTo>
                <a:lnTo>
                  <a:pt x="2195908" y="1354222"/>
                </a:lnTo>
                <a:lnTo>
                  <a:pt x="2188237" y="1401783"/>
                </a:lnTo>
                <a:lnTo>
                  <a:pt x="2166875" y="1443089"/>
                </a:lnTo>
                <a:lnTo>
                  <a:pt x="2134302" y="1475660"/>
                </a:lnTo>
                <a:lnTo>
                  <a:pt x="2092997" y="1497020"/>
                </a:lnTo>
                <a:lnTo>
                  <a:pt x="2045439" y="1504691"/>
                </a:lnTo>
                <a:close/>
              </a:path>
            </a:pathLst>
          </a:custGeom>
          <a:solidFill>
            <a:srgbClr val="FFA9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27008" y="10545781"/>
            <a:ext cx="2196465" cy="1504950"/>
          </a:xfrm>
          <a:custGeom>
            <a:avLst/>
            <a:gdLst/>
            <a:ahLst/>
            <a:cxnLst/>
            <a:rect l="l" t="t" r="r" b="b"/>
            <a:pathLst>
              <a:path w="2196465" h="1504950">
                <a:moveTo>
                  <a:pt x="2195908" y="1504691"/>
                </a:moveTo>
                <a:lnTo>
                  <a:pt x="1937289" y="1504691"/>
                </a:lnTo>
                <a:lnTo>
                  <a:pt x="1937289" y="1503525"/>
                </a:lnTo>
                <a:lnTo>
                  <a:pt x="1931130" y="1504296"/>
                </a:lnTo>
                <a:lnTo>
                  <a:pt x="1924848" y="1504691"/>
                </a:lnTo>
                <a:lnTo>
                  <a:pt x="1918481" y="1504691"/>
                </a:lnTo>
                <a:lnTo>
                  <a:pt x="150469" y="1504691"/>
                </a:lnTo>
                <a:lnTo>
                  <a:pt x="102907" y="1497020"/>
                </a:lnTo>
                <a:lnTo>
                  <a:pt x="61602" y="1475660"/>
                </a:lnTo>
                <a:lnTo>
                  <a:pt x="29030" y="1443089"/>
                </a:lnTo>
                <a:lnTo>
                  <a:pt x="7670" y="1401783"/>
                </a:lnTo>
                <a:lnTo>
                  <a:pt x="0" y="1354222"/>
                </a:lnTo>
                <a:lnTo>
                  <a:pt x="0" y="150469"/>
                </a:lnTo>
                <a:lnTo>
                  <a:pt x="7670" y="102907"/>
                </a:lnTo>
                <a:lnTo>
                  <a:pt x="29030" y="61602"/>
                </a:lnTo>
                <a:lnTo>
                  <a:pt x="61602" y="29030"/>
                </a:lnTo>
                <a:lnTo>
                  <a:pt x="102907" y="7670"/>
                </a:lnTo>
                <a:lnTo>
                  <a:pt x="150469" y="0"/>
                </a:lnTo>
                <a:lnTo>
                  <a:pt x="1918481" y="0"/>
                </a:lnTo>
                <a:lnTo>
                  <a:pt x="1966039" y="7670"/>
                </a:lnTo>
                <a:lnTo>
                  <a:pt x="2007344" y="29030"/>
                </a:lnTo>
                <a:lnTo>
                  <a:pt x="2039917" y="61602"/>
                </a:lnTo>
                <a:lnTo>
                  <a:pt x="2061278" y="102907"/>
                </a:lnTo>
                <a:lnTo>
                  <a:pt x="2068950" y="150469"/>
                </a:lnTo>
                <a:lnTo>
                  <a:pt x="2068950" y="1344770"/>
                </a:lnTo>
                <a:lnTo>
                  <a:pt x="2195908" y="1504691"/>
                </a:lnTo>
                <a:close/>
              </a:path>
            </a:pathLst>
          </a:custGeom>
          <a:solidFill>
            <a:srgbClr val="FFA9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27008" y="13903125"/>
            <a:ext cx="2196465" cy="1504950"/>
          </a:xfrm>
          <a:custGeom>
            <a:avLst/>
            <a:gdLst/>
            <a:ahLst/>
            <a:cxnLst/>
            <a:rect l="l" t="t" r="r" b="b"/>
            <a:pathLst>
              <a:path w="2196465" h="1504950">
                <a:moveTo>
                  <a:pt x="1918481" y="1504691"/>
                </a:moveTo>
                <a:lnTo>
                  <a:pt x="150469" y="1504691"/>
                </a:lnTo>
                <a:lnTo>
                  <a:pt x="102907" y="1497020"/>
                </a:lnTo>
                <a:lnTo>
                  <a:pt x="61602" y="1475660"/>
                </a:lnTo>
                <a:lnTo>
                  <a:pt x="29030" y="1443089"/>
                </a:lnTo>
                <a:lnTo>
                  <a:pt x="7670" y="1401783"/>
                </a:lnTo>
                <a:lnTo>
                  <a:pt x="0" y="1354222"/>
                </a:lnTo>
                <a:lnTo>
                  <a:pt x="0" y="150469"/>
                </a:lnTo>
                <a:lnTo>
                  <a:pt x="7670" y="102907"/>
                </a:lnTo>
                <a:lnTo>
                  <a:pt x="29030" y="61602"/>
                </a:lnTo>
                <a:lnTo>
                  <a:pt x="61602" y="29030"/>
                </a:lnTo>
                <a:lnTo>
                  <a:pt x="102907" y="7670"/>
                </a:lnTo>
                <a:lnTo>
                  <a:pt x="150469" y="0"/>
                </a:lnTo>
                <a:lnTo>
                  <a:pt x="1918481" y="0"/>
                </a:lnTo>
                <a:lnTo>
                  <a:pt x="1924848" y="0"/>
                </a:lnTo>
                <a:lnTo>
                  <a:pt x="1931130" y="394"/>
                </a:lnTo>
                <a:lnTo>
                  <a:pt x="1937289" y="1166"/>
                </a:lnTo>
                <a:lnTo>
                  <a:pt x="1937289" y="0"/>
                </a:lnTo>
                <a:lnTo>
                  <a:pt x="2195908" y="0"/>
                </a:lnTo>
                <a:lnTo>
                  <a:pt x="2068950" y="159920"/>
                </a:lnTo>
                <a:lnTo>
                  <a:pt x="2068950" y="1354222"/>
                </a:lnTo>
                <a:lnTo>
                  <a:pt x="2061278" y="1401783"/>
                </a:lnTo>
                <a:lnTo>
                  <a:pt x="2039917" y="1443089"/>
                </a:lnTo>
                <a:lnTo>
                  <a:pt x="2007344" y="1475660"/>
                </a:lnTo>
                <a:lnTo>
                  <a:pt x="1966039" y="1497020"/>
                </a:lnTo>
                <a:lnTo>
                  <a:pt x="1918481" y="1504691"/>
                </a:lnTo>
                <a:close/>
              </a:path>
            </a:pathLst>
          </a:custGeom>
          <a:solidFill>
            <a:srgbClr val="FFA9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763665" y="13903125"/>
            <a:ext cx="2196465" cy="1504950"/>
          </a:xfrm>
          <a:custGeom>
            <a:avLst/>
            <a:gdLst/>
            <a:ahLst/>
            <a:cxnLst/>
            <a:rect l="l" t="t" r="r" b="b"/>
            <a:pathLst>
              <a:path w="2196465" h="1504950">
                <a:moveTo>
                  <a:pt x="2045439" y="1504691"/>
                </a:moveTo>
                <a:lnTo>
                  <a:pt x="277427" y="1504691"/>
                </a:lnTo>
                <a:lnTo>
                  <a:pt x="229865" y="1497020"/>
                </a:lnTo>
                <a:lnTo>
                  <a:pt x="188560" y="1475660"/>
                </a:lnTo>
                <a:lnTo>
                  <a:pt x="155988" y="1443089"/>
                </a:lnTo>
                <a:lnTo>
                  <a:pt x="134628" y="1401783"/>
                </a:lnTo>
                <a:lnTo>
                  <a:pt x="126958" y="1354222"/>
                </a:lnTo>
                <a:lnTo>
                  <a:pt x="126958" y="159920"/>
                </a:lnTo>
                <a:lnTo>
                  <a:pt x="0" y="0"/>
                </a:lnTo>
                <a:lnTo>
                  <a:pt x="258618" y="0"/>
                </a:lnTo>
                <a:lnTo>
                  <a:pt x="258618" y="1166"/>
                </a:lnTo>
                <a:lnTo>
                  <a:pt x="264778" y="394"/>
                </a:lnTo>
                <a:lnTo>
                  <a:pt x="271051" y="0"/>
                </a:lnTo>
                <a:lnTo>
                  <a:pt x="277427" y="0"/>
                </a:lnTo>
                <a:lnTo>
                  <a:pt x="2045439" y="0"/>
                </a:lnTo>
                <a:lnTo>
                  <a:pt x="2092997" y="7670"/>
                </a:lnTo>
                <a:lnTo>
                  <a:pt x="2134302" y="29030"/>
                </a:lnTo>
                <a:lnTo>
                  <a:pt x="2166875" y="61602"/>
                </a:lnTo>
                <a:lnTo>
                  <a:pt x="2188237" y="102907"/>
                </a:lnTo>
                <a:lnTo>
                  <a:pt x="2195908" y="150469"/>
                </a:lnTo>
                <a:lnTo>
                  <a:pt x="2195908" y="1354222"/>
                </a:lnTo>
                <a:lnTo>
                  <a:pt x="2188237" y="1401783"/>
                </a:lnTo>
                <a:lnTo>
                  <a:pt x="2166875" y="1443089"/>
                </a:lnTo>
                <a:lnTo>
                  <a:pt x="2134302" y="1475660"/>
                </a:lnTo>
                <a:lnTo>
                  <a:pt x="2092997" y="1497020"/>
                </a:lnTo>
                <a:lnTo>
                  <a:pt x="2045439" y="1504691"/>
                </a:lnTo>
                <a:close/>
              </a:path>
            </a:pathLst>
          </a:custGeom>
          <a:solidFill>
            <a:srgbClr val="FFA9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971654" y="12364323"/>
            <a:ext cx="1042035" cy="1144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12700" marR="5080">
              <a:lnSpc>
                <a:spcPct val="104600"/>
              </a:lnSpc>
              <a:spcBef>
                <a:spcPts val="125"/>
              </a:spcBef>
            </a:pPr>
            <a:r>
              <a:rPr dirty="0" sz="1750" spc="-30">
                <a:solidFill>
                  <a:srgbClr val="FFFFFF"/>
                </a:solidFill>
                <a:latin typeface="Georgia"/>
                <a:cs typeface="Georgia"/>
              </a:rPr>
              <a:t>Real-</a:t>
            </a:r>
            <a:r>
              <a:rPr dirty="0" sz="1750" spc="-20">
                <a:solidFill>
                  <a:srgbClr val="FFFFFF"/>
                </a:solidFill>
                <a:latin typeface="Georgia"/>
                <a:cs typeface="Georgia"/>
              </a:rPr>
              <a:t>Time </a:t>
            </a:r>
            <a:r>
              <a:rPr dirty="0" sz="1750" spc="-10">
                <a:solidFill>
                  <a:srgbClr val="FFFFFF"/>
                </a:solidFill>
                <a:latin typeface="Georgia"/>
                <a:cs typeface="Georgia"/>
              </a:rPr>
              <a:t>Analytics </a:t>
            </a:r>
            <a:r>
              <a:rPr dirty="0" sz="1750">
                <a:solidFill>
                  <a:srgbClr val="FFFFFF"/>
                </a:solidFill>
                <a:latin typeface="Georgia"/>
                <a:cs typeface="Georgia"/>
              </a:rPr>
              <a:t>in</a:t>
            </a:r>
            <a:r>
              <a:rPr dirty="0" sz="1750" spc="1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750" spc="-25">
                <a:solidFill>
                  <a:srgbClr val="FFFFFF"/>
                </a:solidFill>
                <a:latin typeface="Georgia"/>
                <a:cs typeface="Georgia"/>
              </a:rPr>
              <a:t>SAP </a:t>
            </a:r>
            <a:r>
              <a:rPr dirty="0" sz="1750" spc="-10">
                <a:solidFill>
                  <a:srgbClr val="FFFFFF"/>
                </a:solidFill>
                <a:latin typeface="Georgia"/>
                <a:cs typeface="Georgia"/>
              </a:rPr>
              <a:t>Finance</a:t>
            </a:r>
            <a:endParaRPr sz="175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15473" y="10752911"/>
            <a:ext cx="1593850" cy="1062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750" spc="-25">
                <a:solidFill>
                  <a:srgbClr val="383838"/>
                </a:solidFill>
                <a:latin typeface="Georgia"/>
                <a:cs typeface="Georgia"/>
              </a:rPr>
              <a:t>SAP</a:t>
            </a:r>
            <a:endParaRPr sz="175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Transactions</a:t>
            </a:r>
            <a:endParaRPr sz="1750">
              <a:latin typeface="Georgia"/>
              <a:cs typeface="Georgia"/>
            </a:endParaRPr>
          </a:p>
          <a:p>
            <a:pPr algn="ctr" marL="12065" marR="5080">
              <a:lnSpc>
                <a:spcPct val="104400"/>
              </a:lnSpc>
              <a:spcBef>
                <a:spcPts val="650"/>
              </a:spcBef>
            </a:pPr>
            <a:r>
              <a:rPr dirty="0" sz="1300" spc="50">
                <a:solidFill>
                  <a:srgbClr val="383838"/>
                </a:solidFill>
                <a:latin typeface="Tahoma"/>
                <a:cs typeface="Tahoma"/>
              </a:rPr>
              <a:t>Operational</a:t>
            </a:r>
            <a:r>
              <a:rPr dirty="0" sz="130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383838"/>
                </a:solidFill>
                <a:latin typeface="Tahoma"/>
                <a:cs typeface="Tahoma"/>
              </a:rPr>
              <a:t>records </a:t>
            </a:r>
            <a:r>
              <a:rPr dirty="0" sz="1300" spc="50">
                <a:solidFill>
                  <a:srgbClr val="383838"/>
                </a:solidFill>
                <a:latin typeface="Tahoma"/>
                <a:cs typeface="Tahoma"/>
              </a:rPr>
              <a:t>from</a:t>
            </a:r>
            <a:r>
              <a:rPr dirty="0" sz="1300" spc="-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4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71622" y="10752911"/>
            <a:ext cx="1545590" cy="106235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algn="ctr" marL="12700" marR="5080">
              <a:lnSpc>
                <a:spcPct val="102299"/>
              </a:lnSpc>
              <a:spcBef>
                <a:spcPts val="50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Faster</a:t>
            </a:r>
            <a:r>
              <a:rPr dirty="0" sz="1750" spc="-10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Decision Making</a:t>
            </a:r>
            <a:endParaRPr sz="1750">
              <a:latin typeface="Georgia"/>
              <a:cs typeface="Georgia"/>
            </a:endParaRPr>
          </a:p>
          <a:p>
            <a:pPr algn="ctr" marL="36195" marR="29209">
              <a:lnSpc>
                <a:spcPct val="104400"/>
              </a:lnSpc>
              <a:spcBef>
                <a:spcPts val="650"/>
              </a:spcBef>
            </a:pPr>
            <a:r>
              <a:rPr dirty="0" sz="1300" spc="55">
                <a:solidFill>
                  <a:srgbClr val="383838"/>
                </a:solidFill>
                <a:latin typeface="Tahoma"/>
                <a:cs typeface="Tahoma"/>
              </a:rPr>
              <a:t>Accelerated,</a:t>
            </a:r>
            <a:r>
              <a:rPr dirty="0" sz="1300" spc="-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80">
                <a:solidFill>
                  <a:srgbClr val="383838"/>
                </a:solidFill>
                <a:latin typeface="Tahoma"/>
                <a:cs typeface="Tahoma"/>
              </a:rPr>
              <a:t>data-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driven</a:t>
            </a:r>
            <a:r>
              <a:rPr dirty="0" sz="1300" spc="2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383838"/>
                </a:solidFill>
                <a:latin typeface="Tahoma"/>
                <a:cs typeface="Tahoma"/>
              </a:rPr>
              <a:t>actions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29516" y="14110334"/>
            <a:ext cx="1429385" cy="106235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algn="ctr" marL="12065" marR="5080">
              <a:lnSpc>
                <a:spcPct val="102299"/>
              </a:lnSpc>
              <a:spcBef>
                <a:spcPts val="50"/>
              </a:spcBef>
            </a:pP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Dashboards</a:t>
            </a:r>
            <a:r>
              <a:rPr dirty="0" sz="1750" spc="-8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220">
                <a:solidFill>
                  <a:srgbClr val="383838"/>
                </a:solidFill>
                <a:latin typeface="Georgia"/>
                <a:cs typeface="Georgia"/>
              </a:rPr>
              <a:t>&amp;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Reports</a:t>
            </a:r>
            <a:endParaRPr sz="1750">
              <a:latin typeface="Georgia"/>
              <a:cs typeface="Georgia"/>
            </a:endParaRPr>
          </a:p>
          <a:p>
            <a:pPr algn="ctr" marL="51435" marR="44450">
              <a:lnSpc>
                <a:spcPct val="104400"/>
              </a:lnSpc>
              <a:spcBef>
                <a:spcPts val="650"/>
              </a:spcBef>
            </a:pPr>
            <a:r>
              <a:rPr dirty="0" sz="1300" spc="50">
                <a:solidFill>
                  <a:srgbClr val="383838"/>
                </a:solidFill>
                <a:latin typeface="Tahoma"/>
                <a:cs typeface="Tahoma"/>
              </a:rPr>
              <a:t>Visualizations</a:t>
            </a:r>
            <a:r>
              <a:rPr dirty="0" sz="1300" spc="-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383838"/>
                </a:solidFill>
                <a:latin typeface="Tahoma"/>
                <a:cs typeface="Tahoma"/>
              </a:rPr>
              <a:t>for </a:t>
            </a:r>
            <a:r>
              <a:rPr dirty="0" sz="1300" spc="40">
                <a:solidFill>
                  <a:srgbClr val="383838"/>
                </a:solidFill>
                <a:latin typeface="Tahoma"/>
                <a:cs typeface="Tahoma"/>
              </a:rPr>
              <a:t>stakeholders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66541" y="13981904"/>
            <a:ext cx="1692275" cy="1294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05800"/>
              </a:lnSpc>
              <a:spcBef>
                <a:spcPts val="100"/>
              </a:spcBef>
            </a:pPr>
            <a:r>
              <a:rPr dirty="0" sz="1750" spc="-30">
                <a:solidFill>
                  <a:srgbClr val="383838"/>
                </a:solidFill>
                <a:latin typeface="Georgia"/>
                <a:cs typeface="Georgia"/>
              </a:rPr>
              <a:t>Real-</a:t>
            </a:r>
            <a:r>
              <a:rPr dirty="0" sz="1750" spc="-20">
                <a:solidFill>
                  <a:srgbClr val="383838"/>
                </a:solidFill>
                <a:latin typeface="Georgia"/>
                <a:cs typeface="Georgia"/>
              </a:rPr>
              <a:t>Time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Analytics</a:t>
            </a:r>
            <a:r>
              <a:rPr dirty="0" sz="1750" spc="12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Engine</a:t>
            </a:r>
            <a:endParaRPr sz="1750">
              <a:latin typeface="Georgia"/>
              <a:cs typeface="Georgia"/>
            </a:endParaRPr>
          </a:p>
          <a:p>
            <a:pPr algn="ctr" marL="244475" marR="237490">
              <a:lnSpc>
                <a:spcPct val="106800"/>
              </a:lnSpc>
              <a:spcBef>
                <a:spcPts val="540"/>
              </a:spcBef>
            </a:pPr>
            <a:r>
              <a:rPr dirty="0" sz="1300" spc="-10">
                <a:solidFill>
                  <a:srgbClr val="383838"/>
                </a:solidFill>
                <a:latin typeface="Tahoma"/>
                <a:cs typeface="Tahoma"/>
              </a:rPr>
              <a:t>Immediate </a:t>
            </a:r>
            <a:r>
              <a:rPr dirty="0" sz="1300" spc="65">
                <a:solidFill>
                  <a:srgbClr val="383838"/>
                </a:solidFill>
                <a:latin typeface="Tahoma"/>
                <a:cs typeface="Tahoma"/>
              </a:rPr>
              <a:t>processing</a:t>
            </a:r>
            <a:r>
              <a:rPr dirty="0" sz="130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35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300" spc="50">
                <a:solidFill>
                  <a:srgbClr val="383838"/>
                </a:solidFill>
                <a:latin typeface="Tahoma"/>
                <a:cs typeface="Tahoma"/>
              </a:rPr>
              <a:t>calculations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06775" y="12408111"/>
            <a:ext cx="1690370" cy="106235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algn="ctr" marL="129539" marR="121285" indent="-635">
              <a:lnSpc>
                <a:spcPct val="102299"/>
              </a:lnSpc>
              <a:spcBef>
                <a:spcPts val="50"/>
              </a:spcBef>
            </a:pP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Integrated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Financial</a:t>
            </a:r>
            <a:r>
              <a:rPr dirty="0" sz="1750" spc="-7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20">
                <a:solidFill>
                  <a:srgbClr val="383838"/>
                </a:solidFill>
                <a:latin typeface="Georgia"/>
                <a:cs typeface="Georgia"/>
              </a:rPr>
              <a:t>Data</a:t>
            </a:r>
            <a:endParaRPr sz="1750">
              <a:latin typeface="Georgia"/>
              <a:cs typeface="Georgia"/>
            </a:endParaRPr>
          </a:p>
          <a:p>
            <a:pPr algn="ctr" marL="12065" marR="5080">
              <a:lnSpc>
                <a:spcPct val="104400"/>
              </a:lnSpc>
              <a:spcBef>
                <a:spcPts val="650"/>
              </a:spcBef>
            </a:pPr>
            <a:r>
              <a:rPr dirty="0" sz="1300" spc="70">
                <a:solidFill>
                  <a:srgbClr val="383838"/>
                </a:solidFill>
                <a:latin typeface="Tahoma"/>
                <a:cs typeface="Tahoma"/>
              </a:rPr>
              <a:t>Consolidated</a:t>
            </a:r>
            <a:r>
              <a:rPr dirty="0" sz="130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40">
                <a:solidFill>
                  <a:srgbClr val="383838"/>
                </a:solidFill>
                <a:latin typeface="Tahoma"/>
                <a:cs typeface="Tahoma"/>
              </a:rPr>
              <a:t>ledgers </a:t>
            </a:r>
            <a:r>
              <a:rPr dirty="0" sz="1300" spc="6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00" spc="-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383838"/>
                </a:solidFill>
                <a:latin typeface="Tahoma"/>
                <a:cs typeface="Tahoma"/>
              </a:rPr>
              <a:t>feeds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62162" y="12434706"/>
            <a:ext cx="1741805" cy="90424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Business</a:t>
            </a:r>
            <a:r>
              <a:rPr dirty="0" sz="1750" spc="-7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Insights</a:t>
            </a:r>
            <a:endParaRPr sz="1750">
              <a:latin typeface="Georgia"/>
              <a:cs typeface="Georgia"/>
            </a:endParaRPr>
          </a:p>
          <a:p>
            <a:pPr algn="ctr" marL="118745" marR="111760">
              <a:lnSpc>
                <a:spcPct val="104400"/>
              </a:lnSpc>
              <a:spcBef>
                <a:spcPts val="650"/>
              </a:spcBef>
            </a:pPr>
            <a:r>
              <a:rPr dirty="0" sz="1300" spc="65">
                <a:solidFill>
                  <a:srgbClr val="383838"/>
                </a:solidFill>
                <a:latin typeface="Tahoma"/>
                <a:cs typeface="Tahoma"/>
              </a:rPr>
              <a:t>Actionable</a:t>
            </a:r>
            <a:r>
              <a:rPr dirty="0" sz="1300" spc="-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40">
                <a:solidFill>
                  <a:srgbClr val="383838"/>
                </a:solidFill>
                <a:latin typeface="Tahoma"/>
                <a:cs typeface="Tahoma"/>
              </a:rPr>
              <a:t>findings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45">
                <a:solidFill>
                  <a:srgbClr val="383838"/>
                </a:solidFill>
                <a:latin typeface="Tahoma"/>
                <a:cs typeface="Tahoma"/>
              </a:rPr>
              <a:t>leaders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4761" y="15764208"/>
            <a:ext cx="5970905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>
                <a:solidFill>
                  <a:srgbClr val="020202"/>
                </a:solidFill>
                <a:latin typeface="Georgia"/>
                <a:cs typeface="Georgia"/>
              </a:rPr>
              <a:t>SAP</a:t>
            </a:r>
            <a:r>
              <a:rPr dirty="0" sz="2700" spc="-8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700">
                <a:solidFill>
                  <a:srgbClr val="020202"/>
                </a:solidFill>
                <a:latin typeface="Georgia"/>
                <a:cs typeface="Georgia"/>
              </a:rPr>
              <a:t>Fiori</a:t>
            </a:r>
            <a:r>
              <a:rPr dirty="0" sz="2700" spc="-15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700" spc="90">
                <a:solidFill>
                  <a:srgbClr val="020202"/>
                </a:solidFill>
                <a:latin typeface="Georgia"/>
                <a:cs typeface="Georgia"/>
              </a:rPr>
              <a:t>—</a:t>
            </a:r>
            <a:r>
              <a:rPr dirty="0" sz="2700" spc="-16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700">
                <a:solidFill>
                  <a:srgbClr val="020202"/>
                </a:solidFill>
                <a:latin typeface="Georgia"/>
                <a:cs typeface="Georgia"/>
              </a:rPr>
              <a:t>A</a:t>
            </a:r>
            <a:r>
              <a:rPr dirty="0" sz="2700" spc="-10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700">
                <a:solidFill>
                  <a:srgbClr val="020202"/>
                </a:solidFill>
                <a:latin typeface="Georgia"/>
                <a:cs typeface="Georgia"/>
              </a:rPr>
              <a:t>Modern</a:t>
            </a:r>
            <a:r>
              <a:rPr dirty="0" sz="2700" spc="-5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700">
                <a:solidFill>
                  <a:srgbClr val="020202"/>
                </a:solidFill>
                <a:latin typeface="Georgia"/>
                <a:cs typeface="Georgia"/>
              </a:rPr>
              <a:t>User</a:t>
            </a:r>
            <a:r>
              <a:rPr dirty="0" sz="2700" spc="-5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700" spc="-10">
                <a:solidFill>
                  <a:srgbClr val="020202"/>
                </a:solidFill>
                <a:latin typeface="Georgia"/>
                <a:cs typeface="Georgia"/>
              </a:rPr>
              <a:t>Experience</a:t>
            </a:r>
            <a:endParaRPr sz="2700">
              <a:latin typeface="Georgia"/>
              <a:cs typeface="Georgi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78300" y="16462542"/>
            <a:ext cx="4739005" cy="2209165"/>
            <a:chOff x="678300" y="16462542"/>
            <a:chExt cx="4739005" cy="2209165"/>
          </a:xfrm>
        </p:grpSpPr>
        <p:sp>
          <p:nvSpPr>
            <p:cNvPr id="26" name="object 26"/>
            <p:cNvSpPr/>
            <p:nvPr/>
          </p:nvSpPr>
          <p:spPr>
            <a:xfrm>
              <a:off x="678300" y="16462542"/>
              <a:ext cx="4739005" cy="2209165"/>
            </a:xfrm>
            <a:custGeom>
              <a:avLst/>
              <a:gdLst/>
              <a:ahLst/>
              <a:cxnLst/>
              <a:rect l="l" t="t" r="r" b="b"/>
              <a:pathLst>
                <a:path w="4739005" h="2209165">
                  <a:moveTo>
                    <a:pt x="4721046" y="2209060"/>
                  </a:moveTo>
                  <a:lnTo>
                    <a:pt x="17892" y="2209060"/>
                  </a:lnTo>
                  <a:lnTo>
                    <a:pt x="15261" y="2208538"/>
                  </a:lnTo>
                  <a:lnTo>
                    <a:pt x="0" y="2191168"/>
                  </a:lnTo>
                  <a:lnTo>
                    <a:pt x="0" y="2188436"/>
                  </a:lnTo>
                  <a:lnTo>
                    <a:pt x="0" y="17892"/>
                  </a:lnTo>
                  <a:lnTo>
                    <a:pt x="17892" y="0"/>
                  </a:lnTo>
                  <a:lnTo>
                    <a:pt x="4721046" y="0"/>
                  </a:lnTo>
                  <a:lnTo>
                    <a:pt x="4738939" y="17892"/>
                  </a:lnTo>
                  <a:lnTo>
                    <a:pt x="4738939" y="2191168"/>
                  </a:lnTo>
                  <a:lnTo>
                    <a:pt x="4723677" y="2208538"/>
                  </a:lnTo>
                  <a:lnTo>
                    <a:pt x="4721046" y="2209060"/>
                  </a:lnTo>
                  <a:close/>
                </a:path>
              </a:pathLst>
            </a:custGeom>
            <a:solidFill>
              <a:srgbClr val="DF4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70788" y="17159185"/>
              <a:ext cx="55244" cy="1347470"/>
            </a:xfrm>
            <a:custGeom>
              <a:avLst/>
              <a:gdLst/>
              <a:ahLst/>
              <a:cxnLst/>
              <a:rect l="l" t="t" r="r" b="b"/>
              <a:pathLst>
                <a:path w="55244" h="1347469">
                  <a:moveTo>
                    <a:pt x="54991" y="1316278"/>
                  </a:moveTo>
                  <a:lnTo>
                    <a:pt x="31140" y="1292428"/>
                  </a:lnTo>
                  <a:lnTo>
                    <a:pt x="23850" y="1292428"/>
                  </a:lnTo>
                  <a:lnTo>
                    <a:pt x="0" y="1316278"/>
                  </a:lnTo>
                  <a:lnTo>
                    <a:pt x="0" y="1323581"/>
                  </a:lnTo>
                  <a:lnTo>
                    <a:pt x="23850" y="1347431"/>
                  </a:lnTo>
                  <a:lnTo>
                    <a:pt x="31140" y="1347431"/>
                  </a:lnTo>
                  <a:lnTo>
                    <a:pt x="54991" y="1323581"/>
                  </a:lnTo>
                  <a:lnTo>
                    <a:pt x="54991" y="1319936"/>
                  </a:lnTo>
                  <a:lnTo>
                    <a:pt x="54991" y="1316278"/>
                  </a:lnTo>
                  <a:close/>
                </a:path>
                <a:path w="55244" h="1347469">
                  <a:moveTo>
                    <a:pt x="54991" y="995464"/>
                  </a:moveTo>
                  <a:lnTo>
                    <a:pt x="31140" y="971613"/>
                  </a:lnTo>
                  <a:lnTo>
                    <a:pt x="23850" y="971613"/>
                  </a:lnTo>
                  <a:lnTo>
                    <a:pt x="0" y="995464"/>
                  </a:lnTo>
                  <a:lnTo>
                    <a:pt x="0" y="1002766"/>
                  </a:lnTo>
                  <a:lnTo>
                    <a:pt x="23850" y="1026617"/>
                  </a:lnTo>
                  <a:lnTo>
                    <a:pt x="31140" y="1026617"/>
                  </a:lnTo>
                  <a:lnTo>
                    <a:pt x="54991" y="1002766"/>
                  </a:lnTo>
                  <a:lnTo>
                    <a:pt x="54991" y="999109"/>
                  </a:lnTo>
                  <a:lnTo>
                    <a:pt x="54991" y="995464"/>
                  </a:lnTo>
                  <a:close/>
                </a:path>
                <a:path w="55244" h="1347469">
                  <a:moveTo>
                    <a:pt x="54991" y="674649"/>
                  </a:moveTo>
                  <a:lnTo>
                    <a:pt x="31140" y="650798"/>
                  </a:lnTo>
                  <a:lnTo>
                    <a:pt x="23850" y="650798"/>
                  </a:lnTo>
                  <a:lnTo>
                    <a:pt x="0" y="674649"/>
                  </a:lnTo>
                  <a:lnTo>
                    <a:pt x="0" y="681939"/>
                  </a:lnTo>
                  <a:lnTo>
                    <a:pt x="23850" y="705789"/>
                  </a:lnTo>
                  <a:lnTo>
                    <a:pt x="31140" y="705789"/>
                  </a:lnTo>
                  <a:lnTo>
                    <a:pt x="54991" y="681939"/>
                  </a:lnTo>
                  <a:lnTo>
                    <a:pt x="54991" y="678294"/>
                  </a:lnTo>
                  <a:lnTo>
                    <a:pt x="54991" y="674649"/>
                  </a:lnTo>
                  <a:close/>
                </a:path>
                <a:path w="55244" h="1347469">
                  <a:moveTo>
                    <a:pt x="54991" y="344665"/>
                  </a:moveTo>
                  <a:lnTo>
                    <a:pt x="31140" y="320814"/>
                  </a:lnTo>
                  <a:lnTo>
                    <a:pt x="23850" y="320814"/>
                  </a:lnTo>
                  <a:lnTo>
                    <a:pt x="0" y="344665"/>
                  </a:lnTo>
                  <a:lnTo>
                    <a:pt x="0" y="351955"/>
                  </a:lnTo>
                  <a:lnTo>
                    <a:pt x="23850" y="375805"/>
                  </a:lnTo>
                  <a:lnTo>
                    <a:pt x="31140" y="375805"/>
                  </a:lnTo>
                  <a:lnTo>
                    <a:pt x="54991" y="351955"/>
                  </a:lnTo>
                  <a:lnTo>
                    <a:pt x="54991" y="348310"/>
                  </a:lnTo>
                  <a:lnTo>
                    <a:pt x="54991" y="344665"/>
                  </a:lnTo>
                  <a:close/>
                </a:path>
                <a:path w="55244" h="1347469">
                  <a:moveTo>
                    <a:pt x="54991" y="23850"/>
                  </a:moveTo>
                  <a:lnTo>
                    <a:pt x="31140" y="0"/>
                  </a:lnTo>
                  <a:lnTo>
                    <a:pt x="23850" y="0"/>
                  </a:lnTo>
                  <a:lnTo>
                    <a:pt x="0" y="23850"/>
                  </a:lnTo>
                  <a:lnTo>
                    <a:pt x="0" y="31140"/>
                  </a:lnTo>
                  <a:lnTo>
                    <a:pt x="23850" y="54991"/>
                  </a:lnTo>
                  <a:lnTo>
                    <a:pt x="31140" y="54991"/>
                  </a:lnTo>
                  <a:lnTo>
                    <a:pt x="54991" y="31140"/>
                  </a:lnTo>
                  <a:lnTo>
                    <a:pt x="54991" y="27495"/>
                  </a:lnTo>
                  <a:lnTo>
                    <a:pt x="54991" y="238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831023" y="16609152"/>
            <a:ext cx="3003550" cy="197103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>
                <a:solidFill>
                  <a:srgbClr val="020202"/>
                </a:solidFill>
                <a:latin typeface="Georgia"/>
                <a:cs typeface="Georgia"/>
              </a:rPr>
              <a:t>Traditional</a:t>
            </a:r>
            <a:r>
              <a:rPr dirty="0" sz="1700" spc="-4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00">
                <a:solidFill>
                  <a:srgbClr val="020202"/>
                </a:solidFill>
                <a:latin typeface="Georgia"/>
                <a:cs typeface="Georgia"/>
              </a:rPr>
              <a:t>SAP</a:t>
            </a:r>
            <a:r>
              <a:rPr dirty="0" sz="1700" spc="-4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00" spc="-25">
                <a:solidFill>
                  <a:srgbClr val="020202"/>
                </a:solidFill>
                <a:latin typeface="Georgia"/>
                <a:cs typeface="Georgia"/>
              </a:rPr>
              <a:t>GUI</a:t>
            </a:r>
            <a:endParaRPr sz="1700">
              <a:latin typeface="Georgia"/>
              <a:cs typeface="Georgia"/>
            </a:endParaRPr>
          </a:p>
          <a:p>
            <a:pPr marL="276225" marR="5080">
              <a:lnSpc>
                <a:spcPct val="164200"/>
              </a:lnSpc>
              <a:spcBef>
                <a:spcPts val="530"/>
              </a:spcBef>
            </a:pPr>
            <a:r>
              <a:rPr dirty="0" sz="1300">
                <a:latin typeface="Tahoma"/>
                <a:cs typeface="Tahoma"/>
              </a:rPr>
              <a:t>Transaction</a:t>
            </a:r>
            <a:r>
              <a:rPr dirty="0" sz="1300" spc="125">
                <a:latin typeface="Tahoma"/>
                <a:cs typeface="Tahoma"/>
              </a:rPr>
              <a:t> </a:t>
            </a:r>
            <a:r>
              <a:rPr dirty="0" sz="1300" spc="85">
                <a:latin typeface="Tahoma"/>
                <a:cs typeface="Tahoma"/>
              </a:rPr>
              <a:t>code-</a:t>
            </a:r>
            <a:r>
              <a:rPr dirty="0" sz="1300" spc="90">
                <a:latin typeface="Tahoma"/>
                <a:cs typeface="Tahoma"/>
              </a:rPr>
              <a:t>based</a:t>
            </a:r>
            <a:r>
              <a:rPr dirty="0" sz="1300" spc="12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navigation </a:t>
            </a:r>
            <a:r>
              <a:rPr dirty="0" sz="1300" spc="55">
                <a:latin typeface="Tahoma"/>
                <a:cs typeface="Tahoma"/>
              </a:rPr>
              <a:t>Complex</a:t>
            </a:r>
            <a:r>
              <a:rPr dirty="0" sz="1300" spc="5">
                <a:latin typeface="Tahoma"/>
                <a:cs typeface="Tahoma"/>
              </a:rPr>
              <a:t> </a:t>
            </a:r>
            <a:r>
              <a:rPr dirty="0" sz="1300" spc="55">
                <a:latin typeface="Tahoma"/>
                <a:cs typeface="Tahoma"/>
              </a:rPr>
              <a:t>screens</a:t>
            </a:r>
            <a:r>
              <a:rPr dirty="0" sz="1300" spc="1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with</a:t>
            </a:r>
            <a:r>
              <a:rPr dirty="0" sz="1300" spc="1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many</a:t>
            </a:r>
            <a:r>
              <a:rPr dirty="0" sz="1300" spc="10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fields </a:t>
            </a:r>
            <a:r>
              <a:rPr dirty="0" sz="1300" spc="60">
                <a:latin typeface="Tahoma"/>
                <a:cs typeface="Tahoma"/>
              </a:rPr>
              <a:t>Desktop-</a:t>
            </a:r>
            <a:r>
              <a:rPr dirty="0" sz="1300" spc="65">
                <a:latin typeface="Tahoma"/>
                <a:cs typeface="Tahoma"/>
              </a:rPr>
              <a:t>focused</a:t>
            </a:r>
            <a:r>
              <a:rPr dirty="0" sz="1300" spc="-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interface</a:t>
            </a:r>
            <a:endParaRPr sz="1300">
              <a:latin typeface="Tahoma"/>
              <a:cs typeface="Tahoma"/>
            </a:endParaRPr>
          </a:p>
          <a:p>
            <a:pPr marL="276225" marR="83820">
              <a:lnSpc>
                <a:spcPct val="161900"/>
              </a:lnSpc>
              <a:spcBef>
                <a:spcPts val="5"/>
              </a:spcBef>
            </a:pPr>
            <a:r>
              <a:rPr dirty="0" sz="1300" spc="50">
                <a:latin typeface="Tahoma"/>
                <a:cs typeface="Tahoma"/>
              </a:rPr>
              <a:t>Steep</a:t>
            </a:r>
            <a:r>
              <a:rPr dirty="0" sz="1300" spc="3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learning</a:t>
            </a:r>
            <a:r>
              <a:rPr dirty="0" sz="1300" spc="3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curve</a:t>
            </a:r>
            <a:r>
              <a:rPr dirty="0" sz="1300" spc="35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for</a:t>
            </a:r>
            <a:r>
              <a:rPr dirty="0" sz="1300" spc="40">
                <a:latin typeface="Tahoma"/>
                <a:cs typeface="Tahoma"/>
              </a:rPr>
              <a:t> </a:t>
            </a:r>
            <a:r>
              <a:rPr dirty="0" sz="1300">
                <a:latin typeface="Tahoma"/>
                <a:cs typeface="Tahoma"/>
              </a:rPr>
              <a:t>new</a:t>
            </a:r>
            <a:r>
              <a:rPr dirty="0" sz="1300" spc="3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users </a:t>
            </a:r>
            <a:r>
              <a:rPr dirty="0" sz="1300">
                <a:latin typeface="Tahoma"/>
                <a:cs typeface="Tahoma"/>
              </a:rPr>
              <a:t>Limited</a:t>
            </a:r>
            <a:r>
              <a:rPr dirty="0" sz="1300" spc="24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personalisation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738057" y="17159175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4">
                <a:moveTo>
                  <a:pt x="31146" y="54997"/>
                </a:moveTo>
                <a:lnTo>
                  <a:pt x="23850" y="54997"/>
                </a:lnTo>
                <a:lnTo>
                  <a:pt x="20339" y="54300"/>
                </a:lnTo>
                <a:lnTo>
                  <a:pt x="0" y="31146"/>
                </a:lnTo>
                <a:lnTo>
                  <a:pt x="0" y="23850"/>
                </a:lnTo>
                <a:lnTo>
                  <a:pt x="23850" y="0"/>
                </a:lnTo>
                <a:lnTo>
                  <a:pt x="31146" y="0"/>
                </a:lnTo>
                <a:lnTo>
                  <a:pt x="54997" y="23850"/>
                </a:lnTo>
                <a:lnTo>
                  <a:pt x="54997" y="27498"/>
                </a:lnTo>
                <a:lnTo>
                  <a:pt x="54997" y="31146"/>
                </a:lnTo>
                <a:lnTo>
                  <a:pt x="34648" y="54300"/>
                </a:lnTo>
                <a:lnTo>
                  <a:pt x="31146" y="54997"/>
                </a:lnTo>
                <a:close/>
              </a:path>
            </a:pathLst>
          </a:custGeom>
          <a:solidFill>
            <a:srgbClr val="38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738057" y="17479993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4">
                <a:moveTo>
                  <a:pt x="31146" y="54997"/>
                </a:moveTo>
                <a:lnTo>
                  <a:pt x="23850" y="54997"/>
                </a:lnTo>
                <a:lnTo>
                  <a:pt x="20339" y="54300"/>
                </a:lnTo>
                <a:lnTo>
                  <a:pt x="0" y="31146"/>
                </a:lnTo>
                <a:lnTo>
                  <a:pt x="0" y="23850"/>
                </a:lnTo>
                <a:lnTo>
                  <a:pt x="23850" y="0"/>
                </a:lnTo>
                <a:lnTo>
                  <a:pt x="31146" y="0"/>
                </a:lnTo>
                <a:lnTo>
                  <a:pt x="54997" y="23850"/>
                </a:lnTo>
                <a:lnTo>
                  <a:pt x="54997" y="27498"/>
                </a:lnTo>
                <a:lnTo>
                  <a:pt x="54997" y="31146"/>
                </a:lnTo>
                <a:lnTo>
                  <a:pt x="34648" y="54300"/>
                </a:lnTo>
                <a:lnTo>
                  <a:pt x="31146" y="54997"/>
                </a:lnTo>
                <a:close/>
              </a:path>
            </a:pathLst>
          </a:custGeom>
          <a:solidFill>
            <a:srgbClr val="38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738057" y="17809978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4">
                <a:moveTo>
                  <a:pt x="31146" y="54997"/>
                </a:moveTo>
                <a:lnTo>
                  <a:pt x="23850" y="54997"/>
                </a:lnTo>
                <a:lnTo>
                  <a:pt x="20339" y="54300"/>
                </a:lnTo>
                <a:lnTo>
                  <a:pt x="0" y="31146"/>
                </a:lnTo>
                <a:lnTo>
                  <a:pt x="0" y="23850"/>
                </a:lnTo>
                <a:lnTo>
                  <a:pt x="23850" y="0"/>
                </a:lnTo>
                <a:lnTo>
                  <a:pt x="31146" y="0"/>
                </a:lnTo>
                <a:lnTo>
                  <a:pt x="54997" y="23850"/>
                </a:lnTo>
                <a:lnTo>
                  <a:pt x="54997" y="27498"/>
                </a:lnTo>
                <a:lnTo>
                  <a:pt x="54997" y="31146"/>
                </a:lnTo>
                <a:lnTo>
                  <a:pt x="34648" y="54300"/>
                </a:lnTo>
                <a:lnTo>
                  <a:pt x="31146" y="54997"/>
                </a:lnTo>
                <a:close/>
              </a:path>
            </a:pathLst>
          </a:custGeom>
          <a:solidFill>
            <a:srgbClr val="38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738057" y="18130795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4">
                <a:moveTo>
                  <a:pt x="31146" y="54997"/>
                </a:moveTo>
                <a:lnTo>
                  <a:pt x="23850" y="54997"/>
                </a:lnTo>
                <a:lnTo>
                  <a:pt x="20339" y="54300"/>
                </a:lnTo>
                <a:lnTo>
                  <a:pt x="0" y="31146"/>
                </a:lnTo>
                <a:lnTo>
                  <a:pt x="0" y="23850"/>
                </a:lnTo>
                <a:lnTo>
                  <a:pt x="23850" y="0"/>
                </a:lnTo>
                <a:lnTo>
                  <a:pt x="31146" y="0"/>
                </a:lnTo>
                <a:lnTo>
                  <a:pt x="54997" y="23850"/>
                </a:lnTo>
                <a:lnTo>
                  <a:pt x="54997" y="27498"/>
                </a:lnTo>
                <a:lnTo>
                  <a:pt x="54997" y="31146"/>
                </a:lnTo>
                <a:lnTo>
                  <a:pt x="34648" y="54300"/>
                </a:lnTo>
                <a:lnTo>
                  <a:pt x="31146" y="54997"/>
                </a:lnTo>
                <a:close/>
              </a:path>
            </a:pathLst>
          </a:custGeom>
          <a:solidFill>
            <a:srgbClr val="38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738057" y="18451613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4">
                <a:moveTo>
                  <a:pt x="31146" y="54997"/>
                </a:moveTo>
                <a:lnTo>
                  <a:pt x="23850" y="54997"/>
                </a:lnTo>
                <a:lnTo>
                  <a:pt x="20339" y="54291"/>
                </a:lnTo>
                <a:lnTo>
                  <a:pt x="0" y="31146"/>
                </a:lnTo>
                <a:lnTo>
                  <a:pt x="0" y="23850"/>
                </a:lnTo>
                <a:lnTo>
                  <a:pt x="23850" y="0"/>
                </a:lnTo>
                <a:lnTo>
                  <a:pt x="31146" y="0"/>
                </a:lnTo>
                <a:lnTo>
                  <a:pt x="54997" y="23850"/>
                </a:lnTo>
                <a:lnTo>
                  <a:pt x="54997" y="27498"/>
                </a:lnTo>
                <a:lnTo>
                  <a:pt x="54997" y="31146"/>
                </a:lnTo>
                <a:lnTo>
                  <a:pt x="34648" y="54291"/>
                </a:lnTo>
                <a:lnTo>
                  <a:pt x="31146" y="54997"/>
                </a:lnTo>
                <a:close/>
              </a:path>
            </a:pathLst>
          </a:custGeom>
          <a:solidFill>
            <a:srgbClr val="38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697429" y="16609152"/>
            <a:ext cx="4159250" cy="197103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>
                <a:solidFill>
                  <a:srgbClr val="020202"/>
                </a:solidFill>
                <a:latin typeface="Georgia"/>
                <a:cs typeface="Georgia"/>
              </a:rPr>
              <a:t>SAP</a:t>
            </a:r>
            <a:r>
              <a:rPr dirty="0" sz="1700" spc="-3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1700" spc="-10">
                <a:solidFill>
                  <a:srgbClr val="020202"/>
                </a:solidFill>
                <a:latin typeface="Georgia"/>
                <a:cs typeface="Georgia"/>
              </a:rPr>
              <a:t>Fiori</a:t>
            </a:r>
            <a:endParaRPr sz="1700">
              <a:latin typeface="Georgia"/>
              <a:cs typeface="Georgia"/>
            </a:endParaRPr>
          </a:p>
          <a:p>
            <a:pPr marL="276225" marR="5080">
              <a:lnSpc>
                <a:spcPct val="163100"/>
              </a:lnSpc>
              <a:spcBef>
                <a:spcPts val="550"/>
              </a:spcBef>
            </a:pP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Role-</a:t>
            </a:r>
            <a:r>
              <a:rPr dirty="0" sz="1300" spc="80">
                <a:solidFill>
                  <a:srgbClr val="383838"/>
                </a:solidFill>
                <a:latin typeface="Tahoma"/>
                <a:cs typeface="Tahoma"/>
              </a:rPr>
              <a:t>based</a:t>
            </a:r>
            <a:r>
              <a:rPr dirty="0" sz="130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applications</a:t>
            </a:r>
            <a:r>
              <a:rPr dirty="0" sz="130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tailored</a:t>
            </a:r>
            <a:r>
              <a:rPr dirty="0" sz="1300" spc="60">
                <a:solidFill>
                  <a:srgbClr val="383838"/>
                </a:solidFill>
                <a:latin typeface="Tahoma"/>
                <a:cs typeface="Tahoma"/>
              </a:rPr>
              <a:t> to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job</a:t>
            </a:r>
            <a:r>
              <a:rPr dirty="0" sz="130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Tahoma"/>
                <a:cs typeface="Tahoma"/>
              </a:rPr>
              <a:t>functions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Clean,</a:t>
            </a:r>
            <a:r>
              <a:rPr dirty="0" sz="130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simple</a:t>
            </a:r>
            <a:r>
              <a:rPr dirty="0" sz="1300" spc="1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interface</a:t>
            </a:r>
            <a:r>
              <a:rPr dirty="0" sz="1300" spc="1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with</a:t>
            </a:r>
            <a:r>
              <a:rPr dirty="0" sz="1300" spc="1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fewer</a:t>
            </a:r>
            <a:r>
              <a:rPr dirty="0" sz="130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40">
                <a:solidFill>
                  <a:srgbClr val="383838"/>
                </a:solidFill>
                <a:latin typeface="Tahoma"/>
                <a:cs typeface="Tahoma"/>
              </a:rPr>
              <a:t>distractions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Responsive</a:t>
            </a:r>
            <a:r>
              <a:rPr dirty="0" sz="13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design</a:t>
            </a:r>
            <a:r>
              <a:rPr dirty="0" sz="130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65">
                <a:solidFill>
                  <a:srgbClr val="383838"/>
                </a:solidFill>
                <a:latin typeface="Tahoma"/>
                <a:cs typeface="Tahoma"/>
              </a:rPr>
              <a:t>desktop</a:t>
            </a:r>
            <a:r>
              <a:rPr dirty="0" sz="130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0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mobile</a:t>
            </a:r>
            <a:r>
              <a:rPr dirty="0" sz="13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35">
                <a:solidFill>
                  <a:srgbClr val="383838"/>
                </a:solidFill>
                <a:latin typeface="Tahoma"/>
                <a:cs typeface="Tahoma"/>
              </a:rPr>
              <a:t>devices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Easier</a:t>
            </a:r>
            <a:r>
              <a:rPr dirty="0" sz="130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0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new</a:t>
            </a:r>
            <a:r>
              <a:rPr dirty="0" sz="130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users</a:t>
            </a:r>
            <a:r>
              <a:rPr dirty="0" sz="130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learn</a:t>
            </a:r>
            <a:r>
              <a:rPr dirty="0" sz="130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0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Tahoma"/>
                <a:cs typeface="Tahoma"/>
              </a:rPr>
              <a:t>navigate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Personalised</a:t>
            </a:r>
            <a:r>
              <a:rPr dirty="0" sz="130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55">
                <a:solidFill>
                  <a:srgbClr val="383838"/>
                </a:solidFill>
                <a:latin typeface="Tahoma"/>
                <a:cs typeface="Tahoma"/>
              </a:rPr>
              <a:t>dashboards</a:t>
            </a:r>
            <a:r>
              <a:rPr dirty="0" sz="130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0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Tahoma"/>
                <a:cs typeface="Tahoma"/>
              </a:rPr>
              <a:t>tiles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4765" y="18792730"/>
            <a:ext cx="9258300" cy="822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200"/>
              </a:lnSpc>
              <a:spcBef>
                <a:spcPts val="100"/>
              </a:spcBef>
            </a:pPr>
            <a:r>
              <a:rPr dirty="0" sz="1300" spc="80">
                <a:solidFill>
                  <a:srgbClr val="383838"/>
                </a:solidFill>
                <a:latin typeface="Tahoma"/>
                <a:cs typeface="Tahoma"/>
              </a:rPr>
              <a:t>As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75">
                <a:solidFill>
                  <a:srgbClr val="383838"/>
                </a:solidFill>
                <a:latin typeface="Tahoma"/>
                <a:cs typeface="Tahoma"/>
              </a:rPr>
              <a:t>becomes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more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intelligent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automated,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user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experience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75">
                <a:solidFill>
                  <a:srgbClr val="383838"/>
                </a:solidFill>
                <a:latin typeface="Tahoma"/>
                <a:cs typeface="Tahoma"/>
              </a:rPr>
              <a:t>becomes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increasingly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important.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5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Tahoma"/>
                <a:cs typeface="Tahoma"/>
              </a:rPr>
              <a:t>Fiori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makes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easier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professionals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80">
                <a:solidFill>
                  <a:srgbClr val="383838"/>
                </a:solidFill>
                <a:latin typeface="Tahoma"/>
                <a:cs typeface="Tahoma"/>
              </a:rPr>
              <a:t>access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information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50">
                <a:solidFill>
                  <a:srgbClr val="383838"/>
                </a:solidFill>
                <a:latin typeface="Tahoma"/>
                <a:cs typeface="Tahoma"/>
              </a:rPr>
              <a:t>tools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they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need,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regardless</a:t>
            </a:r>
            <a:r>
              <a:rPr dirty="0" sz="13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383838"/>
                </a:solidFill>
                <a:latin typeface="Tahoma"/>
                <a:cs typeface="Tahoma"/>
              </a:rPr>
              <a:t>their</a:t>
            </a:r>
            <a:r>
              <a:rPr dirty="0" sz="13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Tahoma"/>
                <a:cs typeface="Tahoma"/>
              </a:rPr>
              <a:t>technical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background</a:t>
            </a:r>
            <a:r>
              <a:rPr dirty="0" sz="130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or</a:t>
            </a:r>
            <a:r>
              <a:rPr dirty="0" sz="130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0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55">
                <a:solidFill>
                  <a:srgbClr val="383838"/>
                </a:solidFill>
                <a:latin typeface="Tahoma"/>
                <a:cs typeface="Tahoma"/>
              </a:rPr>
              <a:t>device</a:t>
            </a:r>
            <a:r>
              <a:rPr dirty="0" sz="130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they</a:t>
            </a:r>
            <a:r>
              <a:rPr dirty="0" sz="13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383838"/>
                </a:solidFill>
                <a:latin typeface="Tahoma"/>
                <a:cs typeface="Tahoma"/>
              </a:rPr>
              <a:t>are</a:t>
            </a:r>
            <a:r>
              <a:rPr dirty="0" sz="130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Tahoma"/>
                <a:cs typeface="Tahoma"/>
              </a:rPr>
              <a:t>using.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5975" y="461168"/>
            <a:ext cx="9754870" cy="2262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577340">
              <a:lnSpc>
                <a:spcPts val="4430"/>
              </a:lnSpc>
              <a:spcBef>
                <a:spcPts val="100"/>
              </a:spcBef>
            </a:pPr>
            <a:r>
              <a:rPr dirty="0" sz="3550">
                <a:solidFill>
                  <a:srgbClr val="020202"/>
                </a:solidFill>
                <a:latin typeface="Georgia"/>
                <a:cs typeface="Georgia"/>
              </a:rPr>
              <a:t>Integration,</a:t>
            </a:r>
            <a:r>
              <a:rPr dirty="0" sz="3550" spc="-16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3550">
                <a:solidFill>
                  <a:srgbClr val="020202"/>
                </a:solidFill>
                <a:latin typeface="Georgia"/>
                <a:cs typeface="Georgia"/>
              </a:rPr>
              <a:t>Business</a:t>
            </a:r>
            <a:r>
              <a:rPr dirty="0" sz="3550" spc="-2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3550" spc="-10">
                <a:solidFill>
                  <a:srgbClr val="020202"/>
                </a:solidFill>
                <a:latin typeface="Georgia"/>
                <a:cs typeface="Georgia"/>
              </a:rPr>
              <a:t>Impact,</a:t>
            </a:r>
            <a:r>
              <a:rPr dirty="0" sz="3550" spc="-16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3550">
                <a:solidFill>
                  <a:srgbClr val="020202"/>
                </a:solidFill>
                <a:latin typeface="Georgia"/>
                <a:cs typeface="Georgia"/>
              </a:rPr>
              <a:t>and</a:t>
            </a:r>
            <a:r>
              <a:rPr dirty="0" sz="3550" spc="-2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3550" spc="-10">
                <a:solidFill>
                  <a:srgbClr val="020202"/>
                </a:solidFill>
                <a:latin typeface="Georgia"/>
                <a:cs typeface="Georgia"/>
              </a:rPr>
              <a:t>Future Opportunities</a:t>
            </a:r>
            <a:endParaRPr sz="35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855"/>
              </a:spcBef>
            </a:pP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One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most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significant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aspects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future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integration.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no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longer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standalone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function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ts val="2180"/>
              </a:lnSpc>
              <a:spcBef>
                <a:spcPts val="15"/>
              </a:spcBef>
            </a:pPr>
            <a:r>
              <a:rPr dirty="0" sz="1350" spc="-5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deeply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connected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with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procurement,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sales,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production,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human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resources,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supply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chain.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This</a:t>
            </a:r>
            <a:r>
              <a:rPr dirty="0" sz="135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integration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enables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more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complete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view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business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supports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better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decisions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across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organisation.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5975" y="2999104"/>
            <a:ext cx="5908040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>
                <a:solidFill>
                  <a:srgbClr val="020202"/>
                </a:solidFill>
                <a:latin typeface="Georgia"/>
                <a:cs typeface="Georgia"/>
              </a:rPr>
              <a:t>SAP Finance and Module </a:t>
            </a:r>
            <a:r>
              <a:rPr dirty="0" sz="2800" spc="-10">
                <a:solidFill>
                  <a:srgbClr val="020202"/>
                </a:solidFill>
                <a:latin typeface="Georgia"/>
                <a:cs typeface="Georgia"/>
              </a:rPr>
              <a:t>Integration</a:t>
            </a:r>
            <a:endParaRPr sz="28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717" y="3912206"/>
            <a:ext cx="9396563" cy="495694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694849" y="5870257"/>
            <a:ext cx="2033905" cy="89154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0"/>
              </a:spcBef>
            </a:pPr>
            <a:r>
              <a:rPr dirty="0" sz="1750">
                <a:solidFill>
                  <a:srgbClr val="FFFFFF"/>
                </a:solidFill>
                <a:latin typeface="Georgia"/>
                <a:cs typeface="Georgia"/>
              </a:rPr>
              <a:t>SAP</a:t>
            </a:r>
            <a:r>
              <a:rPr dirty="0" sz="1750" spc="-6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FFFFFF"/>
                </a:solidFill>
                <a:latin typeface="Georgia"/>
                <a:cs typeface="Georgia"/>
              </a:rPr>
              <a:t>Finance</a:t>
            </a:r>
            <a:endParaRPr sz="1750">
              <a:latin typeface="Georgia"/>
              <a:cs typeface="Georgia"/>
            </a:endParaRPr>
          </a:p>
          <a:p>
            <a:pPr algn="ctr" marL="12065" marR="5080">
              <a:lnSpc>
                <a:spcPct val="109200"/>
              </a:lnSpc>
              <a:spcBef>
                <a:spcPts val="505"/>
              </a:spcBef>
            </a:pPr>
            <a:r>
              <a:rPr dirty="0" sz="1300">
                <a:solidFill>
                  <a:srgbClr val="FFFFFF"/>
                </a:solidFill>
                <a:latin typeface="Tahoma"/>
                <a:cs typeface="Tahoma"/>
              </a:rPr>
              <a:t>Integrated</a:t>
            </a:r>
            <a:r>
              <a:rPr dirty="0" sz="1300" spc="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00" spc="50">
                <a:solidFill>
                  <a:srgbClr val="FFFFFF"/>
                </a:solidFill>
                <a:latin typeface="Tahoma"/>
                <a:cs typeface="Tahoma"/>
              </a:rPr>
              <a:t>finance</a:t>
            </a:r>
            <a:r>
              <a:rPr dirty="0" sz="1300" spc="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Tahoma"/>
                <a:cs typeface="Tahoma"/>
              </a:rPr>
              <a:t>driving </a:t>
            </a:r>
            <a:r>
              <a:rPr dirty="0" sz="1300" spc="65">
                <a:solidFill>
                  <a:srgbClr val="FFFFFF"/>
                </a:solidFill>
                <a:latin typeface="Tahoma"/>
                <a:cs typeface="Tahoma"/>
              </a:rPr>
              <a:t>business</a:t>
            </a:r>
            <a:r>
              <a:rPr dirty="0" sz="13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FFFFFF"/>
                </a:solidFill>
                <a:latin typeface="Tahoma"/>
                <a:cs typeface="Tahoma"/>
              </a:rPr>
              <a:t>decisions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62277" y="4766862"/>
            <a:ext cx="2054860" cy="69723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1000"/>
              </a:spcBef>
            </a:pPr>
            <a:r>
              <a:rPr dirty="0" sz="1750">
                <a:solidFill>
                  <a:srgbClr val="FFFFFF"/>
                </a:solidFill>
                <a:latin typeface="Georgia"/>
                <a:cs typeface="Georgia"/>
              </a:rPr>
              <a:t>Sales </a:t>
            </a:r>
            <a:r>
              <a:rPr dirty="0" sz="1750" spc="270">
                <a:solidFill>
                  <a:srgbClr val="FFFFFF"/>
                </a:solidFill>
                <a:latin typeface="Georgia"/>
                <a:cs typeface="Georgia"/>
              </a:rPr>
              <a:t>&amp;</a:t>
            </a:r>
            <a:r>
              <a:rPr dirty="0" sz="175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FFFFFF"/>
                </a:solidFill>
                <a:latin typeface="Georgia"/>
                <a:cs typeface="Georgia"/>
              </a:rPr>
              <a:t>Distribution</a:t>
            </a:r>
            <a:endParaRPr sz="17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300" spc="90">
                <a:solidFill>
                  <a:srgbClr val="FFFFFF"/>
                </a:solidFill>
                <a:latin typeface="Tahoma"/>
                <a:cs typeface="Tahoma"/>
              </a:rPr>
              <a:t>Order-</a:t>
            </a:r>
            <a:r>
              <a:rPr dirty="0" sz="1300" spc="85">
                <a:solidFill>
                  <a:srgbClr val="FFFFFF"/>
                </a:solidFill>
                <a:latin typeface="Tahoma"/>
                <a:cs typeface="Tahoma"/>
              </a:rPr>
              <a:t>to-</a:t>
            </a:r>
            <a:r>
              <a:rPr dirty="0" sz="1300" spc="110">
                <a:solidFill>
                  <a:srgbClr val="FFFFFF"/>
                </a:solidFill>
                <a:latin typeface="Tahoma"/>
                <a:cs typeface="Tahoma"/>
              </a:rPr>
              <a:t>cash</a:t>
            </a:r>
            <a:r>
              <a:rPr dirty="0" sz="13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00" spc="75">
                <a:solidFill>
                  <a:srgbClr val="FFFFFF"/>
                </a:solidFill>
                <a:latin typeface="Tahoma"/>
                <a:cs typeface="Tahoma"/>
              </a:rPr>
              <a:t>processes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90391" y="7309316"/>
            <a:ext cx="2069464" cy="89154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0"/>
              </a:spcBef>
            </a:pPr>
            <a:r>
              <a:rPr dirty="0" sz="1750">
                <a:solidFill>
                  <a:srgbClr val="FFFFFF"/>
                </a:solidFill>
                <a:latin typeface="Georgia"/>
                <a:cs typeface="Georgia"/>
              </a:rPr>
              <a:t>Production</a:t>
            </a:r>
            <a:r>
              <a:rPr dirty="0" sz="1750" spc="1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FFFFFF"/>
                </a:solidFill>
                <a:latin typeface="Georgia"/>
                <a:cs typeface="Georgia"/>
              </a:rPr>
              <a:t>Planning</a:t>
            </a:r>
            <a:endParaRPr sz="1750">
              <a:latin typeface="Georgia"/>
              <a:cs typeface="Georgia"/>
            </a:endParaRPr>
          </a:p>
          <a:p>
            <a:pPr algn="ctr" marL="104775" marR="97790">
              <a:lnSpc>
                <a:spcPct val="109200"/>
              </a:lnSpc>
              <a:spcBef>
                <a:spcPts val="505"/>
              </a:spcBef>
            </a:pPr>
            <a:r>
              <a:rPr dirty="0" sz="1300" spc="45">
                <a:solidFill>
                  <a:srgbClr val="FFFFFF"/>
                </a:solidFill>
                <a:latin typeface="Tahoma"/>
                <a:cs typeface="Tahoma"/>
              </a:rPr>
              <a:t>Manufacturing</a:t>
            </a:r>
            <a:r>
              <a:rPr dirty="0" sz="13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13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00" spc="75">
                <a:solidFill>
                  <a:srgbClr val="FFFFFF"/>
                </a:solidFill>
                <a:latin typeface="Tahoma"/>
                <a:cs typeface="Tahoma"/>
              </a:rPr>
              <a:t>cost </a:t>
            </a:r>
            <a:r>
              <a:rPr dirty="0" sz="1300" spc="50">
                <a:solidFill>
                  <a:srgbClr val="FFFFFF"/>
                </a:solidFill>
                <a:latin typeface="Tahoma"/>
                <a:cs typeface="Tahoma"/>
              </a:rPr>
              <a:t>control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7655" y="4158434"/>
            <a:ext cx="2301240" cy="89154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0"/>
              </a:spcBef>
            </a:pPr>
            <a:r>
              <a:rPr dirty="0" sz="1750">
                <a:solidFill>
                  <a:srgbClr val="FFFFFF"/>
                </a:solidFill>
                <a:latin typeface="Georgia"/>
                <a:cs typeface="Georgia"/>
              </a:rPr>
              <a:t>Materials</a:t>
            </a:r>
            <a:r>
              <a:rPr dirty="0" sz="1750" spc="-7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FFFFFF"/>
                </a:solidFill>
                <a:latin typeface="Georgia"/>
                <a:cs typeface="Georgia"/>
              </a:rPr>
              <a:t>Management</a:t>
            </a:r>
            <a:endParaRPr sz="1750">
              <a:latin typeface="Georgia"/>
              <a:cs typeface="Georgia"/>
            </a:endParaRPr>
          </a:p>
          <a:p>
            <a:pPr algn="ctr" marL="80010" marR="73660">
              <a:lnSpc>
                <a:spcPct val="109200"/>
              </a:lnSpc>
              <a:spcBef>
                <a:spcPts val="505"/>
              </a:spcBef>
            </a:pPr>
            <a:r>
              <a:rPr dirty="0" sz="1300" spc="60">
                <a:solidFill>
                  <a:srgbClr val="FFFFFF"/>
                </a:solidFill>
                <a:latin typeface="Tahoma"/>
                <a:cs typeface="Tahoma"/>
              </a:rPr>
              <a:t>Procurement</a:t>
            </a:r>
            <a:r>
              <a:rPr dirty="0" sz="13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13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00" spc="35">
                <a:solidFill>
                  <a:srgbClr val="FFFFFF"/>
                </a:solidFill>
                <a:latin typeface="Tahoma"/>
                <a:cs typeface="Tahoma"/>
              </a:rPr>
              <a:t>inventory </a:t>
            </a:r>
            <a:r>
              <a:rPr dirty="0" sz="1300" spc="-10">
                <a:solidFill>
                  <a:srgbClr val="FFFFFF"/>
                </a:solidFill>
                <a:latin typeface="Tahoma"/>
                <a:cs typeface="Tahoma"/>
              </a:rPr>
              <a:t>flows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32065" y="7823689"/>
            <a:ext cx="2152015" cy="69723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1750" spc="-35">
                <a:solidFill>
                  <a:srgbClr val="FFFFFF"/>
                </a:solidFill>
                <a:latin typeface="Georgia"/>
                <a:cs typeface="Georgia"/>
              </a:rPr>
              <a:t>Human</a:t>
            </a:r>
            <a:r>
              <a:rPr dirty="0" sz="1750" spc="-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FFFFFF"/>
                </a:solidFill>
                <a:latin typeface="Georgia"/>
                <a:cs typeface="Georgia"/>
              </a:rPr>
              <a:t>Capital</a:t>
            </a:r>
            <a:r>
              <a:rPr dirty="0" sz="1750" spc="-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750" spc="-20">
                <a:solidFill>
                  <a:srgbClr val="FFFFFF"/>
                </a:solidFill>
                <a:latin typeface="Georgia"/>
                <a:cs typeface="Georgia"/>
              </a:rPr>
              <a:t>Mgmt</a:t>
            </a:r>
            <a:endParaRPr sz="1750">
              <a:latin typeface="Georgia"/>
              <a:cs typeface="Georgia"/>
            </a:endParaRPr>
          </a:p>
          <a:p>
            <a:pPr marL="35560">
              <a:lnSpc>
                <a:spcPct val="100000"/>
              </a:lnSpc>
              <a:spcBef>
                <a:spcPts val="720"/>
              </a:spcBef>
            </a:pPr>
            <a:r>
              <a:rPr dirty="0" sz="1300">
                <a:solidFill>
                  <a:srgbClr val="FFFFFF"/>
                </a:solidFill>
                <a:latin typeface="Tahoma"/>
                <a:cs typeface="Tahoma"/>
              </a:rPr>
              <a:t>Payroll</a:t>
            </a:r>
            <a:r>
              <a:rPr dirty="0" sz="13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13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00" spc="50">
                <a:solidFill>
                  <a:srgbClr val="FFFFFF"/>
                </a:solidFill>
                <a:latin typeface="Tahoma"/>
                <a:cs typeface="Tahoma"/>
              </a:rPr>
              <a:t>workforce</a:t>
            </a:r>
            <a:r>
              <a:rPr dirty="0" sz="13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300" spc="4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5975" y="9184639"/>
            <a:ext cx="9676765" cy="1130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When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integrated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with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other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modules,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data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flows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automatically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between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departments.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example,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goods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receipt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383838"/>
                </a:solidFill>
                <a:latin typeface="Tahoma"/>
                <a:cs typeface="Tahoma"/>
              </a:rPr>
              <a:t>MM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automatically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updates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inventory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values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Finance.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sales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order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SD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affects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revenue</a:t>
            </a:r>
            <a:r>
              <a:rPr dirty="0" sz="1350" spc="-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recognition.</a:t>
            </a:r>
            <a:r>
              <a:rPr dirty="0" sz="1350" spc="-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This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reduces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manual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data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entry,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improves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accuracy,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provides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management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with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more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complete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picture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383838"/>
                </a:solidFill>
                <a:latin typeface="Tahoma"/>
                <a:cs typeface="Tahoma"/>
              </a:rPr>
              <a:t>business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performance.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5975" y="10590529"/>
            <a:ext cx="3474085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>
                <a:solidFill>
                  <a:srgbClr val="020202"/>
                </a:solidFill>
                <a:latin typeface="Georgia"/>
                <a:cs typeface="Georgia"/>
              </a:rPr>
              <a:t>Impact</a:t>
            </a:r>
            <a:r>
              <a:rPr dirty="0" sz="2800" spc="4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020202"/>
                </a:solidFill>
                <a:latin typeface="Georgia"/>
                <a:cs typeface="Georgia"/>
              </a:rPr>
              <a:t>on</a:t>
            </a:r>
            <a:r>
              <a:rPr dirty="0" sz="2800" spc="4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800" spc="-10">
                <a:solidFill>
                  <a:srgbClr val="020202"/>
                </a:solidFill>
                <a:latin typeface="Georgia"/>
                <a:cs typeface="Georgia"/>
              </a:rPr>
              <a:t>Businesses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3437" y="11320463"/>
            <a:ext cx="9763125" cy="4105275"/>
          </a:xfrm>
          <a:custGeom>
            <a:avLst/>
            <a:gdLst/>
            <a:ahLst/>
            <a:cxnLst/>
            <a:rect l="l" t="t" r="r" b="b"/>
            <a:pathLst>
              <a:path w="9763125" h="4105275">
                <a:moveTo>
                  <a:pt x="0" y="4088606"/>
                </a:moveTo>
                <a:lnTo>
                  <a:pt x="0" y="16668"/>
                </a:lnTo>
                <a:lnTo>
                  <a:pt x="0" y="14458"/>
                </a:lnTo>
                <a:lnTo>
                  <a:pt x="419" y="12334"/>
                </a:lnTo>
                <a:lnTo>
                  <a:pt x="1266" y="10287"/>
                </a:lnTo>
                <a:lnTo>
                  <a:pt x="2114" y="8248"/>
                </a:lnTo>
                <a:lnTo>
                  <a:pt x="3314" y="6448"/>
                </a:lnTo>
                <a:lnTo>
                  <a:pt x="4886" y="4886"/>
                </a:lnTo>
                <a:lnTo>
                  <a:pt x="6448" y="3314"/>
                </a:lnTo>
                <a:lnTo>
                  <a:pt x="8248" y="2114"/>
                </a:lnTo>
                <a:lnTo>
                  <a:pt x="10287" y="1266"/>
                </a:lnTo>
                <a:lnTo>
                  <a:pt x="12334" y="419"/>
                </a:lnTo>
                <a:lnTo>
                  <a:pt x="14458" y="0"/>
                </a:lnTo>
                <a:lnTo>
                  <a:pt x="16668" y="0"/>
                </a:lnTo>
                <a:lnTo>
                  <a:pt x="9746456" y="0"/>
                </a:lnTo>
                <a:lnTo>
                  <a:pt x="9748666" y="0"/>
                </a:lnTo>
                <a:lnTo>
                  <a:pt x="9750790" y="419"/>
                </a:lnTo>
                <a:lnTo>
                  <a:pt x="9752828" y="1266"/>
                </a:lnTo>
                <a:lnTo>
                  <a:pt x="9754876" y="2114"/>
                </a:lnTo>
                <a:lnTo>
                  <a:pt x="9756676" y="3314"/>
                </a:lnTo>
                <a:lnTo>
                  <a:pt x="9758238" y="4886"/>
                </a:lnTo>
                <a:lnTo>
                  <a:pt x="9759800" y="6448"/>
                </a:lnTo>
                <a:lnTo>
                  <a:pt x="9761010" y="8248"/>
                </a:lnTo>
                <a:lnTo>
                  <a:pt x="9761858" y="10287"/>
                </a:lnTo>
                <a:lnTo>
                  <a:pt x="9762696" y="12334"/>
                </a:lnTo>
                <a:lnTo>
                  <a:pt x="9763125" y="14458"/>
                </a:lnTo>
                <a:lnTo>
                  <a:pt x="9763125" y="16668"/>
                </a:lnTo>
                <a:lnTo>
                  <a:pt x="9763125" y="4088606"/>
                </a:lnTo>
                <a:lnTo>
                  <a:pt x="9763125" y="4090816"/>
                </a:lnTo>
                <a:lnTo>
                  <a:pt x="9762696" y="4092940"/>
                </a:lnTo>
                <a:lnTo>
                  <a:pt x="9761858" y="4094988"/>
                </a:lnTo>
                <a:lnTo>
                  <a:pt x="9761010" y="4097026"/>
                </a:lnTo>
                <a:lnTo>
                  <a:pt x="9759800" y="4098826"/>
                </a:lnTo>
                <a:lnTo>
                  <a:pt x="9758238" y="4100388"/>
                </a:lnTo>
                <a:lnTo>
                  <a:pt x="9756676" y="4101950"/>
                </a:lnTo>
                <a:lnTo>
                  <a:pt x="9754876" y="4103160"/>
                </a:lnTo>
                <a:lnTo>
                  <a:pt x="9752828" y="4104008"/>
                </a:lnTo>
                <a:lnTo>
                  <a:pt x="9750790" y="4104846"/>
                </a:lnTo>
                <a:lnTo>
                  <a:pt x="9748666" y="4105275"/>
                </a:lnTo>
                <a:lnTo>
                  <a:pt x="9746456" y="4105275"/>
                </a:lnTo>
                <a:lnTo>
                  <a:pt x="16668" y="4105275"/>
                </a:lnTo>
                <a:lnTo>
                  <a:pt x="14458" y="4105275"/>
                </a:lnTo>
                <a:lnTo>
                  <a:pt x="12334" y="4104846"/>
                </a:lnTo>
                <a:lnTo>
                  <a:pt x="10287" y="4104008"/>
                </a:lnTo>
                <a:lnTo>
                  <a:pt x="8248" y="4103160"/>
                </a:lnTo>
                <a:lnTo>
                  <a:pt x="6448" y="4101950"/>
                </a:lnTo>
                <a:lnTo>
                  <a:pt x="4886" y="4100388"/>
                </a:lnTo>
                <a:lnTo>
                  <a:pt x="3314" y="4098826"/>
                </a:lnTo>
                <a:lnTo>
                  <a:pt x="2114" y="4097026"/>
                </a:lnTo>
                <a:lnTo>
                  <a:pt x="1266" y="4094988"/>
                </a:lnTo>
                <a:lnTo>
                  <a:pt x="419" y="4092940"/>
                </a:lnTo>
                <a:lnTo>
                  <a:pt x="0" y="4090816"/>
                </a:lnTo>
                <a:lnTo>
                  <a:pt x="0" y="4088606"/>
                </a:lnTo>
                <a:close/>
              </a:path>
            </a:pathLst>
          </a:custGeom>
          <a:ln w="9525">
            <a:solidFill>
              <a:srgbClr val="B3B3B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833437" y="11320463"/>
          <a:ext cx="9839325" cy="4104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2670"/>
                <a:gridCol w="6181089"/>
              </a:tblGrid>
              <a:tr h="504190"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30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Future</a:t>
                      </a:r>
                      <a:r>
                        <a:rPr dirty="0" sz="1350" spc="-55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Trend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002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25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Possible</a:t>
                      </a:r>
                      <a:r>
                        <a:rPr dirty="0" sz="1350" spc="-35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0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Business</a:t>
                      </a:r>
                      <a:r>
                        <a:rPr dirty="0" sz="1350" spc="-30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Impact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AI</a:t>
                      </a:r>
                      <a:r>
                        <a:rPr dirty="0" sz="1350" spc="9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9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Machine</a:t>
                      </a:r>
                      <a:r>
                        <a:rPr dirty="0" sz="1350" spc="9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Learning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0025" marR="724535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More</a:t>
                      </a:r>
                      <a:r>
                        <a:rPr dirty="0" sz="1350" spc="1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intelligent</a:t>
                      </a:r>
                      <a:r>
                        <a:rPr dirty="0" sz="1350" spc="1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analysis,</a:t>
                      </a:r>
                      <a:r>
                        <a:rPr dirty="0" sz="1350" spc="10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automation,</a:t>
                      </a:r>
                      <a:r>
                        <a:rPr dirty="0" sz="1350" spc="1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1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anomaly 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detection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67310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Cloud</a:t>
                      </a:r>
                      <a:r>
                        <a:rPr dirty="0" sz="1350" spc="-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Deployment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002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Flexible,</a:t>
                      </a: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scalable</a:t>
                      </a:r>
                      <a:r>
                        <a:rPr dirty="0" sz="1350" spc="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finance</a:t>
                      </a:r>
                      <a:r>
                        <a:rPr dirty="0" sz="1350" spc="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systems</a:t>
                      </a:r>
                      <a:r>
                        <a:rPr dirty="0" sz="1350" spc="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with</a:t>
                      </a: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easier</a:t>
                      </a:r>
                      <a:r>
                        <a:rPr dirty="0" sz="1350" spc="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updates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Real-Time</a:t>
                      </a:r>
                      <a:r>
                        <a:rPr dirty="0" sz="1350" spc="1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Analytics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0025" marR="784860">
                        <a:lnSpc>
                          <a:spcPct val="129600"/>
                        </a:lnSpc>
                        <a:spcBef>
                          <a:spcPts val="60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Faster</a:t>
                      </a:r>
                      <a:r>
                        <a:rPr dirty="0" sz="1350" spc="114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decision-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making</a:t>
                      </a:r>
                      <a:r>
                        <a:rPr dirty="0" sz="1350" spc="1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with</a:t>
                      </a:r>
                      <a:r>
                        <a:rPr dirty="0" sz="1350" spc="1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14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up-</a:t>
                      </a:r>
                      <a:r>
                        <a:rPr dirty="0" sz="1350" spc="8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to-</a:t>
                      </a:r>
                      <a:r>
                        <a:rPr dirty="0" sz="1350" spc="7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date</a:t>
                      </a:r>
                      <a:r>
                        <a:rPr dirty="0" sz="1350" spc="1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financial information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7683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Automation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002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Less</a:t>
                      </a:r>
                      <a:r>
                        <a:rPr dirty="0" sz="1350" spc="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repetitive</a:t>
                      </a:r>
                      <a:r>
                        <a:rPr dirty="0" sz="1350" spc="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manual</a:t>
                      </a:r>
                      <a:r>
                        <a:rPr dirty="0" sz="1350" spc="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work,</a:t>
                      </a:r>
                      <a:r>
                        <a:rPr dirty="0" sz="1350" spc="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fewer</a:t>
                      </a:r>
                      <a:r>
                        <a:rPr dirty="0" sz="1350" spc="9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errors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Integrated</a:t>
                      </a:r>
                      <a:r>
                        <a:rPr dirty="0" sz="1350" spc="7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Data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002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Better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visibility</a:t>
                      </a: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across</a:t>
                      </a: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departments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350" spc="6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functions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SAP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Fiori</a:t>
                      </a:r>
                      <a:r>
                        <a:rPr dirty="0" sz="135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UX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7002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Easier</a:t>
                      </a:r>
                      <a:r>
                        <a:rPr dirty="0" sz="1350" spc="1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adoption,</a:t>
                      </a:r>
                      <a:r>
                        <a:rPr dirty="0" sz="1350" spc="1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improved</a:t>
                      </a:r>
                      <a:r>
                        <a:rPr dirty="0" sz="1350" spc="1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dirty="0" sz="1350" spc="1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4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productivity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815975" y="15667355"/>
            <a:ext cx="4367530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>
                <a:solidFill>
                  <a:srgbClr val="020202"/>
                </a:solidFill>
                <a:latin typeface="Georgia"/>
                <a:cs typeface="Georgia"/>
              </a:rPr>
              <a:t>Benefits</a:t>
            </a:r>
            <a:r>
              <a:rPr dirty="0" sz="2800" spc="11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800">
                <a:solidFill>
                  <a:srgbClr val="020202"/>
                </a:solidFill>
                <a:latin typeface="Georgia"/>
                <a:cs typeface="Georgia"/>
              </a:rPr>
              <a:t>and</a:t>
            </a:r>
            <a:r>
              <a:rPr dirty="0" sz="2800" spc="11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800" spc="-10">
                <a:solidFill>
                  <a:srgbClr val="020202"/>
                </a:solidFill>
                <a:latin typeface="Georgia"/>
                <a:cs typeface="Georgia"/>
              </a:rPr>
              <a:t>Opportunities</a:t>
            </a:r>
            <a:endParaRPr sz="2800">
              <a:latin typeface="Georgia"/>
              <a:cs typeface="Georg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28675" y="16392525"/>
            <a:ext cx="4800600" cy="2924175"/>
            <a:chOff x="828675" y="16392525"/>
            <a:chExt cx="4800600" cy="2924175"/>
          </a:xfrm>
        </p:grpSpPr>
        <p:sp>
          <p:nvSpPr>
            <p:cNvPr id="16" name="object 16"/>
            <p:cNvSpPr/>
            <p:nvPr/>
          </p:nvSpPr>
          <p:spPr>
            <a:xfrm>
              <a:off x="838200" y="16402050"/>
              <a:ext cx="4781550" cy="2905125"/>
            </a:xfrm>
            <a:custGeom>
              <a:avLst/>
              <a:gdLst/>
              <a:ahLst/>
              <a:cxnLst/>
              <a:rect l="l" t="t" r="r" b="b"/>
              <a:pathLst>
                <a:path w="4781550" h="2905125">
                  <a:moveTo>
                    <a:pt x="0" y="2893218"/>
                  </a:moveTo>
                  <a:lnTo>
                    <a:pt x="0" y="11906"/>
                  </a:lnTo>
                  <a:lnTo>
                    <a:pt x="0" y="8620"/>
                  </a:lnTo>
                  <a:lnTo>
                    <a:pt x="1162" y="5810"/>
                  </a:lnTo>
                  <a:lnTo>
                    <a:pt x="3486" y="3486"/>
                  </a:lnTo>
                  <a:lnTo>
                    <a:pt x="5810" y="1162"/>
                  </a:lnTo>
                  <a:lnTo>
                    <a:pt x="8620" y="0"/>
                  </a:lnTo>
                  <a:lnTo>
                    <a:pt x="11906" y="0"/>
                  </a:lnTo>
                  <a:lnTo>
                    <a:pt x="4769643" y="0"/>
                  </a:lnTo>
                  <a:lnTo>
                    <a:pt x="4772929" y="0"/>
                  </a:lnTo>
                  <a:lnTo>
                    <a:pt x="4775739" y="1162"/>
                  </a:lnTo>
                  <a:lnTo>
                    <a:pt x="4778063" y="3486"/>
                  </a:lnTo>
                  <a:lnTo>
                    <a:pt x="4780387" y="5810"/>
                  </a:lnTo>
                  <a:lnTo>
                    <a:pt x="4781550" y="8620"/>
                  </a:lnTo>
                  <a:lnTo>
                    <a:pt x="4781550" y="11906"/>
                  </a:lnTo>
                  <a:lnTo>
                    <a:pt x="4781550" y="2893218"/>
                  </a:lnTo>
                  <a:lnTo>
                    <a:pt x="4781550" y="2896504"/>
                  </a:lnTo>
                  <a:lnTo>
                    <a:pt x="4780387" y="2899314"/>
                  </a:lnTo>
                  <a:lnTo>
                    <a:pt x="4778063" y="2901638"/>
                  </a:lnTo>
                  <a:lnTo>
                    <a:pt x="4775739" y="2903962"/>
                  </a:lnTo>
                  <a:lnTo>
                    <a:pt x="4772929" y="2905125"/>
                  </a:lnTo>
                  <a:lnTo>
                    <a:pt x="4769643" y="2905125"/>
                  </a:lnTo>
                  <a:lnTo>
                    <a:pt x="11906" y="2905125"/>
                  </a:lnTo>
                  <a:lnTo>
                    <a:pt x="8620" y="2905125"/>
                  </a:lnTo>
                  <a:lnTo>
                    <a:pt x="5810" y="2903962"/>
                  </a:lnTo>
                  <a:lnTo>
                    <a:pt x="3486" y="2901638"/>
                  </a:lnTo>
                  <a:lnTo>
                    <a:pt x="1162" y="2899314"/>
                  </a:lnTo>
                  <a:lnTo>
                    <a:pt x="0" y="2896504"/>
                  </a:lnTo>
                  <a:lnTo>
                    <a:pt x="0" y="2893218"/>
                  </a:lnTo>
                  <a:close/>
                </a:path>
              </a:pathLst>
            </a:custGeom>
            <a:ln w="19050">
              <a:solidFill>
                <a:srgbClr val="D7D3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047750" y="17078335"/>
              <a:ext cx="57150" cy="1390650"/>
            </a:xfrm>
            <a:custGeom>
              <a:avLst/>
              <a:gdLst/>
              <a:ahLst/>
              <a:cxnLst/>
              <a:rect l="l" t="t" r="r" b="b"/>
              <a:pathLst>
                <a:path w="57150" h="1390650">
                  <a:moveTo>
                    <a:pt x="57150" y="1358277"/>
                  </a:moveTo>
                  <a:lnTo>
                    <a:pt x="32359" y="1333500"/>
                  </a:lnTo>
                  <a:lnTo>
                    <a:pt x="24777" y="1333500"/>
                  </a:lnTo>
                  <a:lnTo>
                    <a:pt x="0" y="1358277"/>
                  </a:lnTo>
                  <a:lnTo>
                    <a:pt x="0" y="1365859"/>
                  </a:lnTo>
                  <a:lnTo>
                    <a:pt x="24777" y="1390650"/>
                  </a:lnTo>
                  <a:lnTo>
                    <a:pt x="32359" y="1390650"/>
                  </a:lnTo>
                  <a:lnTo>
                    <a:pt x="57150" y="1365859"/>
                  </a:lnTo>
                  <a:lnTo>
                    <a:pt x="57150" y="1362075"/>
                  </a:lnTo>
                  <a:lnTo>
                    <a:pt x="57150" y="1358277"/>
                  </a:lnTo>
                  <a:close/>
                </a:path>
                <a:path w="57150" h="1390650">
                  <a:moveTo>
                    <a:pt x="57150" y="1024902"/>
                  </a:moveTo>
                  <a:lnTo>
                    <a:pt x="32359" y="1000125"/>
                  </a:lnTo>
                  <a:lnTo>
                    <a:pt x="24777" y="1000125"/>
                  </a:lnTo>
                  <a:lnTo>
                    <a:pt x="0" y="1024902"/>
                  </a:lnTo>
                  <a:lnTo>
                    <a:pt x="0" y="1032484"/>
                  </a:lnTo>
                  <a:lnTo>
                    <a:pt x="24777" y="1057275"/>
                  </a:lnTo>
                  <a:lnTo>
                    <a:pt x="32359" y="1057275"/>
                  </a:lnTo>
                  <a:lnTo>
                    <a:pt x="57150" y="1032484"/>
                  </a:lnTo>
                  <a:lnTo>
                    <a:pt x="57150" y="1028700"/>
                  </a:lnTo>
                  <a:lnTo>
                    <a:pt x="57150" y="1024902"/>
                  </a:lnTo>
                  <a:close/>
                </a:path>
                <a:path w="57150" h="1390650">
                  <a:moveTo>
                    <a:pt x="57150" y="691527"/>
                  </a:moveTo>
                  <a:lnTo>
                    <a:pt x="32359" y="666750"/>
                  </a:lnTo>
                  <a:lnTo>
                    <a:pt x="24777" y="666750"/>
                  </a:lnTo>
                  <a:lnTo>
                    <a:pt x="0" y="691527"/>
                  </a:lnTo>
                  <a:lnTo>
                    <a:pt x="0" y="699109"/>
                  </a:lnTo>
                  <a:lnTo>
                    <a:pt x="24777" y="723900"/>
                  </a:lnTo>
                  <a:lnTo>
                    <a:pt x="32359" y="723900"/>
                  </a:lnTo>
                  <a:lnTo>
                    <a:pt x="57150" y="699109"/>
                  </a:lnTo>
                  <a:lnTo>
                    <a:pt x="57150" y="695325"/>
                  </a:lnTo>
                  <a:lnTo>
                    <a:pt x="57150" y="691527"/>
                  </a:lnTo>
                  <a:close/>
                </a:path>
                <a:path w="57150" h="1390650">
                  <a:moveTo>
                    <a:pt x="57150" y="358152"/>
                  </a:moveTo>
                  <a:lnTo>
                    <a:pt x="32359" y="333375"/>
                  </a:lnTo>
                  <a:lnTo>
                    <a:pt x="24777" y="333375"/>
                  </a:lnTo>
                  <a:lnTo>
                    <a:pt x="0" y="358152"/>
                  </a:lnTo>
                  <a:lnTo>
                    <a:pt x="0" y="365734"/>
                  </a:lnTo>
                  <a:lnTo>
                    <a:pt x="24777" y="390525"/>
                  </a:lnTo>
                  <a:lnTo>
                    <a:pt x="32359" y="390525"/>
                  </a:lnTo>
                  <a:lnTo>
                    <a:pt x="57150" y="365734"/>
                  </a:lnTo>
                  <a:lnTo>
                    <a:pt x="57150" y="361950"/>
                  </a:lnTo>
                  <a:lnTo>
                    <a:pt x="57150" y="358152"/>
                  </a:lnTo>
                  <a:close/>
                </a:path>
                <a:path w="57150" h="1390650">
                  <a:moveTo>
                    <a:pt x="57150" y="24777"/>
                  </a:moveTo>
                  <a:lnTo>
                    <a:pt x="32359" y="0"/>
                  </a:lnTo>
                  <a:lnTo>
                    <a:pt x="24777" y="0"/>
                  </a:lnTo>
                  <a:lnTo>
                    <a:pt x="0" y="24777"/>
                  </a:lnTo>
                  <a:lnTo>
                    <a:pt x="0" y="32359"/>
                  </a:lnTo>
                  <a:lnTo>
                    <a:pt x="24777" y="57150"/>
                  </a:lnTo>
                  <a:lnTo>
                    <a:pt x="32359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77"/>
                  </a:lnTo>
                  <a:close/>
                </a:path>
              </a:pathLst>
            </a:custGeom>
            <a:solidFill>
              <a:srgbClr val="3838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38200" y="16402050"/>
            <a:ext cx="4781550" cy="2905125"/>
          </a:xfrm>
          <a:prstGeom prst="rect">
            <a:avLst/>
          </a:prstGeom>
        </p:spPr>
        <p:txBody>
          <a:bodyPr wrap="square" lIns="0" tIns="177800" rIns="0" bIns="0" rtlCol="0" vert="horz">
            <a:spAutoFit/>
          </a:bodyPr>
          <a:lstStyle/>
          <a:p>
            <a:pPr marL="180975">
              <a:lnSpc>
                <a:spcPct val="100000"/>
              </a:lnSpc>
              <a:spcBef>
                <a:spcPts val="1400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For</a:t>
            </a:r>
            <a:r>
              <a:rPr dirty="0" sz="1750" spc="-8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Businesses</a:t>
            </a:r>
            <a:endParaRPr sz="1750">
              <a:latin typeface="Georgia"/>
              <a:cs typeface="Georgia"/>
            </a:endParaRPr>
          </a:p>
          <a:p>
            <a:pPr marL="454659" marR="639445">
              <a:lnSpc>
                <a:spcPct val="162000"/>
              </a:lnSpc>
              <a:spcBef>
                <a:spcPts val="145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Improved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efficiency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reduced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manual</a:t>
            </a:r>
            <a:r>
              <a:rPr dirty="0" sz="135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work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Better</a:t>
            </a:r>
            <a:r>
              <a:rPr dirty="0" sz="1350" spc="1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350" spc="1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insights</a:t>
            </a:r>
            <a:r>
              <a:rPr dirty="0" sz="1350" spc="1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1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faster</a:t>
            </a:r>
            <a:r>
              <a:rPr dirty="0" sz="1350" spc="1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reporting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Improved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forecasting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cost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management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Stronger</a:t>
            </a:r>
            <a:r>
              <a:rPr dirty="0" sz="135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controls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compliance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Better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scalability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support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business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growth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800725" y="16392525"/>
            <a:ext cx="4800600" cy="2924175"/>
            <a:chOff x="5800725" y="16392525"/>
            <a:chExt cx="4800600" cy="2924175"/>
          </a:xfrm>
        </p:grpSpPr>
        <p:sp>
          <p:nvSpPr>
            <p:cNvPr id="20" name="object 20"/>
            <p:cNvSpPr/>
            <p:nvPr/>
          </p:nvSpPr>
          <p:spPr>
            <a:xfrm>
              <a:off x="5810250" y="16402050"/>
              <a:ext cx="4781550" cy="2905125"/>
            </a:xfrm>
            <a:custGeom>
              <a:avLst/>
              <a:gdLst/>
              <a:ahLst/>
              <a:cxnLst/>
              <a:rect l="l" t="t" r="r" b="b"/>
              <a:pathLst>
                <a:path w="4781550" h="2905125">
                  <a:moveTo>
                    <a:pt x="0" y="2893218"/>
                  </a:moveTo>
                  <a:lnTo>
                    <a:pt x="0" y="11906"/>
                  </a:lnTo>
                  <a:lnTo>
                    <a:pt x="0" y="8620"/>
                  </a:lnTo>
                  <a:lnTo>
                    <a:pt x="1162" y="5810"/>
                  </a:lnTo>
                  <a:lnTo>
                    <a:pt x="3486" y="3486"/>
                  </a:lnTo>
                  <a:lnTo>
                    <a:pt x="5810" y="1162"/>
                  </a:lnTo>
                  <a:lnTo>
                    <a:pt x="8620" y="0"/>
                  </a:lnTo>
                  <a:lnTo>
                    <a:pt x="11906" y="0"/>
                  </a:lnTo>
                  <a:lnTo>
                    <a:pt x="4769643" y="0"/>
                  </a:lnTo>
                  <a:lnTo>
                    <a:pt x="4772929" y="0"/>
                  </a:lnTo>
                  <a:lnTo>
                    <a:pt x="4775739" y="1162"/>
                  </a:lnTo>
                  <a:lnTo>
                    <a:pt x="4778063" y="3486"/>
                  </a:lnTo>
                  <a:lnTo>
                    <a:pt x="4780387" y="5810"/>
                  </a:lnTo>
                  <a:lnTo>
                    <a:pt x="4781550" y="8620"/>
                  </a:lnTo>
                  <a:lnTo>
                    <a:pt x="4781550" y="11906"/>
                  </a:lnTo>
                  <a:lnTo>
                    <a:pt x="4781550" y="2893218"/>
                  </a:lnTo>
                  <a:lnTo>
                    <a:pt x="4781550" y="2896504"/>
                  </a:lnTo>
                  <a:lnTo>
                    <a:pt x="4780387" y="2899314"/>
                  </a:lnTo>
                  <a:lnTo>
                    <a:pt x="4778063" y="2901638"/>
                  </a:lnTo>
                  <a:lnTo>
                    <a:pt x="4775739" y="2903962"/>
                  </a:lnTo>
                  <a:lnTo>
                    <a:pt x="4772929" y="2905125"/>
                  </a:lnTo>
                  <a:lnTo>
                    <a:pt x="4769643" y="2905125"/>
                  </a:lnTo>
                  <a:lnTo>
                    <a:pt x="11906" y="2905125"/>
                  </a:lnTo>
                  <a:lnTo>
                    <a:pt x="8620" y="2905125"/>
                  </a:lnTo>
                  <a:lnTo>
                    <a:pt x="5810" y="2903962"/>
                  </a:lnTo>
                  <a:lnTo>
                    <a:pt x="3486" y="2901638"/>
                  </a:lnTo>
                  <a:lnTo>
                    <a:pt x="1162" y="2899314"/>
                  </a:lnTo>
                  <a:lnTo>
                    <a:pt x="0" y="2896504"/>
                  </a:lnTo>
                  <a:lnTo>
                    <a:pt x="0" y="2893218"/>
                  </a:lnTo>
                  <a:close/>
                </a:path>
              </a:pathLst>
            </a:custGeom>
            <a:ln w="19050">
              <a:solidFill>
                <a:srgbClr val="D7D3D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019800" y="17078335"/>
              <a:ext cx="57150" cy="1666875"/>
            </a:xfrm>
            <a:custGeom>
              <a:avLst/>
              <a:gdLst/>
              <a:ahLst/>
              <a:cxnLst/>
              <a:rect l="l" t="t" r="r" b="b"/>
              <a:pathLst>
                <a:path w="57150" h="1666875">
                  <a:moveTo>
                    <a:pt x="57150" y="1634502"/>
                  </a:moveTo>
                  <a:lnTo>
                    <a:pt x="32359" y="1609725"/>
                  </a:lnTo>
                  <a:lnTo>
                    <a:pt x="24777" y="1609725"/>
                  </a:lnTo>
                  <a:lnTo>
                    <a:pt x="0" y="1634502"/>
                  </a:lnTo>
                  <a:lnTo>
                    <a:pt x="0" y="1642084"/>
                  </a:lnTo>
                  <a:lnTo>
                    <a:pt x="24777" y="1666875"/>
                  </a:lnTo>
                  <a:lnTo>
                    <a:pt x="32359" y="1666875"/>
                  </a:lnTo>
                  <a:lnTo>
                    <a:pt x="57150" y="1642084"/>
                  </a:lnTo>
                  <a:lnTo>
                    <a:pt x="57150" y="1638300"/>
                  </a:lnTo>
                  <a:lnTo>
                    <a:pt x="57150" y="1634502"/>
                  </a:lnTo>
                  <a:close/>
                </a:path>
                <a:path w="57150" h="1666875">
                  <a:moveTo>
                    <a:pt x="57150" y="1024902"/>
                  </a:moveTo>
                  <a:lnTo>
                    <a:pt x="32359" y="1000125"/>
                  </a:lnTo>
                  <a:lnTo>
                    <a:pt x="24777" y="1000125"/>
                  </a:lnTo>
                  <a:lnTo>
                    <a:pt x="0" y="1024902"/>
                  </a:lnTo>
                  <a:lnTo>
                    <a:pt x="0" y="1032484"/>
                  </a:lnTo>
                  <a:lnTo>
                    <a:pt x="24777" y="1057275"/>
                  </a:lnTo>
                  <a:lnTo>
                    <a:pt x="32359" y="1057275"/>
                  </a:lnTo>
                  <a:lnTo>
                    <a:pt x="57150" y="1032484"/>
                  </a:lnTo>
                  <a:lnTo>
                    <a:pt x="57150" y="1028700"/>
                  </a:lnTo>
                  <a:lnTo>
                    <a:pt x="57150" y="1024902"/>
                  </a:lnTo>
                  <a:close/>
                </a:path>
                <a:path w="57150" h="1666875">
                  <a:moveTo>
                    <a:pt x="57150" y="691527"/>
                  </a:moveTo>
                  <a:lnTo>
                    <a:pt x="32359" y="666750"/>
                  </a:lnTo>
                  <a:lnTo>
                    <a:pt x="24777" y="666750"/>
                  </a:lnTo>
                  <a:lnTo>
                    <a:pt x="0" y="691527"/>
                  </a:lnTo>
                  <a:lnTo>
                    <a:pt x="0" y="699109"/>
                  </a:lnTo>
                  <a:lnTo>
                    <a:pt x="24777" y="723900"/>
                  </a:lnTo>
                  <a:lnTo>
                    <a:pt x="32359" y="723900"/>
                  </a:lnTo>
                  <a:lnTo>
                    <a:pt x="57150" y="699109"/>
                  </a:lnTo>
                  <a:lnTo>
                    <a:pt x="57150" y="695325"/>
                  </a:lnTo>
                  <a:lnTo>
                    <a:pt x="57150" y="691527"/>
                  </a:lnTo>
                  <a:close/>
                </a:path>
                <a:path w="57150" h="1666875">
                  <a:moveTo>
                    <a:pt x="57150" y="358152"/>
                  </a:moveTo>
                  <a:lnTo>
                    <a:pt x="32359" y="333375"/>
                  </a:lnTo>
                  <a:lnTo>
                    <a:pt x="24777" y="333375"/>
                  </a:lnTo>
                  <a:lnTo>
                    <a:pt x="0" y="358152"/>
                  </a:lnTo>
                  <a:lnTo>
                    <a:pt x="0" y="365734"/>
                  </a:lnTo>
                  <a:lnTo>
                    <a:pt x="24777" y="390525"/>
                  </a:lnTo>
                  <a:lnTo>
                    <a:pt x="32359" y="390525"/>
                  </a:lnTo>
                  <a:lnTo>
                    <a:pt x="57150" y="365734"/>
                  </a:lnTo>
                  <a:lnTo>
                    <a:pt x="57150" y="361950"/>
                  </a:lnTo>
                  <a:lnTo>
                    <a:pt x="57150" y="358152"/>
                  </a:lnTo>
                  <a:close/>
                </a:path>
                <a:path w="57150" h="1666875">
                  <a:moveTo>
                    <a:pt x="57150" y="24777"/>
                  </a:moveTo>
                  <a:lnTo>
                    <a:pt x="32359" y="0"/>
                  </a:lnTo>
                  <a:lnTo>
                    <a:pt x="24777" y="0"/>
                  </a:lnTo>
                  <a:lnTo>
                    <a:pt x="0" y="24777"/>
                  </a:lnTo>
                  <a:lnTo>
                    <a:pt x="0" y="32359"/>
                  </a:lnTo>
                  <a:lnTo>
                    <a:pt x="24777" y="57150"/>
                  </a:lnTo>
                  <a:lnTo>
                    <a:pt x="32359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77"/>
                  </a:lnTo>
                  <a:close/>
                </a:path>
              </a:pathLst>
            </a:custGeom>
            <a:solidFill>
              <a:srgbClr val="3838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5810250" y="16402050"/>
            <a:ext cx="4781550" cy="2905125"/>
          </a:xfrm>
          <a:prstGeom prst="rect">
            <a:avLst/>
          </a:prstGeom>
        </p:spPr>
        <p:txBody>
          <a:bodyPr wrap="square" lIns="0" tIns="177800" rIns="0" bIns="0" rtlCol="0" vert="horz">
            <a:spAutoFit/>
          </a:bodyPr>
          <a:lstStyle/>
          <a:p>
            <a:pPr marL="180975">
              <a:lnSpc>
                <a:spcPct val="100000"/>
              </a:lnSpc>
              <a:spcBef>
                <a:spcPts val="1400"/>
              </a:spcBef>
            </a:pP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For</a:t>
            </a:r>
            <a:r>
              <a:rPr dirty="0" sz="1750" spc="-5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>
                <a:solidFill>
                  <a:srgbClr val="383838"/>
                </a:solidFill>
                <a:latin typeface="Georgia"/>
                <a:cs typeface="Georgia"/>
              </a:rPr>
              <a:t>SAP</a:t>
            </a:r>
            <a:r>
              <a:rPr dirty="0" sz="1750" spc="-5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750" spc="-10">
                <a:solidFill>
                  <a:srgbClr val="383838"/>
                </a:solidFill>
                <a:latin typeface="Georgia"/>
                <a:cs typeface="Georgia"/>
              </a:rPr>
              <a:t>Professionals</a:t>
            </a:r>
            <a:endParaRPr sz="1750">
              <a:latin typeface="Georgia"/>
              <a:cs typeface="Georgia"/>
            </a:endParaRPr>
          </a:p>
          <a:p>
            <a:pPr marL="454659" marR="372110">
              <a:lnSpc>
                <a:spcPct val="162000"/>
              </a:lnSpc>
              <a:spcBef>
                <a:spcPts val="145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Growing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383838"/>
                </a:solidFill>
                <a:latin typeface="Tahoma"/>
                <a:cs typeface="Tahoma"/>
              </a:rPr>
              <a:t>demand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S/4HANA</a:t>
            </a:r>
            <a:r>
              <a:rPr dirty="0" sz="135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knowledge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New</a:t>
            </a:r>
            <a:r>
              <a:rPr dirty="0" sz="135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career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opportunities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383838"/>
                </a:solidFill>
                <a:latin typeface="Tahoma"/>
                <a:cs typeface="Tahoma"/>
              </a:rPr>
              <a:t>AI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analytics</a:t>
            </a:r>
            <a:r>
              <a:rPr dirty="0" sz="1350" spc="5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Cloud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integration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skills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383838"/>
                </a:solidFill>
                <a:latin typeface="Tahoma"/>
                <a:cs typeface="Tahoma"/>
              </a:rPr>
              <a:t>increasingly</a:t>
            </a:r>
            <a:r>
              <a:rPr dirty="0" sz="135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valued</a:t>
            </a:r>
            <a:endParaRPr sz="1350">
              <a:latin typeface="Tahoma"/>
              <a:cs typeface="Tahoma"/>
            </a:endParaRPr>
          </a:p>
          <a:p>
            <a:pPr marL="454659" marR="813435">
              <a:lnSpc>
                <a:spcPct val="134300"/>
              </a:lnSpc>
              <a:spcBef>
                <a:spcPts val="45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Business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process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knowledge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383838"/>
                </a:solidFill>
                <a:latin typeface="Tahoma"/>
                <a:cs typeface="Tahoma"/>
              </a:rPr>
              <a:t>combined</a:t>
            </a:r>
            <a:r>
              <a:rPr dirty="0" sz="135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83838"/>
                </a:solidFill>
                <a:latin typeface="Tahoma"/>
                <a:cs typeface="Tahoma"/>
              </a:rPr>
              <a:t>with </a:t>
            </a:r>
            <a:r>
              <a:rPr dirty="0" sz="1350" spc="-10">
                <a:solidFill>
                  <a:srgbClr val="383838"/>
                </a:solidFill>
                <a:latin typeface="Tahoma"/>
                <a:cs typeface="Tahoma"/>
              </a:rPr>
              <a:t>technology</a:t>
            </a:r>
            <a:endParaRPr sz="1350">
              <a:latin typeface="Tahoma"/>
              <a:cs typeface="Tahoma"/>
            </a:endParaRPr>
          </a:p>
          <a:p>
            <a:pPr marL="454659" marR="796290">
              <a:lnSpc>
                <a:spcPct val="134300"/>
              </a:lnSpc>
              <a:spcBef>
                <a:spcPts val="450"/>
              </a:spcBef>
            </a:pP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Roles</a:t>
            </a:r>
            <a:r>
              <a:rPr dirty="0" sz="1350" spc="1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shifting</a:t>
            </a:r>
            <a:r>
              <a:rPr dirty="0" sz="1350" spc="1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towards</a:t>
            </a:r>
            <a:r>
              <a:rPr dirty="0" sz="1350" spc="1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advisory</a:t>
            </a:r>
            <a:r>
              <a:rPr dirty="0" sz="1350" spc="1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350" spc="1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383838"/>
                </a:solidFill>
                <a:latin typeface="Tahoma"/>
                <a:cs typeface="Tahoma"/>
              </a:rPr>
              <a:t>decision </a:t>
            </a:r>
            <a:r>
              <a:rPr dirty="0" sz="1350" spc="45">
                <a:solidFill>
                  <a:srgbClr val="383838"/>
                </a:solidFill>
                <a:latin typeface="Tahoma"/>
                <a:cs typeface="Tahoma"/>
              </a:rPr>
              <a:t>support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5760" y="335241"/>
            <a:ext cx="7054215" cy="1465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ts val="3250"/>
              </a:lnSpc>
              <a:spcBef>
                <a:spcPts val="100"/>
              </a:spcBef>
            </a:pPr>
            <a:r>
              <a:rPr dirty="0" sz="2600">
                <a:solidFill>
                  <a:srgbClr val="020202"/>
                </a:solidFill>
                <a:latin typeface="Georgia"/>
                <a:cs typeface="Georgia"/>
              </a:rPr>
              <a:t>Challenges,</a:t>
            </a:r>
            <a:r>
              <a:rPr dirty="0" sz="2600" spc="-10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600">
                <a:solidFill>
                  <a:srgbClr val="020202"/>
                </a:solidFill>
                <a:latin typeface="Georgia"/>
                <a:cs typeface="Georgia"/>
              </a:rPr>
              <a:t>Future Skills,</a:t>
            </a:r>
            <a:r>
              <a:rPr dirty="0" sz="2600" spc="-10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600">
                <a:solidFill>
                  <a:srgbClr val="020202"/>
                </a:solidFill>
                <a:latin typeface="Georgia"/>
                <a:cs typeface="Georgia"/>
              </a:rPr>
              <a:t>Personal Insights,</a:t>
            </a:r>
            <a:r>
              <a:rPr dirty="0" sz="2600" spc="-10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600" spc="-25">
                <a:solidFill>
                  <a:srgbClr val="020202"/>
                </a:solidFill>
                <a:latin typeface="Georgia"/>
                <a:cs typeface="Georgia"/>
              </a:rPr>
              <a:t>and </a:t>
            </a:r>
            <a:r>
              <a:rPr dirty="0" sz="2600" spc="-10">
                <a:solidFill>
                  <a:srgbClr val="020202"/>
                </a:solidFill>
                <a:latin typeface="Georgia"/>
                <a:cs typeface="Georgia"/>
              </a:rPr>
              <a:t>Conclusion</a:t>
            </a:r>
            <a:endParaRPr sz="2600">
              <a:latin typeface="Georgia"/>
              <a:cs typeface="Georgia"/>
            </a:endParaRPr>
          </a:p>
          <a:p>
            <a:pPr marL="12700" marR="15875">
              <a:lnSpc>
                <a:spcPct val="128499"/>
              </a:lnSpc>
              <a:spcBef>
                <a:spcPts val="1750"/>
              </a:spcBef>
            </a:pP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evolution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brings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significant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opportunities,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but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also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55">
                <a:solidFill>
                  <a:srgbClr val="383838"/>
                </a:solidFill>
                <a:latin typeface="Tahoma"/>
                <a:cs typeface="Tahoma"/>
              </a:rPr>
              <a:t>comes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with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challenges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that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organisations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professionals</a:t>
            </a:r>
            <a:r>
              <a:rPr dirty="0" sz="100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must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address.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Understanding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these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challenges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honestly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just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as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important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as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understanding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00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benefits.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5760" y="1995919"/>
            <a:ext cx="4463415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>
                <a:solidFill>
                  <a:srgbClr val="020202"/>
                </a:solidFill>
                <a:latin typeface="Georgia"/>
                <a:cs typeface="Georgia"/>
              </a:rPr>
              <a:t>Challenges</a:t>
            </a:r>
            <a:r>
              <a:rPr dirty="0" sz="2050" spc="4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050">
                <a:solidFill>
                  <a:srgbClr val="020202"/>
                </a:solidFill>
                <a:latin typeface="Georgia"/>
                <a:cs typeface="Georgia"/>
              </a:rPr>
              <a:t>and</a:t>
            </a:r>
            <a:r>
              <a:rPr dirty="0" sz="2050" spc="5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050" spc="-10">
                <a:solidFill>
                  <a:srgbClr val="020202"/>
                </a:solidFill>
                <a:latin typeface="Georgia"/>
                <a:cs typeface="Georgia"/>
              </a:rPr>
              <a:t>How</a:t>
            </a:r>
            <a:r>
              <a:rPr dirty="0" sz="2050" spc="4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050" spc="50">
                <a:solidFill>
                  <a:srgbClr val="020202"/>
                </a:solidFill>
                <a:latin typeface="Georgia"/>
                <a:cs typeface="Georgia"/>
              </a:rPr>
              <a:t>to</a:t>
            </a:r>
            <a:r>
              <a:rPr dirty="0" sz="2050" spc="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050">
                <a:solidFill>
                  <a:srgbClr val="020202"/>
                </a:solidFill>
                <a:latin typeface="Georgia"/>
                <a:cs typeface="Georgia"/>
              </a:rPr>
              <a:t>Address</a:t>
            </a:r>
            <a:r>
              <a:rPr dirty="0" sz="2050" spc="5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050" spc="-20">
                <a:solidFill>
                  <a:srgbClr val="020202"/>
                </a:solidFill>
                <a:latin typeface="Georgia"/>
                <a:cs typeface="Georgia"/>
              </a:rPr>
              <a:t>Them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1957" y="2535253"/>
            <a:ext cx="7169150" cy="3595370"/>
          </a:xfrm>
          <a:custGeom>
            <a:avLst/>
            <a:gdLst/>
            <a:ahLst/>
            <a:cxnLst/>
            <a:rect l="l" t="t" r="r" b="b"/>
            <a:pathLst>
              <a:path w="7169150" h="3595370">
                <a:moveTo>
                  <a:pt x="0" y="3582574"/>
                </a:moveTo>
                <a:lnTo>
                  <a:pt x="0" y="12239"/>
                </a:lnTo>
                <a:lnTo>
                  <a:pt x="0" y="10616"/>
                </a:lnTo>
                <a:lnTo>
                  <a:pt x="307" y="9056"/>
                </a:lnTo>
                <a:lnTo>
                  <a:pt x="930" y="7553"/>
                </a:lnTo>
                <a:lnTo>
                  <a:pt x="1552" y="6056"/>
                </a:lnTo>
                <a:lnTo>
                  <a:pt x="2433" y="4734"/>
                </a:lnTo>
                <a:lnTo>
                  <a:pt x="3587" y="3587"/>
                </a:lnTo>
                <a:lnTo>
                  <a:pt x="4734" y="2433"/>
                </a:lnTo>
                <a:lnTo>
                  <a:pt x="6056" y="1552"/>
                </a:lnTo>
                <a:lnTo>
                  <a:pt x="7553" y="930"/>
                </a:lnTo>
                <a:lnTo>
                  <a:pt x="9056" y="307"/>
                </a:lnTo>
                <a:lnTo>
                  <a:pt x="10616" y="0"/>
                </a:lnTo>
                <a:lnTo>
                  <a:pt x="12239" y="0"/>
                </a:lnTo>
                <a:lnTo>
                  <a:pt x="7156407" y="0"/>
                </a:lnTo>
                <a:lnTo>
                  <a:pt x="7158029" y="0"/>
                </a:lnTo>
                <a:lnTo>
                  <a:pt x="7159589" y="307"/>
                </a:lnTo>
                <a:lnTo>
                  <a:pt x="7161086" y="930"/>
                </a:lnTo>
                <a:lnTo>
                  <a:pt x="7162589" y="1552"/>
                </a:lnTo>
                <a:lnTo>
                  <a:pt x="7163911" y="2433"/>
                </a:lnTo>
                <a:lnTo>
                  <a:pt x="7165058" y="3587"/>
                </a:lnTo>
                <a:lnTo>
                  <a:pt x="7166205" y="4734"/>
                </a:lnTo>
                <a:lnTo>
                  <a:pt x="7167093" y="6056"/>
                </a:lnTo>
                <a:lnTo>
                  <a:pt x="7167716" y="7553"/>
                </a:lnTo>
                <a:lnTo>
                  <a:pt x="7168331" y="9056"/>
                </a:lnTo>
                <a:lnTo>
                  <a:pt x="7168646" y="10616"/>
                </a:lnTo>
                <a:lnTo>
                  <a:pt x="7168646" y="12239"/>
                </a:lnTo>
                <a:lnTo>
                  <a:pt x="7168646" y="3582574"/>
                </a:lnTo>
                <a:lnTo>
                  <a:pt x="7168646" y="3584197"/>
                </a:lnTo>
                <a:lnTo>
                  <a:pt x="7168331" y="3585757"/>
                </a:lnTo>
                <a:lnTo>
                  <a:pt x="7167716" y="3587260"/>
                </a:lnTo>
                <a:lnTo>
                  <a:pt x="7167093" y="3588757"/>
                </a:lnTo>
                <a:lnTo>
                  <a:pt x="7166205" y="3590079"/>
                </a:lnTo>
                <a:lnTo>
                  <a:pt x="7165058" y="3591226"/>
                </a:lnTo>
                <a:lnTo>
                  <a:pt x="7163911" y="3592373"/>
                </a:lnTo>
                <a:lnTo>
                  <a:pt x="7162589" y="3593261"/>
                </a:lnTo>
                <a:lnTo>
                  <a:pt x="7161086" y="3593883"/>
                </a:lnTo>
                <a:lnTo>
                  <a:pt x="7159589" y="3594506"/>
                </a:lnTo>
                <a:lnTo>
                  <a:pt x="7158029" y="3594813"/>
                </a:lnTo>
                <a:lnTo>
                  <a:pt x="7156407" y="3594813"/>
                </a:lnTo>
                <a:lnTo>
                  <a:pt x="12239" y="3594813"/>
                </a:lnTo>
                <a:lnTo>
                  <a:pt x="10616" y="3594813"/>
                </a:lnTo>
                <a:lnTo>
                  <a:pt x="9056" y="3594506"/>
                </a:lnTo>
                <a:lnTo>
                  <a:pt x="7553" y="3593883"/>
                </a:lnTo>
                <a:lnTo>
                  <a:pt x="6056" y="3593261"/>
                </a:lnTo>
                <a:lnTo>
                  <a:pt x="4734" y="3592373"/>
                </a:lnTo>
                <a:lnTo>
                  <a:pt x="3587" y="3591226"/>
                </a:lnTo>
                <a:lnTo>
                  <a:pt x="2433" y="3590079"/>
                </a:lnTo>
                <a:lnTo>
                  <a:pt x="1552" y="3588757"/>
                </a:lnTo>
                <a:lnTo>
                  <a:pt x="930" y="3587260"/>
                </a:lnTo>
                <a:lnTo>
                  <a:pt x="307" y="3585757"/>
                </a:lnTo>
                <a:lnTo>
                  <a:pt x="0" y="3584197"/>
                </a:lnTo>
                <a:lnTo>
                  <a:pt x="0" y="3582574"/>
                </a:lnTo>
                <a:close/>
              </a:path>
            </a:pathLst>
          </a:custGeom>
          <a:ln w="6993">
            <a:solidFill>
              <a:srgbClr val="B3B3B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11957" y="2535253"/>
          <a:ext cx="7245350" cy="35921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750"/>
                <a:gridCol w="3580765"/>
              </a:tblGrid>
              <a:tr h="377190"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000" spc="-10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Challenge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100330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000" spc="-20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Possible </a:t>
                      </a:r>
                      <a:r>
                        <a:rPr dirty="0" sz="1000" spc="-10" b="1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Approach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100330">
                    <a:lnL w="9525">
                      <a:solidFill>
                        <a:srgbClr val="B3B3B3"/>
                      </a:solidFill>
                      <a:prstDash val="solid"/>
                    </a:lnL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0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Migration</a:t>
                      </a:r>
                      <a:r>
                        <a:rPr dirty="0" sz="1000" spc="7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from</a:t>
                      </a:r>
                      <a:r>
                        <a:rPr dirty="0" sz="1000" spc="7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older</a:t>
                      </a:r>
                      <a:r>
                        <a:rPr dirty="0" sz="1000" spc="7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SAP</a:t>
                      </a:r>
                      <a:r>
                        <a:rPr dirty="0" sz="1000" spc="7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systems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100330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0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Proper</a:t>
                      </a:r>
                      <a:r>
                        <a:rPr dirty="0" sz="1000" spc="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planning,</a:t>
                      </a:r>
                      <a:r>
                        <a:rPr dirty="0" sz="1000" spc="9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phased</a:t>
                      </a:r>
                      <a:r>
                        <a:rPr dirty="0" sz="1000" spc="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approach,</a:t>
                      </a:r>
                      <a:r>
                        <a:rPr dirty="0" sz="1000" spc="9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000" spc="9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thorough</a:t>
                      </a:r>
                      <a:r>
                        <a:rPr dirty="0" sz="1000" spc="9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testing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100330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0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Employee</a:t>
                      </a:r>
                      <a:r>
                        <a:rPr dirty="0" sz="1000" spc="7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training</a:t>
                      </a:r>
                      <a:r>
                        <a:rPr dirty="0" sz="1000" spc="7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000" spc="7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change</a:t>
                      </a:r>
                      <a:r>
                        <a:rPr dirty="0" sz="1000" spc="7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management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100330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00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Structured</a:t>
                      </a:r>
                      <a:r>
                        <a:rPr dirty="0" sz="1000" spc="3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training</a:t>
                      </a:r>
                      <a:r>
                        <a:rPr dirty="0" sz="1000" spc="3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programmes</a:t>
                      </a:r>
                      <a:r>
                        <a:rPr dirty="0" sz="1000" spc="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000" spc="3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ongoing</a:t>
                      </a:r>
                      <a:r>
                        <a:rPr dirty="0" sz="1000" spc="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support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100330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73405"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0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Data</a:t>
                      </a:r>
                      <a:r>
                        <a:rPr dirty="0" sz="100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quality</a:t>
                      </a:r>
                      <a:r>
                        <a:rPr dirty="0" sz="100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00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governance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9334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 marR="643255">
                        <a:lnSpc>
                          <a:spcPct val="133100"/>
                        </a:lnSpc>
                        <a:spcBef>
                          <a:spcPts val="335"/>
                        </a:spcBef>
                      </a:pPr>
                      <a:r>
                        <a:rPr dirty="0" sz="100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Data</a:t>
                      </a:r>
                      <a:r>
                        <a:rPr dirty="0" sz="100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cleansing,</a:t>
                      </a:r>
                      <a:r>
                        <a:rPr dirty="0" sz="100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standardisation,</a:t>
                      </a:r>
                      <a:r>
                        <a:rPr dirty="0" sz="100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000" spc="-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governance frameworks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4254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000" spc="-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AI</a:t>
                      </a:r>
                      <a:r>
                        <a:rPr dirty="0" sz="1000" spc="13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reliability</a:t>
                      </a:r>
                      <a:r>
                        <a:rPr dirty="0" sz="1000" spc="1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000" spc="1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incorrect</a:t>
                      </a:r>
                      <a:r>
                        <a:rPr dirty="0" sz="1000" spc="1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automated</a:t>
                      </a:r>
                      <a:r>
                        <a:rPr dirty="0" sz="1000" spc="1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decisions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100330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00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Human</a:t>
                      </a:r>
                      <a:r>
                        <a:rPr dirty="0" sz="100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review</a:t>
                      </a:r>
                      <a:r>
                        <a:rPr dirty="0" sz="1000" spc="2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processes and appropriate </a:t>
                      </a:r>
                      <a:r>
                        <a:rPr dirty="0" sz="100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controls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100330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000" spc="3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Cybersecurity</a:t>
                      </a:r>
                      <a:r>
                        <a:rPr dirty="0" sz="1000" spc="-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3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000" spc="-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3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data</a:t>
                      </a:r>
                      <a:r>
                        <a:rPr dirty="0" sz="1000" spc="-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privacy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100330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00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Strong</a:t>
                      </a:r>
                      <a:r>
                        <a:rPr dirty="0" sz="1000" spc="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security</a:t>
                      </a:r>
                      <a:r>
                        <a:rPr dirty="0" sz="1000" spc="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policies,</a:t>
                      </a:r>
                      <a:r>
                        <a:rPr dirty="0" sz="1000" spc="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access</a:t>
                      </a:r>
                      <a:r>
                        <a:rPr dirty="0" sz="1000" spc="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controls,</a:t>
                      </a:r>
                      <a:r>
                        <a:rPr dirty="0" sz="1000" spc="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000" spc="3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monitoring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100330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73405"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0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Skill</a:t>
                      </a:r>
                      <a:r>
                        <a:rPr dirty="0" sz="100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gaps</a:t>
                      </a:r>
                      <a:r>
                        <a:rPr dirty="0" sz="1000" spc="-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</a:t>
                      </a:r>
                      <a:r>
                        <a:rPr dirty="0" sz="1000" spc="-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new</a:t>
                      </a:r>
                      <a:r>
                        <a:rPr dirty="0" sz="1000" spc="-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technologies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9334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 marR="672465">
                        <a:lnSpc>
                          <a:spcPct val="133100"/>
                        </a:lnSpc>
                        <a:spcBef>
                          <a:spcPts val="335"/>
                        </a:spcBef>
                      </a:pPr>
                      <a:r>
                        <a:rPr dirty="0" sz="10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Continuous</a:t>
                      </a:r>
                      <a:r>
                        <a:rPr dirty="0" sz="1000" spc="6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learning,</a:t>
                      </a:r>
                      <a:r>
                        <a:rPr dirty="0" sz="100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upskilling,</a:t>
                      </a:r>
                      <a:r>
                        <a:rPr dirty="0" sz="100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000" spc="7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certification programmes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4254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73405"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000" spc="5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Cost</a:t>
                      </a:r>
                      <a:r>
                        <a:rPr dirty="0" sz="100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dirty="0" sz="100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transformation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100330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5730" marR="593725">
                        <a:lnSpc>
                          <a:spcPct val="128499"/>
                        </a:lnSpc>
                        <a:spcBef>
                          <a:spcPts val="445"/>
                        </a:spcBef>
                      </a:pPr>
                      <a:r>
                        <a:rPr dirty="0" sz="100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Clear</a:t>
                      </a:r>
                      <a:r>
                        <a:rPr dirty="0" sz="100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business</a:t>
                      </a:r>
                      <a:r>
                        <a:rPr dirty="0" sz="100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case,</a:t>
                      </a:r>
                      <a:r>
                        <a:rPr dirty="0" sz="100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phased</a:t>
                      </a:r>
                      <a:r>
                        <a:rPr dirty="0" sz="1000" spc="5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investment,</a:t>
                      </a:r>
                      <a:r>
                        <a:rPr dirty="0" sz="100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1000" spc="4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ROI </a:t>
                      </a:r>
                      <a:r>
                        <a:rPr dirty="0" sz="1000" spc="-10">
                          <a:solidFill>
                            <a:srgbClr val="383838"/>
                          </a:solidFill>
                          <a:latin typeface="Tahoma"/>
                          <a:cs typeface="Tahoma"/>
                        </a:rPr>
                        <a:t>tracking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5651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95760" y="6304101"/>
            <a:ext cx="4730750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>
                <a:solidFill>
                  <a:srgbClr val="020202"/>
                </a:solidFill>
                <a:latin typeface="Georgia"/>
                <a:cs typeface="Georgia"/>
              </a:rPr>
              <a:t>Future</a:t>
            </a:r>
            <a:r>
              <a:rPr dirty="0" sz="2050" spc="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050">
                <a:solidFill>
                  <a:srgbClr val="020202"/>
                </a:solidFill>
                <a:latin typeface="Georgia"/>
                <a:cs typeface="Georgia"/>
              </a:rPr>
              <a:t>Skills</a:t>
            </a:r>
            <a:r>
              <a:rPr dirty="0" sz="2050" spc="-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050">
                <a:solidFill>
                  <a:srgbClr val="020202"/>
                </a:solidFill>
                <a:latin typeface="Georgia"/>
                <a:cs typeface="Georgia"/>
              </a:rPr>
              <a:t>for</a:t>
            </a:r>
            <a:r>
              <a:rPr dirty="0" sz="2050" spc="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050">
                <a:solidFill>
                  <a:srgbClr val="020202"/>
                </a:solidFill>
                <a:latin typeface="Georgia"/>
                <a:cs typeface="Georgia"/>
              </a:rPr>
              <a:t>SAP</a:t>
            </a:r>
            <a:r>
              <a:rPr dirty="0" sz="2050" spc="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050" spc="-20">
                <a:solidFill>
                  <a:srgbClr val="020202"/>
                </a:solidFill>
                <a:latin typeface="Georgia"/>
                <a:cs typeface="Georgia"/>
              </a:rPr>
              <a:t>FICO</a:t>
            </a:r>
            <a:r>
              <a:rPr dirty="0" sz="205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050" spc="-10">
                <a:solidFill>
                  <a:srgbClr val="020202"/>
                </a:solidFill>
                <a:latin typeface="Georgia"/>
                <a:cs typeface="Georgia"/>
              </a:rPr>
              <a:t>Professionals</a:t>
            </a:r>
            <a:endParaRPr sz="2050">
              <a:latin typeface="Georgia"/>
              <a:cs typeface="Georg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530143" y="7132694"/>
            <a:ext cx="3231515" cy="2850515"/>
            <a:chOff x="2530143" y="7132694"/>
            <a:chExt cx="3231515" cy="2850515"/>
          </a:xfrm>
        </p:grpSpPr>
        <p:sp>
          <p:nvSpPr>
            <p:cNvPr id="8" name="object 8"/>
            <p:cNvSpPr/>
            <p:nvPr/>
          </p:nvSpPr>
          <p:spPr>
            <a:xfrm>
              <a:off x="2777058" y="7132700"/>
              <a:ext cx="2984500" cy="2849245"/>
            </a:xfrm>
            <a:custGeom>
              <a:avLst/>
              <a:gdLst/>
              <a:ahLst/>
              <a:cxnLst/>
              <a:rect l="l" t="t" r="r" b="b"/>
              <a:pathLst>
                <a:path w="2984500" h="2849245">
                  <a:moveTo>
                    <a:pt x="2927743" y="409181"/>
                  </a:moveTo>
                  <a:lnTo>
                    <a:pt x="2423299" y="409181"/>
                  </a:lnTo>
                  <a:lnTo>
                    <a:pt x="2415654" y="401535"/>
                  </a:lnTo>
                  <a:lnTo>
                    <a:pt x="2383117" y="370967"/>
                  </a:lnTo>
                  <a:lnTo>
                    <a:pt x="2349639" y="341414"/>
                  </a:lnTo>
                  <a:lnTo>
                    <a:pt x="2315235" y="312915"/>
                  </a:lnTo>
                  <a:lnTo>
                    <a:pt x="2279942" y="285483"/>
                  </a:lnTo>
                  <a:lnTo>
                    <a:pt x="2243785" y="259156"/>
                  </a:lnTo>
                  <a:lnTo>
                    <a:pt x="2206777" y="233934"/>
                  </a:lnTo>
                  <a:lnTo>
                    <a:pt x="2168944" y="209867"/>
                  </a:lnTo>
                  <a:lnTo>
                    <a:pt x="2130310" y="186969"/>
                  </a:lnTo>
                  <a:lnTo>
                    <a:pt x="2090915" y="165265"/>
                  </a:lnTo>
                  <a:lnTo>
                    <a:pt x="2050770" y="144780"/>
                  </a:lnTo>
                  <a:lnTo>
                    <a:pt x="2009902" y="125539"/>
                  </a:lnTo>
                  <a:lnTo>
                    <a:pt x="1968347" y="107556"/>
                  </a:lnTo>
                  <a:lnTo>
                    <a:pt x="1926107" y="90881"/>
                  </a:lnTo>
                  <a:lnTo>
                    <a:pt x="1883232" y="75526"/>
                  </a:lnTo>
                  <a:lnTo>
                    <a:pt x="1839734" y="61518"/>
                  </a:lnTo>
                  <a:lnTo>
                    <a:pt x="1795627" y="48869"/>
                  </a:lnTo>
                  <a:lnTo>
                    <a:pt x="1750961" y="37617"/>
                  </a:lnTo>
                  <a:lnTo>
                    <a:pt x="1705749" y="27787"/>
                  </a:lnTo>
                  <a:lnTo>
                    <a:pt x="1660004" y="19405"/>
                  </a:lnTo>
                  <a:lnTo>
                    <a:pt x="1613776" y="12484"/>
                  </a:lnTo>
                  <a:lnTo>
                    <a:pt x="1567065" y="7061"/>
                  </a:lnTo>
                  <a:lnTo>
                    <a:pt x="1519910" y="3149"/>
                  </a:lnTo>
                  <a:lnTo>
                    <a:pt x="1472336" y="787"/>
                  </a:lnTo>
                  <a:lnTo>
                    <a:pt x="1424368" y="0"/>
                  </a:lnTo>
                  <a:lnTo>
                    <a:pt x="1376400" y="787"/>
                  </a:lnTo>
                  <a:lnTo>
                    <a:pt x="1328813" y="3149"/>
                  </a:lnTo>
                  <a:lnTo>
                    <a:pt x="1281671" y="7061"/>
                  </a:lnTo>
                  <a:lnTo>
                    <a:pt x="1234960" y="12484"/>
                  </a:lnTo>
                  <a:lnTo>
                    <a:pt x="1188720" y="19405"/>
                  </a:lnTo>
                  <a:lnTo>
                    <a:pt x="1142987" y="27787"/>
                  </a:lnTo>
                  <a:lnTo>
                    <a:pt x="1097775" y="37617"/>
                  </a:lnTo>
                  <a:lnTo>
                    <a:pt x="1053109" y="48869"/>
                  </a:lnTo>
                  <a:lnTo>
                    <a:pt x="1009002" y="61518"/>
                  </a:lnTo>
                  <a:lnTo>
                    <a:pt x="965504" y="75526"/>
                  </a:lnTo>
                  <a:lnTo>
                    <a:pt x="922629" y="90881"/>
                  </a:lnTo>
                  <a:lnTo>
                    <a:pt x="880389" y="107556"/>
                  </a:lnTo>
                  <a:lnTo>
                    <a:pt x="838835" y="125539"/>
                  </a:lnTo>
                  <a:lnTo>
                    <a:pt x="797966" y="144780"/>
                  </a:lnTo>
                  <a:lnTo>
                    <a:pt x="757821" y="165265"/>
                  </a:lnTo>
                  <a:lnTo>
                    <a:pt x="718426" y="186969"/>
                  </a:lnTo>
                  <a:lnTo>
                    <a:pt x="679792" y="209867"/>
                  </a:lnTo>
                  <a:lnTo>
                    <a:pt x="641959" y="233934"/>
                  </a:lnTo>
                  <a:lnTo>
                    <a:pt x="604951" y="259156"/>
                  </a:lnTo>
                  <a:lnTo>
                    <a:pt x="568794" y="285483"/>
                  </a:lnTo>
                  <a:lnTo>
                    <a:pt x="533501" y="312915"/>
                  </a:lnTo>
                  <a:lnTo>
                    <a:pt x="499097" y="341414"/>
                  </a:lnTo>
                  <a:lnTo>
                    <a:pt x="465620" y="370967"/>
                  </a:lnTo>
                  <a:lnTo>
                    <a:pt x="433095" y="401535"/>
                  </a:lnTo>
                  <a:lnTo>
                    <a:pt x="401523" y="433095"/>
                  </a:lnTo>
                  <a:lnTo>
                    <a:pt x="370967" y="465620"/>
                  </a:lnTo>
                  <a:lnTo>
                    <a:pt x="341414" y="499097"/>
                  </a:lnTo>
                  <a:lnTo>
                    <a:pt x="312915" y="533501"/>
                  </a:lnTo>
                  <a:lnTo>
                    <a:pt x="285483" y="568794"/>
                  </a:lnTo>
                  <a:lnTo>
                    <a:pt x="259156" y="604951"/>
                  </a:lnTo>
                  <a:lnTo>
                    <a:pt x="233934" y="641972"/>
                  </a:lnTo>
                  <a:lnTo>
                    <a:pt x="209867" y="679805"/>
                  </a:lnTo>
                  <a:lnTo>
                    <a:pt x="186969" y="718426"/>
                  </a:lnTo>
                  <a:lnTo>
                    <a:pt x="165265" y="757821"/>
                  </a:lnTo>
                  <a:lnTo>
                    <a:pt x="144767" y="797966"/>
                  </a:lnTo>
                  <a:lnTo>
                    <a:pt x="125526" y="838835"/>
                  </a:lnTo>
                  <a:lnTo>
                    <a:pt x="107556" y="880389"/>
                  </a:lnTo>
                  <a:lnTo>
                    <a:pt x="90881" y="922629"/>
                  </a:lnTo>
                  <a:lnTo>
                    <a:pt x="75526" y="965504"/>
                  </a:lnTo>
                  <a:lnTo>
                    <a:pt x="61506" y="1009015"/>
                  </a:lnTo>
                  <a:lnTo>
                    <a:pt x="48869" y="1053109"/>
                  </a:lnTo>
                  <a:lnTo>
                    <a:pt x="37617" y="1097775"/>
                  </a:lnTo>
                  <a:lnTo>
                    <a:pt x="27787" y="1142987"/>
                  </a:lnTo>
                  <a:lnTo>
                    <a:pt x="19392" y="1188732"/>
                  </a:lnTo>
                  <a:lnTo>
                    <a:pt x="12484" y="1234960"/>
                  </a:lnTo>
                  <a:lnTo>
                    <a:pt x="7061" y="1281671"/>
                  </a:lnTo>
                  <a:lnTo>
                    <a:pt x="3149" y="1328826"/>
                  </a:lnTo>
                  <a:lnTo>
                    <a:pt x="787" y="1376400"/>
                  </a:lnTo>
                  <a:lnTo>
                    <a:pt x="0" y="1424368"/>
                  </a:lnTo>
                  <a:lnTo>
                    <a:pt x="812" y="1472946"/>
                  </a:lnTo>
                  <a:lnTo>
                    <a:pt x="3225" y="1521104"/>
                  </a:lnTo>
                  <a:lnTo>
                    <a:pt x="7239" y="1568843"/>
                  </a:lnTo>
                  <a:lnTo>
                    <a:pt x="12788" y="1616113"/>
                  </a:lnTo>
                  <a:lnTo>
                    <a:pt x="19888" y="1662899"/>
                  </a:lnTo>
                  <a:lnTo>
                    <a:pt x="28473" y="1709178"/>
                  </a:lnTo>
                  <a:lnTo>
                    <a:pt x="38544" y="1754911"/>
                  </a:lnTo>
                  <a:lnTo>
                    <a:pt x="50076" y="1800098"/>
                  </a:lnTo>
                  <a:lnTo>
                    <a:pt x="63030" y="1844687"/>
                  </a:lnTo>
                  <a:lnTo>
                    <a:pt x="77381" y="1888655"/>
                  </a:lnTo>
                  <a:lnTo>
                    <a:pt x="93103" y="1931987"/>
                  </a:lnTo>
                  <a:lnTo>
                    <a:pt x="110185" y="1974659"/>
                  </a:lnTo>
                  <a:lnTo>
                    <a:pt x="128587" y="2016633"/>
                  </a:lnTo>
                  <a:lnTo>
                    <a:pt x="148285" y="2057882"/>
                  </a:lnTo>
                  <a:lnTo>
                    <a:pt x="169252" y="2098395"/>
                  </a:lnTo>
                  <a:lnTo>
                    <a:pt x="191477" y="2138146"/>
                  </a:lnTo>
                  <a:lnTo>
                    <a:pt x="214909" y="2177097"/>
                  </a:lnTo>
                  <a:lnTo>
                    <a:pt x="239534" y="2215223"/>
                  </a:lnTo>
                  <a:lnTo>
                    <a:pt x="265341" y="2252497"/>
                  </a:lnTo>
                  <a:lnTo>
                    <a:pt x="292277" y="2288908"/>
                  </a:lnTo>
                  <a:lnTo>
                    <a:pt x="320332" y="2324404"/>
                  </a:lnTo>
                  <a:lnTo>
                    <a:pt x="349478" y="2358987"/>
                  </a:lnTo>
                  <a:lnTo>
                    <a:pt x="379691" y="2392616"/>
                  </a:lnTo>
                  <a:lnTo>
                    <a:pt x="410946" y="2425268"/>
                  </a:lnTo>
                  <a:lnTo>
                    <a:pt x="443204" y="2456916"/>
                  </a:lnTo>
                  <a:lnTo>
                    <a:pt x="476453" y="2487549"/>
                  </a:lnTo>
                  <a:lnTo>
                    <a:pt x="510667" y="2517114"/>
                  </a:lnTo>
                  <a:lnTo>
                    <a:pt x="545807" y="2545600"/>
                  </a:lnTo>
                  <a:lnTo>
                    <a:pt x="581863" y="2572982"/>
                  </a:lnTo>
                  <a:lnTo>
                    <a:pt x="618807" y="2599232"/>
                  </a:lnTo>
                  <a:lnTo>
                    <a:pt x="656602" y="2624315"/>
                  </a:lnTo>
                  <a:lnTo>
                    <a:pt x="695236" y="2648229"/>
                  </a:lnTo>
                  <a:lnTo>
                    <a:pt x="734669" y="2670924"/>
                  </a:lnTo>
                  <a:lnTo>
                    <a:pt x="774877" y="2692387"/>
                  </a:lnTo>
                  <a:lnTo>
                    <a:pt x="815848" y="2712580"/>
                  </a:lnTo>
                  <a:lnTo>
                    <a:pt x="857542" y="2731503"/>
                  </a:lnTo>
                  <a:lnTo>
                    <a:pt x="899947" y="2749092"/>
                  </a:lnTo>
                  <a:lnTo>
                    <a:pt x="943025" y="2765361"/>
                  </a:lnTo>
                  <a:lnTo>
                    <a:pt x="986751" y="2780258"/>
                  </a:lnTo>
                  <a:lnTo>
                    <a:pt x="1031100" y="2793758"/>
                  </a:lnTo>
                  <a:lnTo>
                    <a:pt x="1076045" y="2805849"/>
                  </a:lnTo>
                  <a:lnTo>
                    <a:pt x="1121562" y="2816491"/>
                  </a:lnTo>
                  <a:lnTo>
                    <a:pt x="1167638" y="2825673"/>
                  </a:lnTo>
                  <a:lnTo>
                    <a:pt x="1214221" y="2833344"/>
                  </a:lnTo>
                  <a:lnTo>
                    <a:pt x="1261313" y="2839516"/>
                  </a:lnTo>
                  <a:lnTo>
                    <a:pt x="1308874" y="2844127"/>
                  </a:lnTo>
                  <a:lnTo>
                    <a:pt x="1356868" y="2847175"/>
                  </a:lnTo>
                  <a:lnTo>
                    <a:pt x="1405280" y="2848622"/>
                  </a:lnTo>
                  <a:lnTo>
                    <a:pt x="1356715" y="2846971"/>
                  </a:lnTo>
                  <a:lnTo>
                    <a:pt x="1308671" y="2843301"/>
                  </a:lnTo>
                  <a:lnTo>
                    <a:pt x="1261224" y="2837650"/>
                  </a:lnTo>
                  <a:lnTo>
                    <a:pt x="1214386" y="2830068"/>
                  </a:lnTo>
                  <a:lnTo>
                    <a:pt x="1168209" y="2820581"/>
                  </a:lnTo>
                  <a:lnTo>
                    <a:pt x="1122743" y="2809252"/>
                  </a:lnTo>
                  <a:lnTo>
                    <a:pt x="1078026" y="2796108"/>
                  </a:lnTo>
                  <a:lnTo>
                    <a:pt x="1034084" y="2781198"/>
                  </a:lnTo>
                  <a:lnTo>
                    <a:pt x="990981" y="2764561"/>
                  </a:lnTo>
                  <a:lnTo>
                    <a:pt x="948740" y="2746222"/>
                  </a:lnTo>
                  <a:lnTo>
                    <a:pt x="907415" y="2726258"/>
                  </a:lnTo>
                  <a:lnTo>
                    <a:pt x="867054" y="2704668"/>
                  </a:lnTo>
                  <a:lnTo>
                    <a:pt x="827671" y="2681528"/>
                  </a:lnTo>
                  <a:lnTo>
                    <a:pt x="789330" y="2656865"/>
                  </a:lnTo>
                  <a:lnTo>
                    <a:pt x="752068" y="2630728"/>
                  </a:lnTo>
                  <a:lnTo>
                    <a:pt x="715924" y="2603144"/>
                  </a:lnTo>
                  <a:lnTo>
                    <a:pt x="680948" y="2574163"/>
                  </a:lnTo>
                  <a:lnTo>
                    <a:pt x="647166" y="2543835"/>
                  </a:lnTo>
                  <a:lnTo>
                    <a:pt x="614629" y="2512187"/>
                  </a:lnTo>
                  <a:lnTo>
                    <a:pt x="583374" y="2479268"/>
                  </a:lnTo>
                  <a:lnTo>
                    <a:pt x="553440" y="2445118"/>
                  </a:lnTo>
                  <a:lnTo>
                    <a:pt x="524891" y="2409774"/>
                  </a:lnTo>
                  <a:lnTo>
                    <a:pt x="497738" y="2373287"/>
                  </a:lnTo>
                  <a:lnTo>
                    <a:pt x="472033" y="2335695"/>
                  </a:lnTo>
                  <a:lnTo>
                    <a:pt x="447827" y="2297036"/>
                  </a:lnTo>
                  <a:lnTo>
                    <a:pt x="425157" y="2257348"/>
                  </a:lnTo>
                  <a:lnTo>
                    <a:pt x="404063" y="2216683"/>
                  </a:lnTo>
                  <a:lnTo>
                    <a:pt x="384581" y="2175078"/>
                  </a:lnTo>
                  <a:lnTo>
                    <a:pt x="366763" y="2132571"/>
                  </a:lnTo>
                  <a:lnTo>
                    <a:pt x="350647" y="2089213"/>
                  </a:lnTo>
                  <a:lnTo>
                    <a:pt x="336257" y="2045030"/>
                  </a:lnTo>
                  <a:lnTo>
                    <a:pt x="323659" y="2000084"/>
                  </a:lnTo>
                  <a:lnTo>
                    <a:pt x="312889" y="1954390"/>
                  </a:lnTo>
                  <a:lnTo>
                    <a:pt x="303987" y="1908009"/>
                  </a:lnTo>
                  <a:lnTo>
                    <a:pt x="296989" y="1860981"/>
                  </a:lnTo>
                  <a:lnTo>
                    <a:pt x="291934" y="1813356"/>
                  </a:lnTo>
                  <a:lnTo>
                    <a:pt x="288874" y="1765147"/>
                  </a:lnTo>
                  <a:lnTo>
                    <a:pt x="287845" y="1716417"/>
                  </a:lnTo>
                  <a:lnTo>
                    <a:pt x="288836" y="1668551"/>
                  </a:lnTo>
                  <a:lnTo>
                    <a:pt x="291795" y="1621193"/>
                  </a:lnTo>
                  <a:lnTo>
                    <a:pt x="296659" y="1574380"/>
                  </a:lnTo>
                  <a:lnTo>
                    <a:pt x="303415" y="1528152"/>
                  </a:lnTo>
                  <a:lnTo>
                    <a:pt x="312026" y="1482559"/>
                  </a:lnTo>
                  <a:lnTo>
                    <a:pt x="322427" y="1437614"/>
                  </a:lnTo>
                  <a:lnTo>
                    <a:pt x="334594" y="1393380"/>
                  </a:lnTo>
                  <a:lnTo>
                    <a:pt x="348475" y="1349883"/>
                  </a:lnTo>
                  <a:lnTo>
                    <a:pt x="364058" y="1307172"/>
                  </a:lnTo>
                  <a:lnTo>
                    <a:pt x="381279" y="1265275"/>
                  </a:lnTo>
                  <a:lnTo>
                    <a:pt x="400113" y="1224254"/>
                  </a:lnTo>
                  <a:lnTo>
                    <a:pt x="420509" y="1184122"/>
                  </a:lnTo>
                  <a:lnTo>
                    <a:pt x="442429" y="1144917"/>
                  </a:lnTo>
                  <a:lnTo>
                    <a:pt x="465848" y="1106703"/>
                  </a:lnTo>
                  <a:lnTo>
                    <a:pt x="490715" y="1069505"/>
                  </a:lnTo>
                  <a:lnTo>
                    <a:pt x="516991" y="1033373"/>
                  </a:lnTo>
                  <a:lnTo>
                    <a:pt x="544626" y="998321"/>
                  </a:lnTo>
                  <a:lnTo>
                    <a:pt x="573608" y="964412"/>
                  </a:lnTo>
                  <a:lnTo>
                    <a:pt x="603872" y="931672"/>
                  </a:lnTo>
                  <a:lnTo>
                    <a:pt x="635393" y="900150"/>
                  </a:lnTo>
                  <a:lnTo>
                    <a:pt x="668134" y="869886"/>
                  </a:lnTo>
                  <a:lnTo>
                    <a:pt x="702043" y="840905"/>
                  </a:lnTo>
                  <a:lnTo>
                    <a:pt x="737095" y="813257"/>
                  </a:lnTo>
                  <a:lnTo>
                    <a:pt x="773239" y="786993"/>
                  </a:lnTo>
                  <a:lnTo>
                    <a:pt x="810425" y="762127"/>
                  </a:lnTo>
                  <a:lnTo>
                    <a:pt x="848652" y="738708"/>
                  </a:lnTo>
                  <a:lnTo>
                    <a:pt x="887844" y="716788"/>
                  </a:lnTo>
                  <a:lnTo>
                    <a:pt x="927976" y="696391"/>
                  </a:lnTo>
                  <a:lnTo>
                    <a:pt x="969010" y="677557"/>
                  </a:lnTo>
                  <a:lnTo>
                    <a:pt x="1010894" y="660336"/>
                  </a:lnTo>
                  <a:lnTo>
                    <a:pt x="1053604" y="644753"/>
                  </a:lnTo>
                  <a:lnTo>
                    <a:pt x="1097102" y="630872"/>
                  </a:lnTo>
                  <a:lnTo>
                    <a:pt x="1141336" y="618705"/>
                  </a:lnTo>
                  <a:lnTo>
                    <a:pt x="1186281" y="608291"/>
                  </a:lnTo>
                  <a:lnTo>
                    <a:pt x="1231874" y="599694"/>
                  </a:lnTo>
                  <a:lnTo>
                    <a:pt x="1278102" y="592937"/>
                  </a:lnTo>
                  <a:lnTo>
                    <a:pt x="1324914" y="588060"/>
                  </a:lnTo>
                  <a:lnTo>
                    <a:pt x="1372273" y="585114"/>
                  </a:lnTo>
                  <a:lnTo>
                    <a:pt x="1420139" y="584123"/>
                  </a:lnTo>
                  <a:lnTo>
                    <a:pt x="1468005" y="585114"/>
                  </a:lnTo>
                  <a:lnTo>
                    <a:pt x="1515364" y="588060"/>
                  </a:lnTo>
                  <a:lnTo>
                    <a:pt x="1562176" y="592937"/>
                  </a:lnTo>
                  <a:lnTo>
                    <a:pt x="1608404" y="599694"/>
                  </a:lnTo>
                  <a:lnTo>
                    <a:pt x="1653997" y="608291"/>
                  </a:lnTo>
                  <a:lnTo>
                    <a:pt x="1698942" y="618705"/>
                  </a:lnTo>
                  <a:lnTo>
                    <a:pt x="1743176" y="630872"/>
                  </a:lnTo>
                  <a:lnTo>
                    <a:pt x="1786674" y="644753"/>
                  </a:lnTo>
                  <a:lnTo>
                    <a:pt x="1829384" y="660336"/>
                  </a:lnTo>
                  <a:lnTo>
                    <a:pt x="1871268" y="677557"/>
                  </a:lnTo>
                  <a:lnTo>
                    <a:pt x="1912302" y="696391"/>
                  </a:lnTo>
                  <a:lnTo>
                    <a:pt x="1952434" y="716788"/>
                  </a:lnTo>
                  <a:lnTo>
                    <a:pt x="1991626" y="738708"/>
                  </a:lnTo>
                  <a:lnTo>
                    <a:pt x="2029841" y="762127"/>
                  </a:lnTo>
                  <a:lnTo>
                    <a:pt x="2067039" y="786993"/>
                  </a:lnTo>
                  <a:lnTo>
                    <a:pt x="2103183" y="813257"/>
                  </a:lnTo>
                  <a:lnTo>
                    <a:pt x="2138235" y="840905"/>
                  </a:lnTo>
                  <a:lnTo>
                    <a:pt x="2172144" y="869886"/>
                  </a:lnTo>
                  <a:lnTo>
                    <a:pt x="2204885" y="900150"/>
                  </a:lnTo>
                  <a:lnTo>
                    <a:pt x="2236406" y="931672"/>
                  </a:lnTo>
                  <a:lnTo>
                    <a:pt x="2266670" y="964412"/>
                  </a:lnTo>
                  <a:lnTo>
                    <a:pt x="2295652" y="998321"/>
                  </a:lnTo>
                  <a:lnTo>
                    <a:pt x="2323300" y="1033373"/>
                  </a:lnTo>
                  <a:lnTo>
                    <a:pt x="2349563" y="1069505"/>
                  </a:lnTo>
                  <a:lnTo>
                    <a:pt x="2374430" y="1106703"/>
                  </a:lnTo>
                  <a:lnTo>
                    <a:pt x="2397849" y="1144917"/>
                  </a:lnTo>
                  <a:lnTo>
                    <a:pt x="2419769" y="1184122"/>
                  </a:lnTo>
                  <a:lnTo>
                    <a:pt x="2440165" y="1224254"/>
                  </a:lnTo>
                  <a:lnTo>
                    <a:pt x="2458999" y="1265275"/>
                  </a:lnTo>
                  <a:lnTo>
                    <a:pt x="2476220" y="1307172"/>
                  </a:lnTo>
                  <a:lnTo>
                    <a:pt x="2491803" y="1349883"/>
                  </a:lnTo>
                  <a:lnTo>
                    <a:pt x="2505697" y="1393380"/>
                  </a:lnTo>
                  <a:lnTo>
                    <a:pt x="2517864" y="1437614"/>
                  </a:lnTo>
                  <a:lnTo>
                    <a:pt x="2528265" y="1482559"/>
                  </a:lnTo>
                  <a:lnTo>
                    <a:pt x="2536863" y="1528152"/>
                  </a:lnTo>
                  <a:lnTo>
                    <a:pt x="2543619" y="1574380"/>
                  </a:lnTo>
                  <a:lnTo>
                    <a:pt x="2548496" y="1621193"/>
                  </a:lnTo>
                  <a:lnTo>
                    <a:pt x="2551442" y="1668551"/>
                  </a:lnTo>
                  <a:lnTo>
                    <a:pt x="2552446" y="1716417"/>
                  </a:lnTo>
                  <a:lnTo>
                    <a:pt x="2551442" y="1764284"/>
                  </a:lnTo>
                  <a:lnTo>
                    <a:pt x="2548496" y="1811642"/>
                  </a:lnTo>
                  <a:lnTo>
                    <a:pt x="2543619" y="1858454"/>
                  </a:lnTo>
                  <a:lnTo>
                    <a:pt x="2536863" y="1904682"/>
                  </a:lnTo>
                  <a:lnTo>
                    <a:pt x="2528265" y="1950275"/>
                  </a:lnTo>
                  <a:lnTo>
                    <a:pt x="2517864" y="1995220"/>
                  </a:lnTo>
                  <a:lnTo>
                    <a:pt x="2505697" y="2039454"/>
                  </a:lnTo>
                  <a:lnTo>
                    <a:pt x="2491803" y="2082952"/>
                  </a:lnTo>
                  <a:lnTo>
                    <a:pt x="2476220" y="2125662"/>
                  </a:lnTo>
                  <a:lnTo>
                    <a:pt x="2458999" y="2167559"/>
                  </a:lnTo>
                  <a:lnTo>
                    <a:pt x="2440165" y="2208580"/>
                  </a:lnTo>
                  <a:lnTo>
                    <a:pt x="2419769" y="2248712"/>
                  </a:lnTo>
                  <a:lnTo>
                    <a:pt x="2397849" y="2287917"/>
                  </a:lnTo>
                  <a:lnTo>
                    <a:pt x="2374430" y="2326132"/>
                  </a:lnTo>
                  <a:lnTo>
                    <a:pt x="2349563" y="2363330"/>
                  </a:lnTo>
                  <a:lnTo>
                    <a:pt x="2323300" y="2399461"/>
                  </a:lnTo>
                  <a:lnTo>
                    <a:pt x="2295652" y="2434513"/>
                  </a:lnTo>
                  <a:lnTo>
                    <a:pt x="2266670" y="2468422"/>
                  </a:lnTo>
                  <a:lnTo>
                    <a:pt x="2236406" y="2501163"/>
                  </a:lnTo>
                  <a:lnTo>
                    <a:pt x="2204885" y="2532684"/>
                  </a:lnTo>
                  <a:lnTo>
                    <a:pt x="2172144" y="2562949"/>
                  </a:lnTo>
                  <a:lnTo>
                    <a:pt x="2138235" y="2591930"/>
                  </a:lnTo>
                  <a:lnTo>
                    <a:pt x="2103183" y="2619578"/>
                  </a:lnTo>
                  <a:lnTo>
                    <a:pt x="2067039" y="2645841"/>
                  </a:lnTo>
                  <a:lnTo>
                    <a:pt x="2029841" y="2670708"/>
                  </a:lnTo>
                  <a:lnTo>
                    <a:pt x="1991626" y="2694127"/>
                  </a:lnTo>
                  <a:lnTo>
                    <a:pt x="1952434" y="2716047"/>
                  </a:lnTo>
                  <a:lnTo>
                    <a:pt x="1912302" y="2736443"/>
                  </a:lnTo>
                  <a:lnTo>
                    <a:pt x="1871268" y="2755277"/>
                  </a:lnTo>
                  <a:lnTo>
                    <a:pt x="1829384" y="2772499"/>
                  </a:lnTo>
                  <a:lnTo>
                    <a:pt x="1786674" y="2788081"/>
                  </a:lnTo>
                  <a:lnTo>
                    <a:pt x="1743176" y="2801963"/>
                  </a:lnTo>
                  <a:lnTo>
                    <a:pt x="1698942" y="2814129"/>
                  </a:lnTo>
                  <a:lnTo>
                    <a:pt x="1653997" y="2824543"/>
                  </a:lnTo>
                  <a:lnTo>
                    <a:pt x="1608404" y="2833141"/>
                  </a:lnTo>
                  <a:lnTo>
                    <a:pt x="1562176" y="2839897"/>
                  </a:lnTo>
                  <a:lnTo>
                    <a:pt x="1515364" y="2844774"/>
                  </a:lnTo>
                  <a:lnTo>
                    <a:pt x="1468005" y="2847721"/>
                  </a:lnTo>
                  <a:lnTo>
                    <a:pt x="1420139" y="2848711"/>
                  </a:lnTo>
                  <a:lnTo>
                    <a:pt x="1405559" y="2848622"/>
                  </a:lnTo>
                  <a:lnTo>
                    <a:pt x="1424368" y="2848749"/>
                  </a:lnTo>
                  <a:lnTo>
                    <a:pt x="1472336" y="2847949"/>
                  </a:lnTo>
                  <a:lnTo>
                    <a:pt x="1519910" y="2845587"/>
                  </a:lnTo>
                  <a:lnTo>
                    <a:pt x="1567065" y="2841688"/>
                  </a:lnTo>
                  <a:lnTo>
                    <a:pt x="1613776" y="2836265"/>
                  </a:lnTo>
                  <a:lnTo>
                    <a:pt x="1660004" y="2829344"/>
                  </a:lnTo>
                  <a:lnTo>
                    <a:pt x="1705749" y="2820962"/>
                  </a:lnTo>
                  <a:lnTo>
                    <a:pt x="1750961" y="2811132"/>
                  </a:lnTo>
                  <a:lnTo>
                    <a:pt x="1795627" y="2799880"/>
                  </a:lnTo>
                  <a:lnTo>
                    <a:pt x="1839734" y="2787231"/>
                  </a:lnTo>
                  <a:lnTo>
                    <a:pt x="1883232" y="2773222"/>
                  </a:lnTo>
                  <a:lnTo>
                    <a:pt x="1926107" y="2757855"/>
                  </a:lnTo>
                  <a:lnTo>
                    <a:pt x="1968347" y="2741180"/>
                  </a:lnTo>
                  <a:lnTo>
                    <a:pt x="2009902" y="2723210"/>
                  </a:lnTo>
                  <a:lnTo>
                    <a:pt x="2050770" y="2703969"/>
                  </a:lnTo>
                  <a:lnTo>
                    <a:pt x="2090915" y="2683484"/>
                  </a:lnTo>
                  <a:lnTo>
                    <a:pt x="2130310" y="2661780"/>
                  </a:lnTo>
                  <a:lnTo>
                    <a:pt x="2168944" y="2638882"/>
                  </a:lnTo>
                  <a:lnTo>
                    <a:pt x="2206777" y="2614803"/>
                  </a:lnTo>
                  <a:lnTo>
                    <a:pt x="2243785" y="2589593"/>
                  </a:lnTo>
                  <a:lnTo>
                    <a:pt x="2279942" y="2563253"/>
                  </a:lnTo>
                  <a:lnTo>
                    <a:pt x="2315235" y="2535821"/>
                  </a:lnTo>
                  <a:lnTo>
                    <a:pt x="2349639" y="2507323"/>
                  </a:lnTo>
                  <a:lnTo>
                    <a:pt x="2383117" y="2477782"/>
                  </a:lnTo>
                  <a:lnTo>
                    <a:pt x="2415654" y="2447213"/>
                  </a:lnTo>
                  <a:lnTo>
                    <a:pt x="2447213" y="2415654"/>
                  </a:lnTo>
                  <a:lnTo>
                    <a:pt x="2477782" y="2383117"/>
                  </a:lnTo>
                  <a:lnTo>
                    <a:pt x="2507323" y="2349639"/>
                  </a:lnTo>
                  <a:lnTo>
                    <a:pt x="2535821" y="2315248"/>
                  </a:lnTo>
                  <a:lnTo>
                    <a:pt x="2563253" y="2279954"/>
                  </a:lnTo>
                  <a:lnTo>
                    <a:pt x="2589593" y="2243785"/>
                  </a:lnTo>
                  <a:lnTo>
                    <a:pt x="2614803" y="2206777"/>
                  </a:lnTo>
                  <a:lnTo>
                    <a:pt x="2638869" y="2168944"/>
                  </a:lnTo>
                  <a:lnTo>
                    <a:pt x="2661780" y="2130310"/>
                  </a:lnTo>
                  <a:lnTo>
                    <a:pt x="2683484" y="2090915"/>
                  </a:lnTo>
                  <a:lnTo>
                    <a:pt x="2703969" y="2050770"/>
                  </a:lnTo>
                  <a:lnTo>
                    <a:pt x="2723210" y="2009914"/>
                  </a:lnTo>
                  <a:lnTo>
                    <a:pt x="2741180" y="1968347"/>
                  </a:lnTo>
                  <a:lnTo>
                    <a:pt x="2757855" y="1926107"/>
                  </a:lnTo>
                  <a:lnTo>
                    <a:pt x="2773210" y="1883232"/>
                  </a:lnTo>
                  <a:lnTo>
                    <a:pt x="2787231" y="1839734"/>
                  </a:lnTo>
                  <a:lnTo>
                    <a:pt x="2799880" y="1795640"/>
                  </a:lnTo>
                  <a:lnTo>
                    <a:pt x="2811119" y="1750961"/>
                  </a:lnTo>
                  <a:lnTo>
                    <a:pt x="2820949" y="1705749"/>
                  </a:lnTo>
                  <a:lnTo>
                    <a:pt x="2829344" y="1660017"/>
                  </a:lnTo>
                  <a:lnTo>
                    <a:pt x="2836265" y="1613776"/>
                  </a:lnTo>
                  <a:lnTo>
                    <a:pt x="2841688" y="1567065"/>
                  </a:lnTo>
                  <a:lnTo>
                    <a:pt x="2845587" y="1519923"/>
                  </a:lnTo>
                  <a:lnTo>
                    <a:pt x="2847949" y="1472336"/>
                  </a:lnTo>
                  <a:lnTo>
                    <a:pt x="2848737" y="1424368"/>
                  </a:lnTo>
                  <a:lnTo>
                    <a:pt x="2847949" y="1376400"/>
                  </a:lnTo>
                  <a:lnTo>
                    <a:pt x="2845587" y="1328826"/>
                  </a:lnTo>
                  <a:lnTo>
                    <a:pt x="2841688" y="1281671"/>
                  </a:lnTo>
                  <a:lnTo>
                    <a:pt x="2836265" y="1234960"/>
                  </a:lnTo>
                  <a:lnTo>
                    <a:pt x="2829344" y="1188732"/>
                  </a:lnTo>
                  <a:lnTo>
                    <a:pt x="2820949" y="1142987"/>
                  </a:lnTo>
                  <a:lnTo>
                    <a:pt x="2811119" y="1097775"/>
                  </a:lnTo>
                  <a:lnTo>
                    <a:pt x="2799880" y="1053109"/>
                  </a:lnTo>
                  <a:lnTo>
                    <a:pt x="2787231" y="1009015"/>
                  </a:lnTo>
                  <a:lnTo>
                    <a:pt x="2773210" y="965504"/>
                  </a:lnTo>
                  <a:lnTo>
                    <a:pt x="2757855" y="922629"/>
                  </a:lnTo>
                  <a:lnTo>
                    <a:pt x="2741180" y="880389"/>
                  </a:lnTo>
                  <a:lnTo>
                    <a:pt x="2723210" y="838835"/>
                  </a:lnTo>
                  <a:lnTo>
                    <a:pt x="2703969" y="797966"/>
                  </a:lnTo>
                  <a:lnTo>
                    <a:pt x="2683484" y="757821"/>
                  </a:lnTo>
                  <a:lnTo>
                    <a:pt x="2661780" y="718426"/>
                  </a:lnTo>
                  <a:lnTo>
                    <a:pt x="2638869" y="679805"/>
                  </a:lnTo>
                  <a:lnTo>
                    <a:pt x="2614803" y="641972"/>
                  </a:lnTo>
                  <a:lnTo>
                    <a:pt x="2589593" y="604951"/>
                  </a:lnTo>
                  <a:lnTo>
                    <a:pt x="2563253" y="568794"/>
                  </a:lnTo>
                  <a:lnTo>
                    <a:pt x="2535821" y="533501"/>
                  </a:lnTo>
                  <a:lnTo>
                    <a:pt x="2507323" y="499097"/>
                  </a:lnTo>
                  <a:lnTo>
                    <a:pt x="2477782" y="465620"/>
                  </a:lnTo>
                  <a:lnTo>
                    <a:pt x="2447213" y="433095"/>
                  </a:lnTo>
                  <a:lnTo>
                    <a:pt x="2430348" y="416229"/>
                  </a:lnTo>
                  <a:lnTo>
                    <a:pt x="2927743" y="416229"/>
                  </a:lnTo>
                  <a:lnTo>
                    <a:pt x="2927743" y="409181"/>
                  </a:lnTo>
                  <a:close/>
                </a:path>
                <a:path w="2984500" h="2849245">
                  <a:moveTo>
                    <a:pt x="2984182" y="416229"/>
                  </a:moveTo>
                  <a:lnTo>
                    <a:pt x="2981972" y="405257"/>
                  </a:lnTo>
                  <a:lnTo>
                    <a:pt x="2975927" y="396278"/>
                  </a:lnTo>
                  <a:lnTo>
                    <a:pt x="2966948" y="390232"/>
                  </a:lnTo>
                  <a:lnTo>
                    <a:pt x="2955963" y="388010"/>
                  </a:lnTo>
                  <a:lnTo>
                    <a:pt x="2944990" y="390232"/>
                  </a:lnTo>
                  <a:lnTo>
                    <a:pt x="2936011" y="396278"/>
                  </a:lnTo>
                  <a:lnTo>
                    <a:pt x="2929966" y="405257"/>
                  </a:lnTo>
                  <a:lnTo>
                    <a:pt x="2927743" y="416229"/>
                  </a:lnTo>
                  <a:lnTo>
                    <a:pt x="2929966" y="427215"/>
                  </a:lnTo>
                  <a:lnTo>
                    <a:pt x="2936011" y="436194"/>
                  </a:lnTo>
                  <a:lnTo>
                    <a:pt x="2944990" y="442239"/>
                  </a:lnTo>
                  <a:lnTo>
                    <a:pt x="2955963" y="444449"/>
                  </a:lnTo>
                  <a:lnTo>
                    <a:pt x="2966948" y="442239"/>
                  </a:lnTo>
                  <a:lnTo>
                    <a:pt x="2975927" y="436194"/>
                  </a:lnTo>
                  <a:lnTo>
                    <a:pt x="2981972" y="427215"/>
                  </a:lnTo>
                  <a:lnTo>
                    <a:pt x="2984182" y="416229"/>
                  </a:lnTo>
                  <a:close/>
                </a:path>
              </a:pathLst>
            </a:custGeom>
            <a:solidFill>
              <a:srgbClr val="FF5D0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530132" y="7718246"/>
              <a:ext cx="2804160" cy="2260600"/>
            </a:xfrm>
            <a:custGeom>
              <a:avLst/>
              <a:gdLst/>
              <a:ahLst/>
              <a:cxnLst/>
              <a:rect l="l" t="t" r="r" b="b"/>
              <a:pathLst>
                <a:path w="2804160" h="2260600">
                  <a:moveTo>
                    <a:pt x="56438" y="917130"/>
                  </a:moveTo>
                  <a:lnTo>
                    <a:pt x="54229" y="906145"/>
                  </a:lnTo>
                  <a:lnTo>
                    <a:pt x="48183" y="897178"/>
                  </a:lnTo>
                  <a:lnTo>
                    <a:pt x="39204" y="891133"/>
                  </a:lnTo>
                  <a:lnTo>
                    <a:pt x="28219" y="888911"/>
                  </a:lnTo>
                  <a:lnTo>
                    <a:pt x="17246" y="891133"/>
                  </a:lnTo>
                  <a:lnTo>
                    <a:pt x="8267" y="897178"/>
                  </a:lnTo>
                  <a:lnTo>
                    <a:pt x="2222" y="906145"/>
                  </a:lnTo>
                  <a:lnTo>
                    <a:pt x="0" y="917130"/>
                  </a:lnTo>
                  <a:lnTo>
                    <a:pt x="2222" y="928116"/>
                  </a:lnTo>
                  <a:lnTo>
                    <a:pt x="8267" y="937082"/>
                  </a:lnTo>
                  <a:lnTo>
                    <a:pt x="17246" y="943127"/>
                  </a:lnTo>
                  <a:lnTo>
                    <a:pt x="28219" y="945349"/>
                  </a:lnTo>
                  <a:lnTo>
                    <a:pt x="39204" y="943127"/>
                  </a:lnTo>
                  <a:lnTo>
                    <a:pt x="48183" y="937082"/>
                  </a:lnTo>
                  <a:lnTo>
                    <a:pt x="54229" y="928116"/>
                  </a:lnTo>
                  <a:lnTo>
                    <a:pt x="56438" y="917130"/>
                  </a:lnTo>
                  <a:close/>
                </a:path>
                <a:path w="2804160" h="2260600">
                  <a:moveTo>
                    <a:pt x="1615744" y="2260600"/>
                  </a:moveTo>
                  <a:lnTo>
                    <a:pt x="1567776" y="2247900"/>
                  </a:lnTo>
                  <a:lnTo>
                    <a:pt x="1527759" y="2247900"/>
                  </a:lnTo>
                  <a:lnTo>
                    <a:pt x="1574634" y="2260600"/>
                  </a:lnTo>
                  <a:lnTo>
                    <a:pt x="1615744" y="2260600"/>
                  </a:lnTo>
                  <a:close/>
                </a:path>
                <a:path w="2804160" h="2260600">
                  <a:moveTo>
                    <a:pt x="2803791" y="1130300"/>
                  </a:moveTo>
                  <a:lnTo>
                    <a:pt x="2802801" y="1079500"/>
                  </a:lnTo>
                  <a:lnTo>
                    <a:pt x="2799842" y="1028700"/>
                  </a:lnTo>
                  <a:lnTo>
                    <a:pt x="2794952" y="990600"/>
                  </a:lnTo>
                  <a:lnTo>
                    <a:pt x="2788183" y="939800"/>
                  </a:lnTo>
                  <a:lnTo>
                    <a:pt x="2779572" y="889000"/>
                  </a:lnTo>
                  <a:lnTo>
                    <a:pt x="2769158" y="850900"/>
                  </a:lnTo>
                  <a:lnTo>
                    <a:pt x="2756979" y="800100"/>
                  </a:lnTo>
                  <a:lnTo>
                    <a:pt x="2743073" y="762000"/>
                  </a:lnTo>
                  <a:lnTo>
                    <a:pt x="2727477" y="723900"/>
                  </a:lnTo>
                  <a:lnTo>
                    <a:pt x="2710230" y="673100"/>
                  </a:lnTo>
                  <a:lnTo>
                    <a:pt x="2691371" y="635000"/>
                  </a:lnTo>
                  <a:lnTo>
                    <a:pt x="2677757" y="609600"/>
                  </a:lnTo>
                  <a:lnTo>
                    <a:pt x="2670949" y="596900"/>
                  </a:lnTo>
                  <a:lnTo>
                    <a:pt x="2648991" y="558800"/>
                  </a:lnTo>
                  <a:lnTo>
                    <a:pt x="2625547" y="520700"/>
                  </a:lnTo>
                  <a:lnTo>
                    <a:pt x="2600655" y="482600"/>
                  </a:lnTo>
                  <a:lnTo>
                    <a:pt x="2574340" y="444500"/>
                  </a:lnTo>
                  <a:lnTo>
                    <a:pt x="2546654" y="406400"/>
                  </a:lnTo>
                  <a:lnTo>
                    <a:pt x="2517648" y="368300"/>
                  </a:lnTo>
                  <a:lnTo>
                    <a:pt x="2487333" y="342900"/>
                  </a:lnTo>
                  <a:lnTo>
                    <a:pt x="2455773" y="304800"/>
                  </a:lnTo>
                  <a:lnTo>
                    <a:pt x="2422982" y="279400"/>
                  </a:lnTo>
                  <a:lnTo>
                    <a:pt x="2389035" y="254000"/>
                  </a:lnTo>
                  <a:lnTo>
                    <a:pt x="2353945" y="228600"/>
                  </a:lnTo>
                  <a:lnTo>
                    <a:pt x="2317750" y="190500"/>
                  </a:lnTo>
                  <a:lnTo>
                    <a:pt x="2280501" y="177800"/>
                  </a:lnTo>
                  <a:lnTo>
                    <a:pt x="2242235" y="152400"/>
                  </a:lnTo>
                  <a:lnTo>
                    <a:pt x="2202992" y="127000"/>
                  </a:lnTo>
                  <a:lnTo>
                    <a:pt x="2162810" y="101600"/>
                  </a:lnTo>
                  <a:lnTo>
                    <a:pt x="2079764" y="76200"/>
                  </a:lnTo>
                  <a:lnTo>
                    <a:pt x="2037003" y="50800"/>
                  </a:lnTo>
                  <a:lnTo>
                    <a:pt x="1904149" y="12700"/>
                  </a:lnTo>
                  <a:lnTo>
                    <a:pt x="1858492" y="12700"/>
                  </a:lnTo>
                  <a:lnTo>
                    <a:pt x="1812201" y="0"/>
                  </a:lnTo>
                  <a:lnTo>
                    <a:pt x="1527759" y="0"/>
                  </a:lnTo>
                  <a:lnTo>
                    <a:pt x="1481467" y="12700"/>
                  </a:lnTo>
                  <a:lnTo>
                    <a:pt x="1435811" y="12700"/>
                  </a:lnTo>
                  <a:lnTo>
                    <a:pt x="1302956" y="50800"/>
                  </a:lnTo>
                  <a:lnTo>
                    <a:pt x="1260195" y="76200"/>
                  </a:lnTo>
                  <a:lnTo>
                    <a:pt x="1177163" y="101600"/>
                  </a:lnTo>
                  <a:lnTo>
                    <a:pt x="1136967" y="127000"/>
                  </a:lnTo>
                  <a:lnTo>
                    <a:pt x="1097724" y="152400"/>
                  </a:lnTo>
                  <a:lnTo>
                    <a:pt x="1059459" y="177800"/>
                  </a:lnTo>
                  <a:lnTo>
                    <a:pt x="1022210" y="190500"/>
                  </a:lnTo>
                  <a:lnTo>
                    <a:pt x="986015" y="228600"/>
                  </a:lnTo>
                  <a:lnTo>
                    <a:pt x="950925" y="254000"/>
                  </a:lnTo>
                  <a:lnTo>
                    <a:pt x="916978" y="279400"/>
                  </a:lnTo>
                  <a:lnTo>
                    <a:pt x="884186" y="304800"/>
                  </a:lnTo>
                  <a:lnTo>
                    <a:pt x="852627" y="342900"/>
                  </a:lnTo>
                  <a:lnTo>
                    <a:pt x="822325" y="368300"/>
                  </a:lnTo>
                  <a:lnTo>
                    <a:pt x="793305" y="406400"/>
                  </a:lnTo>
                  <a:lnTo>
                    <a:pt x="765619" y="444500"/>
                  </a:lnTo>
                  <a:lnTo>
                    <a:pt x="739317" y="482600"/>
                  </a:lnTo>
                  <a:lnTo>
                    <a:pt x="714413" y="520700"/>
                  </a:lnTo>
                  <a:lnTo>
                    <a:pt x="690968" y="558800"/>
                  </a:lnTo>
                  <a:lnTo>
                    <a:pt x="669010" y="596900"/>
                  </a:lnTo>
                  <a:lnTo>
                    <a:pt x="648589" y="635000"/>
                  </a:lnTo>
                  <a:lnTo>
                    <a:pt x="629742" y="673100"/>
                  </a:lnTo>
                  <a:lnTo>
                    <a:pt x="612495" y="723900"/>
                  </a:lnTo>
                  <a:lnTo>
                    <a:pt x="596887" y="762000"/>
                  </a:lnTo>
                  <a:lnTo>
                    <a:pt x="582980" y="800100"/>
                  </a:lnTo>
                  <a:lnTo>
                    <a:pt x="570801" y="850900"/>
                  </a:lnTo>
                  <a:lnTo>
                    <a:pt x="560387" y="889000"/>
                  </a:lnTo>
                  <a:lnTo>
                    <a:pt x="555612" y="917130"/>
                  </a:lnTo>
                  <a:lnTo>
                    <a:pt x="56438" y="917130"/>
                  </a:lnTo>
                  <a:lnTo>
                    <a:pt x="56438" y="924191"/>
                  </a:lnTo>
                  <a:lnTo>
                    <a:pt x="554418" y="924191"/>
                  </a:lnTo>
                  <a:lnTo>
                    <a:pt x="551776" y="939800"/>
                  </a:lnTo>
                  <a:lnTo>
                    <a:pt x="545007" y="990600"/>
                  </a:lnTo>
                  <a:lnTo>
                    <a:pt x="540118" y="1028700"/>
                  </a:lnTo>
                  <a:lnTo>
                    <a:pt x="537171" y="1079500"/>
                  </a:lnTo>
                  <a:lnTo>
                    <a:pt x="536168" y="1130300"/>
                  </a:lnTo>
                  <a:lnTo>
                    <a:pt x="537171" y="1181100"/>
                  </a:lnTo>
                  <a:lnTo>
                    <a:pt x="540118" y="1219200"/>
                  </a:lnTo>
                  <a:lnTo>
                    <a:pt x="545007" y="1270000"/>
                  </a:lnTo>
                  <a:lnTo>
                    <a:pt x="551776" y="1320800"/>
                  </a:lnTo>
                  <a:lnTo>
                    <a:pt x="560387" y="1358900"/>
                  </a:lnTo>
                  <a:lnTo>
                    <a:pt x="570801" y="1409700"/>
                  </a:lnTo>
                  <a:lnTo>
                    <a:pt x="582980" y="1447800"/>
                  </a:lnTo>
                  <a:lnTo>
                    <a:pt x="596887" y="1498600"/>
                  </a:lnTo>
                  <a:lnTo>
                    <a:pt x="612495" y="1536700"/>
                  </a:lnTo>
                  <a:lnTo>
                    <a:pt x="629742" y="1574800"/>
                  </a:lnTo>
                  <a:lnTo>
                    <a:pt x="648589" y="1625600"/>
                  </a:lnTo>
                  <a:lnTo>
                    <a:pt x="669010" y="1663700"/>
                  </a:lnTo>
                  <a:lnTo>
                    <a:pt x="690968" y="1701800"/>
                  </a:lnTo>
                  <a:lnTo>
                    <a:pt x="714413" y="1739900"/>
                  </a:lnTo>
                  <a:lnTo>
                    <a:pt x="739317" y="1778000"/>
                  </a:lnTo>
                  <a:lnTo>
                    <a:pt x="765619" y="1816100"/>
                  </a:lnTo>
                  <a:lnTo>
                    <a:pt x="793305" y="1841500"/>
                  </a:lnTo>
                  <a:lnTo>
                    <a:pt x="822325" y="1879600"/>
                  </a:lnTo>
                  <a:lnTo>
                    <a:pt x="852627" y="1917700"/>
                  </a:lnTo>
                  <a:lnTo>
                    <a:pt x="884186" y="1943100"/>
                  </a:lnTo>
                  <a:lnTo>
                    <a:pt x="916978" y="1981200"/>
                  </a:lnTo>
                  <a:lnTo>
                    <a:pt x="950925" y="2006600"/>
                  </a:lnTo>
                  <a:lnTo>
                    <a:pt x="986015" y="2032000"/>
                  </a:lnTo>
                  <a:lnTo>
                    <a:pt x="1022210" y="2057400"/>
                  </a:lnTo>
                  <a:lnTo>
                    <a:pt x="1059459" y="2082800"/>
                  </a:lnTo>
                  <a:lnTo>
                    <a:pt x="1097724" y="2108200"/>
                  </a:lnTo>
                  <a:lnTo>
                    <a:pt x="1136967" y="2133600"/>
                  </a:lnTo>
                  <a:lnTo>
                    <a:pt x="1177163" y="2146300"/>
                  </a:lnTo>
                  <a:lnTo>
                    <a:pt x="1218247" y="2171700"/>
                  </a:lnTo>
                  <a:lnTo>
                    <a:pt x="1346517" y="2209800"/>
                  </a:lnTo>
                  <a:lnTo>
                    <a:pt x="1481467" y="2247900"/>
                  </a:lnTo>
                  <a:lnTo>
                    <a:pt x="1520634" y="2247900"/>
                  </a:lnTo>
                  <a:lnTo>
                    <a:pt x="1429105" y="2222500"/>
                  </a:lnTo>
                  <a:lnTo>
                    <a:pt x="1341780" y="2197100"/>
                  </a:lnTo>
                  <a:lnTo>
                    <a:pt x="1299895" y="2171700"/>
                  </a:lnTo>
                  <a:lnTo>
                    <a:pt x="1259293" y="2159000"/>
                  </a:lnTo>
                  <a:lnTo>
                    <a:pt x="1220063" y="2133600"/>
                  </a:lnTo>
                  <a:lnTo>
                    <a:pt x="1182268" y="2108200"/>
                  </a:lnTo>
                  <a:lnTo>
                    <a:pt x="1145984" y="2082800"/>
                  </a:lnTo>
                  <a:lnTo>
                    <a:pt x="1111300" y="2044700"/>
                  </a:lnTo>
                  <a:lnTo>
                    <a:pt x="1078293" y="2019300"/>
                  </a:lnTo>
                  <a:lnTo>
                    <a:pt x="1047038" y="1981200"/>
                  </a:lnTo>
                  <a:lnTo>
                    <a:pt x="1017612" y="1943100"/>
                  </a:lnTo>
                  <a:lnTo>
                    <a:pt x="990092" y="1917700"/>
                  </a:lnTo>
                  <a:lnTo>
                    <a:pt x="964565" y="1879600"/>
                  </a:lnTo>
                  <a:lnTo>
                    <a:pt x="941095" y="1841500"/>
                  </a:lnTo>
                  <a:lnTo>
                    <a:pt x="919759" y="1790700"/>
                  </a:lnTo>
                  <a:lnTo>
                    <a:pt x="900645" y="1752600"/>
                  </a:lnTo>
                  <a:lnTo>
                    <a:pt x="883831" y="1714500"/>
                  </a:lnTo>
                  <a:lnTo>
                    <a:pt x="869391" y="1663700"/>
                  </a:lnTo>
                  <a:lnTo>
                    <a:pt x="857402" y="1625600"/>
                  </a:lnTo>
                  <a:lnTo>
                    <a:pt x="847940" y="1574800"/>
                  </a:lnTo>
                  <a:lnTo>
                    <a:pt x="841082" y="1524000"/>
                  </a:lnTo>
                  <a:lnTo>
                    <a:pt x="836917" y="1485900"/>
                  </a:lnTo>
                  <a:lnTo>
                    <a:pt x="835507" y="1435100"/>
                  </a:lnTo>
                  <a:lnTo>
                    <a:pt x="836917" y="1384300"/>
                  </a:lnTo>
                  <a:lnTo>
                    <a:pt x="841082" y="1333500"/>
                  </a:lnTo>
                  <a:lnTo>
                    <a:pt x="847940" y="1295400"/>
                  </a:lnTo>
                  <a:lnTo>
                    <a:pt x="857402" y="1244600"/>
                  </a:lnTo>
                  <a:lnTo>
                    <a:pt x="869391" y="1193800"/>
                  </a:lnTo>
                  <a:lnTo>
                    <a:pt x="883831" y="1155700"/>
                  </a:lnTo>
                  <a:lnTo>
                    <a:pt x="900645" y="1117600"/>
                  </a:lnTo>
                  <a:lnTo>
                    <a:pt x="919759" y="1066800"/>
                  </a:lnTo>
                  <a:lnTo>
                    <a:pt x="941095" y="1028700"/>
                  </a:lnTo>
                  <a:lnTo>
                    <a:pt x="964565" y="990600"/>
                  </a:lnTo>
                  <a:lnTo>
                    <a:pt x="990092" y="952500"/>
                  </a:lnTo>
                  <a:lnTo>
                    <a:pt x="1017612" y="914400"/>
                  </a:lnTo>
                  <a:lnTo>
                    <a:pt x="1047038" y="876300"/>
                  </a:lnTo>
                  <a:lnTo>
                    <a:pt x="1078293" y="850900"/>
                  </a:lnTo>
                  <a:lnTo>
                    <a:pt x="1111300" y="812800"/>
                  </a:lnTo>
                  <a:lnTo>
                    <a:pt x="1145984" y="787400"/>
                  </a:lnTo>
                  <a:lnTo>
                    <a:pt x="1182268" y="762000"/>
                  </a:lnTo>
                  <a:lnTo>
                    <a:pt x="1220063" y="736600"/>
                  </a:lnTo>
                  <a:lnTo>
                    <a:pt x="1259293" y="711200"/>
                  </a:lnTo>
                  <a:lnTo>
                    <a:pt x="1299895" y="685800"/>
                  </a:lnTo>
                  <a:lnTo>
                    <a:pt x="1384884" y="660400"/>
                  </a:lnTo>
                  <a:lnTo>
                    <a:pt x="1429105" y="635000"/>
                  </a:lnTo>
                  <a:lnTo>
                    <a:pt x="1474381" y="635000"/>
                  </a:lnTo>
                  <a:lnTo>
                    <a:pt x="1567776" y="609600"/>
                  </a:lnTo>
                  <a:lnTo>
                    <a:pt x="1761121" y="609600"/>
                  </a:lnTo>
                  <a:lnTo>
                    <a:pt x="1854517" y="635000"/>
                  </a:lnTo>
                  <a:lnTo>
                    <a:pt x="1899793" y="635000"/>
                  </a:lnTo>
                  <a:lnTo>
                    <a:pt x="1944014" y="660400"/>
                  </a:lnTo>
                  <a:lnTo>
                    <a:pt x="2028990" y="685800"/>
                  </a:lnTo>
                  <a:lnTo>
                    <a:pt x="2069592" y="711200"/>
                  </a:lnTo>
                  <a:lnTo>
                    <a:pt x="2108835" y="736600"/>
                  </a:lnTo>
                  <a:lnTo>
                    <a:pt x="2146630" y="762000"/>
                  </a:lnTo>
                  <a:lnTo>
                    <a:pt x="2182914" y="787400"/>
                  </a:lnTo>
                  <a:lnTo>
                    <a:pt x="2217585" y="812800"/>
                  </a:lnTo>
                  <a:lnTo>
                    <a:pt x="2250605" y="850900"/>
                  </a:lnTo>
                  <a:lnTo>
                    <a:pt x="2281859" y="876300"/>
                  </a:lnTo>
                  <a:lnTo>
                    <a:pt x="2311285" y="914400"/>
                  </a:lnTo>
                  <a:lnTo>
                    <a:pt x="2338806" y="952500"/>
                  </a:lnTo>
                  <a:lnTo>
                    <a:pt x="2364333" y="990600"/>
                  </a:lnTo>
                  <a:lnTo>
                    <a:pt x="2387803" y="1028700"/>
                  </a:lnTo>
                  <a:lnTo>
                    <a:pt x="2409139" y="1066800"/>
                  </a:lnTo>
                  <a:lnTo>
                    <a:pt x="2428252" y="1117600"/>
                  </a:lnTo>
                  <a:lnTo>
                    <a:pt x="2445067" y="1155700"/>
                  </a:lnTo>
                  <a:lnTo>
                    <a:pt x="2459507" y="1193800"/>
                  </a:lnTo>
                  <a:lnTo>
                    <a:pt x="2471496" y="1244600"/>
                  </a:lnTo>
                  <a:lnTo>
                    <a:pt x="2480957" y="1295400"/>
                  </a:lnTo>
                  <a:lnTo>
                    <a:pt x="2487815" y="1333500"/>
                  </a:lnTo>
                  <a:lnTo>
                    <a:pt x="2491981" y="1384300"/>
                  </a:lnTo>
                  <a:lnTo>
                    <a:pt x="2493391" y="1435100"/>
                  </a:lnTo>
                  <a:lnTo>
                    <a:pt x="2491981" y="1485900"/>
                  </a:lnTo>
                  <a:lnTo>
                    <a:pt x="2487815" y="1524000"/>
                  </a:lnTo>
                  <a:lnTo>
                    <a:pt x="2480957" y="1574800"/>
                  </a:lnTo>
                  <a:lnTo>
                    <a:pt x="2471496" y="1625600"/>
                  </a:lnTo>
                  <a:lnTo>
                    <a:pt x="2459507" y="1663700"/>
                  </a:lnTo>
                  <a:lnTo>
                    <a:pt x="2445067" y="1714500"/>
                  </a:lnTo>
                  <a:lnTo>
                    <a:pt x="2428252" y="1752600"/>
                  </a:lnTo>
                  <a:lnTo>
                    <a:pt x="2409139" y="1790700"/>
                  </a:lnTo>
                  <a:lnTo>
                    <a:pt x="2387803" y="1841500"/>
                  </a:lnTo>
                  <a:lnTo>
                    <a:pt x="2364333" y="1879600"/>
                  </a:lnTo>
                  <a:lnTo>
                    <a:pt x="2338806" y="1917700"/>
                  </a:lnTo>
                  <a:lnTo>
                    <a:pt x="2311285" y="1943100"/>
                  </a:lnTo>
                  <a:lnTo>
                    <a:pt x="2281859" y="1981200"/>
                  </a:lnTo>
                  <a:lnTo>
                    <a:pt x="2250605" y="2019300"/>
                  </a:lnTo>
                  <a:lnTo>
                    <a:pt x="2217585" y="2044700"/>
                  </a:lnTo>
                  <a:lnTo>
                    <a:pt x="2182914" y="2082800"/>
                  </a:lnTo>
                  <a:lnTo>
                    <a:pt x="2146630" y="2108200"/>
                  </a:lnTo>
                  <a:lnTo>
                    <a:pt x="2108835" y="2133600"/>
                  </a:lnTo>
                  <a:lnTo>
                    <a:pt x="2069592" y="2159000"/>
                  </a:lnTo>
                  <a:lnTo>
                    <a:pt x="2028990" y="2171700"/>
                  </a:lnTo>
                  <a:lnTo>
                    <a:pt x="1987105" y="2197100"/>
                  </a:lnTo>
                  <a:lnTo>
                    <a:pt x="1899793" y="2222500"/>
                  </a:lnTo>
                  <a:lnTo>
                    <a:pt x="1808264" y="2247900"/>
                  </a:lnTo>
                  <a:lnTo>
                    <a:pt x="1761121" y="2247900"/>
                  </a:lnTo>
                  <a:lnTo>
                    <a:pt x="1713153" y="2260600"/>
                  </a:lnTo>
                  <a:lnTo>
                    <a:pt x="1765325" y="2260600"/>
                  </a:lnTo>
                  <a:lnTo>
                    <a:pt x="1812201" y="2247900"/>
                  </a:lnTo>
                  <a:lnTo>
                    <a:pt x="1858492" y="2247900"/>
                  </a:lnTo>
                  <a:lnTo>
                    <a:pt x="1993455" y="2209800"/>
                  </a:lnTo>
                  <a:lnTo>
                    <a:pt x="2121712" y="2171700"/>
                  </a:lnTo>
                  <a:lnTo>
                    <a:pt x="2162810" y="2146300"/>
                  </a:lnTo>
                  <a:lnTo>
                    <a:pt x="2202992" y="2133600"/>
                  </a:lnTo>
                  <a:lnTo>
                    <a:pt x="2242235" y="2108200"/>
                  </a:lnTo>
                  <a:lnTo>
                    <a:pt x="2280501" y="2082800"/>
                  </a:lnTo>
                  <a:lnTo>
                    <a:pt x="2317750" y="2057400"/>
                  </a:lnTo>
                  <a:lnTo>
                    <a:pt x="2353945" y="2032000"/>
                  </a:lnTo>
                  <a:lnTo>
                    <a:pt x="2389035" y="2006600"/>
                  </a:lnTo>
                  <a:lnTo>
                    <a:pt x="2422982" y="1981200"/>
                  </a:lnTo>
                  <a:lnTo>
                    <a:pt x="2455773" y="1943100"/>
                  </a:lnTo>
                  <a:lnTo>
                    <a:pt x="2487333" y="1917700"/>
                  </a:lnTo>
                  <a:lnTo>
                    <a:pt x="2517648" y="1879600"/>
                  </a:lnTo>
                  <a:lnTo>
                    <a:pt x="2546654" y="1841500"/>
                  </a:lnTo>
                  <a:lnTo>
                    <a:pt x="2574340" y="1816100"/>
                  </a:lnTo>
                  <a:lnTo>
                    <a:pt x="2600655" y="1778000"/>
                  </a:lnTo>
                  <a:lnTo>
                    <a:pt x="2625547" y="1739900"/>
                  </a:lnTo>
                  <a:lnTo>
                    <a:pt x="2648991" y="1701800"/>
                  </a:lnTo>
                  <a:lnTo>
                    <a:pt x="2670949" y="1663700"/>
                  </a:lnTo>
                  <a:lnTo>
                    <a:pt x="2691371" y="1625600"/>
                  </a:lnTo>
                  <a:lnTo>
                    <a:pt x="2710230" y="1574800"/>
                  </a:lnTo>
                  <a:lnTo>
                    <a:pt x="2727477" y="1536700"/>
                  </a:lnTo>
                  <a:lnTo>
                    <a:pt x="2743073" y="1498600"/>
                  </a:lnTo>
                  <a:lnTo>
                    <a:pt x="2756979" y="1447800"/>
                  </a:lnTo>
                  <a:lnTo>
                    <a:pt x="2769158" y="1409700"/>
                  </a:lnTo>
                  <a:lnTo>
                    <a:pt x="2779572" y="1358900"/>
                  </a:lnTo>
                  <a:lnTo>
                    <a:pt x="2788183" y="1320800"/>
                  </a:lnTo>
                  <a:lnTo>
                    <a:pt x="2794952" y="1270000"/>
                  </a:lnTo>
                  <a:lnTo>
                    <a:pt x="2799842" y="1219200"/>
                  </a:lnTo>
                  <a:lnTo>
                    <a:pt x="2802801" y="1181100"/>
                  </a:lnTo>
                  <a:lnTo>
                    <a:pt x="2803791" y="1130300"/>
                  </a:lnTo>
                  <a:close/>
                </a:path>
              </a:pathLst>
            </a:custGeom>
            <a:solidFill>
              <a:srgbClr val="C244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362604" y="8332024"/>
              <a:ext cx="2399030" cy="1651000"/>
            </a:xfrm>
            <a:custGeom>
              <a:avLst/>
              <a:gdLst/>
              <a:ahLst/>
              <a:cxnLst/>
              <a:rect l="l" t="t" r="r" b="b"/>
              <a:pathLst>
                <a:path w="2399029" h="1651000">
                  <a:moveTo>
                    <a:pt x="2342197" y="839520"/>
                  </a:moveTo>
                  <a:lnTo>
                    <a:pt x="1657705" y="839520"/>
                  </a:lnTo>
                  <a:lnTo>
                    <a:pt x="1657883" y="825411"/>
                  </a:lnTo>
                  <a:lnTo>
                    <a:pt x="1657642" y="805154"/>
                  </a:lnTo>
                  <a:lnTo>
                    <a:pt x="1655635" y="764692"/>
                  </a:lnTo>
                  <a:lnTo>
                    <a:pt x="1651647" y="724369"/>
                  </a:lnTo>
                  <a:lnTo>
                    <a:pt x="1645678" y="684288"/>
                  </a:lnTo>
                  <a:lnTo>
                    <a:pt x="1637741" y="644563"/>
                  </a:lnTo>
                  <a:lnTo>
                    <a:pt x="1627860" y="605256"/>
                  </a:lnTo>
                  <a:lnTo>
                    <a:pt x="1616049" y="566496"/>
                  </a:lnTo>
                  <a:lnTo>
                    <a:pt x="1602346" y="528345"/>
                  </a:lnTo>
                  <a:lnTo>
                    <a:pt x="1586776" y="490918"/>
                  </a:lnTo>
                  <a:lnTo>
                    <a:pt x="1569377" y="454291"/>
                  </a:lnTo>
                  <a:lnTo>
                    <a:pt x="1550200" y="418566"/>
                  </a:lnTo>
                  <a:lnTo>
                    <a:pt x="1529283" y="383819"/>
                  </a:lnTo>
                  <a:lnTo>
                    <a:pt x="1506677" y="350126"/>
                  </a:lnTo>
                  <a:lnTo>
                    <a:pt x="1482432" y="317588"/>
                  </a:lnTo>
                  <a:lnTo>
                    <a:pt x="1456626" y="286270"/>
                  </a:lnTo>
                  <a:lnTo>
                    <a:pt x="1429296" y="256247"/>
                  </a:lnTo>
                  <a:lnTo>
                    <a:pt x="1400530" y="227609"/>
                  </a:lnTo>
                  <a:lnTo>
                    <a:pt x="1370380" y="200393"/>
                  </a:lnTo>
                  <a:lnTo>
                    <a:pt x="1338935" y="174701"/>
                  </a:lnTo>
                  <a:lnTo>
                    <a:pt x="1306258" y="150558"/>
                  </a:lnTo>
                  <a:lnTo>
                    <a:pt x="1272425" y="128054"/>
                  </a:lnTo>
                  <a:lnTo>
                    <a:pt x="1237526" y="107226"/>
                  </a:lnTo>
                  <a:lnTo>
                    <a:pt x="1201648" y="88125"/>
                  </a:lnTo>
                  <a:lnTo>
                    <a:pt x="1164869" y="70815"/>
                  </a:lnTo>
                  <a:lnTo>
                    <a:pt x="1127277" y="55295"/>
                  </a:lnTo>
                  <a:lnTo>
                    <a:pt x="1088974" y="41656"/>
                  </a:lnTo>
                  <a:lnTo>
                    <a:pt x="1050036" y="29895"/>
                  </a:lnTo>
                  <a:lnTo>
                    <a:pt x="1010564" y="20053"/>
                  </a:lnTo>
                  <a:lnTo>
                    <a:pt x="970661" y="12153"/>
                  </a:lnTo>
                  <a:lnTo>
                    <a:pt x="930414" y="6197"/>
                  </a:lnTo>
                  <a:lnTo>
                    <a:pt x="889927" y="2235"/>
                  </a:lnTo>
                  <a:lnTo>
                    <a:pt x="849287" y="241"/>
                  </a:lnTo>
                  <a:lnTo>
                    <a:pt x="828941" y="0"/>
                  </a:lnTo>
                  <a:lnTo>
                    <a:pt x="808596" y="241"/>
                  </a:lnTo>
                  <a:lnTo>
                    <a:pt x="767969" y="2235"/>
                  </a:lnTo>
                  <a:lnTo>
                    <a:pt x="727468" y="6197"/>
                  </a:lnTo>
                  <a:lnTo>
                    <a:pt x="687222" y="12153"/>
                  </a:lnTo>
                  <a:lnTo>
                    <a:pt x="647319" y="20053"/>
                  </a:lnTo>
                  <a:lnTo>
                    <a:pt x="607860" y="29895"/>
                  </a:lnTo>
                  <a:lnTo>
                    <a:pt x="568921" y="41656"/>
                  </a:lnTo>
                  <a:lnTo>
                    <a:pt x="530606" y="55295"/>
                  </a:lnTo>
                  <a:lnTo>
                    <a:pt x="493026" y="70815"/>
                  </a:lnTo>
                  <a:lnTo>
                    <a:pt x="456247" y="88125"/>
                  </a:lnTo>
                  <a:lnTo>
                    <a:pt x="420357" y="107226"/>
                  </a:lnTo>
                  <a:lnTo>
                    <a:pt x="385457" y="128054"/>
                  </a:lnTo>
                  <a:lnTo>
                    <a:pt x="351637" y="150558"/>
                  </a:lnTo>
                  <a:lnTo>
                    <a:pt x="318947" y="174701"/>
                  </a:lnTo>
                  <a:lnTo>
                    <a:pt x="287502" y="200393"/>
                  </a:lnTo>
                  <a:lnTo>
                    <a:pt x="257352" y="227609"/>
                  </a:lnTo>
                  <a:lnTo>
                    <a:pt x="228587" y="256247"/>
                  </a:lnTo>
                  <a:lnTo>
                    <a:pt x="201256" y="286270"/>
                  </a:lnTo>
                  <a:lnTo>
                    <a:pt x="175450" y="317588"/>
                  </a:lnTo>
                  <a:lnTo>
                    <a:pt x="151206" y="350126"/>
                  </a:lnTo>
                  <a:lnTo>
                    <a:pt x="128612" y="383819"/>
                  </a:lnTo>
                  <a:lnTo>
                    <a:pt x="107696" y="418566"/>
                  </a:lnTo>
                  <a:lnTo>
                    <a:pt x="88506" y="454291"/>
                  </a:lnTo>
                  <a:lnTo>
                    <a:pt x="71120" y="490918"/>
                  </a:lnTo>
                  <a:lnTo>
                    <a:pt x="55549" y="528345"/>
                  </a:lnTo>
                  <a:lnTo>
                    <a:pt x="41846" y="566496"/>
                  </a:lnTo>
                  <a:lnTo>
                    <a:pt x="30035" y="605256"/>
                  </a:lnTo>
                  <a:lnTo>
                    <a:pt x="20142" y="644563"/>
                  </a:lnTo>
                  <a:lnTo>
                    <a:pt x="12204" y="684288"/>
                  </a:lnTo>
                  <a:lnTo>
                    <a:pt x="6235" y="724369"/>
                  </a:lnTo>
                  <a:lnTo>
                    <a:pt x="2247" y="764692"/>
                  </a:lnTo>
                  <a:lnTo>
                    <a:pt x="254" y="805154"/>
                  </a:lnTo>
                  <a:lnTo>
                    <a:pt x="0" y="825411"/>
                  </a:lnTo>
                  <a:lnTo>
                    <a:pt x="254" y="845667"/>
                  </a:lnTo>
                  <a:lnTo>
                    <a:pt x="2247" y="886129"/>
                  </a:lnTo>
                  <a:lnTo>
                    <a:pt x="6235" y="926452"/>
                  </a:lnTo>
                  <a:lnTo>
                    <a:pt x="12204" y="966520"/>
                  </a:lnTo>
                  <a:lnTo>
                    <a:pt x="20142" y="1006259"/>
                  </a:lnTo>
                  <a:lnTo>
                    <a:pt x="30035" y="1045552"/>
                  </a:lnTo>
                  <a:lnTo>
                    <a:pt x="41846" y="1084326"/>
                  </a:lnTo>
                  <a:lnTo>
                    <a:pt x="55549" y="1122476"/>
                  </a:lnTo>
                  <a:lnTo>
                    <a:pt x="71120" y="1159903"/>
                  </a:lnTo>
                  <a:lnTo>
                    <a:pt x="88506" y="1196530"/>
                  </a:lnTo>
                  <a:lnTo>
                    <a:pt x="107696" y="1232255"/>
                  </a:lnTo>
                  <a:lnTo>
                    <a:pt x="128612" y="1267002"/>
                  </a:lnTo>
                  <a:lnTo>
                    <a:pt x="151218" y="1300695"/>
                  </a:lnTo>
                  <a:lnTo>
                    <a:pt x="175450" y="1333233"/>
                  </a:lnTo>
                  <a:lnTo>
                    <a:pt x="201256" y="1364551"/>
                  </a:lnTo>
                  <a:lnTo>
                    <a:pt x="228587" y="1394561"/>
                  </a:lnTo>
                  <a:lnTo>
                    <a:pt x="257352" y="1423212"/>
                  </a:lnTo>
                  <a:lnTo>
                    <a:pt x="287502" y="1450416"/>
                  </a:lnTo>
                  <a:lnTo>
                    <a:pt x="318947" y="1476121"/>
                  </a:lnTo>
                  <a:lnTo>
                    <a:pt x="351637" y="1500251"/>
                  </a:lnTo>
                  <a:lnTo>
                    <a:pt x="385457" y="1522768"/>
                  </a:lnTo>
                  <a:lnTo>
                    <a:pt x="420357" y="1543596"/>
                  </a:lnTo>
                  <a:lnTo>
                    <a:pt x="456247" y="1562684"/>
                  </a:lnTo>
                  <a:lnTo>
                    <a:pt x="493026" y="1580007"/>
                  </a:lnTo>
                  <a:lnTo>
                    <a:pt x="530606" y="1595513"/>
                  </a:lnTo>
                  <a:lnTo>
                    <a:pt x="568921" y="1609166"/>
                  </a:lnTo>
                  <a:lnTo>
                    <a:pt x="607860" y="1620926"/>
                  </a:lnTo>
                  <a:lnTo>
                    <a:pt x="647319" y="1630768"/>
                  </a:lnTo>
                  <a:lnTo>
                    <a:pt x="687222" y="1638668"/>
                  </a:lnTo>
                  <a:lnTo>
                    <a:pt x="727468" y="1644624"/>
                  </a:lnTo>
                  <a:lnTo>
                    <a:pt x="767969" y="1648587"/>
                  </a:lnTo>
                  <a:lnTo>
                    <a:pt x="808596" y="1650580"/>
                  </a:lnTo>
                  <a:lnTo>
                    <a:pt x="828941" y="1650822"/>
                  </a:lnTo>
                  <a:lnTo>
                    <a:pt x="849287" y="1650580"/>
                  </a:lnTo>
                  <a:lnTo>
                    <a:pt x="889927" y="1648587"/>
                  </a:lnTo>
                  <a:lnTo>
                    <a:pt x="930414" y="1644624"/>
                  </a:lnTo>
                  <a:lnTo>
                    <a:pt x="970661" y="1638668"/>
                  </a:lnTo>
                  <a:lnTo>
                    <a:pt x="1010564" y="1630768"/>
                  </a:lnTo>
                  <a:lnTo>
                    <a:pt x="1050036" y="1620926"/>
                  </a:lnTo>
                  <a:lnTo>
                    <a:pt x="1088974" y="1609166"/>
                  </a:lnTo>
                  <a:lnTo>
                    <a:pt x="1127277" y="1595513"/>
                  </a:lnTo>
                  <a:lnTo>
                    <a:pt x="1164869" y="1580007"/>
                  </a:lnTo>
                  <a:lnTo>
                    <a:pt x="1201648" y="1562684"/>
                  </a:lnTo>
                  <a:lnTo>
                    <a:pt x="1237526" y="1543596"/>
                  </a:lnTo>
                  <a:lnTo>
                    <a:pt x="1272425" y="1522768"/>
                  </a:lnTo>
                  <a:lnTo>
                    <a:pt x="1306258" y="1500251"/>
                  </a:lnTo>
                  <a:lnTo>
                    <a:pt x="1338935" y="1476121"/>
                  </a:lnTo>
                  <a:lnTo>
                    <a:pt x="1370380" y="1450416"/>
                  </a:lnTo>
                  <a:lnTo>
                    <a:pt x="1400530" y="1423212"/>
                  </a:lnTo>
                  <a:lnTo>
                    <a:pt x="1429296" y="1394561"/>
                  </a:lnTo>
                  <a:lnTo>
                    <a:pt x="1456626" y="1364551"/>
                  </a:lnTo>
                  <a:lnTo>
                    <a:pt x="1482432" y="1333233"/>
                  </a:lnTo>
                  <a:lnTo>
                    <a:pt x="1506677" y="1300695"/>
                  </a:lnTo>
                  <a:lnTo>
                    <a:pt x="1529283" y="1267002"/>
                  </a:lnTo>
                  <a:lnTo>
                    <a:pt x="1550200" y="1232255"/>
                  </a:lnTo>
                  <a:lnTo>
                    <a:pt x="1569377" y="1196530"/>
                  </a:lnTo>
                  <a:lnTo>
                    <a:pt x="1586776" y="1159903"/>
                  </a:lnTo>
                  <a:lnTo>
                    <a:pt x="1602346" y="1122476"/>
                  </a:lnTo>
                  <a:lnTo>
                    <a:pt x="1616049" y="1084326"/>
                  </a:lnTo>
                  <a:lnTo>
                    <a:pt x="1627860" y="1045552"/>
                  </a:lnTo>
                  <a:lnTo>
                    <a:pt x="1637741" y="1006259"/>
                  </a:lnTo>
                  <a:lnTo>
                    <a:pt x="1645678" y="966520"/>
                  </a:lnTo>
                  <a:lnTo>
                    <a:pt x="1651647" y="926452"/>
                  </a:lnTo>
                  <a:lnTo>
                    <a:pt x="1655635" y="886129"/>
                  </a:lnTo>
                  <a:lnTo>
                    <a:pt x="1657604" y="846569"/>
                  </a:lnTo>
                  <a:lnTo>
                    <a:pt x="2342197" y="846569"/>
                  </a:lnTo>
                  <a:lnTo>
                    <a:pt x="2342197" y="839520"/>
                  </a:lnTo>
                  <a:close/>
                </a:path>
                <a:path w="2399029" h="1651000">
                  <a:moveTo>
                    <a:pt x="2398636" y="846569"/>
                  </a:moveTo>
                  <a:lnTo>
                    <a:pt x="2396426" y="835596"/>
                  </a:lnTo>
                  <a:lnTo>
                    <a:pt x="2390381" y="826617"/>
                  </a:lnTo>
                  <a:lnTo>
                    <a:pt x="2381402" y="820572"/>
                  </a:lnTo>
                  <a:lnTo>
                    <a:pt x="2370417" y="818349"/>
                  </a:lnTo>
                  <a:lnTo>
                    <a:pt x="2359444" y="820572"/>
                  </a:lnTo>
                  <a:lnTo>
                    <a:pt x="2350465" y="826617"/>
                  </a:lnTo>
                  <a:lnTo>
                    <a:pt x="2344420" y="835596"/>
                  </a:lnTo>
                  <a:lnTo>
                    <a:pt x="2342197" y="846569"/>
                  </a:lnTo>
                  <a:lnTo>
                    <a:pt x="2344420" y="857554"/>
                  </a:lnTo>
                  <a:lnTo>
                    <a:pt x="2350465" y="866533"/>
                  </a:lnTo>
                  <a:lnTo>
                    <a:pt x="2359444" y="872578"/>
                  </a:lnTo>
                  <a:lnTo>
                    <a:pt x="2370417" y="874788"/>
                  </a:lnTo>
                  <a:lnTo>
                    <a:pt x="2381402" y="872578"/>
                  </a:lnTo>
                  <a:lnTo>
                    <a:pt x="2390381" y="866533"/>
                  </a:lnTo>
                  <a:lnTo>
                    <a:pt x="2396426" y="857554"/>
                  </a:lnTo>
                  <a:lnTo>
                    <a:pt x="2398636" y="846569"/>
                  </a:lnTo>
                  <a:close/>
                </a:path>
              </a:pathLst>
            </a:custGeom>
            <a:solidFill>
              <a:srgbClr val="802C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5851956" y="7158952"/>
            <a:ext cx="1751964" cy="67500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1300">
                <a:solidFill>
                  <a:srgbClr val="383838"/>
                </a:solidFill>
                <a:latin typeface="Georgia"/>
                <a:cs typeface="Georgia"/>
              </a:rPr>
              <a:t>Professional</a:t>
            </a:r>
            <a:r>
              <a:rPr dirty="0" sz="1300" spc="10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Georgia"/>
                <a:cs typeface="Georgia"/>
              </a:rPr>
              <a:t>Layer</a:t>
            </a:r>
            <a:endParaRPr sz="1300">
              <a:latin typeface="Georgia"/>
              <a:cs typeface="Georgia"/>
            </a:endParaRPr>
          </a:p>
          <a:p>
            <a:pPr marL="12700" marR="5080">
              <a:lnSpc>
                <a:spcPct val="106500"/>
              </a:lnSpc>
              <a:spcBef>
                <a:spcPts val="384"/>
              </a:spcBef>
            </a:pP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Business</a:t>
            </a:r>
            <a:r>
              <a:rPr dirty="0" sz="10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knowledge,</a:t>
            </a:r>
            <a:r>
              <a:rPr dirty="0" sz="100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problem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solving,</a:t>
            </a:r>
            <a:r>
              <a:rPr dirty="0" sz="1000" spc="-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communication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1290" y="8238276"/>
            <a:ext cx="1539240" cy="67500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367665">
              <a:lnSpc>
                <a:spcPct val="100000"/>
              </a:lnSpc>
              <a:spcBef>
                <a:spcPts val="715"/>
              </a:spcBef>
            </a:pPr>
            <a:r>
              <a:rPr dirty="0" sz="1300">
                <a:solidFill>
                  <a:srgbClr val="383838"/>
                </a:solidFill>
                <a:latin typeface="Georgia"/>
                <a:cs typeface="Georgia"/>
              </a:rPr>
              <a:t>Technical</a:t>
            </a:r>
            <a:r>
              <a:rPr dirty="0" sz="1300" spc="6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Georgia"/>
                <a:cs typeface="Georgia"/>
              </a:rPr>
              <a:t>Layer</a:t>
            </a:r>
            <a:endParaRPr sz="1300">
              <a:latin typeface="Georgia"/>
              <a:cs typeface="Georgia"/>
            </a:endParaRPr>
          </a:p>
          <a:p>
            <a:pPr marL="12700" marR="5080" indent="252729">
              <a:lnSpc>
                <a:spcPct val="106500"/>
              </a:lnSpc>
              <a:spcBef>
                <a:spcPts val="384"/>
              </a:spcBef>
            </a:pP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Cloud</a:t>
            </a:r>
            <a:r>
              <a:rPr dirty="0" sz="100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concepts,</a:t>
            </a:r>
            <a:r>
              <a:rPr dirty="0" sz="100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383838"/>
                </a:solidFill>
                <a:latin typeface="Tahoma"/>
                <a:cs typeface="Tahoma"/>
              </a:rPr>
              <a:t>data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analytics,</a:t>
            </a:r>
            <a:r>
              <a:rPr dirty="0" sz="100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00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automation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51956" y="8795577"/>
            <a:ext cx="1698625" cy="67500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1300">
                <a:solidFill>
                  <a:srgbClr val="383838"/>
                </a:solidFill>
                <a:latin typeface="Georgia"/>
                <a:cs typeface="Georgia"/>
              </a:rPr>
              <a:t>Core</a:t>
            </a:r>
            <a:r>
              <a:rPr dirty="0" sz="1300" spc="-1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Georgia"/>
                <a:cs typeface="Georgia"/>
              </a:rPr>
              <a:t>Skills</a:t>
            </a:r>
            <a:endParaRPr sz="1300">
              <a:latin typeface="Georgia"/>
              <a:cs typeface="Georgia"/>
            </a:endParaRPr>
          </a:p>
          <a:p>
            <a:pPr marL="12700" marR="5080">
              <a:lnSpc>
                <a:spcPct val="106500"/>
              </a:lnSpc>
              <a:spcBef>
                <a:spcPts val="384"/>
              </a:spcBef>
            </a:pP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00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00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Fundamentals</a:t>
            </a:r>
            <a:r>
              <a:rPr dirty="0" sz="100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S/4HANA</a:t>
            </a:r>
            <a:r>
              <a:rPr dirty="0" sz="1000" spc="114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5760" y="10216433"/>
            <a:ext cx="7160895" cy="634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100"/>
              </a:lnSpc>
              <a:spcBef>
                <a:spcPts val="100"/>
              </a:spcBef>
            </a:pP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Future</a:t>
            </a:r>
            <a:r>
              <a:rPr dirty="0" sz="100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00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00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professionals</a:t>
            </a:r>
            <a:r>
              <a:rPr dirty="0" sz="100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will</a:t>
            </a:r>
            <a:r>
              <a:rPr dirty="0" sz="100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need</a:t>
            </a:r>
            <a:r>
              <a:rPr dirty="0" sz="100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00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combination</a:t>
            </a:r>
            <a:r>
              <a:rPr dirty="0" sz="100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00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00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knowledge,</a:t>
            </a:r>
            <a:r>
              <a:rPr dirty="0" sz="100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technical</a:t>
            </a:r>
            <a:r>
              <a:rPr dirty="0" sz="100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understanding,</a:t>
            </a:r>
            <a:r>
              <a:rPr dirty="0" sz="100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00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business</a:t>
            </a:r>
            <a:r>
              <a:rPr dirty="0" sz="100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skills.</a:t>
            </a:r>
            <a:r>
              <a:rPr dirty="0" sz="100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383838"/>
                </a:solidFill>
                <a:latin typeface="Tahoma"/>
                <a:cs typeface="Tahoma"/>
              </a:rPr>
              <a:t>SAP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fundamentals</a:t>
            </a:r>
            <a:r>
              <a:rPr dirty="0" sz="100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remain</a:t>
            </a:r>
            <a:r>
              <a:rPr dirty="0" sz="100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essential,</a:t>
            </a:r>
            <a:r>
              <a:rPr dirty="0" sz="100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but</a:t>
            </a:r>
            <a:r>
              <a:rPr dirty="0" sz="100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so</a:t>
            </a:r>
            <a:r>
              <a:rPr dirty="0" sz="100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does</a:t>
            </a:r>
            <a:r>
              <a:rPr dirty="0" sz="100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00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ability</a:t>
            </a:r>
            <a:r>
              <a:rPr dirty="0" sz="100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00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work</a:t>
            </a:r>
            <a:r>
              <a:rPr dirty="0" sz="100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with</a:t>
            </a:r>
            <a:r>
              <a:rPr dirty="0" sz="100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analytics</a:t>
            </a:r>
            <a:r>
              <a:rPr dirty="0" sz="100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tools,</a:t>
            </a:r>
            <a:r>
              <a:rPr dirty="0" sz="100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understand</a:t>
            </a:r>
            <a:r>
              <a:rPr dirty="0" sz="100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cloud</a:t>
            </a:r>
            <a:r>
              <a:rPr dirty="0" sz="1000" spc="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concepts,</a:t>
            </a:r>
            <a:r>
              <a:rPr dirty="0" sz="100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communicate financial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insights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60">
                <a:solidFill>
                  <a:srgbClr val="383838"/>
                </a:solidFill>
                <a:latin typeface="Tahoma"/>
                <a:cs typeface="Tahoma"/>
              </a:rPr>
              <a:t>non-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technical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stakeholders.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5760" y="11038904"/>
            <a:ext cx="4094479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>
                <a:solidFill>
                  <a:srgbClr val="020202"/>
                </a:solidFill>
                <a:latin typeface="Georgia"/>
                <a:cs typeface="Georgia"/>
              </a:rPr>
              <a:t>My</a:t>
            </a:r>
            <a:r>
              <a:rPr dirty="0" sz="2050" spc="3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050">
                <a:solidFill>
                  <a:srgbClr val="020202"/>
                </a:solidFill>
                <a:latin typeface="Georgia"/>
                <a:cs typeface="Georgia"/>
              </a:rPr>
              <a:t>Personal</a:t>
            </a:r>
            <a:r>
              <a:rPr dirty="0" sz="2050" spc="4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050">
                <a:solidFill>
                  <a:srgbClr val="020202"/>
                </a:solidFill>
                <a:latin typeface="Georgia"/>
                <a:cs typeface="Georgia"/>
              </a:rPr>
              <a:t>Insights</a:t>
            </a:r>
            <a:r>
              <a:rPr dirty="0" sz="2050" spc="5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050">
                <a:solidFill>
                  <a:srgbClr val="020202"/>
                </a:solidFill>
                <a:latin typeface="Georgia"/>
                <a:cs typeface="Georgia"/>
              </a:rPr>
              <a:t>and</a:t>
            </a:r>
            <a:r>
              <a:rPr dirty="0" sz="2050" spc="4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050" spc="-10">
                <a:solidFill>
                  <a:srgbClr val="020202"/>
                </a:solidFill>
                <a:latin typeface="Georgia"/>
                <a:cs typeface="Georgia"/>
              </a:rPr>
              <a:t>Learning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08460" y="11581734"/>
            <a:ext cx="14604" cy="1084580"/>
          </a:xfrm>
          <a:custGeom>
            <a:avLst/>
            <a:gdLst/>
            <a:ahLst/>
            <a:cxnLst/>
            <a:rect l="l" t="t" r="r" b="b"/>
            <a:pathLst>
              <a:path w="14604" h="1084579">
                <a:moveTo>
                  <a:pt x="8924" y="1084039"/>
                </a:moveTo>
                <a:lnTo>
                  <a:pt x="5063" y="1084039"/>
                </a:lnTo>
                <a:lnTo>
                  <a:pt x="3412" y="1083353"/>
                </a:lnTo>
                <a:lnTo>
                  <a:pt x="685" y="1080626"/>
                </a:lnTo>
                <a:lnTo>
                  <a:pt x="0" y="1078975"/>
                </a:lnTo>
                <a:lnTo>
                  <a:pt x="0" y="1077045"/>
                </a:lnTo>
                <a:lnTo>
                  <a:pt x="0" y="5063"/>
                </a:lnTo>
                <a:lnTo>
                  <a:pt x="685" y="3412"/>
                </a:lnTo>
                <a:lnTo>
                  <a:pt x="3412" y="685"/>
                </a:lnTo>
                <a:lnTo>
                  <a:pt x="5063" y="0"/>
                </a:lnTo>
                <a:lnTo>
                  <a:pt x="8924" y="0"/>
                </a:lnTo>
                <a:lnTo>
                  <a:pt x="10574" y="685"/>
                </a:lnTo>
                <a:lnTo>
                  <a:pt x="13302" y="3412"/>
                </a:lnTo>
                <a:lnTo>
                  <a:pt x="13987" y="5063"/>
                </a:lnTo>
                <a:lnTo>
                  <a:pt x="13987" y="1078975"/>
                </a:lnTo>
                <a:lnTo>
                  <a:pt x="13302" y="1080626"/>
                </a:lnTo>
                <a:lnTo>
                  <a:pt x="10574" y="1083353"/>
                </a:lnTo>
                <a:lnTo>
                  <a:pt x="8924" y="1084039"/>
                </a:lnTo>
                <a:close/>
              </a:path>
            </a:pathLst>
          </a:custGeom>
          <a:solidFill>
            <a:srgbClr val="DF4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95760" y="11671144"/>
            <a:ext cx="7125970" cy="2124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01295" marR="5080">
              <a:lnSpc>
                <a:spcPct val="131600"/>
              </a:lnSpc>
              <a:spcBef>
                <a:spcPts val="120"/>
              </a:spcBef>
            </a:pP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Before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this</a:t>
            </a:r>
            <a:r>
              <a:rPr dirty="0" sz="100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internship,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55">
                <a:solidFill>
                  <a:srgbClr val="383838"/>
                </a:solidFill>
                <a:latin typeface="Tahoma"/>
                <a:cs typeface="Tahoma"/>
              </a:rPr>
              <a:t>I</a:t>
            </a:r>
            <a:r>
              <a:rPr dirty="0" sz="100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mainly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understood</a:t>
            </a:r>
            <a:r>
              <a:rPr dirty="0" sz="100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00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as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00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financial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accounting</a:t>
            </a:r>
            <a:r>
              <a:rPr dirty="0" sz="100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system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6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00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something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that</a:t>
            </a:r>
            <a:r>
              <a:rPr dirty="0" sz="1000" spc="7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recorded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transactions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produced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reports.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During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internship,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55">
                <a:solidFill>
                  <a:srgbClr val="383838"/>
                </a:solidFill>
                <a:latin typeface="Tahoma"/>
                <a:cs typeface="Tahoma"/>
              </a:rPr>
              <a:t>I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realised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it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much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more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45">
                <a:solidFill>
                  <a:srgbClr val="383838"/>
                </a:solidFill>
                <a:latin typeface="Tahoma"/>
                <a:cs typeface="Tahoma"/>
              </a:rPr>
              <a:t>connected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with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overall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business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operations</a:t>
            </a:r>
            <a:r>
              <a:rPr dirty="0" sz="100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than</a:t>
            </a:r>
            <a:r>
              <a:rPr dirty="0" sz="100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55">
                <a:solidFill>
                  <a:srgbClr val="383838"/>
                </a:solidFill>
                <a:latin typeface="Tahoma"/>
                <a:cs typeface="Tahoma"/>
              </a:rPr>
              <a:t>I</a:t>
            </a:r>
            <a:r>
              <a:rPr dirty="0" sz="100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had</a:t>
            </a:r>
            <a:r>
              <a:rPr dirty="0" sz="100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expected.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Learning</a:t>
            </a:r>
            <a:r>
              <a:rPr dirty="0" sz="100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how</a:t>
            </a:r>
            <a:r>
              <a:rPr dirty="0" sz="100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80">
                <a:solidFill>
                  <a:srgbClr val="383838"/>
                </a:solidFill>
                <a:latin typeface="Tahoma"/>
                <a:cs typeface="Tahoma"/>
              </a:rPr>
              <a:t>FI</a:t>
            </a:r>
            <a:r>
              <a:rPr dirty="0" sz="100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00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75">
                <a:solidFill>
                  <a:srgbClr val="383838"/>
                </a:solidFill>
                <a:latin typeface="Tahoma"/>
                <a:cs typeface="Tahoma"/>
              </a:rPr>
              <a:t>CO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work</a:t>
            </a:r>
            <a:r>
              <a:rPr dirty="0" sz="100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together,</a:t>
            </a:r>
            <a:r>
              <a:rPr dirty="0" sz="100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understanding</a:t>
            </a:r>
            <a:r>
              <a:rPr dirty="0" sz="100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00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importance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00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configuration,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studying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troubleshooting</a:t>
            </a:r>
            <a:r>
              <a:rPr dirty="0" sz="10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approaches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gave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me</a:t>
            </a:r>
            <a:r>
              <a:rPr dirty="0" sz="10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more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complete</a:t>
            </a:r>
            <a:r>
              <a:rPr dirty="0" sz="10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picture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0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what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0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actually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does.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1000">
              <a:latin typeface="Tahoma"/>
              <a:cs typeface="Tahoma"/>
            </a:endParaRPr>
          </a:p>
          <a:p>
            <a:pPr marL="12700" marR="53340">
              <a:lnSpc>
                <a:spcPct val="131900"/>
              </a:lnSpc>
              <a:spcBef>
                <a:spcPts val="5"/>
              </a:spcBef>
            </a:pP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Researching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future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this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report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made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me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realise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that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learning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only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traditional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accounting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processes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may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not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be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enough</a:t>
            </a:r>
            <a:r>
              <a:rPr dirty="0" sz="100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going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forward.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Knowledge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00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S/4HANA,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analytics,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automation,</a:t>
            </a:r>
            <a:r>
              <a:rPr dirty="0" sz="100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383838"/>
                </a:solidFill>
                <a:latin typeface="Tahoma"/>
                <a:cs typeface="Tahoma"/>
              </a:rPr>
              <a:t>AI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will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likely</a:t>
            </a:r>
            <a:r>
              <a:rPr dirty="0" sz="100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55">
                <a:solidFill>
                  <a:srgbClr val="383838"/>
                </a:solidFill>
                <a:latin typeface="Tahoma"/>
                <a:cs typeface="Tahoma"/>
              </a:rPr>
              <a:t>become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increasingly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useful.</a:t>
            </a:r>
            <a:r>
              <a:rPr dirty="0" sz="10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As</a:t>
            </a:r>
            <a:r>
              <a:rPr dirty="0" sz="10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0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CSE</a:t>
            </a:r>
            <a:r>
              <a:rPr dirty="0" sz="100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student,</a:t>
            </a:r>
            <a:r>
              <a:rPr dirty="0" sz="10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55">
                <a:solidFill>
                  <a:srgbClr val="383838"/>
                </a:solidFill>
                <a:latin typeface="Tahoma"/>
                <a:cs typeface="Tahoma"/>
              </a:rPr>
              <a:t>I</a:t>
            </a:r>
            <a:r>
              <a:rPr dirty="0" sz="10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find</a:t>
            </a:r>
            <a:r>
              <a:rPr dirty="0" sz="100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0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combination</a:t>
            </a:r>
            <a:r>
              <a:rPr dirty="0" sz="10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0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business</a:t>
            </a:r>
            <a:r>
              <a:rPr dirty="0" sz="100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processes</a:t>
            </a:r>
            <a:r>
              <a:rPr dirty="0" sz="10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0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technology</a:t>
            </a:r>
            <a:r>
              <a:rPr dirty="0" sz="100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particularly</a:t>
            </a:r>
            <a:r>
              <a:rPr dirty="0" sz="10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interesting.</a:t>
            </a:r>
            <a:r>
              <a:rPr dirty="0" sz="10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383838"/>
                </a:solidFill>
                <a:latin typeface="Tahoma"/>
                <a:cs typeface="Tahoma"/>
              </a:rPr>
              <a:t>This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internship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gave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me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foundation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increased</a:t>
            </a:r>
            <a:r>
              <a:rPr dirty="0" sz="100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my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interest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learning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00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further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6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not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as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an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expert,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but</a:t>
            </a:r>
            <a:r>
              <a:rPr dirty="0" sz="100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383838"/>
                </a:solidFill>
                <a:latin typeface="Tahoma"/>
                <a:cs typeface="Tahoma"/>
              </a:rPr>
              <a:t>as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someone</a:t>
            </a:r>
            <a:r>
              <a:rPr dirty="0" sz="100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who</a:t>
            </a:r>
            <a:r>
              <a:rPr dirty="0" sz="100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understands</a:t>
            </a:r>
            <a:r>
              <a:rPr dirty="0" sz="100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00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direction</a:t>
            </a:r>
            <a:r>
              <a:rPr dirty="0" sz="100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00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field</a:t>
            </a:r>
            <a:r>
              <a:rPr dirty="0" sz="100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00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moving</a:t>
            </a:r>
            <a:r>
              <a:rPr dirty="0" sz="100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00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wants</a:t>
            </a:r>
            <a:r>
              <a:rPr dirty="0" sz="100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00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keep</a:t>
            </a:r>
            <a:r>
              <a:rPr dirty="0" sz="100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learning.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5760" y="13990288"/>
            <a:ext cx="3708400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>
                <a:solidFill>
                  <a:srgbClr val="020202"/>
                </a:solidFill>
                <a:latin typeface="Georgia"/>
                <a:cs typeface="Georgia"/>
              </a:rPr>
              <a:t>Future</a:t>
            </a:r>
            <a:r>
              <a:rPr dirty="0" sz="2050" spc="6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050">
                <a:solidFill>
                  <a:srgbClr val="020202"/>
                </a:solidFill>
                <a:latin typeface="Georgia"/>
                <a:cs typeface="Georgia"/>
              </a:rPr>
              <a:t>Outlook</a:t>
            </a:r>
            <a:r>
              <a:rPr dirty="0" sz="2050" spc="55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050">
                <a:solidFill>
                  <a:srgbClr val="020202"/>
                </a:solidFill>
                <a:latin typeface="Georgia"/>
                <a:cs typeface="Georgia"/>
              </a:rPr>
              <a:t>and</a:t>
            </a:r>
            <a:r>
              <a:rPr dirty="0" sz="2050" spc="60">
                <a:solidFill>
                  <a:srgbClr val="020202"/>
                </a:solidFill>
                <a:latin typeface="Georgia"/>
                <a:cs typeface="Georgia"/>
              </a:rPr>
              <a:t> </a:t>
            </a:r>
            <a:r>
              <a:rPr dirty="0" sz="2050" spc="-10">
                <a:solidFill>
                  <a:srgbClr val="020202"/>
                </a:solidFill>
                <a:latin typeface="Georgia"/>
                <a:cs typeface="Georgia"/>
              </a:rPr>
              <a:t>Conclusion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08457" y="14526133"/>
            <a:ext cx="7176134" cy="1741805"/>
          </a:xfrm>
          <a:custGeom>
            <a:avLst/>
            <a:gdLst/>
            <a:ahLst/>
            <a:cxnLst/>
            <a:rect l="l" t="t" r="r" b="b"/>
            <a:pathLst>
              <a:path w="7176134" h="1741805">
                <a:moveTo>
                  <a:pt x="7175640" y="13639"/>
                </a:moveTo>
                <a:lnTo>
                  <a:pt x="7161987" y="0"/>
                </a:lnTo>
                <a:lnTo>
                  <a:pt x="2391880" y="0"/>
                </a:lnTo>
                <a:lnTo>
                  <a:pt x="13652" y="0"/>
                </a:lnTo>
                <a:lnTo>
                  <a:pt x="0" y="13639"/>
                </a:lnTo>
                <a:lnTo>
                  <a:pt x="0" y="1725714"/>
                </a:lnTo>
                <a:lnTo>
                  <a:pt x="0" y="1727809"/>
                </a:lnTo>
                <a:lnTo>
                  <a:pt x="13652" y="1741449"/>
                </a:lnTo>
                <a:lnTo>
                  <a:pt x="2391880" y="1741449"/>
                </a:lnTo>
                <a:lnTo>
                  <a:pt x="7161987" y="1741449"/>
                </a:lnTo>
                <a:lnTo>
                  <a:pt x="7175640" y="1727809"/>
                </a:lnTo>
                <a:lnTo>
                  <a:pt x="7175640" y="13639"/>
                </a:lnTo>
                <a:close/>
              </a:path>
            </a:pathLst>
          </a:custGeom>
          <a:solidFill>
            <a:srgbClr val="F1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21649" y="14634976"/>
            <a:ext cx="2112010" cy="1278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383838"/>
                </a:solidFill>
                <a:latin typeface="Georgia"/>
                <a:cs typeface="Georgia"/>
              </a:rPr>
              <a:t>What</a:t>
            </a:r>
            <a:r>
              <a:rPr dirty="0" sz="1300" spc="-20">
                <a:solidFill>
                  <a:srgbClr val="383838"/>
                </a:solidFill>
                <a:latin typeface="Georgia"/>
                <a:cs typeface="Georgia"/>
              </a:rPr>
              <a:t> Is</a:t>
            </a:r>
            <a:r>
              <a:rPr dirty="0" sz="1300" spc="-4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300">
                <a:solidFill>
                  <a:srgbClr val="383838"/>
                </a:solidFill>
                <a:latin typeface="Georgia"/>
                <a:cs typeface="Georgia"/>
              </a:rPr>
              <a:t>Already</a:t>
            </a:r>
            <a:r>
              <a:rPr dirty="0" sz="1300" spc="-2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Georgia"/>
                <a:cs typeface="Georgia"/>
              </a:rPr>
              <a:t>Happening</a:t>
            </a:r>
            <a:endParaRPr sz="1300">
              <a:latin typeface="Georgia"/>
              <a:cs typeface="Georgia"/>
            </a:endParaRPr>
          </a:p>
          <a:p>
            <a:pPr marL="12700" marR="5080">
              <a:lnSpc>
                <a:spcPct val="131900"/>
              </a:lnSpc>
              <a:spcBef>
                <a:spcPts val="395"/>
              </a:spcBef>
            </a:pP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S/4HANA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adoption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growing,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cloud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deployments</a:t>
            </a:r>
            <a:r>
              <a:rPr dirty="0" sz="100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are</a:t>
            </a:r>
            <a:r>
              <a:rPr dirty="0" sz="100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increasing,</a:t>
            </a:r>
            <a:r>
              <a:rPr dirty="0" sz="100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basic</a:t>
            </a:r>
            <a:r>
              <a:rPr dirty="0" sz="1000" spc="1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383838"/>
                </a:solidFill>
                <a:latin typeface="Tahoma"/>
                <a:cs typeface="Tahoma"/>
              </a:rPr>
              <a:t>AI</a:t>
            </a:r>
            <a:r>
              <a:rPr dirty="0" sz="1000" spc="1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capabilities</a:t>
            </a:r>
            <a:r>
              <a:rPr dirty="0" sz="1000" spc="1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like</a:t>
            </a:r>
            <a:r>
              <a:rPr dirty="0" sz="1000" spc="1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automated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invoice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processing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are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already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383838"/>
                </a:solidFill>
                <a:latin typeface="Tahoma"/>
                <a:cs typeface="Tahoma"/>
              </a:rPr>
              <a:t>in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use</a:t>
            </a:r>
            <a:r>
              <a:rPr dirty="0" sz="100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many</a:t>
            </a:r>
            <a:r>
              <a:rPr dirty="0" sz="1000" spc="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environments.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000340" y="14526125"/>
            <a:ext cx="2392045" cy="1741805"/>
            <a:chOff x="3000340" y="14526125"/>
            <a:chExt cx="2392045" cy="1741805"/>
          </a:xfrm>
        </p:grpSpPr>
        <p:sp>
          <p:nvSpPr>
            <p:cNvPr id="22" name="object 22"/>
            <p:cNvSpPr/>
            <p:nvPr/>
          </p:nvSpPr>
          <p:spPr>
            <a:xfrm>
              <a:off x="3000340" y="14526126"/>
              <a:ext cx="2392045" cy="1741805"/>
            </a:xfrm>
            <a:custGeom>
              <a:avLst/>
              <a:gdLst/>
              <a:ahLst/>
              <a:cxnLst/>
              <a:rect l="l" t="t" r="r" b="b"/>
              <a:pathLst>
                <a:path w="2392045" h="1741805">
                  <a:moveTo>
                    <a:pt x="2391880" y="1741456"/>
                  </a:moveTo>
                  <a:lnTo>
                    <a:pt x="0" y="1741456"/>
                  </a:lnTo>
                  <a:lnTo>
                    <a:pt x="0" y="0"/>
                  </a:lnTo>
                  <a:lnTo>
                    <a:pt x="2391880" y="0"/>
                  </a:lnTo>
                  <a:lnTo>
                    <a:pt x="2391880" y="1741456"/>
                  </a:lnTo>
                  <a:close/>
                </a:path>
              </a:pathLst>
            </a:custGeom>
            <a:solidFill>
              <a:srgbClr val="F1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000340" y="14526125"/>
              <a:ext cx="14604" cy="1741805"/>
            </a:xfrm>
            <a:custGeom>
              <a:avLst/>
              <a:gdLst/>
              <a:ahLst/>
              <a:cxnLst/>
              <a:rect l="l" t="t" r="r" b="b"/>
              <a:pathLst>
                <a:path w="14605" h="1741805">
                  <a:moveTo>
                    <a:pt x="8924" y="1741456"/>
                  </a:moveTo>
                  <a:lnTo>
                    <a:pt x="5063" y="1741456"/>
                  </a:lnTo>
                  <a:lnTo>
                    <a:pt x="3412" y="1740771"/>
                  </a:lnTo>
                  <a:lnTo>
                    <a:pt x="685" y="1738043"/>
                  </a:lnTo>
                  <a:lnTo>
                    <a:pt x="0" y="1736393"/>
                  </a:lnTo>
                  <a:lnTo>
                    <a:pt x="0" y="1734462"/>
                  </a:lnTo>
                  <a:lnTo>
                    <a:pt x="0" y="5063"/>
                  </a:lnTo>
                  <a:lnTo>
                    <a:pt x="685" y="3412"/>
                  </a:lnTo>
                  <a:lnTo>
                    <a:pt x="3412" y="685"/>
                  </a:lnTo>
                  <a:lnTo>
                    <a:pt x="5063" y="0"/>
                  </a:lnTo>
                  <a:lnTo>
                    <a:pt x="8924" y="0"/>
                  </a:lnTo>
                  <a:lnTo>
                    <a:pt x="10574" y="685"/>
                  </a:lnTo>
                  <a:lnTo>
                    <a:pt x="13302" y="3412"/>
                  </a:lnTo>
                  <a:lnTo>
                    <a:pt x="13987" y="5063"/>
                  </a:lnTo>
                  <a:lnTo>
                    <a:pt x="13987" y="1736393"/>
                  </a:lnTo>
                  <a:lnTo>
                    <a:pt x="13302" y="1738043"/>
                  </a:lnTo>
                  <a:lnTo>
                    <a:pt x="10574" y="1740771"/>
                  </a:lnTo>
                  <a:lnTo>
                    <a:pt x="8924" y="1741456"/>
                  </a:lnTo>
                  <a:close/>
                </a:path>
              </a:pathLst>
            </a:custGeom>
            <a:solidFill>
              <a:srgbClr val="D7D3D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3014328" y="14634976"/>
            <a:ext cx="2378075" cy="1482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176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383838"/>
                </a:solidFill>
                <a:latin typeface="Georgia"/>
                <a:cs typeface="Georgia"/>
              </a:rPr>
              <a:t>What</a:t>
            </a:r>
            <a:r>
              <a:rPr dirty="0" sz="1300" spc="-3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300">
                <a:solidFill>
                  <a:srgbClr val="383838"/>
                </a:solidFill>
                <a:latin typeface="Georgia"/>
                <a:cs typeface="Georgia"/>
              </a:rPr>
              <a:t>Is</a:t>
            </a:r>
            <a:r>
              <a:rPr dirty="0" sz="1300" spc="-3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300">
                <a:solidFill>
                  <a:srgbClr val="383838"/>
                </a:solidFill>
                <a:latin typeface="Georgia"/>
                <a:cs typeface="Georgia"/>
              </a:rPr>
              <a:t>Likely</a:t>
            </a:r>
            <a:r>
              <a:rPr dirty="0" sz="1300" spc="-3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300">
                <a:solidFill>
                  <a:srgbClr val="383838"/>
                </a:solidFill>
                <a:latin typeface="Georgia"/>
                <a:cs typeface="Georgia"/>
              </a:rPr>
              <a:t>to</a:t>
            </a:r>
            <a:r>
              <a:rPr dirty="0" sz="1300" spc="-2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300" spc="-20">
                <a:solidFill>
                  <a:srgbClr val="383838"/>
                </a:solidFill>
                <a:latin typeface="Georgia"/>
                <a:cs typeface="Georgia"/>
              </a:rPr>
              <a:t>Grow</a:t>
            </a:r>
            <a:endParaRPr sz="1300">
              <a:latin typeface="Georgia"/>
              <a:cs typeface="Georgia"/>
            </a:endParaRPr>
          </a:p>
          <a:p>
            <a:pPr marL="111760" marR="156210">
              <a:lnSpc>
                <a:spcPct val="132200"/>
              </a:lnSpc>
              <a:spcBef>
                <a:spcPts val="390"/>
              </a:spcBef>
            </a:pP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Real-time</a:t>
            </a:r>
            <a:r>
              <a:rPr dirty="0" sz="100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analytics,</a:t>
            </a:r>
            <a:r>
              <a:rPr dirty="0" sz="100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embedded</a:t>
            </a:r>
            <a:r>
              <a:rPr dirty="0" sz="1000" spc="10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383838"/>
                </a:solidFill>
                <a:latin typeface="Tahoma"/>
                <a:cs typeface="Tahoma"/>
              </a:rPr>
              <a:t>AI,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automation</a:t>
            </a:r>
            <a:r>
              <a:rPr dirty="0" sz="1000" spc="1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000" spc="1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closing</a:t>
            </a:r>
            <a:r>
              <a:rPr dirty="0" sz="1000" spc="1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activities,</a:t>
            </a:r>
            <a:r>
              <a:rPr dirty="0" sz="1000" spc="14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deeper</a:t>
            </a:r>
            <a:r>
              <a:rPr dirty="0" sz="1000" spc="1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integration</a:t>
            </a:r>
            <a:r>
              <a:rPr dirty="0" sz="1000" spc="1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between</a:t>
            </a:r>
            <a:r>
              <a:rPr dirty="0" sz="1000" spc="1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finance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other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business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functions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383838"/>
                </a:solidFill>
                <a:latin typeface="Tahoma"/>
                <a:cs typeface="Tahoma"/>
              </a:rPr>
              <a:t>are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expected</a:t>
            </a:r>
            <a:r>
              <a:rPr dirty="0" sz="10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0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expand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over</a:t>
            </a:r>
            <a:r>
              <a:rPr dirty="0" sz="1000" spc="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000" spc="5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coming</a:t>
            </a:r>
            <a:r>
              <a:rPr dirty="0" sz="1000" spc="1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years.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392220" y="14526125"/>
            <a:ext cx="2392045" cy="1741805"/>
            <a:chOff x="5392220" y="14526125"/>
            <a:chExt cx="2392045" cy="1741805"/>
          </a:xfrm>
        </p:grpSpPr>
        <p:sp>
          <p:nvSpPr>
            <p:cNvPr id="26" name="object 26"/>
            <p:cNvSpPr/>
            <p:nvPr/>
          </p:nvSpPr>
          <p:spPr>
            <a:xfrm>
              <a:off x="5392220" y="14526125"/>
              <a:ext cx="2392045" cy="1741805"/>
            </a:xfrm>
            <a:custGeom>
              <a:avLst/>
              <a:gdLst/>
              <a:ahLst/>
              <a:cxnLst/>
              <a:rect l="l" t="t" r="r" b="b"/>
              <a:pathLst>
                <a:path w="2392045" h="1741805">
                  <a:moveTo>
                    <a:pt x="2378228" y="1741456"/>
                  </a:moveTo>
                  <a:lnTo>
                    <a:pt x="0" y="1741456"/>
                  </a:lnTo>
                  <a:lnTo>
                    <a:pt x="0" y="0"/>
                  </a:lnTo>
                  <a:lnTo>
                    <a:pt x="2378228" y="0"/>
                  </a:lnTo>
                  <a:lnTo>
                    <a:pt x="2380235" y="398"/>
                  </a:lnTo>
                  <a:lnTo>
                    <a:pt x="2391880" y="13644"/>
                  </a:lnTo>
                  <a:lnTo>
                    <a:pt x="2391880" y="1727804"/>
                  </a:lnTo>
                  <a:lnTo>
                    <a:pt x="2378228" y="1741456"/>
                  </a:lnTo>
                  <a:close/>
                </a:path>
              </a:pathLst>
            </a:custGeom>
            <a:solidFill>
              <a:srgbClr val="F1ED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392220" y="14526125"/>
              <a:ext cx="14604" cy="1741805"/>
            </a:xfrm>
            <a:custGeom>
              <a:avLst/>
              <a:gdLst/>
              <a:ahLst/>
              <a:cxnLst/>
              <a:rect l="l" t="t" r="r" b="b"/>
              <a:pathLst>
                <a:path w="14604" h="1741805">
                  <a:moveTo>
                    <a:pt x="8924" y="1741456"/>
                  </a:moveTo>
                  <a:lnTo>
                    <a:pt x="5063" y="1741456"/>
                  </a:lnTo>
                  <a:lnTo>
                    <a:pt x="3412" y="1740771"/>
                  </a:lnTo>
                  <a:lnTo>
                    <a:pt x="685" y="1738043"/>
                  </a:lnTo>
                  <a:lnTo>
                    <a:pt x="0" y="1736393"/>
                  </a:lnTo>
                  <a:lnTo>
                    <a:pt x="0" y="1734462"/>
                  </a:lnTo>
                  <a:lnTo>
                    <a:pt x="0" y="5063"/>
                  </a:lnTo>
                  <a:lnTo>
                    <a:pt x="685" y="3412"/>
                  </a:lnTo>
                  <a:lnTo>
                    <a:pt x="3412" y="685"/>
                  </a:lnTo>
                  <a:lnTo>
                    <a:pt x="5063" y="0"/>
                  </a:lnTo>
                  <a:lnTo>
                    <a:pt x="8924" y="0"/>
                  </a:lnTo>
                  <a:lnTo>
                    <a:pt x="10574" y="685"/>
                  </a:lnTo>
                  <a:lnTo>
                    <a:pt x="13302" y="3412"/>
                  </a:lnTo>
                  <a:lnTo>
                    <a:pt x="13987" y="5063"/>
                  </a:lnTo>
                  <a:lnTo>
                    <a:pt x="13987" y="1736393"/>
                  </a:lnTo>
                  <a:lnTo>
                    <a:pt x="13302" y="1738043"/>
                  </a:lnTo>
                  <a:lnTo>
                    <a:pt x="10574" y="1740771"/>
                  </a:lnTo>
                  <a:lnTo>
                    <a:pt x="8924" y="1741456"/>
                  </a:lnTo>
                  <a:close/>
                </a:path>
              </a:pathLst>
            </a:custGeom>
            <a:solidFill>
              <a:srgbClr val="D7D3D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5505409" y="14634976"/>
            <a:ext cx="2064385" cy="1482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383838"/>
                </a:solidFill>
                <a:latin typeface="Georgia"/>
                <a:cs typeface="Georgia"/>
              </a:rPr>
              <a:t>What</a:t>
            </a:r>
            <a:r>
              <a:rPr dirty="0" sz="1300" spc="-45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Georgia"/>
                <a:cs typeface="Georgia"/>
              </a:rPr>
              <a:t>Remains</a:t>
            </a:r>
            <a:r>
              <a:rPr dirty="0" sz="1300" spc="-40">
                <a:solidFill>
                  <a:srgbClr val="383838"/>
                </a:solidFill>
                <a:latin typeface="Georgia"/>
                <a:cs typeface="Georgia"/>
              </a:rPr>
              <a:t> </a:t>
            </a:r>
            <a:r>
              <a:rPr dirty="0" sz="1300" spc="-10">
                <a:solidFill>
                  <a:srgbClr val="383838"/>
                </a:solidFill>
                <a:latin typeface="Georgia"/>
                <a:cs typeface="Georgia"/>
              </a:rPr>
              <a:t>Uncertain</a:t>
            </a:r>
            <a:endParaRPr sz="1300">
              <a:latin typeface="Georgia"/>
              <a:cs typeface="Georgia"/>
            </a:endParaRPr>
          </a:p>
          <a:p>
            <a:pPr marL="12700" marR="5080">
              <a:lnSpc>
                <a:spcPct val="132200"/>
              </a:lnSpc>
              <a:spcBef>
                <a:spcPts val="390"/>
              </a:spcBef>
            </a:pP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000" spc="-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55">
                <a:solidFill>
                  <a:srgbClr val="383838"/>
                </a:solidFill>
                <a:latin typeface="Tahoma"/>
                <a:cs typeface="Tahoma"/>
              </a:rPr>
              <a:t>pace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 of generative </a:t>
            </a:r>
            <a:r>
              <a:rPr dirty="0" sz="1000" spc="-50">
                <a:solidFill>
                  <a:srgbClr val="383838"/>
                </a:solidFill>
                <a:latin typeface="Tahoma"/>
                <a:cs typeface="Tahoma"/>
              </a:rPr>
              <a:t>AI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adoption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finance,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the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extent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of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fully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autonomous</a:t>
            </a:r>
            <a:r>
              <a:rPr dirty="0" sz="100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processes,</a:t>
            </a:r>
            <a:r>
              <a:rPr dirty="0" sz="100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000" spc="9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383838"/>
                </a:solidFill>
                <a:latin typeface="Tahoma"/>
                <a:cs typeface="Tahoma"/>
              </a:rPr>
              <a:t>how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quickly</a:t>
            </a:r>
            <a:r>
              <a:rPr dirty="0" sz="100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organisations</a:t>
            </a:r>
            <a:r>
              <a:rPr dirty="0" sz="100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will</a:t>
            </a:r>
            <a:r>
              <a:rPr dirty="0" sz="1000" spc="1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complete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their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S/4HANA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migrations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are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still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evolving</a:t>
            </a:r>
            <a:r>
              <a:rPr dirty="0" sz="100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questions.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29442" y="18400690"/>
            <a:ext cx="42545" cy="42545"/>
          </a:xfrm>
          <a:custGeom>
            <a:avLst/>
            <a:gdLst/>
            <a:ahLst/>
            <a:cxnLst/>
            <a:rect l="l" t="t" r="r" b="b"/>
            <a:pathLst>
              <a:path w="42545" h="42544">
                <a:moveTo>
                  <a:pt x="23764" y="41962"/>
                </a:moveTo>
                <a:lnTo>
                  <a:pt x="18197" y="41962"/>
                </a:lnTo>
                <a:lnTo>
                  <a:pt x="15519" y="41431"/>
                </a:lnTo>
                <a:lnTo>
                  <a:pt x="0" y="23764"/>
                </a:lnTo>
                <a:lnTo>
                  <a:pt x="0" y="18197"/>
                </a:lnTo>
                <a:lnTo>
                  <a:pt x="18197" y="0"/>
                </a:lnTo>
                <a:lnTo>
                  <a:pt x="23764" y="0"/>
                </a:lnTo>
                <a:lnTo>
                  <a:pt x="41962" y="18197"/>
                </a:lnTo>
                <a:lnTo>
                  <a:pt x="41962" y="20981"/>
                </a:lnTo>
                <a:lnTo>
                  <a:pt x="41962" y="23764"/>
                </a:lnTo>
                <a:lnTo>
                  <a:pt x="26443" y="41431"/>
                </a:lnTo>
                <a:lnTo>
                  <a:pt x="23764" y="41962"/>
                </a:lnTo>
                <a:close/>
              </a:path>
            </a:pathLst>
          </a:custGeom>
          <a:solidFill>
            <a:srgbClr val="38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29442" y="18645474"/>
            <a:ext cx="42545" cy="42545"/>
          </a:xfrm>
          <a:custGeom>
            <a:avLst/>
            <a:gdLst/>
            <a:ahLst/>
            <a:cxnLst/>
            <a:rect l="l" t="t" r="r" b="b"/>
            <a:pathLst>
              <a:path w="42545" h="42544">
                <a:moveTo>
                  <a:pt x="23764" y="41962"/>
                </a:moveTo>
                <a:lnTo>
                  <a:pt x="18197" y="41962"/>
                </a:lnTo>
                <a:lnTo>
                  <a:pt x="15519" y="41431"/>
                </a:lnTo>
                <a:lnTo>
                  <a:pt x="0" y="23764"/>
                </a:lnTo>
                <a:lnTo>
                  <a:pt x="0" y="18197"/>
                </a:lnTo>
                <a:lnTo>
                  <a:pt x="18197" y="0"/>
                </a:lnTo>
                <a:lnTo>
                  <a:pt x="23764" y="0"/>
                </a:lnTo>
                <a:lnTo>
                  <a:pt x="41962" y="18197"/>
                </a:lnTo>
                <a:lnTo>
                  <a:pt x="41962" y="20981"/>
                </a:lnTo>
                <a:lnTo>
                  <a:pt x="41962" y="23764"/>
                </a:lnTo>
                <a:lnTo>
                  <a:pt x="26443" y="41431"/>
                </a:lnTo>
                <a:lnTo>
                  <a:pt x="23764" y="41962"/>
                </a:lnTo>
                <a:close/>
              </a:path>
            </a:pathLst>
          </a:custGeom>
          <a:solidFill>
            <a:srgbClr val="38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29442" y="18890257"/>
            <a:ext cx="42545" cy="42545"/>
          </a:xfrm>
          <a:custGeom>
            <a:avLst/>
            <a:gdLst/>
            <a:ahLst/>
            <a:cxnLst/>
            <a:rect l="l" t="t" r="r" b="b"/>
            <a:pathLst>
              <a:path w="42545" h="42544">
                <a:moveTo>
                  <a:pt x="23764" y="41962"/>
                </a:moveTo>
                <a:lnTo>
                  <a:pt x="18197" y="41962"/>
                </a:lnTo>
                <a:lnTo>
                  <a:pt x="15519" y="41431"/>
                </a:lnTo>
                <a:lnTo>
                  <a:pt x="0" y="23764"/>
                </a:lnTo>
                <a:lnTo>
                  <a:pt x="0" y="18197"/>
                </a:lnTo>
                <a:lnTo>
                  <a:pt x="18197" y="0"/>
                </a:lnTo>
                <a:lnTo>
                  <a:pt x="23764" y="0"/>
                </a:lnTo>
                <a:lnTo>
                  <a:pt x="41962" y="18197"/>
                </a:lnTo>
                <a:lnTo>
                  <a:pt x="41962" y="20981"/>
                </a:lnTo>
                <a:lnTo>
                  <a:pt x="41962" y="23764"/>
                </a:lnTo>
                <a:lnTo>
                  <a:pt x="26443" y="41431"/>
                </a:lnTo>
                <a:lnTo>
                  <a:pt x="23764" y="41962"/>
                </a:lnTo>
                <a:close/>
              </a:path>
            </a:pathLst>
          </a:custGeom>
          <a:solidFill>
            <a:srgbClr val="38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29442" y="19135041"/>
            <a:ext cx="42545" cy="42545"/>
          </a:xfrm>
          <a:custGeom>
            <a:avLst/>
            <a:gdLst/>
            <a:ahLst/>
            <a:cxnLst/>
            <a:rect l="l" t="t" r="r" b="b"/>
            <a:pathLst>
              <a:path w="42545" h="42544">
                <a:moveTo>
                  <a:pt x="23764" y="41962"/>
                </a:moveTo>
                <a:lnTo>
                  <a:pt x="18197" y="41962"/>
                </a:lnTo>
                <a:lnTo>
                  <a:pt x="15519" y="41424"/>
                </a:lnTo>
                <a:lnTo>
                  <a:pt x="0" y="23764"/>
                </a:lnTo>
                <a:lnTo>
                  <a:pt x="0" y="18197"/>
                </a:lnTo>
                <a:lnTo>
                  <a:pt x="18197" y="0"/>
                </a:lnTo>
                <a:lnTo>
                  <a:pt x="23764" y="0"/>
                </a:lnTo>
                <a:lnTo>
                  <a:pt x="41962" y="18197"/>
                </a:lnTo>
                <a:lnTo>
                  <a:pt x="41962" y="20981"/>
                </a:lnTo>
                <a:lnTo>
                  <a:pt x="41962" y="23764"/>
                </a:lnTo>
                <a:lnTo>
                  <a:pt x="26443" y="41424"/>
                </a:lnTo>
                <a:lnTo>
                  <a:pt x="23764" y="41962"/>
                </a:lnTo>
                <a:close/>
              </a:path>
            </a:pathLst>
          </a:custGeom>
          <a:solidFill>
            <a:srgbClr val="38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29442" y="19386818"/>
            <a:ext cx="42545" cy="42545"/>
          </a:xfrm>
          <a:custGeom>
            <a:avLst/>
            <a:gdLst/>
            <a:ahLst/>
            <a:cxnLst/>
            <a:rect l="l" t="t" r="r" b="b"/>
            <a:pathLst>
              <a:path w="42545" h="42544">
                <a:moveTo>
                  <a:pt x="23764" y="41962"/>
                </a:moveTo>
                <a:lnTo>
                  <a:pt x="18197" y="41962"/>
                </a:lnTo>
                <a:lnTo>
                  <a:pt x="15519" y="41431"/>
                </a:lnTo>
                <a:lnTo>
                  <a:pt x="0" y="23764"/>
                </a:lnTo>
                <a:lnTo>
                  <a:pt x="0" y="18197"/>
                </a:lnTo>
                <a:lnTo>
                  <a:pt x="18197" y="0"/>
                </a:lnTo>
                <a:lnTo>
                  <a:pt x="23764" y="0"/>
                </a:lnTo>
                <a:lnTo>
                  <a:pt x="41962" y="18197"/>
                </a:lnTo>
                <a:lnTo>
                  <a:pt x="41962" y="20981"/>
                </a:lnTo>
                <a:lnTo>
                  <a:pt x="41962" y="23764"/>
                </a:lnTo>
                <a:lnTo>
                  <a:pt x="26443" y="41431"/>
                </a:lnTo>
                <a:lnTo>
                  <a:pt x="23764" y="41962"/>
                </a:lnTo>
                <a:close/>
              </a:path>
            </a:pathLst>
          </a:custGeom>
          <a:solidFill>
            <a:srgbClr val="38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29442" y="19631600"/>
            <a:ext cx="42545" cy="42545"/>
          </a:xfrm>
          <a:custGeom>
            <a:avLst/>
            <a:gdLst/>
            <a:ahLst/>
            <a:cxnLst/>
            <a:rect l="l" t="t" r="r" b="b"/>
            <a:pathLst>
              <a:path w="42545" h="42544">
                <a:moveTo>
                  <a:pt x="23764" y="41962"/>
                </a:moveTo>
                <a:lnTo>
                  <a:pt x="18197" y="41962"/>
                </a:lnTo>
                <a:lnTo>
                  <a:pt x="15519" y="41431"/>
                </a:lnTo>
                <a:lnTo>
                  <a:pt x="0" y="23764"/>
                </a:lnTo>
                <a:lnTo>
                  <a:pt x="0" y="18197"/>
                </a:lnTo>
                <a:lnTo>
                  <a:pt x="18197" y="0"/>
                </a:lnTo>
                <a:lnTo>
                  <a:pt x="23764" y="0"/>
                </a:lnTo>
                <a:lnTo>
                  <a:pt x="41962" y="18197"/>
                </a:lnTo>
                <a:lnTo>
                  <a:pt x="41962" y="20981"/>
                </a:lnTo>
                <a:lnTo>
                  <a:pt x="41962" y="23764"/>
                </a:lnTo>
                <a:lnTo>
                  <a:pt x="26443" y="41431"/>
                </a:lnTo>
                <a:lnTo>
                  <a:pt x="23764" y="41962"/>
                </a:lnTo>
                <a:close/>
              </a:path>
            </a:pathLst>
          </a:custGeom>
          <a:solidFill>
            <a:srgbClr val="38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595760" y="16356990"/>
            <a:ext cx="7162165" cy="33756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32200"/>
              </a:lnSpc>
              <a:spcBef>
                <a:spcPts val="110"/>
              </a:spcBef>
            </a:pPr>
            <a:r>
              <a:rPr dirty="0" sz="1000" spc="-80">
                <a:solidFill>
                  <a:srgbClr val="383838"/>
                </a:solidFill>
                <a:latin typeface="Tahoma"/>
                <a:cs typeface="Tahoma"/>
              </a:rPr>
              <a:t>In</a:t>
            </a:r>
            <a:r>
              <a:rPr dirty="0" sz="100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conclusion,</a:t>
            </a:r>
            <a:r>
              <a:rPr dirty="0" sz="100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00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00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is</a:t>
            </a:r>
            <a:r>
              <a:rPr dirty="0" sz="100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evolving</a:t>
            </a:r>
            <a:r>
              <a:rPr dirty="0" sz="100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rather</a:t>
            </a:r>
            <a:r>
              <a:rPr dirty="0" sz="100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than</a:t>
            </a:r>
            <a:r>
              <a:rPr dirty="0" sz="100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disappearing.</a:t>
            </a:r>
            <a:r>
              <a:rPr dirty="0" sz="100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00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S/4HANA,</a:t>
            </a:r>
            <a:r>
              <a:rPr dirty="0" sz="100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cloud</a:t>
            </a:r>
            <a:r>
              <a:rPr dirty="0" sz="100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technology,</a:t>
            </a:r>
            <a:r>
              <a:rPr dirty="0" sz="100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80">
                <a:solidFill>
                  <a:srgbClr val="383838"/>
                </a:solidFill>
                <a:latin typeface="Tahoma"/>
                <a:cs typeface="Tahoma"/>
              </a:rPr>
              <a:t>AI,</a:t>
            </a:r>
            <a:r>
              <a:rPr dirty="0" sz="1000" spc="6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automation,</a:t>
            </a:r>
            <a:r>
              <a:rPr dirty="0" sz="100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00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real-</a:t>
            </a:r>
            <a:r>
              <a:rPr dirty="0" sz="1000" spc="-20">
                <a:solidFill>
                  <a:srgbClr val="383838"/>
                </a:solidFill>
                <a:latin typeface="Tahoma"/>
                <a:cs typeface="Tahoma"/>
              </a:rPr>
              <a:t>time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analytics</a:t>
            </a:r>
            <a:r>
              <a:rPr dirty="0" sz="100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are</a:t>
            </a:r>
            <a:r>
              <a:rPr dirty="0" sz="100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reshaping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how</a:t>
            </a:r>
            <a:r>
              <a:rPr dirty="0" sz="100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operates.</a:t>
            </a:r>
            <a:r>
              <a:rPr dirty="0" sz="100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These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changes</a:t>
            </a:r>
            <a:r>
              <a:rPr dirty="0" sz="100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create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real</a:t>
            </a:r>
            <a:r>
              <a:rPr dirty="0" sz="100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opportunities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for</a:t>
            </a:r>
            <a:r>
              <a:rPr dirty="0" sz="100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businesses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000" spc="-1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professionals,</a:t>
            </a:r>
            <a:r>
              <a:rPr dirty="0" sz="1000" spc="5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but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they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also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bring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challenges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6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migration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complexity,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training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needs,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security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concerns,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skill</a:t>
            </a:r>
            <a:r>
              <a:rPr dirty="0" sz="1000" spc="6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gaps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6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that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must</a:t>
            </a:r>
            <a:r>
              <a:rPr dirty="0" sz="1000" spc="7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be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managed</a:t>
            </a:r>
            <a:r>
              <a:rPr dirty="0" sz="100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carefully.</a:t>
            </a:r>
            <a:r>
              <a:rPr dirty="0" sz="100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Future</a:t>
            </a:r>
            <a:r>
              <a:rPr dirty="0" sz="100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00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FICO</a:t>
            </a:r>
            <a:r>
              <a:rPr dirty="0" sz="100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professionals</a:t>
            </a:r>
            <a:r>
              <a:rPr dirty="0" sz="1000" spc="2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will</a:t>
            </a:r>
            <a:r>
              <a:rPr dirty="0" sz="100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need</a:t>
            </a:r>
            <a:r>
              <a:rPr dirty="0" sz="100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both</a:t>
            </a:r>
            <a:r>
              <a:rPr dirty="0" sz="100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solid</a:t>
            </a:r>
            <a:r>
              <a:rPr dirty="0" sz="100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00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knowledge</a:t>
            </a:r>
            <a:r>
              <a:rPr dirty="0" sz="100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00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broader</a:t>
            </a:r>
            <a:r>
              <a:rPr dirty="0" sz="100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technology</a:t>
            </a:r>
            <a:r>
              <a:rPr dirty="0" sz="100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000" spc="5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business</a:t>
            </a:r>
            <a:r>
              <a:rPr dirty="0" sz="100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skills.</a:t>
            </a:r>
            <a:r>
              <a:rPr dirty="0" sz="100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This</a:t>
            </a:r>
            <a:r>
              <a:rPr dirty="0" sz="100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internship</a:t>
            </a:r>
            <a:r>
              <a:rPr dirty="0" sz="100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has</a:t>
            </a:r>
            <a:r>
              <a:rPr dirty="0" sz="100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provided</a:t>
            </a:r>
            <a:r>
              <a:rPr dirty="0" sz="100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a</a:t>
            </a:r>
            <a:r>
              <a:rPr dirty="0" sz="100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valuable</a:t>
            </a:r>
            <a:r>
              <a:rPr dirty="0" sz="100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foundation</a:t>
            </a:r>
            <a:r>
              <a:rPr dirty="0" sz="100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00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motivated</a:t>
            </a:r>
            <a:r>
              <a:rPr dirty="0" sz="100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me</a:t>
            </a:r>
            <a:r>
              <a:rPr dirty="0" sz="100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to</a:t>
            </a:r>
            <a:r>
              <a:rPr dirty="0" sz="100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continue</a:t>
            </a:r>
            <a:r>
              <a:rPr dirty="0" sz="100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learning</a:t>
            </a:r>
            <a:r>
              <a:rPr dirty="0" sz="100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about</a:t>
            </a:r>
            <a:r>
              <a:rPr dirty="0" sz="1000" spc="3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1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000" spc="3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383838"/>
                </a:solidFill>
                <a:latin typeface="Tahoma"/>
                <a:cs typeface="Tahoma"/>
              </a:rPr>
              <a:t>and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related</a:t>
            </a:r>
            <a:r>
              <a:rPr dirty="0" sz="100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technologies.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050" spc="-10">
                <a:solidFill>
                  <a:srgbClr val="020202"/>
                </a:solidFill>
                <a:latin typeface="Georgia"/>
                <a:cs typeface="Georgia"/>
              </a:rPr>
              <a:t>References</a:t>
            </a:r>
            <a:endParaRPr sz="2050">
              <a:latin typeface="Georgia"/>
              <a:cs typeface="Georgia"/>
            </a:endParaRPr>
          </a:p>
          <a:p>
            <a:pPr marL="213360" marR="2527935">
              <a:lnSpc>
                <a:spcPct val="160600"/>
              </a:lnSpc>
              <a:spcBef>
                <a:spcPts val="1000"/>
              </a:spcBef>
            </a:pP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00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Help</a:t>
            </a:r>
            <a:r>
              <a:rPr dirty="0" sz="100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Portal</a:t>
            </a:r>
            <a:r>
              <a:rPr dirty="0" sz="100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6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00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00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S/4HANA</a:t>
            </a:r>
            <a:r>
              <a:rPr dirty="0" sz="100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000" spc="8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Documentation</a:t>
            </a:r>
            <a:r>
              <a:rPr dirty="0" sz="1000" spc="8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(help.sap.com)</a:t>
            </a:r>
            <a:r>
              <a:rPr dirty="0" sz="1000" spc="5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Learning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6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00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S/4HANA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00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Learning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Journeys</a:t>
            </a:r>
            <a:r>
              <a:rPr dirty="0" sz="100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(learning.sap.com)</a:t>
            </a:r>
            <a:endParaRPr sz="1000">
              <a:latin typeface="Tahoma"/>
              <a:cs typeface="Tahoma"/>
            </a:endParaRPr>
          </a:p>
          <a:p>
            <a:pPr marL="213360" marR="2461895">
              <a:lnSpc>
                <a:spcPct val="160600"/>
              </a:lnSpc>
            </a:pP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News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6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00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Business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383838"/>
                </a:solidFill>
                <a:latin typeface="Tahoma"/>
                <a:cs typeface="Tahoma"/>
              </a:rPr>
              <a:t>AI</a:t>
            </a:r>
            <a:r>
              <a:rPr dirty="0" sz="100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Innovation</a:t>
            </a:r>
            <a:r>
              <a:rPr dirty="0" sz="1000" spc="5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Articles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(news.sap.com)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0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Official</a:t>
            </a:r>
            <a:r>
              <a:rPr dirty="0" sz="100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Website</a:t>
            </a:r>
            <a:r>
              <a:rPr dirty="0" sz="10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6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00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0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S/4HANA</a:t>
            </a:r>
            <a:r>
              <a:rPr dirty="0" sz="100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Cloud</a:t>
            </a:r>
            <a:r>
              <a:rPr dirty="0" sz="10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Product</a:t>
            </a:r>
            <a:r>
              <a:rPr dirty="0" sz="100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Information</a:t>
            </a:r>
            <a:r>
              <a:rPr dirty="0" sz="10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(sap.com)</a:t>
            </a:r>
            <a:endParaRPr sz="1000">
              <a:latin typeface="Tahoma"/>
              <a:cs typeface="Tahoma"/>
            </a:endParaRPr>
          </a:p>
          <a:p>
            <a:pPr marL="213360" marR="1325245">
              <a:lnSpc>
                <a:spcPct val="160600"/>
              </a:lnSpc>
              <a:spcBef>
                <a:spcPts val="55"/>
              </a:spcBef>
            </a:pP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0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Community</a:t>
            </a:r>
            <a:r>
              <a:rPr dirty="0" sz="100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6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0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Discussions</a:t>
            </a:r>
            <a:r>
              <a:rPr dirty="0" sz="100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on</a:t>
            </a:r>
            <a:r>
              <a:rPr dirty="0" sz="100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S/4HANA</a:t>
            </a:r>
            <a:r>
              <a:rPr dirty="0" sz="10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Finance</a:t>
            </a:r>
            <a:r>
              <a:rPr dirty="0" sz="100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and</a:t>
            </a:r>
            <a:r>
              <a:rPr dirty="0" sz="100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Universal</a:t>
            </a:r>
            <a:r>
              <a:rPr dirty="0" sz="1000" spc="9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Journal</a:t>
            </a:r>
            <a:r>
              <a:rPr dirty="0" sz="1000" spc="10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(community.sap.com)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SAP</a:t>
            </a:r>
            <a:r>
              <a:rPr dirty="0" sz="100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Fiori</a:t>
            </a:r>
            <a:r>
              <a:rPr dirty="0" sz="100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Design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Guidelines</a:t>
            </a:r>
            <a:r>
              <a:rPr dirty="0" sz="100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60">
                <a:solidFill>
                  <a:srgbClr val="383838"/>
                </a:solidFill>
                <a:latin typeface="Tahoma"/>
                <a:cs typeface="Tahoma"/>
              </a:rPr>
              <a:t>—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Role-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Based</a:t>
            </a:r>
            <a:r>
              <a:rPr dirty="0" sz="100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60">
                <a:solidFill>
                  <a:srgbClr val="383838"/>
                </a:solidFill>
                <a:latin typeface="Tahoma"/>
                <a:cs typeface="Tahoma"/>
              </a:rPr>
              <a:t>App</a:t>
            </a:r>
            <a:r>
              <a:rPr dirty="0" sz="1000" spc="50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383838"/>
                </a:solidFill>
                <a:latin typeface="Tahoma"/>
                <a:cs typeface="Tahoma"/>
              </a:rPr>
              <a:t>Design</a:t>
            </a:r>
            <a:r>
              <a:rPr dirty="0" sz="1000" spc="45">
                <a:solidFill>
                  <a:srgbClr val="383838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383838"/>
                </a:solidFill>
                <a:latin typeface="Tahoma"/>
                <a:cs typeface="Tahoma"/>
              </a:rPr>
              <a:t>(fiori.sap.com)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2026-09-10T13:00:20Z</dcterms:created>
  <dcterms:modified xsi:type="dcterms:W3CDTF">2026-09-10T13:00:20Z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2026-09-06T00:00:00Z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2026-09-10T00:00:00Z</vt:filetime>
  </property>
  <property fmtid="{D5CDD505-2E9C-101B-9397-08002B2CF9AE}" pid="6" name="Producer">
    <vt:lpwstr>pdf-lib (https://github.com/Hopding/pdf-lib)</vt:lpwstr>
  </property>
</Properties>
</file>