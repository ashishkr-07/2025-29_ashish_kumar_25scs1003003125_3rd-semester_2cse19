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20104100"/>
  <p:notesSz cx="114300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B1B2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B3838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B3838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5974" y="768349"/>
            <a:ext cx="643382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B1B2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5974" y="1949450"/>
            <a:ext cx="9785350" cy="3631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B3838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hyperlink" Target="https://help.sap.com/" TargetMode="External"/><Relationship Id="rId4" Type="http://schemas.openxmlformats.org/officeDocument/2006/relationships/hyperlink" Target="https://learning.sap.com/" TargetMode="External"/><Relationship Id="rId5" Type="http://schemas.openxmlformats.org/officeDocument/2006/relationships/hyperlink" Target="https://community.sap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8675" y="819149"/>
            <a:ext cx="2028825" cy="257175"/>
          </a:xfrm>
          <a:custGeom>
            <a:avLst/>
            <a:gdLst/>
            <a:ahLst/>
            <a:cxnLst/>
            <a:rect l="l" t="t" r="r" b="b"/>
            <a:pathLst>
              <a:path w="2028825" h="257175">
                <a:moveTo>
                  <a:pt x="1987181" y="257175"/>
                </a:moveTo>
                <a:lnTo>
                  <a:pt x="41643" y="257175"/>
                </a:lnTo>
                <a:lnTo>
                  <a:pt x="35518" y="255955"/>
                </a:lnTo>
                <a:lnTo>
                  <a:pt x="1219" y="221656"/>
                </a:lnTo>
                <a:lnTo>
                  <a:pt x="0" y="215531"/>
                </a:lnTo>
                <a:lnTo>
                  <a:pt x="0" y="209169"/>
                </a:lnTo>
                <a:lnTo>
                  <a:pt x="0" y="41643"/>
                </a:lnTo>
                <a:lnTo>
                  <a:pt x="23755" y="6086"/>
                </a:lnTo>
                <a:lnTo>
                  <a:pt x="41643" y="0"/>
                </a:lnTo>
                <a:lnTo>
                  <a:pt x="1987181" y="0"/>
                </a:lnTo>
                <a:lnTo>
                  <a:pt x="2022738" y="23755"/>
                </a:lnTo>
                <a:lnTo>
                  <a:pt x="2028825" y="41643"/>
                </a:lnTo>
                <a:lnTo>
                  <a:pt x="2028825" y="215531"/>
                </a:lnTo>
                <a:lnTo>
                  <a:pt x="2005069" y="251088"/>
                </a:lnTo>
                <a:lnTo>
                  <a:pt x="1993306" y="255955"/>
                </a:lnTo>
                <a:lnTo>
                  <a:pt x="1987181" y="257175"/>
                </a:lnTo>
                <a:close/>
              </a:path>
            </a:pathLst>
          </a:custGeom>
          <a:solidFill>
            <a:srgbClr val="E0E0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8815" y="831214"/>
            <a:ext cx="185102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3B3838"/>
                </a:solidFill>
                <a:latin typeface="Roboto"/>
                <a:cs typeface="Roboto"/>
              </a:rPr>
              <a:t>WEEK</a:t>
            </a:r>
            <a:r>
              <a:rPr dirty="0" sz="1050" spc="9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3B3838"/>
                </a:solidFill>
                <a:latin typeface="Roboto"/>
                <a:cs typeface="Roboto"/>
              </a:rPr>
              <a:t>5</a:t>
            </a:r>
            <a:r>
              <a:rPr dirty="0" sz="1050" spc="9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3B3838"/>
                </a:solidFill>
                <a:latin typeface="Roboto"/>
                <a:cs typeface="Roboto"/>
              </a:rPr>
              <a:t>INTERNSHIP</a:t>
            </a:r>
            <a:r>
              <a:rPr dirty="0" sz="1050" spc="1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B3838"/>
                </a:solidFill>
                <a:latin typeface="Roboto"/>
                <a:cs typeface="Roboto"/>
              </a:rPr>
              <a:t>REPORT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15974" y="1120775"/>
            <a:ext cx="95484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35"/>
              <a:t>Common</a:t>
            </a:r>
            <a:r>
              <a:rPr dirty="0" spc="-160"/>
              <a:t> </a:t>
            </a:r>
            <a:r>
              <a:rPr dirty="0" spc="170"/>
              <a:t>Issues</a:t>
            </a:r>
            <a:r>
              <a:rPr dirty="0" spc="-155"/>
              <a:t> </a:t>
            </a:r>
            <a:r>
              <a:rPr dirty="0"/>
              <a:t>in</a:t>
            </a:r>
            <a:r>
              <a:rPr dirty="0" spc="-155"/>
              <a:t> </a:t>
            </a:r>
            <a:r>
              <a:rPr dirty="0" spc="305"/>
              <a:t>SAP</a:t>
            </a:r>
            <a:r>
              <a:rPr dirty="0" spc="-245"/>
              <a:t> </a:t>
            </a:r>
            <a:r>
              <a:rPr dirty="0" spc="165"/>
              <a:t>FICO</a:t>
            </a:r>
            <a:r>
              <a:rPr dirty="0" spc="-155"/>
              <a:t> </a:t>
            </a:r>
            <a:r>
              <a:rPr dirty="0" spc="145"/>
              <a:t>and</a:t>
            </a:r>
            <a:r>
              <a:rPr dirty="0" spc="-254"/>
              <a:t> </a:t>
            </a:r>
            <a:r>
              <a:rPr dirty="0"/>
              <a:t>Their</a:t>
            </a:r>
            <a:r>
              <a:rPr dirty="0" spc="-235"/>
              <a:t> </a:t>
            </a:r>
            <a:r>
              <a:rPr dirty="0" spc="90"/>
              <a:t>Solutions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55"/>
              <a:t> </a:t>
            </a:r>
            <a:r>
              <a:rPr dirty="0" spc="-10"/>
              <a:t>Troubleshooting</a:t>
            </a:r>
            <a:r>
              <a:rPr dirty="0" spc="-25"/>
              <a:t> </a:t>
            </a:r>
            <a:r>
              <a:rPr dirty="0"/>
              <a:t>Guide</a:t>
            </a:r>
            <a:r>
              <a:rPr dirty="0" spc="-25"/>
              <a:t> </a:t>
            </a:r>
            <a:r>
              <a:rPr dirty="0"/>
              <a:t>—</a:t>
            </a:r>
            <a:r>
              <a:rPr dirty="0" spc="-30"/>
              <a:t> </a:t>
            </a:r>
            <a:r>
              <a:rPr dirty="0" spc="-10"/>
              <a:t>Prepared</a:t>
            </a:r>
            <a:r>
              <a:rPr dirty="0" spc="-25"/>
              <a:t> </a:t>
            </a:r>
            <a:r>
              <a:rPr dirty="0"/>
              <a:t>as</a:t>
            </a:r>
            <a:r>
              <a:rPr dirty="0" spc="-25"/>
              <a:t> </a:t>
            </a:r>
            <a:r>
              <a:rPr dirty="0"/>
              <a:t>part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SAP</a:t>
            </a:r>
            <a:r>
              <a:rPr dirty="0" spc="-30"/>
              <a:t> </a:t>
            </a:r>
            <a:r>
              <a:rPr dirty="0"/>
              <a:t>FICO</a:t>
            </a:r>
            <a:r>
              <a:rPr dirty="0" spc="-25"/>
              <a:t> </a:t>
            </a:r>
            <a:r>
              <a:rPr dirty="0" spc="-10"/>
              <a:t>Internship</a:t>
            </a:r>
            <a:r>
              <a:rPr dirty="0" spc="-30"/>
              <a:t> </a:t>
            </a:r>
            <a:r>
              <a:rPr dirty="0"/>
              <a:t>with</a:t>
            </a:r>
            <a:r>
              <a:rPr dirty="0" spc="-25"/>
              <a:t> </a:t>
            </a:r>
            <a:r>
              <a:rPr dirty="0" spc="-20"/>
              <a:t>Yuva</a:t>
            </a:r>
            <a:r>
              <a:rPr dirty="0" spc="-25"/>
              <a:t> </a:t>
            </a:r>
            <a:r>
              <a:rPr dirty="0" spc="-10"/>
              <a:t>Intern</a:t>
            </a:r>
          </a:p>
          <a:p>
            <a:pPr marL="12700" marR="5080">
              <a:lnSpc>
                <a:spcPct val="134300"/>
              </a:lnSpc>
              <a:spcBef>
                <a:spcPts val="1500"/>
              </a:spcBef>
            </a:pPr>
            <a:r>
              <a:rPr dirty="0"/>
              <a:t>This</a:t>
            </a:r>
            <a:r>
              <a:rPr dirty="0" spc="-35"/>
              <a:t> </a:t>
            </a:r>
            <a:r>
              <a:rPr dirty="0"/>
              <a:t>report</a:t>
            </a:r>
            <a:r>
              <a:rPr dirty="0" spc="-30"/>
              <a:t> </a:t>
            </a:r>
            <a:r>
              <a:rPr dirty="0"/>
              <a:t>documents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learning</a:t>
            </a:r>
            <a:r>
              <a:rPr dirty="0" spc="-30"/>
              <a:t> </a:t>
            </a:r>
            <a:r>
              <a:rPr dirty="0"/>
              <a:t>from</a:t>
            </a:r>
            <a:r>
              <a:rPr dirty="0" spc="-30"/>
              <a:t> </a:t>
            </a:r>
            <a:r>
              <a:rPr dirty="0"/>
              <a:t>Week</a:t>
            </a:r>
            <a:r>
              <a:rPr dirty="0" spc="-35"/>
              <a:t> </a:t>
            </a:r>
            <a:r>
              <a:rPr dirty="0"/>
              <a:t>5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internship,</a:t>
            </a:r>
            <a:r>
              <a:rPr dirty="0" spc="-30"/>
              <a:t> </a:t>
            </a:r>
            <a:r>
              <a:rPr dirty="0"/>
              <a:t>focusing</a:t>
            </a:r>
            <a:r>
              <a:rPr dirty="0" spc="-30"/>
              <a:t> </a:t>
            </a:r>
            <a:r>
              <a:rPr dirty="0"/>
              <a:t>on</a:t>
            </a:r>
            <a:r>
              <a:rPr dirty="0" spc="-35"/>
              <a:t> </a:t>
            </a:r>
            <a:r>
              <a:rPr dirty="0"/>
              <a:t>common</a:t>
            </a:r>
            <a:r>
              <a:rPr dirty="0" spc="-30"/>
              <a:t> </a:t>
            </a:r>
            <a:r>
              <a:rPr dirty="0"/>
              <a:t>problems</a:t>
            </a:r>
            <a:r>
              <a:rPr dirty="0" spc="-30"/>
              <a:t> </a:t>
            </a:r>
            <a:r>
              <a:rPr dirty="0" spc="-10"/>
              <a:t>encountered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SAP</a:t>
            </a:r>
            <a:r>
              <a:rPr dirty="0" spc="-30"/>
              <a:t> </a:t>
            </a:r>
            <a:r>
              <a:rPr dirty="0"/>
              <a:t>FICO,</a:t>
            </a:r>
            <a:r>
              <a:rPr dirty="0" spc="-35"/>
              <a:t> </a:t>
            </a:r>
            <a:r>
              <a:rPr dirty="0" spc="-25"/>
              <a:t>how </a:t>
            </a:r>
            <a:r>
              <a:rPr dirty="0" spc="-10"/>
              <a:t>they</a:t>
            </a:r>
            <a:r>
              <a:rPr dirty="0" spc="-40"/>
              <a:t> </a:t>
            </a:r>
            <a:r>
              <a:rPr dirty="0"/>
              <a:t>can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40"/>
              <a:t> </a:t>
            </a:r>
            <a:r>
              <a:rPr dirty="0"/>
              <a:t>identified,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systematic</a:t>
            </a:r>
            <a:r>
              <a:rPr dirty="0" spc="-40"/>
              <a:t> </a:t>
            </a:r>
            <a:r>
              <a:rPr dirty="0" spc="-10"/>
              <a:t>approach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10"/>
              <a:t>resolving</a:t>
            </a:r>
            <a:r>
              <a:rPr dirty="0" spc="-40"/>
              <a:t> </a:t>
            </a:r>
            <a:r>
              <a:rPr dirty="0"/>
              <a:t>them.</a:t>
            </a:r>
            <a:r>
              <a:rPr dirty="0" spc="-40"/>
              <a:t> </a:t>
            </a:r>
            <a:r>
              <a:rPr dirty="0"/>
              <a:t>It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intended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40"/>
              <a:t> </a:t>
            </a:r>
            <a:r>
              <a:rPr dirty="0" spc="-10"/>
              <a:t>B.Tech</a:t>
            </a:r>
            <a:r>
              <a:rPr dirty="0" spc="-40"/>
              <a:t> </a:t>
            </a:r>
            <a:r>
              <a:rPr dirty="0"/>
              <a:t>(CSE)</a:t>
            </a:r>
            <a:r>
              <a:rPr dirty="0" spc="-40"/>
              <a:t> </a:t>
            </a:r>
            <a:r>
              <a:rPr dirty="0"/>
              <a:t>students,</a:t>
            </a:r>
            <a:r>
              <a:rPr dirty="0" spc="-35"/>
              <a:t> </a:t>
            </a:r>
            <a:r>
              <a:rPr dirty="0" spc="-10"/>
              <a:t>internship</a:t>
            </a: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pc="-10"/>
              <a:t>supervisors,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academic</a:t>
            </a:r>
            <a:r>
              <a:rPr dirty="0" spc="-35"/>
              <a:t> </a:t>
            </a:r>
            <a:r>
              <a:rPr dirty="0" spc="-10"/>
              <a:t>evaluators.</a:t>
            </a:r>
          </a:p>
          <a:p>
            <a:pPr>
              <a:lnSpc>
                <a:spcPct val="100000"/>
              </a:lnSpc>
              <a:spcBef>
                <a:spcPts val="43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b="1">
                <a:latin typeface="Roboto"/>
                <a:cs typeface="Roboto"/>
              </a:rPr>
              <a:t>Student</a:t>
            </a:r>
            <a:r>
              <a:rPr dirty="0" spc="-3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Name:</a:t>
            </a:r>
            <a:r>
              <a:rPr dirty="0" spc="-35" b="1">
                <a:latin typeface="Roboto"/>
                <a:cs typeface="Roboto"/>
              </a:rPr>
              <a:t> </a:t>
            </a:r>
            <a:r>
              <a:rPr dirty="0"/>
              <a:t>Ashish</a:t>
            </a:r>
            <a:r>
              <a:rPr dirty="0" spc="-35"/>
              <a:t> </a:t>
            </a:r>
            <a:r>
              <a:rPr dirty="0" spc="-10"/>
              <a:t>Kumar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b="1">
                <a:latin typeface="Roboto"/>
                <a:cs typeface="Roboto"/>
              </a:rPr>
              <a:t>Roll</a:t>
            </a:r>
            <a:r>
              <a:rPr dirty="0" spc="-20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Number: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spc="-10"/>
              <a:t>25SCS1003003125</a:t>
            </a: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b="1">
                <a:latin typeface="Roboto"/>
                <a:cs typeface="Roboto"/>
              </a:rPr>
              <a:t>Course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/</a:t>
            </a:r>
            <a:r>
              <a:rPr dirty="0" spc="-10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Department:</a:t>
            </a:r>
            <a:r>
              <a:rPr dirty="0" spc="-15" b="1">
                <a:latin typeface="Roboto"/>
                <a:cs typeface="Roboto"/>
              </a:rPr>
              <a:t> </a:t>
            </a:r>
            <a:r>
              <a:rPr dirty="0" spc="-20"/>
              <a:t>B.Tech</a:t>
            </a:r>
            <a:r>
              <a:rPr dirty="0" spc="-10"/>
              <a:t> (CSE)</a:t>
            </a: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b="1">
                <a:latin typeface="Roboto"/>
                <a:cs typeface="Roboto"/>
              </a:rPr>
              <a:t>College</a:t>
            </a:r>
            <a:r>
              <a:rPr dirty="0" spc="-3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/</a:t>
            </a:r>
            <a:r>
              <a:rPr dirty="0" spc="-35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University:</a:t>
            </a:r>
            <a:r>
              <a:rPr dirty="0" spc="-30" b="1">
                <a:latin typeface="Roboto"/>
                <a:cs typeface="Roboto"/>
              </a:rPr>
              <a:t> </a:t>
            </a:r>
            <a:r>
              <a:rPr dirty="0"/>
              <a:t>IILM</a:t>
            </a:r>
            <a:r>
              <a:rPr dirty="0" spc="-35"/>
              <a:t> </a:t>
            </a:r>
            <a:r>
              <a:rPr dirty="0" spc="-20"/>
              <a:t>Universit</a:t>
            </a:r>
            <a:r>
              <a:rPr dirty="0" spc="-30"/>
              <a:t> </a:t>
            </a:r>
            <a:r>
              <a:rPr dirty="0"/>
              <a:t>Greater</a:t>
            </a:r>
            <a:r>
              <a:rPr dirty="0" spc="-35"/>
              <a:t> </a:t>
            </a:r>
            <a:r>
              <a:rPr dirty="0" spc="-10"/>
              <a:t>Noida</a:t>
            </a:r>
          </a:p>
          <a:p>
            <a:pPr algn="just" marL="12700" marR="6966584">
              <a:lnSpc>
                <a:spcPct val="131900"/>
              </a:lnSpc>
              <a:spcBef>
                <a:spcPts val="35"/>
              </a:spcBef>
            </a:pPr>
            <a:r>
              <a:rPr dirty="0" b="1">
                <a:latin typeface="Roboto"/>
                <a:cs typeface="Roboto"/>
              </a:rPr>
              <a:t>Internship</a:t>
            </a:r>
            <a:r>
              <a:rPr dirty="0" spc="-70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Organisation:</a:t>
            </a:r>
            <a:r>
              <a:rPr dirty="0" spc="-65" b="1">
                <a:latin typeface="Roboto"/>
                <a:cs typeface="Roboto"/>
              </a:rPr>
              <a:t> </a:t>
            </a:r>
            <a:r>
              <a:rPr dirty="0" spc="-20"/>
              <a:t>Yuva</a:t>
            </a:r>
            <a:r>
              <a:rPr dirty="0" spc="-65"/>
              <a:t> </a:t>
            </a:r>
            <a:r>
              <a:rPr dirty="0" spc="-10"/>
              <a:t>Intern </a:t>
            </a:r>
            <a:r>
              <a:rPr dirty="0" spc="-10" b="1">
                <a:latin typeface="Roboto"/>
                <a:cs typeface="Roboto"/>
              </a:rPr>
              <a:t>Internship</a:t>
            </a:r>
            <a:r>
              <a:rPr dirty="0" spc="-30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Title:</a:t>
            </a:r>
            <a:r>
              <a:rPr dirty="0" spc="5" b="1">
                <a:latin typeface="Roboto"/>
                <a:cs typeface="Roboto"/>
              </a:rPr>
              <a:t> </a:t>
            </a:r>
            <a:r>
              <a:rPr dirty="0"/>
              <a:t>SAP</a:t>
            </a:r>
            <a:r>
              <a:rPr dirty="0" spc="5"/>
              <a:t> </a:t>
            </a:r>
            <a:r>
              <a:rPr dirty="0"/>
              <a:t>FICO</a:t>
            </a:r>
            <a:r>
              <a:rPr dirty="0" spc="5"/>
              <a:t> </a:t>
            </a:r>
            <a:r>
              <a:rPr dirty="0" spc="-10"/>
              <a:t>Internship </a:t>
            </a:r>
            <a:r>
              <a:rPr dirty="0" b="1">
                <a:latin typeface="Roboto"/>
                <a:cs typeface="Roboto"/>
              </a:rPr>
              <a:t>Week:</a:t>
            </a:r>
            <a:r>
              <a:rPr dirty="0" spc="-20" b="1">
                <a:latin typeface="Roboto"/>
                <a:cs typeface="Roboto"/>
              </a:rPr>
              <a:t> </a:t>
            </a:r>
            <a:r>
              <a:rPr dirty="0" spc="-50"/>
              <a:t>5</a:t>
            </a:r>
          </a:p>
          <a:p>
            <a:pPr algn="just" marL="12700">
              <a:lnSpc>
                <a:spcPct val="100000"/>
              </a:lnSpc>
              <a:spcBef>
                <a:spcPts val="555"/>
              </a:spcBef>
            </a:pPr>
            <a:r>
              <a:rPr dirty="0" b="1">
                <a:latin typeface="Roboto"/>
                <a:cs typeface="Roboto"/>
              </a:rPr>
              <a:t>Submission</a:t>
            </a:r>
            <a:r>
              <a:rPr dirty="0" spc="-60" b="1">
                <a:latin typeface="Roboto"/>
                <a:cs typeface="Roboto"/>
              </a:rPr>
              <a:t> </a:t>
            </a:r>
            <a:r>
              <a:rPr dirty="0" b="1">
                <a:latin typeface="Roboto"/>
                <a:cs typeface="Roboto"/>
              </a:rPr>
              <a:t>Date:</a:t>
            </a:r>
            <a:r>
              <a:rPr dirty="0" spc="-55" b="1">
                <a:latin typeface="Roboto"/>
                <a:cs typeface="Roboto"/>
              </a:rPr>
              <a:t> </a:t>
            </a:r>
            <a:r>
              <a:rPr dirty="0" spc="-10"/>
              <a:t>06/09/2026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5975" y="444499"/>
            <a:ext cx="34969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Table</a:t>
            </a:r>
            <a:r>
              <a:rPr dirty="0" spc="-85"/>
              <a:t> </a:t>
            </a:r>
            <a:r>
              <a:rPr dirty="0"/>
              <a:t>of</a:t>
            </a:r>
            <a:r>
              <a:rPr dirty="0" spc="-160"/>
              <a:t> </a:t>
            </a:r>
            <a:r>
              <a:rPr dirty="0" spc="75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541510" cy="7397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This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report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is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structured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guide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reader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basic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concepts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through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practical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examples.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Each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section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builds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previous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one,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following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logical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progression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understanding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documenting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solution.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350">
              <a:latin typeface="Roboto"/>
              <a:cs typeface="Roboto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86385" algn="l"/>
              </a:tabLst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Introduction</a:t>
            </a:r>
            <a:endParaRPr sz="1350">
              <a:latin typeface="Roboto"/>
              <a:cs typeface="Roboto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Understanding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endParaRPr sz="1350">
              <a:latin typeface="Roboto"/>
              <a:cs typeface="Roboto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Basic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endParaRPr sz="1350">
              <a:latin typeface="Roboto"/>
              <a:cs typeface="Roboto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Common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Issues</a:t>
            </a:r>
            <a:endParaRPr sz="1350">
              <a:latin typeface="Roboto"/>
              <a:cs typeface="Roboto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Common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General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Ledger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Issues</a:t>
            </a:r>
            <a:endParaRPr sz="1350">
              <a:latin typeface="Roboto"/>
              <a:cs typeface="Roboto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Accounts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Payable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Issues</a:t>
            </a:r>
            <a:endParaRPr sz="1350">
              <a:latin typeface="Roboto"/>
              <a:cs typeface="Roboto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Receivable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Issues</a:t>
            </a:r>
            <a:endParaRPr sz="1350">
              <a:latin typeface="Roboto"/>
              <a:cs typeface="Roboto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Asset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Issues</a:t>
            </a:r>
            <a:endParaRPr sz="1350">
              <a:latin typeface="Roboto"/>
              <a:cs typeface="Roboto"/>
            </a:endParaRPr>
          </a:p>
          <a:p>
            <a:pPr marL="286385" indent="-2736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286385" algn="l"/>
              </a:tabLst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Common CO</a:t>
            </a:r>
            <a:r>
              <a:rPr dirty="0" sz="135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Issues</a:t>
            </a:r>
            <a:endParaRPr sz="1350">
              <a:latin typeface="Roboto"/>
              <a:cs typeface="Roboto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Cost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Issues</a:t>
            </a:r>
            <a:endParaRPr sz="1350">
              <a:latin typeface="Roboto"/>
              <a:cs typeface="Roboto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FI–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Integration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Issues</a:t>
            </a:r>
            <a:endParaRPr sz="1350">
              <a:latin typeface="Roboto"/>
              <a:cs typeface="Roboto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Integration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Other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Modules</a:t>
            </a:r>
            <a:endParaRPr sz="1350">
              <a:latin typeface="Roboto"/>
              <a:cs typeface="Roboto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Authorisation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Master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Issues</a:t>
            </a:r>
            <a:endParaRPr sz="1350">
              <a:latin typeface="Roboto"/>
              <a:cs typeface="Roboto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S/4HANA-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Specific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 Considerations</a:t>
            </a:r>
            <a:endParaRPr sz="1350">
              <a:latin typeface="Roboto"/>
              <a:cs typeface="Roboto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Checklist</a:t>
            </a:r>
            <a:endParaRPr sz="1350">
              <a:latin typeface="Roboto"/>
              <a:cs typeface="Roboto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Real-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World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Troubleshooting Example</a:t>
            </a:r>
            <a:endParaRPr sz="1350">
              <a:latin typeface="Roboto"/>
              <a:cs typeface="Roboto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Best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Practices</a:t>
            </a:r>
            <a:endParaRPr sz="1350">
              <a:latin typeface="Roboto"/>
              <a:cs typeface="Roboto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Learning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Outcomes</a:t>
            </a:r>
            <a:endParaRPr sz="1350">
              <a:latin typeface="Roboto"/>
              <a:cs typeface="Roboto"/>
            </a:endParaRPr>
          </a:p>
          <a:p>
            <a:pPr marL="287020" indent="-274320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7020" algn="l"/>
              </a:tabLst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Conclusion</a:t>
            </a:r>
            <a:endParaRPr sz="1350">
              <a:latin typeface="Roboto"/>
              <a:cs typeface="Roboto"/>
            </a:endParaRPr>
          </a:p>
          <a:p>
            <a:pPr marL="287020" indent="-27432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287020" algn="l"/>
              </a:tabLst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References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437" y="481012"/>
            <a:ext cx="2009775" cy="247650"/>
          </a:xfrm>
          <a:custGeom>
            <a:avLst/>
            <a:gdLst/>
            <a:ahLst/>
            <a:cxnLst/>
            <a:rect l="l" t="t" r="r" b="b"/>
            <a:pathLst>
              <a:path w="2009775" h="247650">
                <a:moveTo>
                  <a:pt x="0" y="204406"/>
                </a:moveTo>
                <a:lnTo>
                  <a:pt x="0" y="43243"/>
                </a:lnTo>
                <a:lnTo>
                  <a:pt x="0" y="37509"/>
                </a:lnTo>
                <a:lnTo>
                  <a:pt x="1095" y="31994"/>
                </a:lnTo>
                <a:lnTo>
                  <a:pt x="3295" y="26698"/>
                </a:lnTo>
                <a:lnTo>
                  <a:pt x="5486" y="21393"/>
                </a:lnTo>
                <a:lnTo>
                  <a:pt x="8610" y="16716"/>
                </a:lnTo>
                <a:lnTo>
                  <a:pt x="12668" y="12668"/>
                </a:lnTo>
                <a:lnTo>
                  <a:pt x="16716" y="8610"/>
                </a:lnTo>
                <a:lnTo>
                  <a:pt x="21393" y="5486"/>
                </a:lnTo>
                <a:lnTo>
                  <a:pt x="26698" y="3295"/>
                </a:lnTo>
                <a:lnTo>
                  <a:pt x="31994" y="1095"/>
                </a:lnTo>
                <a:lnTo>
                  <a:pt x="37509" y="0"/>
                </a:lnTo>
                <a:lnTo>
                  <a:pt x="43243" y="0"/>
                </a:lnTo>
                <a:lnTo>
                  <a:pt x="1966531" y="0"/>
                </a:lnTo>
                <a:lnTo>
                  <a:pt x="1972265" y="0"/>
                </a:lnTo>
                <a:lnTo>
                  <a:pt x="1977780" y="1095"/>
                </a:lnTo>
                <a:lnTo>
                  <a:pt x="1983076" y="3295"/>
                </a:lnTo>
                <a:lnTo>
                  <a:pt x="1988381" y="5486"/>
                </a:lnTo>
                <a:lnTo>
                  <a:pt x="1993058" y="8610"/>
                </a:lnTo>
                <a:lnTo>
                  <a:pt x="1997106" y="12668"/>
                </a:lnTo>
                <a:lnTo>
                  <a:pt x="2001164" y="16716"/>
                </a:lnTo>
                <a:lnTo>
                  <a:pt x="2004288" y="21393"/>
                </a:lnTo>
                <a:lnTo>
                  <a:pt x="2006479" y="26698"/>
                </a:lnTo>
                <a:lnTo>
                  <a:pt x="2008679" y="31994"/>
                </a:lnTo>
                <a:lnTo>
                  <a:pt x="2009775" y="37509"/>
                </a:lnTo>
                <a:lnTo>
                  <a:pt x="2009775" y="43243"/>
                </a:lnTo>
                <a:lnTo>
                  <a:pt x="2009775" y="204406"/>
                </a:lnTo>
                <a:lnTo>
                  <a:pt x="2009775" y="210140"/>
                </a:lnTo>
                <a:lnTo>
                  <a:pt x="2008679" y="215655"/>
                </a:lnTo>
                <a:lnTo>
                  <a:pt x="2006479" y="220951"/>
                </a:lnTo>
                <a:lnTo>
                  <a:pt x="2004288" y="226256"/>
                </a:lnTo>
                <a:lnTo>
                  <a:pt x="2001164" y="230933"/>
                </a:lnTo>
                <a:lnTo>
                  <a:pt x="1997106" y="234981"/>
                </a:lnTo>
                <a:lnTo>
                  <a:pt x="1993058" y="239039"/>
                </a:lnTo>
                <a:lnTo>
                  <a:pt x="1988381" y="242163"/>
                </a:lnTo>
                <a:lnTo>
                  <a:pt x="1983076" y="244354"/>
                </a:lnTo>
                <a:lnTo>
                  <a:pt x="1977780" y="246554"/>
                </a:lnTo>
                <a:lnTo>
                  <a:pt x="1972265" y="247650"/>
                </a:lnTo>
                <a:lnTo>
                  <a:pt x="1966531" y="247650"/>
                </a:lnTo>
                <a:lnTo>
                  <a:pt x="43243" y="247650"/>
                </a:lnTo>
                <a:lnTo>
                  <a:pt x="37509" y="247650"/>
                </a:lnTo>
                <a:lnTo>
                  <a:pt x="31994" y="246554"/>
                </a:lnTo>
                <a:lnTo>
                  <a:pt x="26698" y="244354"/>
                </a:lnTo>
                <a:lnTo>
                  <a:pt x="21393" y="242163"/>
                </a:lnTo>
                <a:lnTo>
                  <a:pt x="16716" y="239039"/>
                </a:lnTo>
                <a:lnTo>
                  <a:pt x="12668" y="234981"/>
                </a:lnTo>
                <a:lnTo>
                  <a:pt x="8610" y="230933"/>
                </a:lnTo>
                <a:lnTo>
                  <a:pt x="5486" y="226256"/>
                </a:lnTo>
                <a:lnTo>
                  <a:pt x="3295" y="220951"/>
                </a:lnTo>
                <a:lnTo>
                  <a:pt x="1095" y="215655"/>
                </a:lnTo>
                <a:lnTo>
                  <a:pt x="0" y="210140"/>
                </a:lnTo>
                <a:lnTo>
                  <a:pt x="0" y="204406"/>
                </a:lnTo>
                <a:close/>
              </a:path>
            </a:pathLst>
          </a:custGeom>
          <a:ln w="9525">
            <a:solidFill>
              <a:srgbClr val="1B1B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5974" y="451373"/>
            <a:ext cx="9770745" cy="471106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420"/>
              </a:spcBef>
            </a:pP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SECTION</a:t>
            </a:r>
            <a:r>
              <a:rPr dirty="0" sz="1050" spc="4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1</a:t>
            </a:r>
            <a:r>
              <a:rPr dirty="0" sz="1050" spc="4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—</a:t>
            </a:r>
            <a:r>
              <a:rPr dirty="0" sz="1050" spc="4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1B1B27"/>
                </a:solidFill>
                <a:latin typeface="Roboto"/>
                <a:cs typeface="Roboto"/>
              </a:rPr>
              <a:t>INTRODUCTION</a:t>
            </a:r>
            <a:endParaRPr sz="1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3350" spc="-10">
                <a:solidFill>
                  <a:srgbClr val="1B1B27"/>
                </a:solidFill>
                <a:latin typeface="Trebuchet MS"/>
                <a:cs typeface="Trebuchet MS"/>
              </a:rPr>
              <a:t>Introduction</a:t>
            </a:r>
            <a:endParaRPr sz="3350">
              <a:latin typeface="Trebuchet MS"/>
              <a:cs typeface="Trebuchet MS"/>
            </a:endParaRPr>
          </a:p>
          <a:p>
            <a:pPr algn="just" marL="12700" marR="80010">
              <a:lnSpc>
                <a:spcPct val="134300"/>
              </a:lnSpc>
              <a:spcBef>
                <a:spcPts val="20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зtandз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(FI)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Controlling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(CO).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handleз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external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thingз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like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ledgerз, invoiceз,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balance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зheetз.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handleз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internal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centreз,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centreз,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internal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orderз.</a:t>
            </a:r>
            <a:endParaRPr sz="135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  <a:spcBef>
                <a:spcPts val="480"/>
              </a:spcBef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Together,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they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form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backbone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implementation.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35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Troubleзhooting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meanз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зyзtematically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identifying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зomething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working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expected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finding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right</a:t>
            </a:r>
            <a:endParaRPr sz="1350">
              <a:latin typeface="Roboto"/>
              <a:cs typeface="Roboto"/>
            </a:endParaRPr>
          </a:p>
          <a:p>
            <a:pPr algn="just" marL="12700" marR="5080">
              <a:lnSpc>
                <a:spcPct val="134300"/>
              </a:lnSpc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зolution.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ariзe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configuration,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errorз,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tranзaction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miзtakeз,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authoriзation reзtrictionз,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integration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problemз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between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moduleз.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зyзtematic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alwayз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better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than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randomly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changing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зettingз,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aз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unauthoriзed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changeз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can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create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additional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problemз.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35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2700" spc="90">
                <a:solidFill>
                  <a:srgbClr val="1B1B27"/>
                </a:solidFill>
                <a:latin typeface="Trebuchet MS"/>
                <a:cs typeface="Trebuchet MS"/>
              </a:rPr>
              <a:t>Types</a:t>
            </a:r>
            <a:r>
              <a:rPr dirty="0" sz="2700" spc="-114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1B1B27"/>
                </a:solidFill>
                <a:latin typeface="Trebuchet MS"/>
                <a:cs typeface="Trebuchet MS"/>
              </a:rPr>
              <a:t>of</a:t>
            </a:r>
            <a:r>
              <a:rPr dirty="0" sz="2700" spc="-17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229">
                <a:solidFill>
                  <a:srgbClr val="1B1B27"/>
                </a:solidFill>
                <a:latin typeface="Trebuchet MS"/>
                <a:cs typeface="Trebuchet MS"/>
              </a:rPr>
              <a:t>SAP</a:t>
            </a:r>
            <a:r>
              <a:rPr dirty="0" sz="2700" spc="-19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114">
                <a:solidFill>
                  <a:srgbClr val="1B1B27"/>
                </a:solidFill>
                <a:latin typeface="Trebuchet MS"/>
                <a:cs typeface="Trebuchet MS"/>
              </a:rPr>
              <a:t>FICO</a:t>
            </a:r>
            <a:r>
              <a:rPr dirty="0" sz="2700" spc="-11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114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2700">
              <a:latin typeface="Trebuchet MS"/>
              <a:cs typeface="Trebuchet MS"/>
            </a:endParaRPr>
          </a:p>
          <a:p>
            <a:pPr marL="12700" marR="305435">
              <a:lnSpc>
                <a:spcPct val="129600"/>
              </a:lnSpc>
              <a:spcBef>
                <a:spcPts val="190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troubleзhooting,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helpз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underзtand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what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kind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you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dealing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with.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table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below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зummariзeз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main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categorieз.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3437" y="5395912"/>
            <a:ext cx="9763125" cy="5991225"/>
          </a:xfrm>
          <a:custGeom>
            <a:avLst/>
            <a:gdLst/>
            <a:ahLst/>
            <a:cxnLst/>
            <a:rect l="l" t="t" r="r" b="b"/>
            <a:pathLst>
              <a:path w="9763125" h="5991225">
                <a:moveTo>
                  <a:pt x="0" y="5935980"/>
                </a:moveTo>
                <a:lnTo>
                  <a:pt x="0" y="55245"/>
                </a:lnTo>
                <a:lnTo>
                  <a:pt x="0" y="51615"/>
                </a:lnTo>
                <a:lnTo>
                  <a:pt x="352" y="48025"/>
                </a:lnTo>
                <a:lnTo>
                  <a:pt x="16182" y="16182"/>
                </a:lnTo>
                <a:lnTo>
                  <a:pt x="18745" y="13611"/>
                </a:lnTo>
                <a:lnTo>
                  <a:pt x="51615" y="0"/>
                </a:lnTo>
                <a:lnTo>
                  <a:pt x="55245" y="0"/>
                </a:lnTo>
                <a:lnTo>
                  <a:pt x="9707880" y="0"/>
                </a:lnTo>
                <a:lnTo>
                  <a:pt x="9711509" y="0"/>
                </a:lnTo>
                <a:lnTo>
                  <a:pt x="9715100" y="352"/>
                </a:lnTo>
                <a:lnTo>
                  <a:pt x="9746942" y="16182"/>
                </a:lnTo>
                <a:lnTo>
                  <a:pt x="9749505" y="18745"/>
                </a:lnTo>
                <a:lnTo>
                  <a:pt x="9758915" y="34099"/>
                </a:lnTo>
                <a:lnTo>
                  <a:pt x="9760306" y="37452"/>
                </a:lnTo>
                <a:lnTo>
                  <a:pt x="9761354" y="40909"/>
                </a:lnTo>
                <a:lnTo>
                  <a:pt x="9762068" y="44462"/>
                </a:lnTo>
                <a:lnTo>
                  <a:pt x="9762773" y="48025"/>
                </a:lnTo>
                <a:lnTo>
                  <a:pt x="9763125" y="51615"/>
                </a:lnTo>
                <a:lnTo>
                  <a:pt x="9763125" y="55245"/>
                </a:lnTo>
                <a:lnTo>
                  <a:pt x="9763125" y="5935980"/>
                </a:lnTo>
                <a:lnTo>
                  <a:pt x="9763125" y="5939609"/>
                </a:lnTo>
                <a:lnTo>
                  <a:pt x="9762773" y="5943200"/>
                </a:lnTo>
                <a:lnTo>
                  <a:pt x="9762068" y="5946753"/>
                </a:lnTo>
                <a:lnTo>
                  <a:pt x="9761354" y="5950315"/>
                </a:lnTo>
                <a:lnTo>
                  <a:pt x="9760306" y="5953773"/>
                </a:lnTo>
                <a:lnTo>
                  <a:pt x="9758915" y="5957116"/>
                </a:lnTo>
                <a:lnTo>
                  <a:pt x="9757534" y="5960469"/>
                </a:lnTo>
                <a:lnTo>
                  <a:pt x="9755829" y="5963660"/>
                </a:lnTo>
                <a:lnTo>
                  <a:pt x="9753810" y="5966670"/>
                </a:lnTo>
                <a:lnTo>
                  <a:pt x="9751800" y="5969689"/>
                </a:lnTo>
                <a:lnTo>
                  <a:pt x="9749505" y="5972480"/>
                </a:lnTo>
                <a:lnTo>
                  <a:pt x="9746942" y="5975042"/>
                </a:lnTo>
                <a:lnTo>
                  <a:pt x="9744380" y="5977604"/>
                </a:lnTo>
                <a:lnTo>
                  <a:pt x="9741589" y="5979900"/>
                </a:lnTo>
                <a:lnTo>
                  <a:pt x="9738570" y="5981910"/>
                </a:lnTo>
                <a:lnTo>
                  <a:pt x="9735550" y="5983929"/>
                </a:lnTo>
                <a:lnTo>
                  <a:pt x="9732369" y="5985634"/>
                </a:lnTo>
                <a:lnTo>
                  <a:pt x="9729026" y="5987015"/>
                </a:lnTo>
                <a:lnTo>
                  <a:pt x="9725673" y="5988406"/>
                </a:lnTo>
                <a:lnTo>
                  <a:pt x="9722215" y="5989453"/>
                </a:lnTo>
                <a:lnTo>
                  <a:pt x="9718653" y="5990158"/>
                </a:lnTo>
                <a:lnTo>
                  <a:pt x="9715100" y="5990873"/>
                </a:lnTo>
                <a:lnTo>
                  <a:pt x="9711509" y="5991225"/>
                </a:lnTo>
                <a:lnTo>
                  <a:pt x="9707880" y="5991225"/>
                </a:lnTo>
                <a:lnTo>
                  <a:pt x="55245" y="5991225"/>
                </a:lnTo>
                <a:lnTo>
                  <a:pt x="51615" y="5991225"/>
                </a:lnTo>
                <a:lnTo>
                  <a:pt x="48025" y="5990873"/>
                </a:lnTo>
                <a:lnTo>
                  <a:pt x="44462" y="5990158"/>
                </a:lnTo>
                <a:lnTo>
                  <a:pt x="40909" y="5989453"/>
                </a:lnTo>
                <a:lnTo>
                  <a:pt x="16182" y="5975042"/>
                </a:lnTo>
                <a:lnTo>
                  <a:pt x="13611" y="5972480"/>
                </a:lnTo>
                <a:lnTo>
                  <a:pt x="0" y="5939609"/>
                </a:lnTo>
                <a:lnTo>
                  <a:pt x="0" y="5935980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8200" y="5400675"/>
          <a:ext cx="9829800" cy="5981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3104"/>
                <a:gridCol w="3248025"/>
                <a:gridCol w="3253104"/>
              </a:tblGrid>
              <a:tr h="50927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Issue</a:t>
                      </a:r>
                      <a:r>
                        <a:rPr dirty="0" sz="1350" spc="-4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Type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Meaning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Simple</a:t>
                      </a:r>
                      <a:r>
                        <a:rPr dirty="0" sz="1350" spc="-5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Example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Configuration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641350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Syзtem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зettingз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are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incorrect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or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incomplete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Miззing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determination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Maзter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Data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69024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Buзineзз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maзter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information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iз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incorrect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26289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Incorrect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payment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termз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on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vendor record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Tranзaction</a:t>
                      </a:r>
                      <a:r>
                        <a:rPr dirty="0" sz="1350" spc="-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Data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17653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Incorrect</a:t>
                      </a:r>
                      <a:r>
                        <a:rPr dirty="0" sz="1350" spc="-6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information</a:t>
                      </a:r>
                      <a:r>
                        <a:rPr dirty="0" sz="1350" spc="-6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entered</a:t>
                      </a:r>
                      <a:r>
                        <a:rPr dirty="0" sz="1350" spc="-6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during</a:t>
                      </a:r>
                      <a:r>
                        <a:rPr dirty="0" sz="1350" spc="-6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tranзaction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37846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Wrong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G/L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зelected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during poзting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Authoriзation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93853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Uзer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doeз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not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have</a:t>
                      </a:r>
                      <a:r>
                        <a:rPr dirty="0" sz="13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required permiззion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66929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Cannot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poзt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document</a:t>
                      </a:r>
                      <a:r>
                        <a:rPr dirty="0" sz="1350" spc="-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due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to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acceзз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reзtrictionз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Integration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236220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Data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doeз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not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flow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correctly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between moduleз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172720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MM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tranзaction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not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creating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expected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poзting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Poзting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461645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Error</a:t>
                      </a:r>
                      <a:r>
                        <a:rPr dirty="0" sz="1350" spc="-6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during</a:t>
                      </a:r>
                      <a:r>
                        <a:rPr dirty="0" sz="1350" spc="-6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1350" spc="-6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document</a:t>
                      </a:r>
                      <a:r>
                        <a:rPr dirty="0" sz="1350" spc="-6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poзting proceзз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Poзting</a:t>
                      </a:r>
                      <a:r>
                        <a:rPr dirty="0" sz="1350" spc="-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period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cloзed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or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date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invalid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7597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Reporting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4625" marR="206375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Reportз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зhow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incorrect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or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incomplete </a:t>
                      </a:r>
                      <a:r>
                        <a:rPr dirty="0" sz="13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data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165" marR="368300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Balance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зheet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figureз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do</a:t>
                      </a:r>
                      <a:r>
                        <a:rPr dirty="0" sz="1350" spc="-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not</a:t>
                      </a:r>
                      <a:r>
                        <a:rPr dirty="0" sz="1350" spc="-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match expectationз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15971" y="11626850"/>
            <a:ext cx="9635490" cy="1221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90">
                <a:solidFill>
                  <a:srgbClr val="1B1B27"/>
                </a:solidFill>
                <a:latin typeface="Trebuchet MS"/>
                <a:cs typeface="Trebuchet MS"/>
              </a:rPr>
              <a:t>The</a:t>
            </a:r>
            <a:r>
              <a:rPr dirty="0" sz="2700" spc="-10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95">
                <a:solidFill>
                  <a:srgbClr val="1B1B27"/>
                </a:solidFill>
                <a:latin typeface="Trebuchet MS"/>
                <a:cs typeface="Trebuchet MS"/>
              </a:rPr>
              <a:t>Basic</a:t>
            </a:r>
            <a:r>
              <a:rPr dirty="0" sz="2700" spc="-18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50">
                <a:solidFill>
                  <a:srgbClr val="1B1B27"/>
                </a:solidFill>
                <a:latin typeface="Trebuchet MS"/>
                <a:cs typeface="Trebuchet MS"/>
              </a:rPr>
              <a:t>Troubleshooting</a:t>
            </a:r>
            <a:r>
              <a:rPr dirty="0" sz="2700" spc="-10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75">
                <a:solidFill>
                  <a:srgbClr val="1B1B27"/>
                </a:solidFill>
                <a:latin typeface="Trebuchet MS"/>
                <a:cs typeface="Trebuchet MS"/>
              </a:rPr>
              <a:t>Flow</a:t>
            </a:r>
            <a:endParaRPr sz="270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183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following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flow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repreзentз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general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proceзз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followed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when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encountered.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Each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зtep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explained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in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more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detail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зectionз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follow.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5324" y="13218613"/>
            <a:ext cx="7318012" cy="193588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09152" y="15708129"/>
            <a:ext cx="127571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solidFill>
                  <a:srgbClr val="3B3838"/>
                </a:solidFill>
                <a:latin typeface="Trebuchet MS"/>
                <a:cs typeface="Trebuchet MS"/>
              </a:rPr>
              <a:t>Test</a:t>
            </a:r>
            <a:r>
              <a:rPr dirty="0" sz="1700" spc="-9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700" spc="459">
                <a:solidFill>
                  <a:srgbClr val="3B3838"/>
                </a:solidFill>
                <a:latin typeface="Trebuchet MS"/>
                <a:cs typeface="Trebuchet MS"/>
              </a:rPr>
              <a:t>s</a:t>
            </a:r>
            <a:r>
              <a:rPr dirty="0" sz="1700" spc="-13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3B3838"/>
                </a:solidFill>
                <a:latin typeface="Trebuchet MS"/>
                <a:cs typeface="Trebuchet MS"/>
              </a:rPr>
              <a:t>Verify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8585" y="15708129"/>
            <a:ext cx="116078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55">
                <a:solidFill>
                  <a:srgbClr val="3B3838"/>
                </a:solidFill>
                <a:latin typeface="Trebuchet MS"/>
                <a:cs typeface="Trebuchet MS"/>
              </a:rPr>
              <a:t>Find</a:t>
            </a:r>
            <a:r>
              <a:rPr dirty="0" sz="1700" spc="-7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700" spc="95">
                <a:solidFill>
                  <a:srgbClr val="3B3838"/>
                </a:solidFill>
                <a:latin typeface="Trebuchet MS"/>
                <a:cs typeface="Trebuchet MS"/>
              </a:rPr>
              <a:t>Cause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0210" y="15708129"/>
            <a:ext cx="136080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solidFill>
                  <a:srgbClr val="3B3838"/>
                </a:solidFill>
                <a:latin typeface="Trebuchet MS"/>
                <a:cs typeface="Trebuchet MS"/>
              </a:rPr>
              <a:t>Identify</a:t>
            </a:r>
            <a:r>
              <a:rPr dirty="0" sz="1700" spc="-10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3B3838"/>
                </a:solidFill>
                <a:latin typeface="Trebuchet MS"/>
                <a:cs typeface="Trebuchet MS"/>
              </a:rPr>
              <a:t>Issue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86383" y="15551770"/>
            <a:ext cx="893444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6360" marR="5080" indent="-74295">
              <a:lnSpc>
                <a:spcPct val="109400"/>
              </a:lnSpc>
              <a:spcBef>
                <a:spcPts val="90"/>
              </a:spcBef>
            </a:pPr>
            <a:r>
              <a:rPr dirty="0" sz="1700" spc="60">
                <a:solidFill>
                  <a:srgbClr val="3B3838"/>
                </a:solidFill>
                <a:latin typeface="Trebuchet MS"/>
                <a:cs typeface="Trebuchet MS"/>
              </a:rPr>
              <a:t>Problem </a:t>
            </a:r>
            <a:r>
              <a:rPr dirty="0" sz="1700" spc="75">
                <a:solidFill>
                  <a:srgbClr val="3B3838"/>
                </a:solidFill>
                <a:latin typeface="Trebuchet MS"/>
                <a:cs typeface="Trebuchet MS"/>
              </a:rPr>
              <a:t>Occurs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437" y="481012"/>
            <a:ext cx="2171700" cy="247650"/>
          </a:xfrm>
          <a:custGeom>
            <a:avLst/>
            <a:gdLst/>
            <a:ahLst/>
            <a:cxnLst/>
            <a:rect l="l" t="t" r="r" b="b"/>
            <a:pathLst>
              <a:path w="2171700" h="247650">
                <a:moveTo>
                  <a:pt x="0" y="204406"/>
                </a:moveTo>
                <a:lnTo>
                  <a:pt x="0" y="43243"/>
                </a:lnTo>
                <a:lnTo>
                  <a:pt x="0" y="37509"/>
                </a:lnTo>
                <a:lnTo>
                  <a:pt x="1095" y="31994"/>
                </a:lnTo>
                <a:lnTo>
                  <a:pt x="3295" y="26698"/>
                </a:lnTo>
                <a:lnTo>
                  <a:pt x="5486" y="21393"/>
                </a:lnTo>
                <a:lnTo>
                  <a:pt x="8610" y="16716"/>
                </a:lnTo>
                <a:lnTo>
                  <a:pt x="12668" y="12668"/>
                </a:lnTo>
                <a:lnTo>
                  <a:pt x="16716" y="8610"/>
                </a:lnTo>
                <a:lnTo>
                  <a:pt x="21393" y="5486"/>
                </a:lnTo>
                <a:lnTo>
                  <a:pt x="26698" y="3295"/>
                </a:lnTo>
                <a:lnTo>
                  <a:pt x="31994" y="1095"/>
                </a:lnTo>
                <a:lnTo>
                  <a:pt x="37509" y="0"/>
                </a:lnTo>
                <a:lnTo>
                  <a:pt x="43243" y="0"/>
                </a:lnTo>
                <a:lnTo>
                  <a:pt x="2128456" y="0"/>
                </a:lnTo>
                <a:lnTo>
                  <a:pt x="2134190" y="0"/>
                </a:lnTo>
                <a:lnTo>
                  <a:pt x="2139705" y="1095"/>
                </a:lnTo>
                <a:lnTo>
                  <a:pt x="2145001" y="3295"/>
                </a:lnTo>
                <a:lnTo>
                  <a:pt x="2150306" y="5486"/>
                </a:lnTo>
                <a:lnTo>
                  <a:pt x="2154983" y="8610"/>
                </a:lnTo>
                <a:lnTo>
                  <a:pt x="2159031" y="12668"/>
                </a:lnTo>
                <a:lnTo>
                  <a:pt x="2163089" y="16716"/>
                </a:lnTo>
                <a:lnTo>
                  <a:pt x="2166213" y="21393"/>
                </a:lnTo>
                <a:lnTo>
                  <a:pt x="2168404" y="26698"/>
                </a:lnTo>
                <a:lnTo>
                  <a:pt x="2170604" y="31994"/>
                </a:lnTo>
                <a:lnTo>
                  <a:pt x="2171700" y="37509"/>
                </a:lnTo>
                <a:lnTo>
                  <a:pt x="2171700" y="43243"/>
                </a:lnTo>
                <a:lnTo>
                  <a:pt x="2171700" y="204406"/>
                </a:lnTo>
                <a:lnTo>
                  <a:pt x="2171700" y="210140"/>
                </a:lnTo>
                <a:lnTo>
                  <a:pt x="2170604" y="215655"/>
                </a:lnTo>
                <a:lnTo>
                  <a:pt x="2168404" y="220951"/>
                </a:lnTo>
                <a:lnTo>
                  <a:pt x="2166213" y="226256"/>
                </a:lnTo>
                <a:lnTo>
                  <a:pt x="2163089" y="230933"/>
                </a:lnTo>
                <a:lnTo>
                  <a:pt x="2159031" y="234981"/>
                </a:lnTo>
                <a:lnTo>
                  <a:pt x="2154983" y="239039"/>
                </a:lnTo>
                <a:lnTo>
                  <a:pt x="2150306" y="242163"/>
                </a:lnTo>
                <a:lnTo>
                  <a:pt x="2145001" y="244354"/>
                </a:lnTo>
                <a:lnTo>
                  <a:pt x="2139705" y="246554"/>
                </a:lnTo>
                <a:lnTo>
                  <a:pt x="2134190" y="247650"/>
                </a:lnTo>
                <a:lnTo>
                  <a:pt x="2128456" y="247650"/>
                </a:lnTo>
                <a:lnTo>
                  <a:pt x="43243" y="247650"/>
                </a:lnTo>
                <a:lnTo>
                  <a:pt x="37509" y="247650"/>
                </a:lnTo>
                <a:lnTo>
                  <a:pt x="31994" y="246554"/>
                </a:lnTo>
                <a:lnTo>
                  <a:pt x="26698" y="244354"/>
                </a:lnTo>
                <a:lnTo>
                  <a:pt x="21393" y="242163"/>
                </a:lnTo>
                <a:lnTo>
                  <a:pt x="16716" y="239039"/>
                </a:lnTo>
                <a:lnTo>
                  <a:pt x="12668" y="234981"/>
                </a:lnTo>
                <a:lnTo>
                  <a:pt x="8610" y="230933"/>
                </a:lnTo>
                <a:lnTo>
                  <a:pt x="5486" y="226256"/>
                </a:lnTo>
                <a:lnTo>
                  <a:pt x="3295" y="220951"/>
                </a:lnTo>
                <a:lnTo>
                  <a:pt x="1095" y="215655"/>
                </a:lnTo>
                <a:lnTo>
                  <a:pt x="0" y="210140"/>
                </a:lnTo>
                <a:lnTo>
                  <a:pt x="0" y="204406"/>
                </a:lnTo>
                <a:close/>
              </a:path>
            </a:pathLst>
          </a:custGeom>
          <a:ln w="9525">
            <a:solidFill>
              <a:srgbClr val="1B1B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8815" y="488314"/>
            <a:ext cx="200215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SECTION</a:t>
            </a:r>
            <a:r>
              <a:rPr dirty="0" sz="1050" spc="5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2</a:t>
            </a:r>
            <a:r>
              <a:rPr dirty="0" sz="1050" spc="5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—</a:t>
            </a:r>
            <a:r>
              <a:rPr dirty="0" sz="1050" spc="5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BASIC</a:t>
            </a:r>
            <a:r>
              <a:rPr dirty="0" sz="1050" spc="5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1B1B27"/>
                </a:solidFill>
                <a:latin typeface="Roboto"/>
                <a:cs typeface="Roboto"/>
              </a:rPr>
              <a:t>APPROACH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20"/>
              <a:t>Basic</a:t>
            </a:r>
            <a:r>
              <a:rPr dirty="0" spc="-240"/>
              <a:t> </a:t>
            </a:r>
            <a:r>
              <a:rPr dirty="0" spc="80"/>
              <a:t>Troubleshooting</a:t>
            </a:r>
            <a:r>
              <a:rPr dirty="0" spc="-245"/>
              <a:t> </a:t>
            </a:r>
            <a:r>
              <a:rPr dirty="0" spc="130"/>
              <a:t>Approach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5974" y="1526539"/>
            <a:ext cx="956818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structured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helps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avoid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guesswork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reduces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risk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making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changes.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steps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below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form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reliable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framework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applied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most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issues.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984115" algn="l"/>
              </a:tabLst>
            </a:pPr>
            <a:r>
              <a:rPr dirty="0" sz="1350" spc="-25">
                <a:solidFill>
                  <a:srgbClr val="3B3838"/>
                </a:solidFill>
                <a:latin typeface="Trebuchet MS"/>
                <a:cs typeface="Trebuchet MS"/>
              </a:rPr>
              <a:t>01</a:t>
            </a:r>
            <a:r>
              <a:rPr dirty="0" sz="1350">
                <a:solidFill>
                  <a:srgbClr val="3B3838"/>
                </a:solidFill>
                <a:latin typeface="Trebuchet MS"/>
                <a:cs typeface="Trebuchet MS"/>
              </a:rPr>
              <a:t>	</a:t>
            </a:r>
            <a:r>
              <a:rPr dirty="0" sz="1350" spc="-25">
                <a:solidFill>
                  <a:srgbClr val="3B3838"/>
                </a:solidFill>
                <a:latin typeface="Trebuchet MS"/>
                <a:cs typeface="Trebuchet MS"/>
              </a:rPr>
              <a:t>02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8675" y="260985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5975" y="2716211"/>
            <a:ext cx="475996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3B3838"/>
                </a:solidFill>
                <a:latin typeface="Trebuchet MS"/>
                <a:cs typeface="Trebuchet MS"/>
              </a:rPr>
              <a:t>Understand</a:t>
            </a:r>
            <a:r>
              <a:rPr dirty="0" sz="1650" spc="-1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the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60">
                <a:solidFill>
                  <a:srgbClr val="3B3838"/>
                </a:solidFill>
                <a:latin typeface="Trebuchet MS"/>
                <a:cs typeface="Trebuchet MS"/>
              </a:rPr>
              <a:t>Problem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out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exactly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what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user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trying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what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going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wrong.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Ask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exact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steps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taken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exact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message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shown.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00725" y="260985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788025" y="2716211"/>
            <a:ext cx="435673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>
                <a:solidFill>
                  <a:srgbClr val="3B3838"/>
                </a:solidFill>
                <a:latin typeface="Trebuchet MS"/>
                <a:cs typeface="Trebuchet MS"/>
              </a:rPr>
              <a:t>Read</a:t>
            </a:r>
            <a:r>
              <a:rPr dirty="0" sz="1650" spc="-2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the</a:t>
            </a:r>
            <a:r>
              <a:rPr dirty="0" sz="1650" spc="-2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Error</a:t>
            </a:r>
            <a:r>
              <a:rPr dirty="0" sz="1650" spc="-7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130">
                <a:solidFill>
                  <a:srgbClr val="3B3838"/>
                </a:solidFill>
                <a:latin typeface="Trebuchet MS"/>
                <a:cs typeface="Trebuchet MS"/>
              </a:rPr>
              <a:t>Message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system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message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often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contains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clues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about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root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cause.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Note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message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number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text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carefully.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975" y="4197349"/>
            <a:ext cx="2209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0">
                <a:solidFill>
                  <a:srgbClr val="3B3838"/>
                </a:solidFill>
                <a:latin typeface="Trebuchet MS"/>
                <a:cs typeface="Trebuchet MS"/>
              </a:rPr>
              <a:t>03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8675" y="449580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15975" y="4602162"/>
            <a:ext cx="430657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3B3838"/>
                </a:solidFill>
                <a:latin typeface="Trebuchet MS"/>
                <a:cs typeface="Trebuchet MS"/>
              </a:rPr>
              <a:t>Reproduce</a:t>
            </a:r>
            <a:r>
              <a:rPr dirty="0" sz="1650" spc="-3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the</a:t>
            </a:r>
            <a:r>
              <a:rPr dirty="0" sz="1650" spc="-3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60">
                <a:solidFill>
                  <a:srgbClr val="3B3838"/>
                </a:solidFill>
                <a:latin typeface="Trebuchet MS"/>
                <a:cs typeface="Trebuchet MS"/>
              </a:rPr>
              <a:t>Issue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possible,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try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reproduce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safe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testing environment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(not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production)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understand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better.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88025" y="4197349"/>
            <a:ext cx="2222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0">
                <a:solidFill>
                  <a:srgbClr val="3B3838"/>
                </a:solidFill>
                <a:latin typeface="Trebuchet MS"/>
                <a:cs typeface="Trebuchet MS"/>
              </a:rPr>
              <a:t>04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00725" y="449580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788025" y="4602162"/>
            <a:ext cx="470217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Check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65">
                <a:solidFill>
                  <a:srgbClr val="3B3838"/>
                </a:solidFill>
                <a:latin typeface="Trebuchet MS"/>
                <a:cs typeface="Trebuchet MS"/>
              </a:rPr>
              <a:t>Master</a:t>
            </a:r>
            <a:r>
              <a:rPr dirty="0" sz="1650" spc="-9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20">
                <a:solidFill>
                  <a:srgbClr val="3B3838"/>
                </a:solidFill>
                <a:latin typeface="Trebuchet MS"/>
                <a:cs typeface="Trebuchet MS"/>
              </a:rPr>
              <a:t>Data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relevant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accounts,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customer/vendor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records,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cost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centres,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asset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master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accuracy.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5975" y="5816599"/>
            <a:ext cx="2235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5">
                <a:solidFill>
                  <a:srgbClr val="3B3838"/>
                </a:solidFill>
                <a:latin typeface="Trebuchet MS"/>
                <a:cs typeface="Trebuchet MS"/>
              </a:rPr>
              <a:t>05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8675" y="611505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15975" y="6221412"/>
            <a:ext cx="460184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Check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Configuration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relevant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settings.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changes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should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only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made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by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authorised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personnel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after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proper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analysis.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88025" y="5816599"/>
            <a:ext cx="23304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60">
                <a:solidFill>
                  <a:srgbClr val="3B3838"/>
                </a:solidFill>
                <a:latin typeface="Trebuchet MS"/>
                <a:cs typeface="Trebuchet MS"/>
              </a:rPr>
              <a:t>06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00725" y="611505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788025" y="6221412"/>
            <a:ext cx="471551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3B3838"/>
                </a:solidFill>
                <a:latin typeface="Trebuchet MS"/>
                <a:cs typeface="Trebuchet MS"/>
              </a:rPr>
              <a:t>Check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B3838"/>
                </a:solidFill>
                <a:latin typeface="Trebuchet MS"/>
                <a:cs typeface="Trebuchet MS"/>
              </a:rPr>
              <a:t>Integration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Determine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whether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another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module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(MM,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SD,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90">
                <a:solidFill>
                  <a:srgbClr val="3B3838"/>
                </a:solidFill>
                <a:latin typeface="Roboto"/>
                <a:cs typeface="Roboto"/>
              </a:rPr>
              <a:t>PP,</a:t>
            </a:r>
            <a:r>
              <a:rPr dirty="0" sz="13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HCM)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is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involved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whether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is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flowing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correctly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between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them.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5975" y="7435850"/>
            <a:ext cx="2197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B3838"/>
                </a:solidFill>
                <a:latin typeface="Trebuchet MS"/>
                <a:cs typeface="Trebuchet MS"/>
              </a:rPr>
              <a:t>07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28675" y="7724775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15975" y="7831137"/>
            <a:ext cx="429895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Test</a:t>
            </a:r>
            <a:r>
              <a:rPr dirty="0" sz="1650" spc="-2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the</a:t>
            </a:r>
            <a:r>
              <a:rPr dirty="0" sz="1650" spc="-2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40">
                <a:solidFill>
                  <a:srgbClr val="3B3838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Always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test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proposed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fix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development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quality environment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applying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live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system.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88025" y="7435850"/>
            <a:ext cx="23114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65">
                <a:solidFill>
                  <a:srgbClr val="3B3838"/>
                </a:solidFill>
                <a:latin typeface="Trebuchet MS"/>
                <a:cs typeface="Trebuchet MS"/>
              </a:rPr>
              <a:t>08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00725" y="7724775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788025" y="7831137"/>
            <a:ext cx="477139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B3838"/>
                </a:solidFill>
                <a:latin typeface="Trebuchet MS"/>
                <a:cs typeface="Trebuchet MS"/>
              </a:rPr>
              <a:t>Verify</a:t>
            </a:r>
            <a:r>
              <a:rPr dirty="0" sz="1650" spc="-11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80">
                <a:solidFill>
                  <a:srgbClr val="3B3838"/>
                </a:solidFill>
                <a:latin typeface="Trebuchet MS"/>
                <a:cs typeface="Trebuchet MS"/>
              </a:rPr>
              <a:t>and</a:t>
            </a:r>
            <a:r>
              <a:rPr dirty="0" sz="1650" spc="-6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650" spc="75">
                <a:solidFill>
                  <a:srgbClr val="3B3838"/>
                </a:solidFill>
                <a:latin typeface="Trebuchet MS"/>
                <a:cs typeface="Trebuchet MS"/>
              </a:rPr>
              <a:t>Document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Confirm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original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issue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is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resolved,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record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problem,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cause,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solution,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preventive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measures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taken.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28675" y="9096375"/>
            <a:ext cx="9772650" cy="952500"/>
            <a:chOff x="828675" y="9096375"/>
            <a:chExt cx="9772650" cy="952500"/>
          </a:xfrm>
        </p:grpSpPr>
        <p:sp>
          <p:nvSpPr>
            <p:cNvPr id="29" name="object 29"/>
            <p:cNvSpPr/>
            <p:nvPr/>
          </p:nvSpPr>
          <p:spPr>
            <a:xfrm>
              <a:off x="828675" y="9096375"/>
              <a:ext cx="9772650" cy="952500"/>
            </a:xfrm>
            <a:custGeom>
              <a:avLst/>
              <a:gdLst/>
              <a:ahLst/>
              <a:cxnLst/>
              <a:rect l="l" t="t" r="r" b="b"/>
              <a:pathLst>
                <a:path w="9772650" h="952500">
                  <a:moveTo>
                    <a:pt x="9716586" y="952500"/>
                  </a:moveTo>
                  <a:lnTo>
                    <a:pt x="56064" y="952500"/>
                  </a:lnTo>
                  <a:lnTo>
                    <a:pt x="52168" y="952119"/>
                  </a:lnTo>
                  <a:lnTo>
                    <a:pt x="14792" y="932135"/>
                  </a:lnTo>
                  <a:lnTo>
                    <a:pt x="0" y="896435"/>
                  </a:lnTo>
                  <a:lnTo>
                    <a:pt x="0" y="892492"/>
                  </a:lnTo>
                  <a:lnTo>
                    <a:pt x="0" y="56064"/>
                  </a:lnTo>
                  <a:lnTo>
                    <a:pt x="14792" y="20364"/>
                  </a:lnTo>
                  <a:lnTo>
                    <a:pt x="52168" y="381"/>
                  </a:lnTo>
                  <a:lnTo>
                    <a:pt x="56064" y="0"/>
                  </a:lnTo>
                  <a:lnTo>
                    <a:pt x="9716586" y="0"/>
                  </a:lnTo>
                  <a:lnTo>
                    <a:pt x="9752286" y="14792"/>
                  </a:lnTo>
                  <a:lnTo>
                    <a:pt x="9772260" y="52168"/>
                  </a:lnTo>
                  <a:lnTo>
                    <a:pt x="9772650" y="56064"/>
                  </a:lnTo>
                  <a:lnTo>
                    <a:pt x="9772650" y="896435"/>
                  </a:lnTo>
                  <a:lnTo>
                    <a:pt x="9757858" y="932135"/>
                  </a:lnTo>
                  <a:lnTo>
                    <a:pt x="9720482" y="952119"/>
                  </a:lnTo>
                  <a:lnTo>
                    <a:pt x="9716586" y="95250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2271" y="9335690"/>
              <a:ext cx="150018" cy="150018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373187" y="9241790"/>
            <a:ext cx="870204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latin typeface="Roboto"/>
                <a:cs typeface="Roboto"/>
              </a:rPr>
              <a:t>Important: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Never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change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production</a:t>
            </a:r>
            <a:r>
              <a:rPr dirty="0" sz="1350" spc="-3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configuration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without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proper</a:t>
            </a:r>
            <a:r>
              <a:rPr dirty="0" sz="1350" spc="-30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authorisation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and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testing.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Incorrect</a:t>
            </a:r>
            <a:r>
              <a:rPr dirty="0" sz="1350" spc="-30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changes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 spc="-25">
                <a:latin typeface="Roboto"/>
                <a:cs typeface="Roboto"/>
              </a:rPr>
              <a:t>can </a:t>
            </a:r>
            <a:r>
              <a:rPr dirty="0" sz="1350">
                <a:latin typeface="Roboto"/>
                <a:cs typeface="Roboto"/>
              </a:rPr>
              <a:t>affect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financial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reporting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>
                <a:latin typeface="Roboto"/>
                <a:cs typeface="Roboto"/>
              </a:rPr>
              <a:t>and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business</a:t>
            </a:r>
            <a:r>
              <a:rPr dirty="0" sz="1350" spc="-35">
                <a:latin typeface="Roboto"/>
                <a:cs typeface="Roboto"/>
              </a:rPr>
              <a:t> </a:t>
            </a:r>
            <a:r>
              <a:rPr dirty="0" sz="1350" spc="-10">
                <a:latin typeface="Roboto"/>
                <a:cs typeface="Roboto"/>
              </a:rPr>
              <a:t>operations.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437" y="481012"/>
            <a:ext cx="2447925" cy="247650"/>
          </a:xfrm>
          <a:custGeom>
            <a:avLst/>
            <a:gdLst/>
            <a:ahLst/>
            <a:cxnLst/>
            <a:rect l="l" t="t" r="r" b="b"/>
            <a:pathLst>
              <a:path w="2447925" h="247650">
                <a:moveTo>
                  <a:pt x="0" y="204406"/>
                </a:moveTo>
                <a:lnTo>
                  <a:pt x="0" y="43243"/>
                </a:lnTo>
                <a:lnTo>
                  <a:pt x="0" y="37509"/>
                </a:lnTo>
                <a:lnTo>
                  <a:pt x="1095" y="31994"/>
                </a:lnTo>
                <a:lnTo>
                  <a:pt x="3295" y="26698"/>
                </a:lnTo>
                <a:lnTo>
                  <a:pt x="5486" y="21393"/>
                </a:lnTo>
                <a:lnTo>
                  <a:pt x="8610" y="16716"/>
                </a:lnTo>
                <a:lnTo>
                  <a:pt x="12668" y="12668"/>
                </a:lnTo>
                <a:lnTo>
                  <a:pt x="16716" y="8610"/>
                </a:lnTo>
                <a:lnTo>
                  <a:pt x="21393" y="5486"/>
                </a:lnTo>
                <a:lnTo>
                  <a:pt x="26698" y="3295"/>
                </a:lnTo>
                <a:lnTo>
                  <a:pt x="31994" y="1095"/>
                </a:lnTo>
                <a:lnTo>
                  <a:pt x="37509" y="0"/>
                </a:lnTo>
                <a:lnTo>
                  <a:pt x="43243" y="0"/>
                </a:lnTo>
                <a:lnTo>
                  <a:pt x="2404681" y="0"/>
                </a:lnTo>
                <a:lnTo>
                  <a:pt x="2410415" y="0"/>
                </a:lnTo>
                <a:lnTo>
                  <a:pt x="2415930" y="1095"/>
                </a:lnTo>
                <a:lnTo>
                  <a:pt x="2421226" y="3295"/>
                </a:lnTo>
                <a:lnTo>
                  <a:pt x="2426531" y="5486"/>
                </a:lnTo>
                <a:lnTo>
                  <a:pt x="2431208" y="8610"/>
                </a:lnTo>
                <a:lnTo>
                  <a:pt x="2435256" y="12668"/>
                </a:lnTo>
                <a:lnTo>
                  <a:pt x="2439314" y="16716"/>
                </a:lnTo>
                <a:lnTo>
                  <a:pt x="2442438" y="21393"/>
                </a:lnTo>
                <a:lnTo>
                  <a:pt x="2444629" y="26698"/>
                </a:lnTo>
                <a:lnTo>
                  <a:pt x="2446829" y="31994"/>
                </a:lnTo>
                <a:lnTo>
                  <a:pt x="2447925" y="37509"/>
                </a:lnTo>
                <a:lnTo>
                  <a:pt x="2447925" y="43243"/>
                </a:lnTo>
                <a:lnTo>
                  <a:pt x="2447925" y="204406"/>
                </a:lnTo>
                <a:lnTo>
                  <a:pt x="2447925" y="210140"/>
                </a:lnTo>
                <a:lnTo>
                  <a:pt x="2446829" y="215655"/>
                </a:lnTo>
                <a:lnTo>
                  <a:pt x="2444629" y="220951"/>
                </a:lnTo>
                <a:lnTo>
                  <a:pt x="2442438" y="226256"/>
                </a:lnTo>
                <a:lnTo>
                  <a:pt x="2439314" y="230933"/>
                </a:lnTo>
                <a:lnTo>
                  <a:pt x="2435256" y="234981"/>
                </a:lnTo>
                <a:lnTo>
                  <a:pt x="2431208" y="239039"/>
                </a:lnTo>
                <a:lnTo>
                  <a:pt x="2426531" y="242163"/>
                </a:lnTo>
                <a:lnTo>
                  <a:pt x="2421226" y="244354"/>
                </a:lnTo>
                <a:lnTo>
                  <a:pt x="2415930" y="246554"/>
                </a:lnTo>
                <a:lnTo>
                  <a:pt x="2410415" y="247650"/>
                </a:lnTo>
                <a:lnTo>
                  <a:pt x="2404681" y="247650"/>
                </a:lnTo>
                <a:lnTo>
                  <a:pt x="43243" y="247650"/>
                </a:lnTo>
                <a:lnTo>
                  <a:pt x="37509" y="247650"/>
                </a:lnTo>
                <a:lnTo>
                  <a:pt x="31994" y="246554"/>
                </a:lnTo>
                <a:lnTo>
                  <a:pt x="26698" y="244354"/>
                </a:lnTo>
                <a:lnTo>
                  <a:pt x="21393" y="242163"/>
                </a:lnTo>
                <a:lnTo>
                  <a:pt x="16716" y="239039"/>
                </a:lnTo>
                <a:lnTo>
                  <a:pt x="12668" y="234981"/>
                </a:lnTo>
                <a:lnTo>
                  <a:pt x="8610" y="230933"/>
                </a:lnTo>
                <a:lnTo>
                  <a:pt x="5486" y="226256"/>
                </a:lnTo>
                <a:lnTo>
                  <a:pt x="3295" y="220951"/>
                </a:lnTo>
                <a:lnTo>
                  <a:pt x="1095" y="215655"/>
                </a:lnTo>
                <a:lnTo>
                  <a:pt x="0" y="210140"/>
                </a:lnTo>
                <a:lnTo>
                  <a:pt x="0" y="204406"/>
                </a:lnTo>
                <a:close/>
              </a:path>
            </a:pathLst>
          </a:custGeom>
          <a:ln w="9525">
            <a:solidFill>
              <a:srgbClr val="1B1B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8815" y="488315"/>
            <a:ext cx="228282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SECTIONS</a:t>
            </a:r>
            <a:r>
              <a:rPr dirty="0" sz="1050" spc="4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3–4</a:t>
            </a:r>
            <a:r>
              <a:rPr dirty="0" sz="1050" spc="4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—</a:t>
            </a:r>
            <a:r>
              <a:rPr dirty="0" sz="1050" spc="4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FI</a:t>
            </a:r>
            <a:r>
              <a:rPr dirty="0" sz="1050" spc="4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AND</a:t>
            </a:r>
            <a:r>
              <a:rPr dirty="0" sz="1050" spc="4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1B1B27"/>
                </a:solidFill>
                <a:latin typeface="Roboto"/>
                <a:cs typeface="Roboto"/>
              </a:rPr>
              <a:t>G/L</a:t>
            </a:r>
            <a:r>
              <a:rPr dirty="0" sz="1050" spc="4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1B1B27"/>
                </a:solidFill>
                <a:latin typeface="Roboto"/>
                <a:cs typeface="Roboto"/>
              </a:rPr>
              <a:t>ISSUES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974" y="768350"/>
            <a:ext cx="9749790" cy="13360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235">
                <a:solidFill>
                  <a:srgbClr val="1B1B27"/>
                </a:solidFill>
                <a:latin typeface="Trebuchet MS"/>
                <a:cs typeface="Trebuchet MS"/>
              </a:rPr>
              <a:t>Common</a:t>
            </a:r>
            <a:r>
              <a:rPr dirty="0" sz="3350" spc="-1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3350" spc="50">
                <a:solidFill>
                  <a:srgbClr val="1B1B27"/>
                </a:solidFill>
                <a:latin typeface="Trebuchet MS"/>
                <a:cs typeface="Trebuchet MS"/>
              </a:rPr>
              <a:t>FI</a:t>
            </a:r>
            <a:r>
              <a:rPr dirty="0" sz="3350" spc="-1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3350" spc="145">
                <a:solidFill>
                  <a:srgbClr val="1B1B27"/>
                </a:solidFill>
                <a:latin typeface="Trebuchet MS"/>
                <a:cs typeface="Trebuchet MS"/>
              </a:rPr>
              <a:t>and</a:t>
            </a:r>
            <a:r>
              <a:rPr dirty="0" sz="3350" spc="-1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3350" spc="60">
                <a:solidFill>
                  <a:srgbClr val="1B1B27"/>
                </a:solidFill>
                <a:latin typeface="Trebuchet MS"/>
                <a:cs typeface="Trebuchet MS"/>
              </a:rPr>
              <a:t>General</a:t>
            </a:r>
            <a:r>
              <a:rPr dirty="0" sz="3350" spc="-2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3350" spc="160">
                <a:solidFill>
                  <a:srgbClr val="1B1B27"/>
                </a:solidFill>
                <a:latin typeface="Trebuchet MS"/>
                <a:cs typeface="Trebuchet MS"/>
              </a:rPr>
              <a:t>Ledger</a:t>
            </a:r>
            <a:r>
              <a:rPr dirty="0" sz="3350" spc="-22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3350" spc="160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33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192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among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moзt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frequently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encountered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FICO.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Below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зummary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moзt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common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problemз,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their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poззible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cauзeз,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зtructured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reзolving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them.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974" y="2378075"/>
            <a:ext cx="29464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70">
                <a:solidFill>
                  <a:srgbClr val="1B1B27"/>
                </a:solidFill>
                <a:latin typeface="Trebuchet MS"/>
                <a:cs typeface="Trebuchet MS"/>
              </a:rPr>
              <a:t>Common</a:t>
            </a:r>
            <a:r>
              <a:rPr dirty="0" sz="2700" spc="-7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1B1B27"/>
                </a:solidFill>
                <a:latin typeface="Trebuchet MS"/>
                <a:cs typeface="Trebuchet MS"/>
              </a:rPr>
              <a:t>FI</a:t>
            </a:r>
            <a:r>
              <a:rPr dirty="0" sz="2700" spc="-7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114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28675" y="3086099"/>
            <a:ext cx="9772650" cy="7077075"/>
            <a:chOff x="828675" y="3086099"/>
            <a:chExt cx="9772650" cy="7077075"/>
          </a:xfrm>
        </p:grpSpPr>
        <p:sp>
          <p:nvSpPr>
            <p:cNvPr id="7" name="object 7"/>
            <p:cNvSpPr/>
            <p:nvPr/>
          </p:nvSpPr>
          <p:spPr>
            <a:xfrm>
              <a:off x="833437" y="3090862"/>
              <a:ext cx="9763125" cy="7067550"/>
            </a:xfrm>
            <a:custGeom>
              <a:avLst/>
              <a:gdLst/>
              <a:ahLst/>
              <a:cxnLst/>
              <a:rect l="l" t="t" r="r" b="b"/>
              <a:pathLst>
                <a:path w="9763125" h="7067550">
                  <a:moveTo>
                    <a:pt x="0" y="7012305"/>
                  </a:moveTo>
                  <a:lnTo>
                    <a:pt x="0" y="55245"/>
                  </a:lnTo>
                  <a:lnTo>
                    <a:pt x="0" y="51615"/>
                  </a:lnTo>
                  <a:lnTo>
                    <a:pt x="352" y="48025"/>
                  </a:lnTo>
                  <a:lnTo>
                    <a:pt x="16182" y="16182"/>
                  </a:lnTo>
                  <a:lnTo>
                    <a:pt x="18745" y="13611"/>
                  </a:lnTo>
                  <a:lnTo>
                    <a:pt x="34099" y="4210"/>
                  </a:lnTo>
                  <a:lnTo>
                    <a:pt x="37452" y="2819"/>
                  </a:lnTo>
                  <a:lnTo>
                    <a:pt x="40909" y="1771"/>
                  </a:lnTo>
                  <a:lnTo>
                    <a:pt x="44462" y="1057"/>
                  </a:lnTo>
                  <a:lnTo>
                    <a:pt x="48025" y="352"/>
                  </a:lnTo>
                  <a:lnTo>
                    <a:pt x="51615" y="0"/>
                  </a:lnTo>
                  <a:lnTo>
                    <a:pt x="55245" y="0"/>
                  </a:lnTo>
                  <a:lnTo>
                    <a:pt x="9707880" y="0"/>
                  </a:lnTo>
                  <a:lnTo>
                    <a:pt x="9711509" y="0"/>
                  </a:lnTo>
                  <a:lnTo>
                    <a:pt x="9715100" y="352"/>
                  </a:lnTo>
                  <a:lnTo>
                    <a:pt x="9718653" y="1057"/>
                  </a:lnTo>
                  <a:lnTo>
                    <a:pt x="9722215" y="1771"/>
                  </a:lnTo>
                  <a:lnTo>
                    <a:pt x="9725673" y="2819"/>
                  </a:lnTo>
                  <a:lnTo>
                    <a:pt x="9729016" y="4210"/>
                  </a:lnTo>
                  <a:lnTo>
                    <a:pt x="9732369" y="5591"/>
                  </a:lnTo>
                  <a:lnTo>
                    <a:pt x="9746942" y="16182"/>
                  </a:lnTo>
                  <a:lnTo>
                    <a:pt x="9749505" y="18745"/>
                  </a:lnTo>
                  <a:lnTo>
                    <a:pt x="9758915" y="34099"/>
                  </a:lnTo>
                  <a:lnTo>
                    <a:pt x="9760306" y="37452"/>
                  </a:lnTo>
                  <a:lnTo>
                    <a:pt x="9761354" y="40909"/>
                  </a:lnTo>
                  <a:lnTo>
                    <a:pt x="9762068" y="44472"/>
                  </a:lnTo>
                  <a:lnTo>
                    <a:pt x="9762773" y="48025"/>
                  </a:lnTo>
                  <a:lnTo>
                    <a:pt x="9763125" y="51615"/>
                  </a:lnTo>
                  <a:lnTo>
                    <a:pt x="9763125" y="55245"/>
                  </a:lnTo>
                  <a:lnTo>
                    <a:pt x="9763125" y="7012305"/>
                  </a:lnTo>
                  <a:lnTo>
                    <a:pt x="9763125" y="7015934"/>
                  </a:lnTo>
                  <a:lnTo>
                    <a:pt x="9762773" y="7019525"/>
                  </a:lnTo>
                  <a:lnTo>
                    <a:pt x="9762068" y="7023078"/>
                  </a:lnTo>
                  <a:lnTo>
                    <a:pt x="9761354" y="7026640"/>
                  </a:lnTo>
                  <a:lnTo>
                    <a:pt x="9760306" y="7030098"/>
                  </a:lnTo>
                  <a:lnTo>
                    <a:pt x="9758915" y="7033441"/>
                  </a:lnTo>
                  <a:lnTo>
                    <a:pt x="9757534" y="7036794"/>
                  </a:lnTo>
                  <a:lnTo>
                    <a:pt x="9755829" y="7039985"/>
                  </a:lnTo>
                  <a:lnTo>
                    <a:pt x="9753810" y="7042995"/>
                  </a:lnTo>
                  <a:lnTo>
                    <a:pt x="9751800" y="7046014"/>
                  </a:lnTo>
                  <a:lnTo>
                    <a:pt x="9749505" y="7048805"/>
                  </a:lnTo>
                  <a:lnTo>
                    <a:pt x="9746942" y="7051367"/>
                  </a:lnTo>
                  <a:lnTo>
                    <a:pt x="9744380" y="7053929"/>
                  </a:lnTo>
                  <a:lnTo>
                    <a:pt x="9711509" y="7067550"/>
                  </a:lnTo>
                  <a:lnTo>
                    <a:pt x="9707880" y="7067550"/>
                  </a:lnTo>
                  <a:lnTo>
                    <a:pt x="55245" y="7067550"/>
                  </a:lnTo>
                  <a:lnTo>
                    <a:pt x="51615" y="7067550"/>
                  </a:lnTo>
                  <a:lnTo>
                    <a:pt x="48025" y="7067198"/>
                  </a:lnTo>
                  <a:lnTo>
                    <a:pt x="16182" y="7051367"/>
                  </a:lnTo>
                  <a:lnTo>
                    <a:pt x="13611" y="7048805"/>
                  </a:lnTo>
                  <a:lnTo>
                    <a:pt x="0" y="7015934"/>
                  </a:lnTo>
                  <a:lnTo>
                    <a:pt x="0" y="7012305"/>
                  </a:lnTo>
                  <a:close/>
                </a:path>
              </a:pathLst>
            </a:custGeom>
            <a:ln w="9525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38199" y="3095623"/>
              <a:ext cx="9753600" cy="495934"/>
            </a:xfrm>
            <a:custGeom>
              <a:avLst/>
              <a:gdLst/>
              <a:ahLst/>
              <a:cxnLst/>
              <a:rect l="l" t="t" r="r" b="b"/>
              <a:pathLst>
                <a:path w="9753600" h="495935">
                  <a:moveTo>
                    <a:pt x="9753600" y="52057"/>
                  </a:moveTo>
                  <a:lnTo>
                    <a:pt x="9730384" y="11950"/>
                  </a:lnTo>
                  <a:lnTo>
                    <a:pt x="9701543" y="0"/>
                  </a:lnTo>
                  <a:lnTo>
                    <a:pt x="7315200" y="0"/>
                  </a:lnTo>
                  <a:lnTo>
                    <a:pt x="4876800" y="12"/>
                  </a:lnTo>
                  <a:lnTo>
                    <a:pt x="2438400" y="12"/>
                  </a:lnTo>
                  <a:lnTo>
                    <a:pt x="52044" y="0"/>
                  </a:lnTo>
                  <a:lnTo>
                    <a:pt x="11938" y="23202"/>
                  </a:lnTo>
                  <a:lnTo>
                    <a:pt x="0" y="52057"/>
                  </a:lnTo>
                  <a:lnTo>
                    <a:pt x="0" y="495300"/>
                  </a:lnTo>
                  <a:lnTo>
                    <a:pt x="2438400" y="495300"/>
                  </a:lnTo>
                  <a:lnTo>
                    <a:pt x="4876800" y="495312"/>
                  </a:lnTo>
                  <a:lnTo>
                    <a:pt x="7315200" y="495312"/>
                  </a:lnTo>
                  <a:lnTo>
                    <a:pt x="9753600" y="495300"/>
                  </a:lnTo>
                  <a:lnTo>
                    <a:pt x="9753600" y="52057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38199" y="3590935"/>
              <a:ext cx="9753600" cy="1323975"/>
            </a:xfrm>
            <a:custGeom>
              <a:avLst/>
              <a:gdLst/>
              <a:ahLst/>
              <a:cxnLst/>
              <a:rect l="l" t="t" r="r" b="b"/>
              <a:pathLst>
                <a:path w="9753600" h="1323975">
                  <a:moveTo>
                    <a:pt x="9753600" y="0"/>
                  </a:moveTo>
                  <a:lnTo>
                    <a:pt x="7315200" y="0"/>
                  </a:lnTo>
                  <a:lnTo>
                    <a:pt x="4876800" y="0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1323975"/>
                  </a:lnTo>
                  <a:lnTo>
                    <a:pt x="2438400" y="1323975"/>
                  </a:lnTo>
                  <a:lnTo>
                    <a:pt x="4876800" y="1323975"/>
                  </a:lnTo>
                  <a:lnTo>
                    <a:pt x="7315200" y="1323975"/>
                  </a:lnTo>
                  <a:lnTo>
                    <a:pt x="9753600" y="1323975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38199" y="4914911"/>
              <a:ext cx="9753600" cy="1047750"/>
            </a:xfrm>
            <a:custGeom>
              <a:avLst/>
              <a:gdLst/>
              <a:ahLst/>
              <a:cxnLst/>
              <a:rect l="l" t="t" r="r" b="b"/>
              <a:pathLst>
                <a:path w="9753600" h="1047750">
                  <a:moveTo>
                    <a:pt x="9753600" y="0"/>
                  </a:moveTo>
                  <a:lnTo>
                    <a:pt x="7315200" y="0"/>
                  </a:lnTo>
                  <a:lnTo>
                    <a:pt x="4876800" y="0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1047750"/>
                  </a:lnTo>
                  <a:lnTo>
                    <a:pt x="2438400" y="1047750"/>
                  </a:lnTo>
                  <a:lnTo>
                    <a:pt x="4876800" y="1047750"/>
                  </a:lnTo>
                  <a:lnTo>
                    <a:pt x="7315200" y="1047750"/>
                  </a:lnTo>
                  <a:lnTo>
                    <a:pt x="9753600" y="104775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38199" y="5962661"/>
              <a:ext cx="9753600" cy="1047750"/>
            </a:xfrm>
            <a:custGeom>
              <a:avLst/>
              <a:gdLst/>
              <a:ahLst/>
              <a:cxnLst/>
              <a:rect l="l" t="t" r="r" b="b"/>
              <a:pathLst>
                <a:path w="9753600" h="1047750">
                  <a:moveTo>
                    <a:pt x="9753600" y="0"/>
                  </a:moveTo>
                  <a:lnTo>
                    <a:pt x="7315200" y="0"/>
                  </a:lnTo>
                  <a:lnTo>
                    <a:pt x="4876800" y="0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1047750"/>
                  </a:lnTo>
                  <a:lnTo>
                    <a:pt x="2438400" y="1047750"/>
                  </a:lnTo>
                  <a:lnTo>
                    <a:pt x="4876800" y="1047750"/>
                  </a:lnTo>
                  <a:lnTo>
                    <a:pt x="7315200" y="1047750"/>
                  </a:lnTo>
                  <a:lnTo>
                    <a:pt x="9753600" y="104775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38199" y="7010411"/>
              <a:ext cx="9753600" cy="1047750"/>
            </a:xfrm>
            <a:custGeom>
              <a:avLst/>
              <a:gdLst/>
              <a:ahLst/>
              <a:cxnLst/>
              <a:rect l="l" t="t" r="r" b="b"/>
              <a:pathLst>
                <a:path w="9753600" h="1047750">
                  <a:moveTo>
                    <a:pt x="9753600" y="0"/>
                  </a:moveTo>
                  <a:lnTo>
                    <a:pt x="7315200" y="0"/>
                  </a:lnTo>
                  <a:lnTo>
                    <a:pt x="4876800" y="0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1047750"/>
                  </a:lnTo>
                  <a:lnTo>
                    <a:pt x="2438400" y="1047750"/>
                  </a:lnTo>
                  <a:lnTo>
                    <a:pt x="4876800" y="1047750"/>
                  </a:lnTo>
                  <a:lnTo>
                    <a:pt x="7315200" y="1047750"/>
                  </a:lnTo>
                  <a:lnTo>
                    <a:pt x="9753600" y="104775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38199" y="8058161"/>
              <a:ext cx="9753600" cy="1047750"/>
            </a:xfrm>
            <a:custGeom>
              <a:avLst/>
              <a:gdLst/>
              <a:ahLst/>
              <a:cxnLst/>
              <a:rect l="l" t="t" r="r" b="b"/>
              <a:pathLst>
                <a:path w="9753600" h="1047750">
                  <a:moveTo>
                    <a:pt x="9753600" y="0"/>
                  </a:moveTo>
                  <a:lnTo>
                    <a:pt x="7315200" y="0"/>
                  </a:lnTo>
                  <a:lnTo>
                    <a:pt x="4876800" y="0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1047750"/>
                  </a:lnTo>
                  <a:lnTo>
                    <a:pt x="2438400" y="1047750"/>
                  </a:lnTo>
                  <a:lnTo>
                    <a:pt x="4876800" y="1047750"/>
                  </a:lnTo>
                  <a:lnTo>
                    <a:pt x="7315200" y="1047750"/>
                  </a:lnTo>
                  <a:lnTo>
                    <a:pt x="9753600" y="104775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38199" y="9105898"/>
              <a:ext cx="9753600" cy="1048385"/>
            </a:xfrm>
            <a:custGeom>
              <a:avLst/>
              <a:gdLst/>
              <a:ahLst/>
              <a:cxnLst/>
              <a:rect l="l" t="t" r="r" b="b"/>
              <a:pathLst>
                <a:path w="9753600" h="1048384">
                  <a:moveTo>
                    <a:pt x="9753600" y="0"/>
                  </a:moveTo>
                  <a:lnTo>
                    <a:pt x="7315200" y="0"/>
                  </a:lnTo>
                  <a:lnTo>
                    <a:pt x="4876800" y="12"/>
                  </a:lnTo>
                  <a:lnTo>
                    <a:pt x="2438400" y="12"/>
                  </a:lnTo>
                  <a:lnTo>
                    <a:pt x="0" y="0"/>
                  </a:lnTo>
                  <a:lnTo>
                    <a:pt x="0" y="995705"/>
                  </a:lnTo>
                  <a:lnTo>
                    <a:pt x="1524" y="1003363"/>
                  </a:lnTo>
                  <a:lnTo>
                    <a:pt x="23190" y="1035799"/>
                  </a:lnTo>
                  <a:lnTo>
                    <a:pt x="52044" y="1047750"/>
                  </a:lnTo>
                  <a:lnTo>
                    <a:pt x="2438400" y="1047750"/>
                  </a:lnTo>
                  <a:lnTo>
                    <a:pt x="4876800" y="1047762"/>
                  </a:lnTo>
                  <a:lnTo>
                    <a:pt x="7315200" y="1047762"/>
                  </a:lnTo>
                  <a:lnTo>
                    <a:pt x="9701543" y="1047750"/>
                  </a:lnTo>
                  <a:lnTo>
                    <a:pt x="9709201" y="1046226"/>
                  </a:lnTo>
                  <a:lnTo>
                    <a:pt x="9741649" y="1024547"/>
                  </a:lnTo>
                  <a:lnTo>
                    <a:pt x="9753600" y="995705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96950" y="3216275"/>
            <a:ext cx="6762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0112" y="3216275"/>
            <a:ext cx="121094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1350" spc="-1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Cause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78512" y="3216275"/>
            <a:ext cx="20707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r>
              <a:rPr dirty="0" sz="1350" spc="5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16912" y="3216275"/>
            <a:ext cx="137033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Solution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9650" y="3641090"/>
            <a:ext cx="159829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cannot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be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poзted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52812" y="3641090"/>
            <a:ext cx="207708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fieldз,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cloзed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period,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invalid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account, authoriзation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reзtriction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91212" y="3641090"/>
            <a:ext cx="2072639" cy="11207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R="5080">
              <a:lnSpc>
                <a:spcPct val="132700"/>
              </a:lnSpc>
              <a:spcBef>
                <a:spcPts val="12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Read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error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meззage,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check poзting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date,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verify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G/L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account,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check authoriзation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29612" y="3641090"/>
            <a:ext cx="2082164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or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requeзt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period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be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opened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by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authoriзed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uзer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6950" y="5035550"/>
            <a:ext cx="18522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period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cloзed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40112" y="4965064"/>
            <a:ext cx="1758950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Period-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end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 cloзing</a:t>
            </a:r>
            <a:r>
              <a:rPr dirty="0" sz="13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haз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been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performed;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new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period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yet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opened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78512" y="4965064"/>
            <a:ext cx="1920875" cy="844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period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зettingз;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confirm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team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16912" y="4965064"/>
            <a:ext cx="2024380" cy="844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Authoriзed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uзer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openз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the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new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period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09650" y="6012815"/>
            <a:ext cx="167386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 зelected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52812" y="6012815"/>
            <a:ext cx="182308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choзen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during</a:t>
            </a:r>
            <a:r>
              <a:rPr dirty="0" sz="1350" spc="-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tranзaction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entry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91212" y="6012815"/>
            <a:ext cx="1972945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R="5080">
              <a:lnSpc>
                <a:spcPct val="131900"/>
              </a:lnSpc>
              <a:spcBef>
                <a:spcPts val="13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poзted document;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 aззignment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29612" y="6012815"/>
            <a:ext cx="1986914" cy="84455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Reverзe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repoзt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endParaRPr sz="1350">
              <a:latin typeface="Roboto"/>
              <a:cs typeface="Roboto"/>
            </a:endParaRPr>
          </a:p>
          <a:p>
            <a:pPr marR="5080">
              <a:lnSpc>
                <a:spcPct val="129600"/>
              </a:lnSpc>
              <a:spcBef>
                <a:spcPts val="7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account,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following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procedureз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6950" y="7060565"/>
            <a:ext cx="2066289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Tax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code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tax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calculation iззue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40112" y="7060565"/>
            <a:ext cx="1825625" cy="844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tax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code;</a:t>
            </a:r>
            <a:r>
              <a:rPr dirty="0" sz="1350" spc="-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tax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78512" y="7060565"/>
            <a:ext cx="2087880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tax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code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maзter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tranзaction;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verify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tax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16912" y="7060565"/>
            <a:ext cx="2044700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Update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tax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code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correct configuration</a:t>
            </a:r>
            <a:r>
              <a:rPr dirty="0" sz="13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with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authoriзed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зupport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09650" y="8108315"/>
            <a:ext cx="189992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number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range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52812" y="8108315"/>
            <a:ext cx="193103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Number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range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exhauзted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incorrectly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configured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891212" y="8108315"/>
            <a:ext cx="1815464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number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range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зettingз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relevant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type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29612" y="8108315"/>
            <a:ext cx="183197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Extend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number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range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or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96950" y="9156065"/>
            <a:ext cx="2015489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Currency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exchange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rate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40112" y="9156065"/>
            <a:ext cx="2047239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currency,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miззing exchange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rate,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incorrect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rate</a:t>
            </a:r>
            <a:r>
              <a:rPr dirty="0" sz="1350" spc="-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date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78512" y="9156065"/>
            <a:ext cx="2009775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Verify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currency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maзter data;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exchange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rate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table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date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316912" y="9156065"/>
            <a:ext cx="2048510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Maintain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exchange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rate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currency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in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15975" y="10398125"/>
            <a:ext cx="8928735" cy="945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1B1B27"/>
                </a:solidFill>
                <a:latin typeface="Trebuchet MS"/>
                <a:cs typeface="Trebuchet MS"/>
              </a:rPr>
              <a:t>General</a:t>
            </a:r>
            <a:r>
              <a:rPr dirty="0" sz="2700" spc="-8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120">
                <a:solidFill>
                  <a:srgbClr val="1B1B27"/>
                </a:solidFill>
                <a:latin typeface="Trebuchet MS"/>
                <a:cs typeface="Trebuchet MS"/>
              </a:rPr>
              <a:t>Ledger</a:t>
            </a:r>
            <a:r>
              <a:rPr dirty="0" sz="2700" spc="-5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700" spc="114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General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Ledger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central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record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all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tranзactionз.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here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can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affect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all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downзtream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reporting.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28675" y="11572875"/>
            <a:ext cx="9772650" cy="6305550"/>
            <a:chOff x="828675" y="11572875"/>
            <a:chExt cx="9772650" cy="6305550"/>
          </a:xfrm>
        </p:grpSpPr>
        <p:sp>
          <p:nvSpPr>
            <p:cNvPr id="45" name="object 45"/>
            <p:cNvSpPr/>
            <p:nvPr/>
          </p:nvSpPr>
          <p:spPr>
            <a:xfrm>
              <a:off x="833437" y="11577638"/>
              <a:ext cx="9763125" cy="6296025"/>
            </a:xfrm>
            <a:custGeom>
              <a:avLst/>
              <a:gdLst/>
              <a:ahLst/>
              <a:cxnLst/>
              <a:rect l="l" t="t" r="r" b="b"/>
              <a:pathLst>
                <a:path w="9763125" h="6296025">
                  <a:moveTo>
                    <a:pt x="0" y="6240780"/>
                  </a:moveTo>
                  <a:lnTo>
                    <a:pt x="0" y="55245"/>
                  </a:lnTo>
                  <a:lnTo>
                    <a:pt x="0" y="51615"/>
                  </a:lnTo>
                  <a:lnTo>
                    <a:pt x="352" y="48025"/>
                  </a:lnTo>
                  <a:lnTo>
                    <a:pt x="16182" y="16182"/>
                  </a:lnTo>
                  <a:lnTo>
                    <a:pt x="18745" y="13611"/>
                  </a:lnTo>
                  <a:lnTo>
                    <a:pt x="51615" y="0"/>
                  </a:lnTo>
                  <a:lnTo>
                    <a:pt x="55244" y="0"/>
                  </a:lnTo>
                  <a:lnTo>
                    <a:pt x="9707880" y="0"/>
                  </a:lnTo>
                  <a:lnTo>
                    <a:pt x="9711509" y="0"/>
                  </a:lnTo>
                  <a:lnTo>
                    <a:pt x="9715099" y="352"/>
                  </a:lnTo>
                  <a:lnTo>
                    <a:pt x="9746942" y="16182"/>
                  </a:lnTo>
                  <a:lnTo>
                    <a:pt x="9749504" y="18745"/>
                  </a:lnTo>
                  <a:lnTo>
                    <a:pt x="9758914" y="34099"/>
                  </a:lnTo>
                  <a:lnTo>
                    <a:pt x="9760305" y="37452"/>
                  </a:lnTo>
                  <a:lnTo>
                    <a:pt x="9761353" y="40909"/>
                  </a:lnTo>
                  <a:lnTo>
                    <a:pt x="9762067" y="44462"/>
                  </a:lnTo>
                  <a:lnTo>
                    <a:pt x="9762772" y="48025"/>
                  </a:lnTo>
                  <a:lnTo>
                    <a:pt x="9763125" y="51615"/>
                  </a:lnTo>
                  <a:lnTo>
                    <a:pt x="9763125" y="55245"/>
                  </a:lnTo>
                  <a:lnTo>
                    <a:pt x="9763125" y="6240780"/>
                  </a:lnTo>
                  <a:lnTo>
                    <a:pt x="9763125" y="6244409"/>
                  </a:lnTo>
                  <a:lnTo>
                    <a:pt x="9762772" y="6247999"/>
                  </a:lnTo>
                  <a:lnTo>
                    <a:pt x="9762067" y="6251552"/>
                  </a:lnTo>
                  <a:lnTo>
                    <a:pt x="9761353" y="6255115"/>
                  </a:lnTo>
                  <a:lnTo>
                    <a:pt x="9760305" y="6258563"/>
                  </a:lnTo>
                  <a:lnTo>
                    <a:pt x="9758914" y="6261915"/>
                  </a:lnTo>
                  <a:lnTo>
                    <a:pt x="9757533" y="6265268"/>
                  </a:lnTo>
                  <a:lnTo>
                    <a:pt x="9755828" y="6268459"/>
                  </a:lnTo>
                  <a:lnTo>
                    <a:pt x="9753809" y="6271469"/>
                  </a:lnTo>
                  <a:lnTo>
                    <a:pt x="9751799" y="6274488"/>
                  </a:lnTo>
                  <a:lnTo>
                    <a:pt x="9738569" y="6286709"/>
                  </a:lnTo>
                  <a:lnTo>
                    <a:pt x="9735550" y="6288728"/>
                  </a:lnTo>
                  <a:lnTo>
                    <a:pt x="9732368" y="6290433"/>
                  </a:lnTo>
                  <a:lnTo>
                    <a:pt x="9729025" y="6291814"/>
                  </a:lnTo>
                  <a:lnTo>
                    <a:pt x="9725672" y="6293205"/>
                  </a:lnTo>
                  <a:lnTo>
                    <a:pt x="9722215" y="6294253"/>
                  </a:lnTo>
                  <a:lnTo>
                    <a:pt x="9718652" y="6294958"/>
                  </a:lnTo>
                  <a:lnTo>
                    <a:pt x="9715099" y="6295672"/>
                  </a:lnTo>
                  <a:lnTo>
                    <a:pt x="9711509" y="6296025"/>
                  </a:lnTo>
                  <a:lnTo>
                    <a:pt x="9707880" y="6296025"/>
                  </a:lnTo>
                  <a:lnTo>
                    <a:pt x="55244" y="6296025"/>
                  </a:lnTo>
                  <a:lnTo>
                    <a:pt x="51615" y="6296025"/>
                  </a:lnTo>
                  <a:lnTo>
                    <a:pt x="48025" y="6295672"/>
                  </a:lnTo>
                  <a:lnTo>
                    <a:pt x="44462" y="6294958"/>
                  </a:lnTo>
                  <a:lnTo>
                    <a:pt x="40909" y="6294253"/>
                  </a:lnTo>
                  <a:lnTo>
                    <a:pt x="24555" y="6286709"/>
                  </a:lnTo>
                  <a:lnTo>
                    <a:pt x="21536" y="6284699"/>
                  </a:lnTo>
                  <a:lnTo>
                    <a:pt x="18745" y="6282404"/>
                  </a:lnTo>
                  <a:lnTo>
                    <a:pt x="16182" y="6279842"/>
                  </a:lnTo>
                  <a:lnTo>
                    <a:pt x="13611" y="6277279"/>
                  </a:lnTo>
                  <a:lnTo>
                    <a:pt x="0" y="6244409"/>
                  </a:lnTo>
                  <a:lnTo>
                    <a:pt x="0" y="6240780"/>
                  </a:lnTo>
                  <a:close/>
                </a:path>
              </a:pathLst>
            </a:custGeom>
            <a:ln w="9525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38200" y="11582411"/>
              <a:ext cx="9753600" cy="771525"/>
            </a:xfrm>
            <a:custGeom>
              <a:avLst/>
              <a:gdLst/>
              <a:ahLst/>
              <a:cxnLst/>
              <a:rect l="l" t="t" r="r" b="b"/>
              <a:pathLst>
                <a:path w="9753600" h="771525">
                  <a:moveTo>
                    <a:pt x="9753600" y="52044"/>
                  </a:moveTo>
                  <a:lnTo>
                    <a:pt x="9730384" y="11938"/>
                  </a:lnTo>
                  <a:lnTo>
                    <a:pt x="9701543" y="0"/>
                  </a:lnTo>
                  <a:lnTo>
                    <a:pt x="7800975" y="0"/>
                  </a:lnTo>
                  <a:lnTo>
                    <a:pt x="5848350" y="0"/>
                  </a:lnTo>
                  <a:lnTo>
                    <a:pt x="3905250" y="0"/>
                  </a:lnTo>
                  <a:lnTo>
                    <a:pt x="1952625" y="0"/>
                  </a:lnTo>
                  <a:lnTo>
                    <a:pt x="52044" y="0"/>
                  </a:lnTo>
                  <a:lnTo>
                    <a:pt x="44386" y="1524"/>
                  </a:lnTo>
                  <a:lnTo>
                    <a:pt x="11938" y="23190"/>
                  </a:lnTo>
                  <a:lnTo>
                    <a:pt x="0" y="52044"/>
                  </a:lnTo>
                  <a:lnTo>
                    <a:pt x="0" y="771525"/>
                  </a:lnTo>
                  <a:lnTo>
                    <a:pt x="1952625" y="771525"/>
                  </a:lnTo>
                  <a:lnTo>
                    <a:pt x="3905250" y="771525"/>
                  </a:lnTo>
                  <a:lnTo>
                    <a:pt x="5848350" y="771525"/>
                  </a:lnTo>
                  <a:lnTo>
                    <a:pt x="7800975" y="771525"/>
                  </a:lnTo>
                  <a:lnTo>
                    <a:pt x="9753600" y="771525"/>
                  </a:lnTo>
                  <a:lnTo>
                    <a:pt x="9753600" y="5204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38200" y="12353936"/>
              <a:ext cx="9753600" cy="1047750"/>
            </a:xfrm>
            <a:custGeom>
              <a:avLst/>
              <a:gdLst/>
              <a:ahLst/>
              <a:cxnLst/>
              <a:rect l="l" t="t" r="r" b="b"/>
              <a:pathLst>
                <a:path w="9753600" h="1047750">
                  <a:moveTo>
                    <a:pt x="9753600" y="0"/>
                  </a:moveTo>
                  <a:lnTo>
                    <a:pt x="9753600" y="0"/>
                  </a:lnTo>
                  <a:lnTo>
                    <a:pt x="0" y="0"/>
                  </a:lnTo>
                  <a:lnTo>
                    <a:pt x="0" y="1047750"/>
                  </a:lnTo>
                  <a:lnTo>
                    <a:pt x="9753600" y="104775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38200" y="13401686"/>
              <a:ext cx="9753600" cy="1047750"/>
            </a:xfrm>
            <a:custGeom>
              <a:avLst/>
              <a:gdLst/>
              <a:ahLst/>
              <a:cxnLst/>
              <a:rect l="l" t="t" r="r" b="b"/>
              <a:pathLst>
                <a:path w="9753600" h="1047750">
                  <a:moveTo>
                    <a:pt x="9753600" y="0"/>
                  </a:moveTo>
                  <a:lnTo>
                    <a:pt x="9753600" y="0"/>
                  </a:lnTo>
                  <a:lnTo>
                    <a:pt x="0" y="0"/>
                  </a:lnTo>
                  <a:lnTo>
                    <a:pt x="0" y="1047750"/>
                  </a:lnTo>
                  <a:lnTo>
                    <a:pt x="9753600" y="104775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38200" y="14449436"/>
              <a:ext cx="9753600" cy="1323975"/>
            </a:xfrm>
            <a:custGeom>
              <a:avLst/>
              <a:gdLst/>
              <a:ahLst/>
              <a:cxnLst/>
              <a:rect l="l" t="t" r="r" b="b"/>
              <a:pathLst>
                <a:path w="9753600" h="1323975">
                  <a:moveTo>
                    <a:pt x="9753600" y="0"/>
                  </a:moveTo>
                  <a:lnTo>
                    <a:pt x="9753600" y="0"/>
                  </a:lnTo>
                  <a:lnTo>
                    <a:pt x="0" y="0"/>
                  </a:lnTo>
                  <a:lnTo>
                    <a:pt x="0" y="1323975"/>
                  </a:lnTo>
                  <a:lnTo>
                    <a:pt x="9753600" y="1323975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38200" y="15773411"/>
              <a:ext cx="9753600" cy="1047750"/>
            </a:xfrm>
            <a:custGeom>
              <a:avLst/>
              <a:gdLst/>
              <a:ahLst/>
              <a:cxnLst/>
              <a:rect l="l" t="t" r="r" b="b"/>
              <a:pathLst>
                <a:path w="9753600" h="1047750">
                  <a:moveTo>
                    <a:pt x="9753600" y="0"/>
                  </a:moveTo>
                  <a:lnTo>
                    <a:pt x="9753600" y="0"/>
                  </a:lnTo>
                  <a:lnTo>
                    <a:pt x="0" y="0"/>
                  </a:lnTo>
                  <a:lnTo>
                    <a:pt x="0" y="1047750"/>
                  </a:lnTo>
                  <a:lnTo>
                    <a:pt x="9753600" y="104775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38200" y="16821161"/>
              <a:ext cx="9753600" cy="1047750"/>
            </a:xfrm>
            <a:custGeom>
              <a:avLst/>
              <a:gdLst/>
              <a:ahLst/>
              <a:cxnLst/>
              <a:rect l="l" t="t" r="r" b="b"/>
              <a:pathLst>
                <a:path w="9753600" h="1047750">
                  <a:moveTo>
                    <a:pt x="9753600" y="0"/>
                  </a:moveTo>
                  <a:lnTo>
                    <a:pt x="9753600" y="0"/>
                  </a:lnTo>
                  <a:lnTo>
                    <a:pt x="0" y="0"/>
                  </a:lnTo>
                  <a:lnTo>
                    <a:pt x="0" y="995692"/>
                  </a:lnTo>
                  <a:lnTo>
                    <a:pt x="23190" y="1035799"/>
                  </a:lnTo>
                  <a:lnTo>
                    <a:pt x="52044" y="1047750"/>
                  </a:lnTo>
                  <a:lnTo>
                    <a:pt x="1952625" y="1047750"/>
                  </a:lnTo>
                  <a:lnTo>
                    <a:pt x="3905250" y="1047750"/>
                  </a:lnTo>
                  <a:lnTo>
                    <a:pt x="5848350" y="1047750"/>
                  </a:lnTo>
                  <a:lnTo>
                    <a:pt x="7800975" y="1047750"/>
                  </a:lnTo>
                  <a:lnTo>
                    <a:pt x="9701543" y="1047750"/>
                  </a:lnTo>
                  <a:lnTo>
                    <a:pt x="9709201" y="1046226"/>
                  </a:lnTo>
                  <a:lnTo>
                    <a:pt x="9741649" y="1024534"/>
                  </a:lnTo>
                  <a:lnTo>
                    <a:pt x="9753600" y="995692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997098" y="11703049"/>
            <a:ext cx="6762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52552" y="11703049"/>
            <a:ext cx="121094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1350" spc="-1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Cause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03244" y="11632564"/>
            <a:ext cx="1049020" cy="57785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1350" spc="-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Troubleshoot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853935" y="11703049"/>
            <a:ext cx="137033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1350" spc="-2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Solution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804626" y="11703049"/>
            <a:ext cx="8597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3B3838"/>
                </a:solidFill>
                <a:latin typeface="Roboto"/>
                <a:cs typeface="Roboto"/>
              </a:rPr>
              <a:t>Prevention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09798" y="12404089"/>
            <a:ext cx="152019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cannot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poзted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65252" y="12404089"/>
            <a:ext cx="1546225" cy="85407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blocked,</a:t>
            </a:r>
            <a:endParaRPr sz="1350">
              <a:latin typeface="Roboto"/>
              <a:cs typeface="Roboto"/>
            </a:endParaRPr>
          </a:p>
          <a:p>
            <a:pPr marR="5080">
              <a:lnSpc>
                <a:spcPct val="134300"/>
              </a:lnSpc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type,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зtatuз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915944" y="12404089"/>
            <a:ext cx="134683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9271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3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 maзter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зtatuз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group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866635" y="12404089"/>
            <a:ext cx="148780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Unblock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or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 зtatuз configuration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817326" y="12404089"/>
            <a:ext cx="144399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 зettingз</a:t>
            </a:r>
            <a:r>
              <a:rPr dirty="0" sz="1350" spc="-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1350" spc="-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75">
                <a:solidFill>
                  <a:srgbClr val="3B3838"/>
                </a:solidFill>
                <a:latin typeface="Roboto"/>
                <a:cs typeface="Roboto"/>
              </a:rPr>
              <a:t>go-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live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97098" y="13451839"/>
            <a:ext cx="117983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account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952552" y="13451839"/>
            <a:ext cx="160274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centre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entered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903244" y="13451839"/>
            <a:ext cx="1617980" cy="85407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34300"/>
              </a:lnSpc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check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13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aззignmentз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853935" y="13451839"/>
            <a:ext cx="148780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Reverзe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repoзt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804626" y="13451839"/>
            <a:ext cx="151384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Uзe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validation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ruleз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enforce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correct aззignmentз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09798" y="14499589"/>
            <a:ext cx="135191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account type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965252" y="14499589"/>
            <a:ext cx="1488440" cy="11207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R="5080">
              <a:lnSpc>
                <a:spcPct val="132700"/>
              </a:lnSpc>
              <a:spcBef>
                <a:spcPts val="12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13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created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type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(e.g.,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balance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зheet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vз.</a:t>
            </a:r>
            <a:r>
              <a:rPr dirty="0" sz="1350" spc="-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P&amp;L)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915944" y="14499589"/>
            <a:ext cx="114490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3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account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data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claззification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866635" y="14499589"/>
            <a:ext cx="152781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Create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new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type;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migrate</a:t>
            </a:r>
            <a:r>
              <a:rPr dirty="0" sz="1350" spc="-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balanceз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817326" y="14499589"/>
            <a:ext cx="152463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Follow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chart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of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accountз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зtandardз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during</a:t>
            </a:r>
            <a:r>
              <a:rPr dirty="0" sz="1350" spc="-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зetup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97098" y="15894050"/>
            <a:ext cx="15367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Balance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differenceз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952552" y="15823564"/>
            <a:ext cx="1605280" cy="84455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Uncleared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itemз,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duplicate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poзtingз,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timing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differenceз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903244" y="15823564"/>
            <a:ext cx="1621155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Run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balance report;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open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cleared</a:t>
            </a:r>
            <a:r>
              <a:rPr dirty="0" sz="13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itemз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853935" y="15823564"/>
            <a:ext cx="1511935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Clear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open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itemз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or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erroneouз poзtingз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804626" y="15823564"/>
            <a:ext cx="122237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Perform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B3838"/>
                </a:solidFill>
                <a:latin typeface="Roboto"/>
                <a:cs typeface="Roboto"/>
              </a:rPr>
              <a:t>regular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reconciliationз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97098" y="16871314"/>
            <a:ext cx="144018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13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document information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952552" y="16871314"/>
            <a:ext cx="1417955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Optional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fieldз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not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populated</a:t>
            </a:r>
            <a:r>
              <a:rPr dirty="0" sz="13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during poзting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903244" y="16871314"/>
            <a:ext cx="1503045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3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13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зtatuз зettingз</a:t>
            </a:r>
            <a:r>
              <a:rPr dirty="0" sz="13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3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G/L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853935" y="16871314"/>
            <a:ext cx="1602105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Adjuзt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зtatuз</a:t>
            </a:r>
            <a:r>
              <a:rPr dirty="0" sz="13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to </a:t>
            </a: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make</a:t>
            </a:r>
            <a:r>
              <a:rPr dirty="0" sz="13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required</a:t>
            </a:r>
            <a:r>
              <a:rPr dirty="0" sz="13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fieldз mandatory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804626" y="16871314"/>
            <a:ext cx="1142365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B3838"/>
                </a:solidFill>
                <a:latin typeface="Roboto"/>
                <a:cs typeface="Roboto"/>
              </a:rPr>
              <a:t>Configure</a:t>
            </a:r>
            <a:r>
              <a:rPr dirty="0" sz="1350" spc="-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field зtatuз</a:t>
            </a:r>
            <a:r>
              <a:rPr dirty="0" sz="13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B3838"/>
                </a:solidFill>
                <a:latin typeface="Roboto"/>
                <a:cs typeface="Roboto"/>
              </a:rPr>
              <a:t>groupз correctly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7037" y="408061"/>
            <a:ext cx="2092960" cy="210185"/>
          </a:xfrm>
          <a:custGeom>
            <a:avLst/>
            <a:gdLst/>
            <a:ahLst/>
            <a:cxnLst/>
            <a:rect l="l" t="t" r="r" b="b"/>
            <a:pathLst>
              <a:path w="2092960" h="210184">
                <a:moveTo>
                  <a:pt x="0" y="173405"/>
                </a:moveTo>
                <a:lnTo>
                  <a:pt x="0" y="36685"/>
                </a:lnTo>
                <a:lnTo>
                  <a:pt x="0" y="31820"/>
                </a:lnTo>
                <a:lnTo>
                  <a:pt x="929" y="27142"/>
                </a:lnTo>
                <a:lnTo>
                  <a:pt x="2795" y="22649"/>
                </a:lnTo>
                <a:lnTo>
                  <a:pt x="4654" y="18148"/>
                </a:lnTo>
                <a:lnTo>
                  <a:pt x="7304" y="14181"/>
                </a:lnTo>
                <a:lnTo>
                  <a:pt x="10746" y="10746"/>
                </a:lnTo>
                <a:lnTo>
                  <a:pt x="14181" y="7304"/>
                </a:lnTo>
                <a:lnTo>
                  <a:pt x="18148" y="4654"/>
                </a:lnTo>
                <a:lnTo>
                  <a:pt x="22649" y="2795"/>
                </a:lnTo>
                <a:lnTo>
                  <a:pt x="27142" y="929"/>
                </a:lnTo>
                <a:lnTo>
                  <a:pt x="31820" y="0"/>
                </a:lnTo>
                <a:lnTo>
                  <a:pt x="36685" y="0"/>
                </a:lnTo>
                <a:lnTo>
                  <a:pt x="2056145" y="0"/>
                </a:lnTo>
                <a:lnTo>
                  <a:pt x="2061009" y="0"/>
                </a:lnTo>
                <a:lnTo>
                  <a:pt x="2065688" y="929"/>
                </a:lnTo>
                <a:lnTo>
                  <a:pt x="2070180" y="2795"/>
                </a:lnTo>
                <a:lnTo>
                  <a:pt x="2074681" y="4654"/>
                </a:lnTo>
                <a:lnTo>
                  <a:pt x="2078641" y="7304"/>
                </a:lnTo>
                <a:lnTo>
                  <a:pt x="2082083" y="10746"/>
                </a:lnTo>
                <a:lnTo>
                  <a:pt x="2085525" y="14181"/>
                </a:lnTo>
                <a:lnTo>
                  <a:pt x="2088175" y="18148"/>
                </a:lnTo>
                <a:lnTo>
                  <a:pt x="2090034" y="22649"/>
                </a:lnTo>
                <a:lnTo>
                  <a:pt x="2091901" y="27142"/>
                </a:lnTo>
                <a:lnTo>
                  <a:pt x="2092830" y="31820"/>
                </a:lnTo>
                <a:lnTo>
                  <a:pt x="2092830" y="36685"/>
                </a:lnTo>
                <a:lnTo>
                  <a:pt x="2092830" y="173405"/>
                </a:lnTo>
                <a:lnTo>
                  <a:pt x="2092830" y="178270"/>
                </a:lnTo>
                <a:lnTo>
                  <a:pt x="2091901" y="182948"/>
                </a:lnTo>
                <a:lnTo>
                  <a:pt x="2090034" y="187441"/>
                </a:lnTo>
                <a:lnTo>
                  <a:pt x="2088175" y="191942"/>
                </a:lnTo>
                <a:lnTo>
                  <a:pt x="2085525" y="195909"/>
                </a:lnTo>
                <a:lnTo>
                  <a:pt x="2082083" y="199344"/>
                </a:lnTo>
                <a:lnTo>
                  <a:pt x="2078641" y="202786"/>
                </a:lnTo>
                <a:lnTo>
                  <a:pt x="2074681" y="205436"/>
                </a:lnTo>
                <a:lnTo>
                  <a:pt x="2070180" y="207295"/>
                </a:lnTo>
                <a:lnTo>
                  <a:pt x="2065688" y="209161"/>
                </a:lnTo>
                <a:lnTo>
                  <a:pt x="2061009" y="210091"/>
                </a:lnTo>
                <a:lnTo>
                  <a:pt x="2056145" y="210091"/>
                </a:lnTo>
                <a:lnTo>
                  <a:pt x="36685" y="210091"/>
                </a:lnTo>
                <a:lnTo>
                  <a:pt x="31820" y="210091"/>
                </a:lnTo>
                <a:lnTo>
                  <a:pt x="27142" y="209161"/>
                </a:lnTo>
                <a:lnTo>
                  <a:pt x="22649" y="207295"/>
                </a:lnTo>
                <a:lnTo>
                  <a:pt x="18148" y="205436"/>
                </a:lnTo>
                <a:lnTo>
                  <a:pt x="14181" y="202786"/>
                </a:lnTo>
                <a:lnTo>
                  <a:pt x="10746" y="199344"/>
                </a:lnTo>
                <a:lnTo>
                  <a:pt x="7304" y="195909"/>
                </a:lnTo>
                <a:lnTo>
                  <a:pt x="4654" y="191942"/>
                </a:lnTo>
                <a:lnTo>
                  <a:pt x="2795" y="187441"/>
                </a:lnTo>
                <a:lnTo>
                  <a:pt x="929" y="182948"/>
                </a:lnTo>
                <a:lnTo>
                  <a:pt x="0" y="178270"/>
                </a:lnTo>
                <a:lnTo>
                  <a:pt x="0" y="173405"/>
                </a:lnTo>
                <a:close/>
              </a:path>
            </a:pathLst>
          </a:custGeom>
          <a:ln w="8080">
            <a:solidFill>
              <a:srgbClr val="1B1B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77540" y="412330"/>
            <a:ext cx="1951355" cy="1651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>
                <a:solidFill>
                  <a:srgbClr val="1B1B27"/>
                </a:solidFill>
                <a:latin typeface="Roboto"/>
                <a:cs typeface="Roboto"/>
              </a:rPr>
              <a:t>SECTIONS</a:t>
            </a:r>
            <a:r>
              <a:rPr dirty="0" sz="900" spc="1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1B1B27"/>
                </a:solidFill>
                <a:latin typeface="Roboto"/>
                <a:cs typeface="Roboto"/>
              </a:rPr>
              <a:t>5–</a:t>
            </a:r>
            <a:r>
              <a:rPr dirty="0" sz="900">
                <a:solidFill>
                  <a:srgbClr val="1B1B27"/>
                </a:solidFill>
                <a:latin typeface="Roboto"/>
                <a:cs typeface="Roboto"/>
              </a:rPr>
              <a:t>6</a:t>
            </a:r>
            <a:r>
              <a:rPr dirty="0" sz="900" spc="1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1B1B27"/>
                </a:solidFill>
                <a:latin typeface="Roboto"/>
                <a:cs typeface="Roboto"/>
              </a:rPr>
              <a:t>—</a:t>
            </a:r>
            <a:r>
              <a:rPr dirty="0" sz="900" spc="1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1B1B27"/>
                </a:solidFill>
                <a:latin typeface="Roboto"/>
                <a:cs typeface="Roboto"/>
              </a:rPr>
              <a:t>AP</a:t>
            </a:r>
            <a:r>
              <a:rPr dirty="0" sz="900" spc="1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1B1B27"/>
                </a:solidFill>
                <a:latin typeface="Roboto"/>
                <a:cs typeface="Roboto"/>
              </a:rPr>
              <a:t>AND</a:t>
            </a:r>
            <a:r>
              <a:rPr dirty="0" sz="900" spc="1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1B1B27"/>
                </a:solidFill>
                <a:latin typeface="Roboto"/>
                <a:cs typeface="Roboto"/>
              </a:rPr>
              <a:t>AR</a:t>
            </a:r>
            <a:r>
              <a:rPr dirty="0" sz="900" spc="1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1B1B27"/>
                </a:solidFill>
                <a:latin typeface="Roboto"/>
                <a:cs typeface="Roboto"/>
              </a:rPr>
              <a:t>ISSUES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296" y="649894"/>
            <a:ext cx="7900670" cy="2192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28955">
              <a:lnSpc>
                <a:spcPts val="3560"/>
              </a:lnSpc>
              <a:spcBef>
                <a:spcPts val="114"/>
              </a:spcBef>
            </a:pPr>
            <a:r>
              <a:rPr dirty="0" sz="2850" spc="114">
                <a:solidFill>
                  <a:srgbClr val="1B1B27"/>
                </a:solidFill>
                <a:latin typeface="Trebuchet MS"/>
                <a:cs typeface="Trebuchet MS"/>
              </a:rPr>
              <a:t>Accounts</a:t>
            </a:r>
            <a:r>
              <a:rPr dirty="0" sz="2850" spc="-114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850" spc="75">
                <a:solidFill>
                  <a:srgbClr val="1B1B27"/>
                </a:solidFill>
                <a:latin typeface="Trebuchet MS"/>
                <a:cs typeface="Trebuchet MS"/>
              </a:rPr>
              <a:t>Payable</a:t>
            </a:r>
            <a:r>
              <a:rPr dirty="0" sz="2850" spc="-114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850" spc="105">
                <a:solidFill>
                  <a:srgbClr val="1B1B27"/>
                </a:solidFill>
                <a:latin typeface="Trebuchet MS"/>
                <a:cs typeface="Trebuchet MS"/>
              </a:rPr>
              <a:t>and</a:t>
            </a:r>
            <a:r>
              <a:rPr dirty="0" sz="2850" spc="-204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850" spc="114">
                <a:solidFill>
                  <a:srgbClr val="1B1B27"/>
                </a:solidFill>
                <a:latin typeface="Trebuchet MS"/>
                <a:cs typeface="Trebuchet MS"/>
              </a:rPr>
              <a:t>Accounts</a:t>
            </a:r>
            <a:r>
              <a:rPr dirty="0" sz="2850" spc="-11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850" spc="55">
                <a:solidFill>
                  <a:srgbClr val="1B1B27"/>
                </a:solidFill>
                <a:latin typeface="Trebuchet MS"/>
                <a:cs typeface="Trebuchet MS"/>
              </a:rPr>
              <a:t>Receivable </a:t>
            </a:r>
            <a:r>
              <a:rPr dirty="0" sz="2850" spc="125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2850">
              <a:latin typeface="Trebuchet MS"/>
              <a:cs typeface="Trebuchet MS"/>
            </a:endParaRPr>
          </a:p>
          <a:p>
            <a:pPr marL="12700" marR="5080">
              <a:lnSpc>
                <a:spcPct val="129099"/>
              </a:lnSpc>
              <a:spcBef>
                <a:spcPts val="162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Both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AP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AR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critical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зub-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moduleз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FI.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Problemз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theзe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areaз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directly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affect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vendor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paymentз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cuзtomer collectionз,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making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timely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reзolution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important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buзineзз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operationз.</a:t>
            </a:r>
            <a:endParaRPr sz="11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2300" spc="75">
                <a:solidFill>
                  <a:srgbClr val="1B1B27"/>
                </a:solidFill>
                <a:latin typeface="Trebuchet MS"/>
                <a:cs typeface="Trebuchet MS"/>
              </a:rPr>
              <a:t>Accounts</a:t>
            </a:r>
            <a:r>
              <a:rPr dirty="0" sz="2300" spc="-9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300" spc="45">
                <a:solidFill>
                  <a:srgbClr val="1B1B27"/>
                </a:solidFill>
                <a:latin typeface="Trebuchet MS"/>
                <a:cs typeface="Trebuchet MS"/>
              </a:rPr>
              <a:t>Payable</a:t>
            </a:r>
            <a:r>
              <a:rPr dirty="0" sz="2300" spc="-9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300" spc="90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02997" y="3070561"/>
            <a:ext cx="8290559" cy="4695190"/>
            <a:chOff x="702997" y="3070561"/>
            <a:chExt cx="8290559" cy="4695190"/>
          </a:xfrm>
        </p:grpSpPr>
        <p:sp>
          <p:nvSpPr>
            <p:cNvPr id="6" name="object 6"/>
            <p:cNvSpPr/>
            <p:nvPr/>
          </p:nvSpPr>
          <p:spPr>
            <a:xfrm>
              <a:off x="707037" y="3074602"/>
              <a:ext cx="8282940" cy="4686935"/>
            </a:xfrm>
            <a:custGeom>
              <a:avLst/>
              <a:gdLst/>
              <a:ahLst/>
              <a:cxnLst/>
              <a:rect l="l" t="t" r="r" b="b"/>
              <a:pathLst>
                <a:path w="8282940" h="4686934">
                  <a:moveTo>
                    <a:pt x="0" y="4639781"/>
                  </a:moveTo>
                  <a:lnTo>
                    <a:pt x="0" y="46866"/>
                  </a:lnTo>
                  <a:lnTo>
                    <a:pt x="0" y="43787"/>
                  </a:lnTo>
                  <a:lnTo>
                    <a:pt x="298" y="40741"/>
                  </a:lnTo>
                  <a:lnTo>
                    <a:pt x="13728" y="13728"/>
                  </a:lnTo>
                  <a:lnTo>
                    <a:pt x="15902" y="11546"/>
                  </a:lnTo>
                  <a:lnTo>
                    <a:pt x="43787" y="0"/>
                  </a:lnTo>
                  <a:lnTo>
                    <a:pt x="46866" y="0"/>
                  </a:lnTo>
                  <a:lnTo>
                    <a:pt x="8235570" y="0"/>
                  </a:lnTo>
                  <a:lnTo>
                    <a:pt x="8238649" y="0"/>
                  </a:lnTo>
                  <a:lnTo>
                    <a:pt x="8241695" y="298"/>
                  </a:lnTo>
                  <a:lnTo>
                    <a:pt x="8268708" y="13728"/>
                  </a:lnTo>
                  <a:lnTo>
                    <a:pt x="8270882" y="15902"/>
                  </a:lnTo>
                  <a:lnTo>
                    <a:pt x="8278865" y="28927"/>
                  </a:lnTo>
                  <a:lnTo>
                    <a:pt x="8280045" y="31772"/>
                  </a:lnTo>
                  <a:lnTo>
                    <a:pt x="8280934" y="34705"/>
                  </a:lnTo>
                  <a:lnTo>
                    <a:pt x="8281540" y="37719"/>
                  </a:lnTo>
                  <a:lnTo>
                    <a:pt x="8282138" y="40741"/>
                  </a:lnTo>
                  <a:lnTo>
                    <a:pt x="8282437" y="43787"/>
                  </a:lnTo>
                  <a:lnTo>
                    <a:pt x="8282437" y="46866"/>
                  </a:lnTo>
                  <a:lnTo>
                    <a:pt x="8282437" y="4639781"/>
                  </a:lnTo>
                  <a:lnTo>
                    <a:pt x="8282437" y="4642859"/>
                  </a:lnTo>
                  <a:lnTo>
                    <a:pt x="8282138" y="4645905"/>
                  </a:lnTo>
                  <a:lnTo>
                    <a:pt x="8281540" y="4648919"/>
                  </a:lnTo>
                  <a:lnTo>
                    <a:pt x="8280934" y="4651942"/>
                  </a:lnTo>
                  <a:lnTo>
                    <a:pt x="8280045" y="4654867"/>
                  </a:lnTo>
                  <a:lnTo>
                    <a:pt x="8278865" y="4657711"/>
                  </a:lnTo>
                  <a:lnTo>
                    <a:pt x="8277694" y="4660555"/>
                  </a:lnTo>
                  <a:lnTo>
                    <a:pt x="8276247" y="4663262"/>
                  </a:lnTo>
                  <a:lnTo>
                    <a:pt x="8274534" y="4665816"/>
                  </a:lnTo>
                  <a:lnTo>
                    <a:pt x="8272829" y="4668377"/>
                  </a:lnTo>
                  <a:lnTo>
                    <a:pt x="8270882" y="4670745"/>
                  </a:lnTo>
                  <a:lnTo>
                    <a:pt x="8268708" y="4672918"/>
                  </a:lnTo>
                  <a:lnTo>
                    <a:pt x="8266535" y="4675092"/>
                  </a:lnTo>
                  <a:lnTo>
                    <a:pt x="8264167" y="4677039"/>
                  </a:lnTo>
                  <a:lnTo>
                    <a:pt x="8261606" y="4678744"/>
                  </a:lnTo>
                  <a:lnTo>
                    <a:pt x="8259044" y="4680457"/>
                  </a:lnTo>
                  <a:lnTo>
                    <a:pt x="8256345" y="4681904"/>
                  </a:lnTo>
                  <a:lnTo>
                    <a:pt x="8253509" y="4683075"/>
                  </a:lnTo>
                  <a:lnTo>
                    <a:pt x="8250665" y="4684255"/>
                  </a:lnTo>
                  <a:lnTo>
                    <a:pt x="8247731" y="4685144"/>
                  </a:lnTo>
                  <a:lnTo>
                    <a:pt x="8244709" y="4685742"/>
                  </a:lnTo>
                  <a:lnTo>
                    <a:pt x="8241695" y="4686348"/>
                  </a:lnTo>
                  <a:lnTo>
                    <a:pt x="8238649" y="4686647"/>
                  </a:lnTo>
                  <a:lnTo>
                    <a:pt x="8235570" y="4686647"/>
                  </a:lnTo>
                  <a:lnTo>
                    <a:pt x="46866" y="4686647"/>
                  </a:lnTo>
                  <a:lnTo>
                    <a:pt x="43787" y="4686647"/>
                  </a:lnTo>
                  <a:lnTo>
                    <a:pt x="40741" y="4686348"/>
                  </a:lnTo>
                  <a:lnTo>
                    <a:pt x="37719" y="4685742"/>
                  </a:lnTo>
                  <a:lnTo>
                    <a:pt x="34705" y="4685144"/>
                  </a:lnTo>
                  <a:lnTo>
                    <a:pt x="31772" y="4684255"/>
                  </a:lnTo>
                  <a:lnTo>
                    <a:pt x="28927" y="4683075"/>
                  </a:lnTo>
                  <a:lnTo>
                    <a:pt x="26091" y="4681904"/>
                  </a:lnTo>
                  <a:lnTo>
                    <a:pt x="23384" y="4680457"/>
                  </a:lnTo>
                  <a:lnTo>
                    <a:pt x="20831" y="4678744"/>
                  </a:lnTo>
                  <a:lnTo>
                    <a:pt x="18269" y="4677039"/>
                  </a:lnTo>
                  <a:lnTo>
                    <a:pt x="15902" y="4675092"/>
                  </a:lnTo>
                  <a:lnTo>
                    <a:pt x="13728" y="4672918"/>
                  </a:lnTo>
                  <a:lnTo>
                    <a:pt x="11546" y="4670745"/>
                  </a:lnTo>
                  <a:lnTo>
                    <a:pt x="0" y="4642859"/>
                  </a:lnTo>
                  <a:lnTo>
                    <a:pt x="0" y="4639781"/>
                  </a:lnTo>
                  <a:close/>
                </a:path>
              </a:pathLst>
            </a:custGeom>
            <a:ln w="808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11073" y="3078644"/>
              <a:ext cx="8274684" cy="428625"/>
            </a:xfrm>
            <a:custGeom>
              <a:avLst/>
              <a:gdLst/>
              <a:ahLst/>
              <a:cxnLst/>
              <a:rect l="l" t="t" r="r" b="b"/>
              <a:pathLst>
                <a:path w="8274684" h="428625">
                  <a:moveTo>
                    <a:pt x="8274355" y="44157"/>
                  </a:moveTo>
                  <a:lnTo>
                    <a:pt x="8254670" y="10134"/>
                  </a:lnTo>
                  <a:lnTo>
                    <a:pt x="8230197" y="0"/>
                  </a:lnTo>
                  <a:lnTo>
                    <a:pt x="6205766" y="0"/>
                  </a:lnTo>
                  <a:lnTo>
                    <a:pt x="4137177" y="0"/>
                  </a:lnTo>
                  <a:lnTo>
                    <a:pt x="2068588" y="0"/>
                  </a:lnTo>
                  <a:lnTo>
                    <a:pt x="44157" y="0"/>
                  </a:lnTo>
                  <a:lnTo>
                    <a:pt x="37655" y="1295"/>
                  </a:lnTo>
                  <a:lnTo>
                    <a:pt x="6451" y="25196"/>
                  </a:lnTo>
                  <a:lnTo>
                    <a:pt x="0" y="44157"/>
                  </a:lnTo>
                  <a:lnTo>
                    <a:pt x="0" y="428269"/>
                  </a:lnTo>
                  <a:lnTo>
                    <a:pt x="2068588" y="428269"/>
                  </a:lnTo>
                  <a:lnTo>
                    <a:pt x="4137177" y="428269"/>
                  </a:lnTo>
                  <a:lnTo>
                    <a:pt x="6205766" y="428269"/>
                  </a:lnTo>
                  <a:lnTo>
                    <a:pt x="8274355" y="428269"/>
                  </a:lnTo>
                  <a:lnTo>
                    <a:pt x="8274355" y="44157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11073" y="3506913"/>
              <a:ext cx="8274684" cy="1350010"/>
            </a:xfrm>
            <a:custGeom>
              <a:avLst/>
              <a:gdLst/>
              <a:ahLst/>
              <a:cxnLst/>
              <a:rect l="l" t="t" r="r" b="b"/>
              <a:pathLst>
                <a:path w="8274684" h="1350010">
                  <a:moveTo>
                    <a:pt x="8274355" y="0"/>
                  </a:moveTo>
                  <a:lnTo>
                    <a:pt x="6205766" y="0"/>
                  </a:lnTo>
                  <a:lnTo>
                    <a:pt x="4137177" y="0"/>
                  </a:lnTo>
                  <a:lnTo>
                    <a:pt x="2068588" y="0"/>
                  </a:lnTo>
                  <a:lnTo>
                    <a:pt x="0" y="0"/>
                  </a:lnTo>
                  <a:lnTo>
                    <a:pt x="0" y="1349425"/>
                  </a:lnTo>
                  <a:lnTo>
                    <a:pt x="2068588" y="1349425"/>
                  </a:lnTo>
                  <a:lnTo>
                    <a:pt x="4137177" y="1349425"/>
                  </a:lnTo>
                  <a:lnTo>
                    <a:pt x="6205766" y="1349425"/>
                  </a:lnTo>
                  <a:lnTo>
                    <a:pt x="8274355" y="1349425"/>
                  </a:lnTo>
                  <a:lnTo>
                    <a:pt x="8274355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11073" y="4856339"/>
              <a:ext cx="8274684" cy="1123315"/>
            </a:xfrm>
            <a:custGeom>
              <a:avLst/>
              <a:gdLst/>
              <a:ahLst/>
              <a:cxnLst/>
              <a:rect l="l" t="t" r="r" b="b"/>
              <a:pathLst>
                <a:path w="8274684" h="1123314">
                  <a:moveTo>
                    <a:pt x="8274355" y="0"/>
                  </a:moveTo>
                  <a:lnTo>
                    <a:pt x="6205766" y="0"/>
                  </a:lnTo>
                  <a:lnTo>
                    <a:pt x="4137177" y="0"/>
                  </a:lnTo>
                  <a:lnTo>
                    <a:pt x="2068588" y="0"/>
                  </a:lnTo>
                  <a:lnTo>
                    <a:pt x="0" y="0"/>
                  </a:lnTo>
                  <a:lnTo>
                    <a:pt x="0" y="1123175"/>
                  </a:lnTo>
                  <a:lnTo>
                    <a:pt x="2068588" y="1123175"/>
                  </a:lnTo>
                  <a:lnTo>
                    <a:pt x="4137177" y="1123175"/>
                  </a:lnTo>
                  <a:lnTo>
                    <a:pt x="6205766" y="1123175"/>
                  </a:lnTo>
                  <a:lnTo>
                    <a:pt x="8274355" y="1123175"/>
                  </a:lnTo>
                  <a:lnTo>
                    <a:pt x="8274355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1073" y="5979515"/>
              <a:ext cx="8274684" cy="889000"/>
            </a:xfrm>
            <a:custGeom>
              <a:avLst/>
              <a:gdLst/>
              <a:ahLst/>
              <a:cxnLst/>
              <a:rect l="l" t="t" r="r" b="b"/>
              <a:pathLst>
                <a:path w="8274684" h="889000">
                  <a:moveTo>
                    <a:pt x="8274355" y="0"/>
                  </a:moveTo>
                  <a:lnTo>
                    <a:pt x="6205766" y="0"/>
                  </a:lnTo>
                  <a:lnTo>
                    <a:pt x="4137177" y="0"/>
                  </a:lnTo>
                  <a:lnTo>
                    <a:pt x="2068588" y="0"/>
                  </a:lnTo>
                  <a:lnTo>
                    <a:pt x="0" y="0"/>
                  </a:lnTo>
                  <a:lnTo>
                    <a:pt x="0" y="888847"/>
                  </a:lnTo>
                  <a:lnTo>
                    <a:pt x="2068588" y="888847"/>
                  </a:lnTo>
                  <a:lnTo>
                    <a:pt x="4137177" y="888847"/>
                  </a:lnTo>
                  <a:lnTo>
                    <a:pt x="6205766" y="888847"/>
                  </a:lnTo>
                  <a:lnTo>
                    <a:pt x="8274355" y="888847"/>
                  </a:lnTo>
                  <a:lnTo>
                    <a:pt x="8274355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11073" y="6868362"/>
              <a:ext cx="8274684" cy="889000"/>
            </a:xfrm>
            <a:custGeom>
              <a:avLst/>
              <a:gdLst/>
              <a:ahLst/>
              <a:cxnLst/>
              <a:rect l="l" t="t" r="r" b="b"/>
              <a:pathLst>
                <a:path w="8274684" h="889000">
                  <a:moveTo>
                    <a:pt x="8274355" y="0"/>
                  </a:moveTo>
                  <a:lnTo>
                    <a:pt x="6205766" y="0"/>
                  </a:lnTo>
                  <a:lnTo>
                    <a:pt x="4137177" y="0"/>
                  </a:lnTo>
                  <a:lnTo>
                    <a:pt x="2068588" y="0"/>
                  </a:lnTo>
                  <a:lnTo>
                    <a:pt x="0" y="0"/>
                  </a:lnTo>
                  <a:lnTo>
                    <a:pt x="0" y="844702"/>
                  </a:lnTo>
                  <a:lnTo>
                    <a:pt x="19685" y="878713"/>
                  </a:lnTo>
                  <a:lnTo>
                    <a:pt x="44157" y="888847"/>
                  </a:lnTo>
                  <a:lnTo>
                    <a:pt x="2068588" y="888847"/>
                  </a:lnTo>
                  <a:lnTo>
                    <a:pt x="4137177" y="888847"/>
                  </a:lnTo>
                  <a:lnTo>
                    <a:pt x="6205766" y="888847"/>
                  </a:lnTo>
                  <a:lnTo>
                    <a:pt x="8230197" y="888847"/>
                  </a:lnTo>
                  <a:lnTo>
                    <a:pt x="8236686" y="887564"/>
                  </a:lnTo>
                  <a:lnTo>
                    <a:pt x="8267890" y="863663"/>
                  </a:lnTo>
                  <a:lnTo>
                    <a:pt x="8274355" y="844702"/>
                  </a:lnTo>
                  <a:lnTo>
                    <a:pt x="8274355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43825" y="3179068"/>
            <a:ext cx="577215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10" b="1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16454" y="3179068"/>
            <a:ext cx="1031240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1150" spc="-5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 b="1">
                <a:solidFill>
                  <a:srgbClr val="3B3838"/>
                </a:solidFill>
                <a:latin typeface="Roboto"/>
                <a:cs typeface="Roboto"/>
              </a:rPr>
              <a:t>Cause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85043" y="3179068"/>
            <a:ext cx="1097280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10" b="1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53633" y="3179068"/>
            <a:ext cx="568960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10" b="1">
                <a:solidFill>
                  <a:srgbClr val="3B3838"/>
                </a:solidFill>
                <a:latin typeface="Roboto"/>
                <a:cs typeface="Roboto"/>
              </a:rPr>
              <a:t>Solution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6525" y="3539455"/>
            <a:ext cx="1644650" cy="494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700"/>
              </a:lnSpc>
              <a:spcBef>
                <a:spcPts val="1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Vendor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invoice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cannot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be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poзted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29154" y="3539455"/>
            <a:ext cx="1537970" cy="119761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11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information,</a:t>
            </a:r>
            <a:endParaRPr sz="1150">
              <a:latin typeface="Roboto"/>
              <a:cs typeface="Roboto"/>
            </a:endParaRPr>
          </a:p>
          <a:p>
            <a:pPr marR="5080">
              <a:lnSpc>
                <a:spcPct val="133700"/>
              </a:lnSpc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vendor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data, invalid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account,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tax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iззue,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cloзed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poзting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period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97743" y="3539455"/>
            <a:ext cx="1762125" cy="963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700"/>
              </a:lnSpc>
              <a:spcBef>
                <a:spcPts val="1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Read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error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meззage;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check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vendor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maзter,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G/L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account,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tax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code,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and</a:t>
            </a:r>
            <a:endParaRPr sz="11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11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period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66333" y="3539455"/>
            <a:ext cx="1464310" cy="963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R="5080">
              <a:lnSpc>
                <a:spcPct val="133700"/>
              </a:lnSpc>
              <a:spcBef>
                <a:spcPts val="1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1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or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data;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requeзt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period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opened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if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needed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3825" y="4896966"/>
            <a:ext cx="1273810" cy="494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cannot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be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proceззed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16454" y="4896966"/>
            <a:ext cx="1557020" cy="955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31400"/>
              </a:lnSpc>
              <a:spcBef>
                <a:spcPts val="13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block,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miззing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bank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detailз,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incorrect payment</a:t>
            </a:r>
            <a:r>
              <a:rPr dirty="0" sz="11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termз,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r>
              <a:rPr dirty="0" sz="115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85043" y="4896966"/>
            <a:ext cx="1651000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0005">
              <a:lnSpc>
                <a:spcPct val="133700"/>
              </a:lnSpc>
              <a:spcBef>
                <a:spcPts val="1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vendor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for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bank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detailз;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block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indicatorз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53633" y="4896966"/>
            <a:ext cx="1699895" cy="955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31400"/>
              </a:lnSpc>
              <a:spcBef>
                <a:spcPts val="13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Remove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block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or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update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bank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information; verify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method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525" y="6079941"/>
            <a:ext cx="1774825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Vendor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balance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29154" y="6028225"/>
            <a:ext cx="1720850" cy="71247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R="5080">
              <a:lnSpc>
                <a:spcPct val="131400"/>
              </a:lnSpc>
              <a:spcBef>
                <a:spcPts val="7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Uncleared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itemз,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duplicate invoiceз,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incorrect poзtingз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97743" y="6028225"/>
            <a:ext cx="1489075" cy="71247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R="5080">
              <a:lnSpc>
                <a:spcPct val="131400"/>
              </a:lnSpc>
              <a:spcBef>
                <a:spcPts val="7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Run</a:t>
            </a:r>
            <a:r>
              <a:rPr dirty="0" sz="11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vendor</a:t>
            </a:r>
            <a:r>
              <a:rPr dirty="0" sz="11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line</a:t>
            </a:r>
            <a:r>
              <a:rPr dirty="0" sz="11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item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report;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open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and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cleared</a:t>
            </a:r>
            <a:r>
              <a:rPr dirty="0" sz="11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itemз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66333" y="6028225"/>
            <a:ext cx="1644650" cy="478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29099"/>
              </a:lnSpc>
              <a:spcBef>
                <a:spcPts val="1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Clear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open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itemз;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reverзe duplicate poзtingз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3825" y="6917073"/>
            <a:ext cx="1536065" cy="478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099"/>
              </a:lnSpc>
              <a:spcBef>
                <a:spcPts val="10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Invoice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зelected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for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16454" y="6917073"/>
            <a:ext cx="1737360" cy="71247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just" marL="12700" marR="5080">
              <a:lnSpc>
                <a:spcPct val="131400"/>
              </a:lnSpc>
              <a:spcBef>
                <a:spcPts val="7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termз</a:t>
            </a:r>
            <a:r>
              <a:rPr dirty="0" sz="11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miзmatch,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minimum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amount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met,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 зelection</a:t>
            </a:r>
            <a:r>
              <a:rPr dirty="0" sz="11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criteria iззue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85043" y="6917073"/>
            <a:ext cx="1536065" cy="71247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run</a:t>
            </a:r>
            <a:endParaRPr sz="1150">
              <a:latin typeface="Roboto"/>
              <a:cs typeface="Roboto"/>
            </a:endParaRPr>
          </a:p>
          <a:p>
            <a:pPr marL="12700" marR="5080">
              <a:lnSpc>
                <a:spcPts val="1850"/>
              </a:lnSpc>
              <a:spcBef>
                <a:spcPts val="25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parameterз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invoice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due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date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53633" y="6917073"/>
            <a:ext cx="1717039" cy="478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099"/>
              </a:lnSpc>
              <a:spcBef>
                <a:spcPts val="10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Adjuзt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зelection</a:t>
            </a:r>
            <a:r>
              <a:rPr dirty="0" sz="11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criteria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or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termз</a:t>
            </a:r>
            <a:endParaRPr sz="1150">
              <a:latin typeface="Roboto"/>
              <a:cs typeface="Roboto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611" y="8046333"/>
            <a:ext cx="6208152" cy="164228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6770161" y="10023714"/>
            <a:ext cx="791845" cy="506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6515" marR="5080" indent="-44450">
              <a:lnSpc>
                <a:spcPct val="108800"/>
              </a:lnSpc>
              <a:spcBef>
                <a:spcPts val="95"/>
              </a:spcBef>
            </a:pPr>
            <a:r>
              <a:rPr dirty="0" sz="1450" spc="35">
                <a:solidFill>
                  <a:srgbClr val="3B3838"/>
                </a:solidFill>
                <a:latin typeface="Trebuchet MS"/>
                <a:cs typeface="Trebuchet MS"/>
              </a:rPr>
              <a:t>Payment </a:t>
            </a:r>
            <a:r>
              <a:rPr dirty="0" sz="1450" spc="-10">
                <a:solidFill>
                  <a:srgbClr val="3B3838"/>
                </a:solidFill>
                <a:latin typeface="Trebuchet MS"/>
                <a:cs typeface="Trebuchet MS"/>
              </a:rPr>
              <a:t>Cleared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23620" y="10023714"/>
            <a:ext cx="833755" cy="506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0955">
              <a:lnSpc>
                <a:spcPct val="108800"/>
              </a:lnSpc>
              <a:spcBef>
                <a:spcPts val="95"/>
              </a:spcBef>
            </a:pPr>
            <a:r>
              <a:rPr dirty="0" sz="1450" spc="35">
                <a:solidFill>
                  <a:srgbClr val="3B3838"/>
                </a:solidFill>
                <a:latin typeface="Trebuchet MS"/>
                <a:cs typeface="Trebuchet MS"/>
              </a:rPr>
              <a:t>Payment </a:t>
            </a:r>
            <a:r>
              <a:rPr dirty="0" sz="1450" spc="-10">
                <a:solidFill>
                  <a:srgbClr val="3B3838"/>
                </a:solidFill>
                <a:latin typeface="Trebuchet MS"/>
                <a:cs typeface="Trebuchet MS"/>
              </a:rPr>
              <a:t>Selection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46901" y="10156360"/>
            <a:ext cx="953135" cy="2495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114">
                <a:solidFill>
                  <a:srgbClr val="3B3838"/>
                </a:solidFill>
                <a:latin typeface="Trebuchet MS"/>
                <a:cs typeface="Trebuchet MS"/>
              </a:rPr>
              <a:t>AP</a:t>
            </a:r>
            <a:r>
              <a:rPr dirty="0" sz="1450" spc="-10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1450" spc="40">
                <a:solidFill>
                  <a:srgbClr val="3B3838"/>
                </a:solidFill>
                <a:latin typeface="Trebuchet MS"/>
                <a:cs typeface="Trebuchet MS"/>
              </a:rPr>
              <a:t>Posting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59559" y="10023714"/>
            <a:ext cx="827405" cy="506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94615">
              <a:lnSpc>
                <a:spcPct val="108800"/>
              </a:lnSpc>
              <a:spcBef>
                <a:spcPts val="95"/>
              </a:spcBef>
            </a:pPr>
            <a:r>
              <a:rPr dirty="0" sz="1450" spc="-10">
                <a:solidFill>
                  <a:srgbClr val="3B3838"/>
                </a:solidFill>
                <a:latin typeface="Trebuchet MS"/>
                <a:cs typeface="Trebuchet MS"/>
              </a:rPr>
              <a:t>Invoice </a:t>
            </a:r>
            <a:r>
              <a:rPr dirty="0" sz="1450" spc="40">
                <a:solidFill>
                  <a:srgbClr val="3B3838"/>
                </a:solidFill>
                <a:latin typeface="Trebuchet MS"/>
                <a:cs typeface="Trebuchet MS"/>
              </a:rPr>
              <a:t>Received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0297" y="11073645"/>
            <a:ext cx="3757929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75">
                <a:solidFill>
                  <a:srgbClr val="1B1B27"/>
                </a:solidFill>
                <a:latin typeface="Trebuchet MS"/>
                <a:cs typeface="Trebuchet MS"/>
              </a:rPr>
              <a:t>Accounts</a:t>
            </a:r>
            <a:r>
              <a:rPr dirty="0" sz="2300" spc="12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B1B27"/>
                </a:solidFill>
                <a:latin typeface="Trebuchet MS"/>
                <a:cs typeface="Trebuchet MS"/>
              </a:rPr>
              <a:t>Receivable</a:t>
            </a:r>
            <a:r>
              <a:rPr dirty="0" sz="2300" spc="12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300" spc="90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02997" y="11676216"/>
            <a:ext cx="8290559" cy="4226560"/>
            <a:chOff x="702997" y="11676216"/>
            <a:chExt cx="8290559" cy="4226560"/>
          </a:xfrm>
        </p:grpSpPr>
        <p:sp>
          <p:nvSpPr>
            <p:cNvPr id="39" name="object 39"/>
            <p:cNvSpPr/>
            <p:nvPr/>
          </p:nvSpPr>
          <p:spPr>
            <a:xfrm>
              <a:off x="707037" y="11680256"/>
              <a:ext cx="8282940" cy="4218305"/>
            </a:xfrm>
            <a:custGeom>
              <a:avLst/>
              <a:gdLst/>
              <a:ahLst/>
              <a:cxnLst/>
              <a:rect l="l" t="t" r="r" b="b"/>
              <a:pathLst>
                <a:path w="8282940" h="4218305">
                  <a:moveTo>
                    <a:pt x="0" y="4171115"/>
                  </a:moveTo>
                  <a:lnTo>
                    <a:pt x="0" y="46866"/>
                  </a:lnTo>
                  <a:lnTo>
                    <a:pt x="0" y="43787"/>
                  </a:lnTo>
                  <a:lnTo>
                    <a:pt x="298" y="40741"/>
                  </a:lnTo>
                  <a:lnTo>
                    <a:pt x="13728" y="13728"/>
                  </a:lnTo>
                  <a:lnTo>
                    <a:pt x="15902" y="11546"/>
                  </a:lnTo>
                  <a:lnTo>
                    <a:pt x="43787" y="0"/>
                  </a:lnTo>
                  <a:lnTo>
                    <a:pt x="46866" y="0"/>
                  </a:lnTo>
                  <a:lnTo>
                    <a:pt x="8235570" y="0"/>
                  </a:lnTo>
                  <a:lnTo>
                    <a:pt x="8238648" y="0"/>
                  </a:lnTo>
                  <a:lnTo>
                    <a:pt x="8241695" y="298"/>
                  </a:lnTo>
                  <a:lnTo>
                    <a:pt x="8268707" y="13728"/>
                  </a:lnTo>
                  <a:lnTo>
                    <a:pt x="8270881" y="15902"/>
                  </a:lnTo>
                  <a:lnTo>
                    <a:pt x="8278865" y="28927"/>
                  </a:lnTo>
                  <a:lnTo>
                    <a:pt x="8280044" y="31772"/>
                  </a:lnTo>
                  <a:lnTo>
                    <a:pt x="8280933" y="34705"/>
                  </a:lnTo>
                  <a:lnTo>
                    <a:pt x="8281539" y="37719"/>
                  </a:lnTo>
                  <a:lnTo>
                    <a:pt x="8282137" y="40741"/>
                  </a:lnTo>
                  <a:lnTo>
                    <a:pt x="8282436" y="43787"/>
                  </a:lnTo>
                  <a:lnTo>
                    <a:pt x="8282436" y="46866"/>
                  </a:lnTo>
                  <a:lnTo>
                    <a:pt x="8282436" y="4171115"/>
                  </a:lnTo>
                  <a:lnTo>
                    <a:pt x="8282436" y="4174194"/>
                  </a:lnTo>
                  <a:lnTo>
                    <a:pt x="8282137" y="4177240"/>
                  </a:lnTo>
                  <a:lnTo>
                    <a:pt x="8281539" y="4180254"/>
                  </a:lnTo>
                  <a:lnTo>
                    <a:pt x="8280933" y="4183276"/>
                  </a:lnTo>
                  <a:lnTo>
                    <a:pt x="8280044" y="4186202"/>
                  </a:lnTo>
                  <a:lnTo>
                    <a:pt x="8278865" y="4189046"/>
                  </a:lnTo>
                  <a:lnTo>
                    <a:pt x="8277693" y="4191890"/>
                  </a:lnTo>
                  <a:lnTo>
                    <a:pt x="8276247" y="4194589"/>
                  </a:lnTo>
                  <a:lnTo>
                    <a:pt x="8274533" y="4197151"/>
                  </a:lnTo>
                  <a:lnTo>
                    <a:pt x="8272828" y="4199712"/>
                  </a:lnTo>
                  <a:lnTo>
                    <a:pt x="8270881" y="4202080"/>
                  </a:lnTo>
                  <a:lnTo>
                    <a:pt x="8268707" y="4204253"/>
                  </a:lnTo>
                  <a:lnTo>
                    <a:pt x="8266534" y="4206427"/>
                  </a:lnTo>
                  <a:lnTo>
                    <a:pt x="8264166" y="4208374"/>
                  </a:lnTo>
                  <a:lnTo>
                    <a:pt x="8261605" y="4210079"/>
                  </a:lnTo>
                  <a:lnTo>
                    <a:pt x="8259043" y="4211792"/>
                  </a:lnTo>
                  <a:lnTo>
                    <a:pt x="8244709" y="4217077"/>
                  </a:lnTo>
                  <a:lnTo>
                    <a:pt x="8241695" y="4217683"/>
                  </a:lnTo>
                  <a:lnTo>
                    <a:pt x="8238648" y="4217982"/>
                  </a:lnTo>
                  <a:lnTo>
                    <a:pt x="8235570" y="4217982"/>
                  </a:lnTo>
                  <a:lnTo>
                    <a:pt x="46866" y="4217982"/>
                  </a:lnTo>
                  <a:lnTo>
                    <a:pt x="43787" y="4217982"/>
                  </a:lnTo>
                  <a:lnTo>
                    <a:pt x="40741" y="4217683"/>
                  </a:lnTo>
                  <a:lnTo>
                    <a:pt x="37719" y="4217077"/>
                  </a:lnTo>
                  <a:lnTo>
                    <a:pt x="34705" y="4216479"/>
                  </a:lnTo>
                  <a:lnTo>
                    <a:pt x="20831" y="4210079"/>
                  </a:lnTo>
                  <a:lnTo>
                    <a:pt x="18269" y="4208374"/>
                  </a:lnTo>
                  <a:lnTo>
                    <a:pt x="15902" y="4206427"/>
                  </a:lnTo>
                  <a:lnTo>
                    <a:pt x="13728" y="4204253"/>
                  </a:lnTo>
                  <a:lnTo>
                    <a:pt x="11546" y="4202080"/>
                  </a:lnTo>
                  <a:lnTo>
                    <a:pt x="0" y="4174194"/>
                  </a:lnTo>
                  <a:lnTo>
                    <a:pt x="0" y="4171115"/>
                  </a:lnTo>
                  <a:close/>
                </a:path>
              </a:pathLst>
            </a:custGeom>
            <a:ln w="8080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11073" y="11684304"/>
              <a:ext cx="8274684" cy="428625"/>
            </a:xfrm>
            <a:custGeom>
              <a:avLst/>
              <a:gdLst/>
              <a:ahLst/>
              <a:cxnLst/>
              <a:rect l="l" t="t" r="r" b="b"/>
              <a:pathLst>
                <a:path w="8274684" h="428625">
                  <a:moveTo>
                    <a:pt x="8274355" y="44157"/>
                  </a:moveTo>
                  <a:lnTo>
                    <a:pt x="8254670" y="10134"/>
                  </a:lnTo>
                  <a:lnTo>
                    <a:pt x="8230197" y="0"/>
                  </a:lnTo>
                  <a:lnTo>
                    <a:pt x="6205766" y="0"/>
                  </a:lnTo>
                  <a:lnTo>
                    <a:pt x="4137177" y="0"/>
                  </a:lnTo>
                  <a:lnTo>
                    <a:pt x="2068588" y="0"/>
                  </a:lnTo>
                  <a:lnTo>
                    <a:pt x="44157" y="0"/>
                  </a:lnTo>
                  <a:lnTo>
                    <a:pt x="37655" y="1295"/>
                  </a:lnTo>
                  <a:lnTo>
                    <a:pt x="6451" y="25184"/>
                  </a:lnTo>
                  <a:lnTo>
                    <a:pt x="0" y="44157"/>
                  </a:lnTo>
                  <a:lnTo>
                    <a:pt x="0" y="428256"/>
                  </a:lnTo>
                  <a:lnTo>
                    <a:pt x="2068588" y="428256"/>
                  </a:lnTo>
                  <a:lnTo>
                    <a:pt x="4137177" y="428256"/>
                  </a:lnTo>
                  <a:lnTo>
                    <a:pt x="6205766" y="428256"/>
                  </a:lnTo>
                  <a:lnTo>
                    <a:pt x="8274355" y="428256"/>
                  </a:lnTo>
                  <a:lnTo>
                    <a:pt x="8274355" y="44157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11073" y="12112561"/>
              <a:ext cx="8274684" cy="889000"/>
            </a:xfrm>
            <a:custGeom>
              <a:avLst/>
              <a:gdLst/>
              <a:ahLst/>
              <a:cxnLst/>
              <a:rect l="l" t="t" r="r" b="b"/>
              <a:pathLst>
                <a:path w="8274684" h="889000">
                  <a:moveTo>
                    <a:pt x="8274355" y="0"/>
                  </a:moveTo>
                  <a:lnTo>
                    <a:pt x="6205766" y="0"/>
                  </a:lnTo>
                  <a:lnTo>
                    <a:pt x="4137177" y="0"/>
                  </a:lnTo>
                  <a:lnTo>
                    <a:pt x="2068588" y="0"/>
                  </a:lnTo>
                  <a:lnTo>
                    <a:pt x="0" y="0"/>
                  </a:lnTo>
                  <a:lnTo>
                    <a:pt x="0" y="888847"/>
                  </a:lnTo>
                  <a:lnTo>
                    <a:pt x="2068588" y="888847"/>
                  </a:lnTo>
                  <a:lnTo>
                    <a:pt x="4137177" y="888847"/>
                  </a:lnTo>
                  <a:lnTo>
                    <a:pt x="6205766" y="888847"/>
                  </a:lnTo>
                  <a:lnTo>
                    <a:pt x="8274355" y="888847"/>
                  </a:lnTo>
                  <a:lnTo>
                    <a:pt x="8274355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11073" y="13001409"/>
              <a:ext cx="8274684" cy="1115695"/>
            </a:xfrm>
            <a:custGeom>
              <a:avLst/>
              <a:gdLst/>
              <a:ahLst/>
              <a:cxnLst/>
              <a:rect l="l" t="t" r="r" b="b"/>
              <a:pathLst>
                <a:path w="8274684" h="1115694">
                  <a:moveTo>
                    <a:pt x="8274355" y="0"/>
                  </a:moveTo>
                  <a:lnTo>
                    <a:pt x="6205766" y="0"/>
                  </a:lnTo>
                  <a:lnTo>
                    <a:pt x="4137177" y="0"/>
                  </a:lnTo>
                  <a:lnTo>
                    <a:pt x="2068588" y="0"/>
                  </a:lnTo>
                  <a:lnTo>
                    <a:pt x="0" y="0"/>
                  </a:lnTo>
                  <a:lnTo>
                    <a:pt x="0" y="1115098"/>
                  </a:lnTo>
                  <a:lnTo>
                    <a:pt x="2068588" y="1115098"/>
                  </a:lnTo>
                  <a:lnTo>
                    <a:pt x="4137177" y="1115098"/>
                  </a:lnTo>
                  <a:lnTo>
                    <a:pt x="6205766" y="1115098"/>
                  </a:lnTo>
                  <a:lnTo>
                    <a:pt x="8274355" y="1115098"/>
                  </a:lnTo>
                  <a:lnTo>
                    <a:pt x="8274355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11073" y="14116507"/>
              <a:ext cx="8274684" cy="889000"/>
            </a:xfrm>
            <a:custGeom>
              <a:avLst/>
              <a:gdLst/>
              <a:ahLst/>
              <a:cxnLst/>
              <a:rect l="l" t="t" r="r" b="b"/>
              <a:pathLst>
                <a:path w="8274684" h="889000">
                  <a:moveTo>
                    <a:pt x="8274355" y="0"/>
                  </a:moveTo>
                  <a:lnTo>
                    <a:pt x="6205766" y="0"/>
                  </a:lnTo>
                  <a:lnTo>
                    <a:pt x="4137177" y="0"/>
                  </a:lnTo>
                  <a:lnTo>
                    <a:pt x="2068588" y="0"/>
                  </a:lnTo>
                  <a:lnTo>
                    <a:pt x="0" y="0"/>
                  </a:lnTo>
                  <a:lnTo>
                    <a:pt x="0" y="888847"/>
                  </a:lnTo>
                  <a:lnTo>
                    <a:pt x="2068588" y="888847"/>
                  </a:lnTo>
                  <a:lnTo>
                    <a:pt x="4137177" y="888847"/>
                  </a:lnTo>
                  <a:lnTo>
                    <a:pt x="6205766" y="888847"/>
                  </a:lnTo>
                  <a:lnTo>
                    <a:pt x="8274355" y="888847"/>
                  </a:lnTo>
                  <a:lnTo>
                    <a:pt x="8274355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11073" y="15005355"/>
              <a:ext cx="8274684" cy="889000"/>
            </a:xfrm>
            <a:custGeom>
              <a:avLst/>
              <a:gdLst/>
              <a:ahLst/>
              <a:cxnLst/>
              <a:rect l="l" t="t" r="r" b="b"/>
              <a:pathLst>
                <a:path w="8274684" h="889000">
                  <a:moveTo>
                    <a:pt x="8274355" y="0"/>
                  </a:moveTo>
                  <a:lnTo>
                    <a:pt x="6205766" y="0"/>
                  </a:lnTo>
                  <a:lnTo>
                    <a:pt x="4137177" y="0"/>
                  </a:lnTo>
                  <a:lnTo>
                    <a:pt x="2068588" y="0"/>
                  </a:lnTo>
                  <a:lnTo>
                    <a:pt x="0" y="0"/>
                  </a:lnTo>
                  <a:lnTo>
                    <a:pt x="0" y="844689"/>
                  </a:lnTo>
                  <a:lnTo>
                    <a:pt x="19685" y="878713"/>
                  </a:lnTo>
                  <a:lnTo>
                    <a:pt x="44157" y="888847"/>
                  </a:lnTo>
                  <a:lnTo>
                    <a:pt x="2068588" y="888847"/>
                  </a:lnTo>
                  <a:lnTo>
                    <a:pt x="4137177" y="888847"/>
                  </a:lnTo>
                  <a:lnTo>
                    <a:pt x="6205766" y="888847"/>
                  </a:lnTo>
                  <a:lnTo>
                    <a:pt x="8230197" y="888847"/>
                  </a:lnTo>
                  <a:lnTo>
                    <a:pt x="8236686" y="887552"/>
                  </a:lnTo>
                  <a:lnTo>
                    <a:pt x="8267890" y="863663"/>
                  </a:lnTo>
                  <a:lnTo>
                    <a:pt x="8274355" y="844689"/>
                  </a:lnTo>
                  <a:lnTo>
                    <a:pt x="8274355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843825" y="11784722"/>
            <a:ext cx="577215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10" b="1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16454" y="11784722"/>
            <a:ext cx="1031240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1150" spc="-5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 b="1">
                <a:solidFill>
                  <a:srgbClr val="3B3838"/>
                </a:solidFill>
                <a:latin typeface="Roboto"/>
                <a:cs typeface="Roboto"/>
              </a:rPr>
              <a:t>Cause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985043" y="11784722"/>
            <a:ext cx="1097280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10" b="1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053633" y="11784722"/>
            <a:ext cx="568960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10" b="1">
                <a:solidFill>
                  <a:srgbClr val="3B3838"/>
                </a:solidFill>
                <a:latin typeface="Roboto"/>
                <a:cs typeface="Roboto"/>
              </a:rPr>
              <a:t>Solution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6525" y="12145109"/>
            <a:ext cx="1621790" cy="494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700"/>
              </a:lnSpc>
              <a:spcBef>
                <a:spcPts val="1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invoice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cannot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11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poзted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929154" y="12145109"/>
            <a:ext cx="169672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176530">
              <a:lnSpc>
                <a:spcPct val="133700"/>
              </a:lnSpc>
              <a:spcBef>
                <a:spcPts val="10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data,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11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 account,</a:t>
            </a:r>
            <a:endParaRPr sz="11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cloзed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period,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tax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997743" y="12145109"/>
            <a:ext cx="157734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700"/>
              </a:lnSpc>
              <a:spcBef>
                <a:spcPts val="1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1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11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maзter,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account,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poзting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period,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tax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code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066333" y="12145109"/>
            <a:ext cx="1630680" cy="4946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1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data;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open</a:t>
            </a:r>
            <a:endParaRPr sz="11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period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if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required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43825" y="13033956"/>
            <a:ext cx="1738630" cy="494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11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cannot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11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cleared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916454" y="13033956"/>
            <a:ext cx="1663064" cy="963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amount miзmatch,</a:t>
            </a:r>
            <a:r>
              <a:rPr dirty="0" sz="11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incorrect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bank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account,</a:t>
            </a:r>
            <a:r>
              <a:rPr dirty="0" sz="11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1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clearing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11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985043" y="13033956"/>
            <a:ext cx="174752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Compare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amount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open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invoice;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bank</a:t>
            </a:r>
            <a:r>
              <a:rPr dirty="0" sz="11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detailз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053633" y="13033956"/>
            <a:ext cx="1776095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Poзt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difference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or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bank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account information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56525" y="14216930"/>
            <a:ext cx="1785620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11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balance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29154" y="14157135"/>
            <a:ext cx="1776095" cy="494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700"/>
              </a:lnSpc>
              <a:spcBef>
                <a:spcPts val="10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Uncleared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itemз,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duplicate invoiceз,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poзtingз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997743" y="14157135"/>
            <a:ext cx="1522095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R="5080">
              <a:lnSpc>
                <a:spcPct val="133700"/>
              </a:lnSpc>
              <a:spcBef>
                <a:spcPts val="10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Run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line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item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report;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open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and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cleared</a:t>
            </a:r>
            <a:r>
              <a:rPr dirty="0" sz="11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itemз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066333" y="14157135"/>
            <a:ext cx="1770380" cy="4946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5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Clear</a:t>
            </a: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itemз</a:t>
            </a:r>
            <a:r>
              <a:rPr dirty="0" sz="115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correctly;</a:t>
            </a:r>
            <a:endParaRPr sz="11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reverзe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erroneouз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poзtingз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43825" y="15105778"/>
            <a:ext cx="1499870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50">
                <a:solidFill>
                  <a:srgbClr val="3B3838"/>
                </a:solidFill>
                <a:latin typeface="Roboto"/>
                <a:cs typeface="Roboto"/>
              </a:rPr>
              <a:t>Dunning-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related</a:t>
            </a:r>
            <a:r>
              <a:rPr dirty="0" sz="115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916454" y="15045982"/>
            <a:ext cx="156718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dunning</a:t>
            </a:r>
            <a:r>
              <a:rPr dirty="0" sz="115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area,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dunning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block,</a:t>
            </a:r>
            <a:r>
              <a:rPr dirty="0" sz="115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115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B3838"/>
                </a:solidFill>
                <a:latin typeface="Roboto"/>
                <a:cs typeface="Roboto"/>
              </a:rPr>
              <a:t>wrong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dunning</a:t>
            </a:r>
            <a:r>
              <a:rPr dirty="0" sz="1150" spc="-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procedure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985043" y="15045982"/>
            <a:ext cx="156972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11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11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maзter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dunning</a:t>
            </a:r>
            <a:r>
              <a:rPr dirty="0" sz="11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зettingз</a:t>
            </a:r>
            <a:r>
              <a:rPr dirty="0" sz="11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dunning</a:t>
            </a:r>
            <a:r>
              <a:rPr dirty="0" sz="11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run</a:t>
            </a:r>
            <a:r>
              <a:rPr dirty="0" sz="11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parameterз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053633" y="15045982"/>
            <a:ext cx="1781810" cy="494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11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dunning</a:t>
            </a:r>
            <a:r>
              <a:rPr dirty="0" sz="11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зettingз</a:t>
            </a:r>
            <a:r>
              <a:rPr dirty="0" sz="1150" spc="-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B3838"/>
                </a:solidFill>
                <a:latin typeface="Roboto"/>
                <a:cs typeface="Roboto"/>
              </a:rPr>
              <a:t>or </a:t>
            </a:r>
            <a:r>
              <a:rPr dirty="0" sz="1150">
                <a:solidFill>
                  <a:srgbClr val="3B3838"/>
                </a:solidFill>
                <a:latin typeface="Roboto"/>
                <a:cs typeface="Roboto"/>
              </a:rPr>
              <a:t>remove</a:t>
            </a:r>
            <a:r>
              <a:rPr dirty="0" sz="1150" spc="-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dunning</a:t>
            </a:r>
            <a:r>
              <a:rPr dirty="0" sz="11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B3838"/>
                </a:solidFill>
                <a:latin typeface="Roboto"/>
                <a:cs typeface="Roboto"/>
              </a:rPr>
              <a:t>block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862560" y="16231395"/>
            <a:ext cx="7971790" cy="3317875"/>
          </a:xfrm>
          <a:custGeom>
            <a:avLst/>
            <a:gdLst/>
            <a:ahLst/>
            <a:cxnLst/>
            <a:rect l="l" t="t" r="r" b="b"/>
            <a:pathLst>
              <a:path w="7971790" h="3317875">
                <a:moveTo>
                  <a:pt x="3852572" y="3317710"/>
                </a:moveTo>
                <a:lnTo>
                  <a:pt x="2146211" y="3311408"/>
                </a:lnTo>
                <a:lnTo>
                  <a:pt x="2099698" y="3305001"/>
                </a:lnTo>
                <a:lnTo>
                  <a:pt x="2057924" y="3287238"/>
                </a:lnTo>
                <a:lnTo>
                  <a:pt x="2022547" y="3259784"/>
                </a:lnTo>
                <a:lnTo>
                  <a:pt x="1995225" y="3224304"/>
                </a:lnTo>
                <a:lnTo>
                  <a:pt x="1977616" y="3182462"/>
                </a:lnTo>
                <a:lnTo>
                  <a:pt x="1971378" y="3135921"/>
                </a:lnTo>
                <a:lnTo>
                  <a:pt x="1971378" y="1702475"/>
                </a:lnTo>
                <a:lnTo>
                  <a:pt x="1903552" y="1634649"/>
                </a:lnTo>
                <a:lnTo>
                  <a:pt x="1903552" y="1627080"/>
                </a:lnTo>
                <a:lnTo>
                  <a:pt x="1912893" y="1617731"/>
                </a:lnTo>
                <a:lnTo>
                  <a:pt x="1920471" y="1617731"/>
                </a:lnTo>
                <a:lnTo>
                  <a:pt x="1971378" y="1668638"/>
                </a:lnTo>
                <a:lnTo>
                  <a:pt x="1971378" y="175487"/>
                </a:lnTo>
                <a:lnTo>
                  <a:pt x="1964058" y="130105"/>
                </a:lnTo>
                <a:lnTo>
                  <a:pt x="1943675" y="90691"/>
                </a:lnTo>
                <a:lnTo>
                  <a:pt x="1912594" y="59609"/>
                </a:lnTo>
                <a:lnTo>
                  <a:pt x="1873180" y="39226"/>
                </a:lnTo>
                <a:lnTo>
                  <a:pt x="1827797" y="31906"/>
                </a:lnTo>
                <a:lnTo>
                  <a:pt x="244621" y="31906"/>
                </a:lnTo>
                <a:lnTo>
                  <a:pt x="199239" y="39226"/>
                </a:lnTo>
                <a:lnTo>
                  <a:pt x="159825" y="59609"/>
                </a:lnTo>
                <a:lnTo>
                  <a:pt x="128743" y="90691"/>
                </a:lnTo>
                <a:lnTo>
                  <a:pt x="108360" y="130105"/>
                </a:lnTo>
                <a:lnTo>
                  <a:pt x="101040" y="175487"/>
                </a:lnTo>
                <a:lnTo>
                  <a:pt x="101040" y="1587539"/>
                </a:lnTo>
                <a:lnTo>
                  <a:pt x="128450" y="1597906"/>
                </a:lnTo>
                <a:lnTo>
                  <a:pt x="150369" y="1616550"/>
                </a:lnTo>
                <a:lnTo>
                  <a:pt x="164908" y="1641584"/>
                </a:lnTo>
                <a:lnTo>
                  <a:pt x="170175" y="1671119"/>
                </a:lnTo>
                <a:lnTo>
                  <a:pt x="163488" y="1704238"/>
                </a:lnTo>
                <a:lnTo>
                  <a:pt x="145252" y="1731284"/>
                </a:lnTo>
                <a:lnTo>
                  <a:pt x="118206" y="1749520"/>
                </a:lnTo>
                <a:lnTo>
                  <a:pt x="85087" y="1756206"/>
                </a:lnTo>
                <a:lnTo>
                  <a:pt x="51968" y="1749520"/>
                </a:lnTo>
                <a:lnTo>
                  <a:pt x="24922" y="1731284"/>
                </a:lnTo>
                <a:lnTo>
                  <a:pt x="6686" y="1704238"/>
                </a:lnTo>
                <a:lnTo>
                  <a:pt x="0" y="1671119"/>
                </a:lnTo>
                <a:lnTo>
                  <a:pt x="5266" y="1641584"/>
                </a:lnTo>
                <a:lnTo>
                  <a:pt x="19805" y="1616550"/>
                </a:lnTo>
                <a:lnTo>
                  <a:pt x="41724" y="1597906"/>
                </a:lnTo>
                <a:lnTo>
                  <a:pt x="69134" y="1587539"/>
                </a:lnTo>
                <a:lnTo>
                  <a:pt x="69134" y="175487"/>
                </a:lnTo>
                <a:lnTo>
                  <a:pt x="75402" y="128836"/>
                </a:lnTo>
                <a:lnTo>
                  <a:pt x="93093" y="86916"/>
                </a:lnTo>
                <a:lnTo>
                  <a:pt x="120533" y="51399"/>
                </a:lnTo>
                <a:lnTo>
                  <a:pt x="156050" y="23959"/>
                </a:lnTo>
                <a:lnTo>
                  <a:pt x="197970" y="6268"/>
                </a:lnTo>
                <a:lnTo>
                  <a:pt x="244621" y="0"/>
                </a:lnTo>
                <a:lnTo>
                  <a:pt x="1827797" y="0"/>
                </a:lnTo>
                <a:lnTo>
                  <a:pt x="1874448" y="6268"/>
                </a:lnTo>
                <a:lnTo>
                  <a:pt x="1916368" y="23959"/>
                </a:lnTo>
                <a:lnTo>
                  <a:pt x="1951885" y="51399"/>
                </a:lnTo>
                <a:lnTo>
                  <a:pt x="1979325" y="86916"/>
                </a:lnTo>
                <a:lnTo>
                  <a:pt x="1997016" y="128836"/>
                </a:lnTo>
                <a:lnTo>
                  <a:pt x="2003285" y="175487"/>
                </a:lnTo>
                <a:lnTo>
                  <a:pt x="2003285" y="1547480"/>
                </a:lnTo>
                <a:lnTo>
                  <a:pt x="2004792" y="1547480"/>
                </a:lnTo>
                <a:lnTo>
                  <a:pt x="2004792" y="1678123"/>
                </a:lnTo>
                <a:lnTo>
                  <a:pt x="2065184" y="1617731"/>
                </a:lnTo>
                <a:lnTo>
                  <a:pt x="2072762" y="1617731"/>
                </a:lnTo>
                <a:lnTo>
                  <a:pt x="2082103" y="1627080"/>
                </a:lnTo>
                <a:lnTo>
                  <a:pt x="2082103" y="1634649"/>
                </a:lnTo>
                <a:lnTo>
                  <a:pt x="2003285" y="1713475"/>
                </a:lnTo>
                <a:lnTo>
                  <a:pt x="2003285" y="3135921"/>
                </a:lnTo>
                <a:lnTo>
                  <a:pt x="2010569" y="3181196"/>
                </a:lnTo>
                <a:lnTo>
                  <a:pt x="2030860" y="3220545"/>
                </a:lnTo>
                <a:lnTo>
                  <a:pt x="2061812" y="3251615"/>
                </a:lnTo>
                <a:lnTo>
                  <a:pt x="2101084" y="3272052"/>
                </a:lnTo>
                <a:lnTo>
                  <a:pt x="2146331" y="3279502"/>
                </a:lnTo>
                <a:lnTo>
                  <a:pt x="3852700" y="3285803"/>
                </a:lnTo>
                <a:lnTo>
                  <a:pt x="3898216" y="3278617"/>
                </a:lnTo>
                <a:lnTo>
                  <a:pt x="3937771" y="3258287"/>
                </a:lnTo>
                <a:lnTo>
                  <a:pt x="3968978" y="3227194"/>
                </a:lnTo>
                <a:lnTo>
                  <a:pt x="3989452" y="3187713"/>
                </a:lnTo>
                <a:lnTo>
                  <a:pt x="3996807" y="3142223"/>
                </a:lnTo>
                <a:lnTo>
                  <a:pt x="3996807" y="1658284"/>
                </a:lnTo>
                <a:lnTo>
                  <a:pt x="3938577" y="1716522"/>
                </a:lnTo>
                <a:lnTo>
                  <a:pt x="3930999" y="1716522"/>
                </a:lnTo>
                <a:lnTo>
                  <a:pt x="3921658" y="1707174"/>
                </a:lnTo>
                <a:lnTo>
                  <a:pt x="3921658" y="1699604"/>
                </a:lnTo>
                <a:lnTo>
                  <a:pt x="3996807" y="1624447"/>
                </a:lnTo>
                <a:lnTo>
                  <a:pt x="3996807" y="182371"/>
                </a:lnTo>
                <a:lnTo>
                  <a:pt x="4003045" y="135834"/>
                </a:lnTo>
                <a:lnTo>
                  <a:pt x="4020654" y="93993"/>
                </a:lnTo>
                <a:lnTo>
                  <a:pt x="4047975" y="58514"/>
                </a:lnTo>
                <a:lnTo>
                  <a:pt x="4083352" y="31059"/>
                </a:lnTo>
                <a:lnTo>
                  <a:pt x="4125126" y="13294"/>
                </a:lnTo>
                <a:lnTo>
                  <a:pt x="4171640" y="6883"/>
                </a:lnTo>
                <a:lnTo>
                  <a:pt x="5858099" y="598"/>
                </a:lnTo>
                <a:lnTo>
                  <a:pt x="5904887" y="6724"/>
                </a:lnTo>
                <a:lnTo>
                  <a:pt x="5946953" y="24341"/>
                </a:lnTo>
                <a:lnTo>
                  <a:pt x="5982609" y="51767"/>
                </a:lnTo>
                <a:lnTo>
                  <a:pt x="6010168" y="87321"/>
                </a:lnTo>
                <a:lnTo>
                  <a:pt x="6027941" y="129321"/>
                </a:lnTo>
                <a:lnTo>
                  <a:pt x="6034240" y="176085"/>
                </a:lnTo>
                <a:lnTo>
                  <a:pt x="6034240" y="1676910"/>
                </a:lnTo>
                <a:lnTo>
                  <a:pt x="6093420" y="1617731"/>
                </a:lnTo>
                <a:lnTo>
                  <a:pt x="6100997" y="1617731"/>
                </a:lnTo>
                <a:lnTo>
                  <a:pt x="6110338" y="1627080"/>
                </a:lnTo>
                <a:lnTo>
                  <a:pt x="6110338" y="1634649"/>
                </a:lnTo>
                <a:lnTo>
                  <a:pt x="6034240" y="1710747"/>
                </a:lnTo>
                <a:lnTo>
                  <a:pt x="6034240" y="3135339"/>
                </a:lnTo>
                <a:lnTo>
                  <a:pt x="6041560" y="3180721"/>
                </a:lnTo>
                <a:lnTo>
                  <a:pt x="6061943" y="3220135"/>
                </a:lnTo>
                <a:lnTo>
                  <a:pt x="6093025" y="3251216"/>
                </a:lnTo>
                <a:lnTo>
                  <a:pt x="6132439" y="3271599"/>
                </a:lnTo>
                <a:lnTo>
                  <a:pt x="6177821" y="3278919"/>
                </a:lnTo>
                <a:lnTo>
                  <a:pt x="7726769" y="3278919"/>
                </a:lnTo>
                <a:lnTo>
                  <a:pt x="7772152" y="3271599"/>
                </a:lnTo>
                <a:lnTo>
                  <a:pt x="7811566" y="3251216"/>
                </a:lnTo>
                <a:lnTo>
                  <a:pt x="7842647" y="3220135"/>
                </a:lnTo>
                <a:lnTo>
                  <a:pt x="7863030" y="3180721"/>
                </a:lnTo>
                <a:lnTo>
                  <a:pt x="7870350" y="3135339"/>
                </a:lnTo>
                <a:lnTo>
                  <a:pt x="7870350" y="1754683"/>
                </a:lnTo>
                <a:lnTo>
                  <a:pt x="7842941" y="1744317"/>
                </a:lnTo>
                <a:lnTo>
                  <a:pt x="7821021" y="1725677"/>
                </a:lnTo>
                <a:lnTo>
                  <a:pt x="7806482" y="1700648"/>
                </a:lnTo>
                <a:lnTo>
                  <a:pt x="7801216" y="1671119"/>
                </a:lnTo>
                <a:lnTo>
                  <a:pt x="7807903" y="1638000"/>
                </a:lnTo>
                <a:lnTo>
                  <a:pt x="7826138" y="1610954"/>
                </a:lnTo>
                <a:lnTo>
                  <a:pt x="7853184" y="1592718"/>
                </a:lnTo>
                <a:lnTo>
                  <a:pt x="7886303" y="1586031"/>
                </a:lnTo>
                <a:lnTo>
                  <a:pt x="7919423" y="1592718"/>
                </a:lnTo>
                <a:lnTo>
                  <a:pt x="7946469" y="1610954"/>
                </a:lnTo>
                <a:lnTo>
                  <a:pt x="7964704" y="1638000"/>
                </a:lnTo>
                <a:lnTo>
                  <a:pt x="7971391" y="1671119"/>
                </a:lnTo>
                <a:lnTo>
                  <a:pt x="7966124" y="1700648"/>
                </a:lnTo>
                <a:lnTo>
                  <a:pt x="7951586" y="1725677"/>
                </a:lnTo>
                <a:lnTo>
                  <a:pt x="7929666" y="1744317"/>
                </a:lnTo>
                <a:lnTo>
                  <a:pt x="7902257" y="1754683"/>
                </a:lnTo>
                <a:lnTo>
                  <a:pt x="7902257" y="3135339"/>
                </a:lnTo>
                <a:lnTo>
                  <a:pt x="7895988" y="3181989"/>
                </a:lnTo>
                <a:lnTo>
                  <a:pt x="7878297" y="3223910"/>
                </a:lnTo>
                <a:lnTo>
                  <a:pt x="7850857" y="3259426"/>
                </a:lnTo>
                <a:lnTo>
                  <a:pt x="7815340" y="3286867"/>
                </a:lnTo>
                <a:lnTo>
                  <a:pt x="7773420" y="3304557"/>
                </a:lnTo>
                <a:lnTo>
                  <a:pt x="7726769" y="3310826"/>
                </a:lnTo>
                <a:lnTo>
                  <a:pt x="6177821" y="3310826"/>
                </a:lnTo>
                <a:lnTo>
                  <a:pt x="6131170" y="3304557"/>
                </a:lnTo>
                <a:lnTo>
                  <a:pt x="6089250" y="3286867"/>
                </a:lnTo>
                <a:lnTo>
                  <a:pt x="6053733" y="3259426"/>
                </a:lnTo>
                <a:lnTo>
                  <a:pt x="6026293" y="3223910"/>
                </a:lnTo>
                <a:lnTo>
                  <a:pt x="6008602" y="3181989"/>
                </a:lnTo>
                <a:lnTo>
                  <a:pt x="6002334" y="3135339"/>
                </a:lnTo>
                <a:lnTo>
                  <a:pt x="6002334" y="1705203"/>
                </a:lnTo>
                <a:lnTo>
                  <a:pt x="5931788" y="1634649"/>
                </a:lnTo>
                <a:lnTo>
                  <a:pt x="5931788" y="1627080"/>
                </a:lnTo>
                <a:lnTo>
                  <a:pt x="5941128" y="1617731"/>
                </a:lnTo>
                <a:lnTo>
                  <a:pt x="5948706" y="1617731"/>
                </a:lnTo>
                <a:lnTo>
                  <a:pt x="6002334" y="1671366"/>
                </a:lnTo>
                <a:lnTo>
                  <a:pt x="6002334" y="176085"/>
                </a:lnTo>
                <a:lnTo>
                  <a:pt x="5994978" y="130595"/>
                </a:lnTo>
                <a:lnTo>
                  <a:pt x="5974502" y="91114"/>
                </a:lnTo>
                <a:lnTo>
                  <a:pt x="5943293" y="60020"/>
                </a:lnTo>
                <a:lnTo>
                  <a:pt x="5903736" y="39691"/>
                </a:lnTo>
                <a:lnTo>
                  <a:pt x="5858219" y="32505"/>
                </a:lnTo>
                <a:lnTo>
                  <a:pt x="4171760" y="38790"/>
                </a:lnTo>
                <a:lnTo>
                  <a:pt x="4126513" y="46243"/>
                </a:lnTo>
                <a:lnTo>
                  <a:pt x="4087241" y="66680"/>
                </a:lnTo>
                <a:lnTo>
                  <a:pt x="4056288" y="97749"/>
                </a:lnTo>
                <a:lnTo>
                  <a:pt x="4035998" y="137097"/>
                </a:lnTo>
                <a:lnTo>
                  <a:pt x="4028714" y="182371"/>
                </a:lnTo>
                <a:lnTo>
                  <a:pt x="4028714" y="1628109"/>
                </a:lnTo>
                <a:lnTo>
                  <a:pt x="4100209" y="1699604"/>
                </a:lnTo>
                <a:lnTo>
                  <a:pt x="4100209" y="1707174"/>
                </a:lnTo>
                <a:lnTo>
                  <a:pt x="4090868" y="1716522"/>
                </a:lnTo>
                <a:lnTo>
                  <a:pt x="4083290" y="1716522"/>
                </a:lnTo>
                <a:lnTo>
                  <a:pt x="4028714" y="1661946"/>
                </a:lnTo>
                <a:lnTo>
                  <a:pt x="4028714" y="3142223"/>
                </a:lnTo>
                <a:lnTo>
                  <a:pt x="4022414" y="3188987"/>
                </a:lnTo>
                <a:lnTo>
                  <a:pt x="4004641" y="3230987"/>
                </a:lnTo>
                <a:lnTo>
                  <a:pt x="3977082" y="3266541"/>
                </a:lnTo>
                <a:lnTo>
                  <a:pt x="3941426" y="3293967"/>
                </a:lnTo>
                <a:lnTo>
                  <a:pt x="3899360" y="3311584"/>
                </a:lnTo>
                <a:lnTo>
                  <a:pt x="3852572" y="3317710"/>
                </a:lnTo>
                <a:close/>
              </a:path>
            </a:pathLst>
          </a:custGeom>
          <a:solidFill>
            <a:srgbClr val="5757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3324971" y="18635158"/>
            <a:ext cx="1034415" cy="74168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1400" spc="75">
                <a:solidFill>
                  <a:srgbClr val="1B1B27"/>
                </a:solidFill>
                <a:latin typeface="Trebuchet MS"/>
                <a:cs typeface="Trebuchet MS"/>
              </a:rPr>
              <a:t>Open</a:t>
            </a:r>
            <a:r>
              <a:rPr dirty="0" sz="1400" spc="-5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1B1B27"/>
                </a:solidFill>
                <a:latin typeface="Trebuchet MS"/>
                <a:cs typeface="Trebuchet MS"/>
              </a:rPr>
              <a:t>Item</a:t>
            </a:r>
            <a:endParaRPr sz="1400">
              <a:latin typeface="Trebuchet MS"/>
              <a:cs typeface="Trebuchet MS"/>
            </a:endParaRPr>
          </a:p>
          <a:p>
            <a:pPr algn="ctr" marL="12065" marR="5080">
              <a:lnSpc>
                <a:spcPct val="104700"/>
              </a:lnSpc>
              <a:spcBef>
                <a:spcPts val="505"/>
              </a:spcBef>
            </a:pPr>
            <a:r>
              <a:rPr dirty="0" sz="1100">
                <a:solidFill>
                  <a:srgbClr val="3B3838"/>
                </a:solidFill>
                <a:latin typeface="Roboto"/>
                <a:cs typeface="Roboto"/>
              </a:rPr>
              <a:t>Receivable</a:t>
            </a:r>
            <a:r>
              <a:rPr dirty="0" sz="11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3B3838"/>
                </a:solidFill>
                <a:latin typeface="Roboto"/>
                <a:cs typeface="Roboto"/>
              </a:rPr>
              <a:t>item </a:t>
            </a:r>
            <a:r>
              <a:rPr dirty="0" sz="1100" spc="-10">
                <a:solidFill>
                  <a:srgbClr val="3B3838"/>
                </a:solidFill>
                <a:latin typeface="Roboto"/>
                <a:cs typeface="Roboto"/>
              </a:rPr>
              <a:t>created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274957" y="18635158"/>
            <a:ext cx="1095375" cy="74168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1400" spc="-10">
                <a:solidFill>
                  <a:srgbClr val="1B1B27"/>
                </a:solidFill>
                <a:latin typeface="Trebuchet MS"/>
                <a:cs typeface="Trebuchet MS"/>
              </a:rPr>
              <a:t>Clearing</a:t>
            </a:r>
            <a:endParaRPr sz="1400">
              <a:latin typeface="Trebuchet MS"/>
              <a:cs typeface="Trebuchet MS"/>
            </a:endParaRPr>
          </a:p>
          <a:p>
            <a:pPr algn="ctr" marL="12700" marR="5080">
              <a:lnSpc>
                <a:spcPct val="104700"/>
              </a:lnSpc>
              <a:spcBef>
                <a:spcPts val="505"/>
              </a:spcBef>
            </a:pPr>
            <a:r>
              <a:rPr dirty="0" sz="1100">
                <a:solidFill>
                  <a:srgbClr val="3B3838"/>
                </a:solidFill>
                <a:latin typeface="Roboto"/>
                <a:cs typeface="Roboto"/>
              </a:rPr>
              <a:t>Balance</a:t>
            </a:r>
            <a:r>
              <a:rPr dirty="0" sz="11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3B3838"/>
                </a:solidFill>
                <a:latin typeface="Roboto"/>
                <a:cs typeface="Roboto"/>
              </a:rPr>
              <a:t>updated </a:t>
            </a:r>
            <a:r>
              <a:rPr dirty="0" sz="11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11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3B3838"/>
                </a:solidFill>
                <a:latin typeface="Roboto"/>
                <a:cs typeface="Roboto"/>
              </a:rPr>
              <a:t>cleared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76375" y="16297898"/>
            <a:ext cx="1238885" cy="74930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1400">
                <a:solidFill>
                  <a:srgbClr val="1B1B27"/>
                </a:solidFill>
                <a:latin typeface="Trebuchet MS"/>
                <a:cs typeface="Trebuchet MS"/>
              </a:rPr>
              <a:t>Invoice</a:t>
            </a:r>
            <a:r>
              <a:rPr dirty="0" sz="1400" spc="9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400" spc="50">
                <a:solidFill>
                  <a:srgbClr val="1B1B27"/>
                </a:solidFill>
                <a:latin typeface="Trebuchet MS"/>
                <a:cs typeface="Trebuchet MS"/>
              </a:rPr>
              <a:t>Posted</a:t>
            </a:r>
            <a:endParaRPr sz="1400">
              <a:latin typeface="Trebuchet MS"/>
              <a:cs typeface="Trebuchet MS"/>
            </a:endParaRPr>
          </a:p>
          <a:p>
            <a:pPr algn="ctr" marL="63500" marR="55244">
              <a:lnSpc>
                <a:spcPct val="109400"/>
              </a:lnSpc>
              <a:spcBef>
                <a:spcPts val="440"/>
              </a:spcBef>
            </a:pPr>
            <a:r>
              <a:rPr dirty="0" sz="110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11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3B3838"/>
                </a:solidFill>
                <a:latin typeface="Roboto"/>
                <a:cs typeface="Roboto"/>
              </a:rPr>
              <a:t>invoice recorded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240200" y="16382654"/>
            <a:ext cx="1240155" cy="88773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algn="ctr" marL="233679" marR="226695">
              <a:lnSpc>
                <a:spcPct val="104700"/>
              </a:lnSpc>
              <a:spcBef>
                <a:spcPts val="35"/>
              </a:spcBef>
            </a:pPr>
            <a:r>
              <a:rPr dirty="0" sz="1400" spc="35">
                <a:solidFill>
                  <a:srgbClr val="1B1B27"/>
                </a:solidFill>
                <a:latin typeface="Trebuchet MS"/>
                <a:cs typeface="Trebuchet MS"/>
              </a:rPr>
              <a:t>Payment </a:t>
            </a:r>
            <a:r>
              <a:rPr dirty="0" sz="1400" spc="-10">
                <a:solidFill>
                  <a:srgbClr val="1B1B27"/>
                </a:solidFill>
                <a:latin typeface="Trebuchet MS"/>
                <a:cs typeface="Trebuchet MS"/>
              </a:rPr>
              <a:t>Received</a:t>
            </a:r>
            <a:endParaRPr sz="1400">
              <a:latin typeface="Trebuchet MS"/>
              <a:cs typeface="Trebuchet MS"/>
            </a:endParaRPr>
          </a:p>
          <a:p>
            <a:pPr algn="ctr" marL="12700" marR="5080">
              <a:lnSpc>
                <a:spcPct val="109400"/>
              </a:lnSpc>
              <a:spcBef>
                <a:spcPts val="440"/>
              </a:spcBef>
            </a:pPr>
            <a:r>
              <a:rPr dirty="0" sz="110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11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3B3838"/>
                </a:solidFill>
                <a:latin typeface="Roboto"/>
                <a:cs typeface="Roboto"/>
              </a:rPr>
              <a:t>payment applied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139" y="329628"/>
            <a:ext cx="2467610" cy="170180"/>
          </a:xfrm>
          <a:custGeom>
            <a:avLst/>
            <a:gdLst/>
            <a:ahLst/>
            <a:cxnLst/>
            <a:rect l="l" t="t" r="r" b="b"/>
            <a:pathLst>
              <a:path w="2467610" h="170179">
                <a:moveTo>
                  <a:pt x="0" y="140075"/>
                </a:moveTo>
                <a:lnTo>
                  <a:pt x="0" y="29633"/>
                </a:lnTo>
                <a:lnTo>
                  <a:pt x="0" y="25704"/>
                </a:lnTo>
                <a:lnTo>
                  <a:pt x="750" y="21925"/>
                </a:lnTo>
                <a:lnTo>
                  <a:pt x="2258" y="18296"/>
                </a:lnTo>
                <a:lnTo>
                  <a:pt x="3759" y="14660"/>
                </a:lnTo>
                <a:lnTo>
                  <a:pt x="5900" y="11455"/>
                </a:lnTo>
                <a:lnTo>
                  <a:pt x="8681" y="8681"/>
                </a:lnTo>
                <a:lnTo>
                  <a:pt x="11455" y="5900"/>
                </a:lnTo>
                <a:lnTo>
                  <a:pt x="14660" y="3759"/>
                </a:lnTo>
                <a:lnTo>
                  <a:pt x="18296" y="2258"/>
                </a:lnTo>
                <a:lnTo>
                  <a:pt x="21925" y="750"/>
                </a:lnTo>
                <a:lnTo>
                  <a:pt x="25704" y="0"/>
                </a:lnTo>
                <a:lnTo>
                  <a:pt x="29633" y="0"/>
                </a:lnTo>
                <a:lnTo>
                  <a:pt x="2437687" y="0"/>
                </a:lnTo>
                <a:lnTo>
                  <a:pt x="2441616" y="0"/>
                </a:lnTo>
                <a:lnTo>
                  <a:pt x="2445396" y="750"/>
                </a:lnTo>
                <a:lnTo>
                  <a:pt x="2449025" y="2258"/>
                </a:lnTo>
                <a:lnTo>
                  <a:pt x="2452660" y="3759"/>
                </a:lnTo>
                <a:lnTo>
                  <a:pt x="2455859" y="5900"/>
                </a:lnTo>
                <a:lnTo>
                  <a:pt x="2458639" y="8681"/>
                </a:lnTo>
                <a:lnTo>
                  <a:pt x="2461420" y="11455"/>
                </a:lnTo>
                <a:lnTo>
                  <a:pt x="2463561" y="14660"/>
                </a:lnTo>
                <a:lnTo>
                  <a:pt x="2465062" y="18296"/>
                </a:lnTo>
                <a:lnTo>
                  <a:pt x="2466570" y="21925"/>
                </a:lnTo>
                <a:lnTo>
                  <a:pt x="2467321" y="25704"/>
                </a:lnTo>
                <a:lnTo>
                  <a:pt x="2467321" y="29633"/>
                </a:lnTo>
                <a:lnTo>
                  <a:pt x="2467321" y="140075"/>
                </a:lnTo>
                <a:lnTo>
                  <a:pt x="2467321" y="144005"/>
                </a:lnTo>
                <a:lnTo>
                  <a:pt x="2466570" y="147784"/>
                </a:lnTo>
                <a:lnTo>
                  <a:pt x="2465062" y="151413"/>
                </a:lnTo>
                <a:lnTo>
                  <a:pt x="2463561" y="155049"/>
                </a:lnTo>
                <a:lnTo>
                  <a:pt x="2461420" y="158254"/>
                </a:lnTo>
                <a:lnTo>
                  <a:pt x="2458639" y="161028"/>
                </a:lnTo>
                <a:lnTo>
                  <a:pt x="2455859" y="163809"/>
                </a:lnTo>
                <a:lnTo>
                  <a:pt x="2452660" y="165950"/>
                </a:lnTo>
                <a:lnTo>
                  <a:pt x="2449025" y="167451"/>
                </a:lnTo>
                <a:lnTo>
                  <a:pt x="2445396" y="168959"/>
                </a:lnTo>
                <a:lnTo>
                  <a:pt x="2441616" y="169709"/>
                </a:lnTo>
                <a:lnTo>
                  <a:pt x="2437687" y="169709"/>
                </a:lnTo>
                <a:lnTo>
                  <a:pt x="29633" y="169709"/>
                </a:lnTo>
                <a:lnTo>
                  <a:pt x="25704" y="169709"/>
                </a:lnTo>
                <a:lnTo>
                  <a:pt x="21925" y="168959"/>
                </a:lnTo>
                <a:lnTo>
                  <a:pt x="18296" y="167451"/>
                </a:lnTo>
                <a:lnTo>
                  <a:pt x="14660" y="165950"/>
                </a:lnTo>
                <a:lnTo>
                  <a:pt x="11455" y="163809"/>
                </a:lnTo>
                <a:lnTo>
                  <a:pt x="8681" y="161028"/>
                </a:lnTo>
                <a:lnTo>
                  <a:pt x="5900" y="158254"/>
                </a:lnTo>
                <a:lnTo>
                  <a:pt x="3759" y="155049"/>
                </a:lnTo>
                <a:lnTo>
                  <a:pt x="2258" y="151413"/>
                </a:lnTo>
                <a:lnTo>
                  <a:pt x="750" y="147784"/>
                </a:lnTo>
                <a:lnTo>
                  <a:pt x="0" y="144005"/>
                </a:lnTo>
                <a:lnTo>
                  <a:pt x="0" y="140075"/>
                </a:lnTo>
                <a:close/>
              </a:path>
            </a:pathLst>
          </a:custGeom>
          <a:ln w="6527">
            <a:solidFill>
              <a:srgbClr val="1B1B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5650" y="330636"/>
            <a:ext cx="2359025" cy="138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10">
                <a:solidFill>
                  <a:srgbClr val="1B1B27"/>
                </a:solidFill>
                <a:latin typeface="Roboto"/>
                <a:cs typeface="Roboto"/>
              </a:rPr>
              <a:t>SECTIONS</a:t>
            </a:r>
            <a:r>
              <a:rPr dirty="0" sz="750" spc="-2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750" spc="-25">
                <a:solidFill>
                  <a:srgbClr val="1B1B27"/>
                </a:solidFill>
                <a:latin typeface="Roboto"/>
                <a:cs typeface="Roboto"/>
              </a:rPr>
              <a:t>7–</a:t>
            </a:r>
            <a:r>
              <a:rPr dirty="0" sz="750">
                <a:solidFill>
                  <a:srgbClr val="1B1B27"/>
                </a:solidFill>
                <a:latin typeface="Roboto"/>
                <a:cs typeface="Roboto"/>
              </a:rPr>
              <a:t>8</a:t>
            </a:r>
            <a:r>
              <a:rPr dirty="0" sz="750" spc="-2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750">
                <a:solidFill>
                  <a:srgbClr val="1B1B27"/>
                </a:solidFill>
                <a:latin typeface="Roboto"/>
                <a:cs typeface="Roboto"/>
              </a:rPr>
              <a:t>—</a:t>
            </a:r>
            <a:r>
              <a:rPr dirty="0" sz="750" spc="-2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1B1B27"/>
                </a:solidFill>
                <a:latin typeface="Roboto"/>
                <a:cs typeface="Roboto"/>
              </a:rPr>
              <a:t>ASSET</a:t>
            </a:r>
            <a:r>
              <a:rPr dirty="0" sz="750" spc="-3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1B1B27"/>
                </a:solidFill>
                <a:latin typeface="Roboto"/>
                <a:cs typeface="Roboto"/>
              </a:rPr>
              <a:t>ACCOUNTING</a:t>
            </a:r>
            <a:r>
              <a:rPr dirty="0" sz="750" spc="-2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750">
                <a:solidFill>
                  <a:srgbClr val="1B1B27"/>
                </a:solidFill>
                <a:latin typeface="Roboto"/>
                <a:cs typeface="Roboto"/>
              </a:rPr>
              <a:t>AND</a:t>
            </a:r>
            <a:r>
              <a:rPr dirty="0" sz="750" spc="-2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750">
                <a:solidFill>
                  <a:srgbClr val="1B1B27"/>
                </a:solidFill>
                <a:latin typeface="Roboto"/>
                <a:cs typeface="Roboto"/>
              </a:rPr>
              <a:t>CO</a:t>
            </a:r>
            <a:r>
              <a:rPr dirty="0" sz="750" spc="-1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1B1B27"/>
                </a:solidFill>
                <a:latin typeface="Roboto"/>
                <a:cs typeface="Roboto"/>
              </a:rPr>
              <a:t>ISSUES</a:t>
            </a:r>
            <a:endParaRPr sz="7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175" y="529066"/>
            <a:ext cx="6645909" cy="11068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85">
                <a:solidFill>
                  <a:srgbClr val="1B1B27"/>
                </a:solidFill>
                <a:latin typeface="Trebuchet MS"/>
                <a:cs typeface="Trebuchet MS"/>
              </a:rPr>
              <a:t>Asset</a:t>
            </a:r>
            <a:r>
              <a:rPr dirty="0" sz="2300" spc="-7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300" spc="70">
                <a:solidFill>
                  <a:srgbClr val="1B1B27"/>
                </a:solidFill>
                <a:latin typeface="Trebuchet MS"/>
                <a:cs typeface="Trebuchet MS"/>
              </a:rPr>
              <a:t>Accounting</a:t>
            </a:r>
            <a:r>
              <a:rPr dirty="0" sz="2300" spc="1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300" spc="85">
                <a:solidFill>
                  <a:srgbClr val="1B1B27"/>
                </a:solidFill>
                <a:latin typeface="Trebuchet MS"/>
                <a:cs typeface="Trebuchet MS"/>
              </a:rPr>
              <a:t>and</a:t>
            </a:r>
            <a:r>
              <a:rPr dirty="0" sz="2300" spc="1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B1B27"/>
                </a:solidFill>
                <a:latin typeface="Trebuchet MS"/>
                <a:cs typeface="Trebuchet MS"/>
              </a:rPr>
              <a:t>Controlling</a:t>
            </a:r>
            <a:r>
              <a:rPr dirty="0" sz="2300" spc="1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2300" spc="105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2300">
              <a:latin typeface="Trebuchet MS"/>
              <a:cs typeface="Trebuchet MS"/>
            </a:endParaRPr>
          </a:p>
          <a:p>
            <a:pPr marL="12700" marR="5080">
              <a:lnSpc>
                <a:spcPct val="135600"/>
              </a:lnSpc>
              <a:spcBef>
                <a:spcPts val="134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(AA)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Controlling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(CO)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two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important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areaз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within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FICO.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trackз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lifecycle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fixed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aззetз,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while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Controlling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handleз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internal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management.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Both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areaз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have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their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own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зet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common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require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зtructured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troubleзhooting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approach.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5175" y="1814946"/>
            <a:ext cx="2651125" cy="307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70">
                <a:solidFill>
                  <a:srgbClr val="1B1B27"/>
                </a:solidFill>
                <a:latin typeface="Trebuchet MS"/>
                <a:cs typeface="Trebuchet MS"/>
              </a:rPr>
              <a:t>Asset</a:t>
            </a:r>
            <a:r>
              <a:rPr dirty="0" sz="1850" spc="-1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850" spc="55">
                <a:solidFill>
                  <a:srgbClr val="1B1B27"/>
                </a:solidFill>
                <a:latin typeface="Trebuchet MS"/>
                <a:cs typeface="Trebuchet MS"/>
              </a:rPr>
              <a:t>Accounting</a:t>
            </a:r>
            <a:r>
              <a:rPr dirty="0" sz="1850" spc="-7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7875" y="2304138"/>
            <a:ext cx="6697345" cy="5039360"/>
            <a:chOff x="567875" y="2304138"/>
            <a:chExt cx="6697345" cy="5039360"/>
          </a:xfrm>
        </p:grpSpPr>
        <p:sp>
          <p:nvSpPr>
            <p:cNvPr id="7" name="object 7"/>
            <p:cNvSpPr/>
            <p:nvPr/>
          </p:nvSpPr>
          <p:spPr>
            <a:xfrm>
              <a:off x="571139" y="2307402"/>
              <a:ext cx="6690995" cy="5033010"/>
            </a:xfrm>
            <a:custGeom>
              <a:avLst/>
              <a:gdLst/>
              <a:ahLst/>
              <a:cxnLst/>
              <a:rect l="l" t="t" r="r" b="b"/>
              <a:pathLst>
                <a:path w="6690995" h="5033009">
                  <a:moveTo>
                    <a:pt x="0" y="4994694"/>
                  </a:moveTo>
                  <a:lnTo>
                    <a:pt x="0" y="37858"/>
                  </a:lnTo>
                  <a:lnTo>
                    <a:pt x="0" y="35371"/>
                  </a:lnTo>
                  <a:lnTo>
                    <a:pt x="241" y="32910"/>
                  </a:lnTo>
                  <a:lnTo>
                    <a:pt x="11089" y="11089"/>
                  </a:lnTo>
                  <a:lnTo>
                    <a:pt x="12845" y="9327"/>
                  </a:lnTo>
                  <a:lnTo>
                    <a:pt x="23367" y="2885"/>
                  </a:lnTo>
                  <a:lnTo>
                    <a:pt x="25665" y="1932"/>
                  </a:lnTo>
                  <a:lnTo>
                    <a:pt x="28034" y="1214"/>
                  </a:lnTo>
                  <a:lnTo>
                    <a:pt x="30469" y="724"/>
                  </a:lnTo>
                  <a:lnTo>
                    <a:pt x="32910" y="241"/>
                  </a:lnTo>
                  <a:lnTo>
                    <a:pt x="35371" y="0"/>
                  </a:lnTo>
                  <a:lnTo>
                    <a:pt x="37858" y="0"/>
                  </a:lnTo>
                  <a:lnTo>
                    <a:pt x="6652629" y="0"/>
                  </a:lnTo>
                  <a:lnTo>
                    <a:pt x="6655116" y="0"/>
                  </a:lnTo>
                  <a:lnTo>
                    <a:pt x="6657577" y="241"/>
                  </a:lnTo>
                  <a:lnTo>
                    <a:pt x="6660012" y="724"/>
                  </a:lnTo>
                  <a:lnTo>
                    <a:pt x="6662453" y="1214"/>
                  </a:lnTo>
                  <a:lnTo>
                    <a:pt x="6664822" y="1932"/>
                  </a:lnTo>
                  <a:lnTo>
                    <a:pt x="6667114" y="2885"/>
                  </a:lnTo>
                  <a:lnTo>
                    <a:pt x="6669411" y="3831"/>
                  </a:lnTo>
                  <a:lnTo>
                    <a:pt x="6679398" y="11089"/>
                  </a:lnTo>
                  <a:lnTo>
                    <a:pt x="6681154" y="12845"/>
                  </a:lnTo>
                  <a:lnTo>
                    <a:pt x="6687603" y="23367"/>
                  </a:lnTo>
                  <a:lnTo>
                    <a:pt x="6688556" y="25665"/>
                  </a:lnTo>
                  <a:lnTo>
                    <a:pt x="6689274" y="28034"/>
                  </a:lnTo>
                  <a:lnTo>
                    <a:pt x="6689763" y="30469"/>
                  </a:lnTo>
                  <a:lnTo>
                    <a:pt x="6690246" y="32910"/>
                  </a:lnTo>
                  <a:lnTo>
                    <a:pt x="6690488" y="35371"/>
                  </a:lnTo>
                  <a:lnTo>
                    <a:pt x="6690488" y="37858"/>
                  </a:lnTo>
                  <a:lnTo>
                    <a:pt x="6690488" y="4994694"/>
                  </a:lnTo>
                  <a:lnTo>
                    <a:pt x="6690488" y="4997181"/>
                  </a:lnTo>
                  <a:lnTo>
                    <a:pt x="6690246" y="4999641"/>
                  </a:lnTo>
                  <a:lnTo>
                    <a:pt x="6689763" y="5002076"/>
                  </a:lnTo>
                  <a:lnTo>
                    <a:pt x="6689274" y="5004517"/>
                  </a:lnTo>
                  <a:lnTo>
                    <a:pt x="6688556" y="5006887"/>
                  </a:lnTo>
                  <a:lnTo>
                    <a:pt x="6687603" y="5009178"/>
                  </a:lnTo>
                  <a:lnTo>
                    <a:pt x="6686656" y="5011476"/>
                  </a:lnTo>
                  <a:lnTo>
                    <a:pt x="6685488" y="5013662"/>
                  </a:lnTo>
                  <a:lnTo>
                    <a:pt x="6684104" y="5015725"/>
                  </a:lnTo>
                  <a:lnTo>
                    <a:pt x="6682727" y="5017794"/>
                  </a:lnTo>
                  <a:lnTo>
                    <a:pt x="6681154" y="5019706"/>
                  </a:lnTo>
                  <a:lnTo>
                    <a:pt x="6679398" y="5021462"/>
                  </a:lnTo>
                  <a:lnTo>
                    <a:pt x="6677642" y="5023218"/>
                  </a:lnTo>
                  <a:lnTo>
                    <a:pt x="6675730" y="5024791"/>
                  </a:lnTo>
                  <a:lnTo>
                    <a:pt x="6673660" y="5026168"/>
                  </a:lnTo>
                  <a:lnTo>
                    <a:pt x="6671591" y="5027552"/>
                  </a:lnTo>
                  <a:lnTo>
                    <a:pt x="6660012" y="5031821"/>
                  </a:lnTo>
                  <a:lnTo>
                    <a:pt x="6657577" y="5032311"/>
                  </a:lnTo>
                  <a:lnTo>
                    <a:pt x="6655116" y="5032552"/>
                  </a:lnTo>
                  <a:lnTo>
                    <a:pt x="6652629" y="5032552"/>
                  </a:lnTo>
                  <a:lnTo>
                    <a:pt x="37858" y="5032552"/>
                  </a:lnTo>
                  <a:lnTo>
                    <a:pt x="35371" y="5032552"/>
                  </a:lnTo>
                  <a:lnTo>
                    <a:pt x="32910" y="5032311"/>
                  </a:lnTo>
                  <a:lnTo>
                    <a:pt x="30469" y="5031821"/>
                  </a:lnTo>
                  <a:lnTo>
                    <a:pt x="28034" y="5031338"/>
                  </a:lnTo>
                  <a:lnTo>
                    <a:pt x="11089" y="5021462"/>
                  </a:lnTo>
                  <a:lnTo>
                    <a:pt x="9327" y="5019706"/>
                  </a:lnTo>
                  <a:lnTo>
                    <a:pt x="0" y="4997181"/>
                  </a:lnTo>
                  <a:lnTo>
                    <a:pt x="0" y="4994694"/>
                  </a:lnTo>
                  <a:close/>
                </a:path>
              </a:pathLst>
            </a:custGeom>
            <a:ln w="6527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74395" y="2310675"/>
              <a:ext cx="6684009" cy="346075"/>
            </a:xfrm>
            <a:custGeom>
              <a:avLst/>
              <a:gdLst/>
              <a:ahLst/>
              <a:cxnLst/>
              <a:rect l="l" t="t" r="r" b="b"/>
              <a:pathLst>
                <a:path w="6684009" h="346075">
                  <a:moveTo>
                    <a:pt x="6683959" y="35661"/>
                  </a:moveTo>
                  <a:lnTo>
                    <a:pt x="6653543" y="1041"/>
                  </a:lnTo>
                  <a:lnTo>
                    <a:pt x="6648297" y="0"/>
                  </a:ln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35674" y="0"/>
                  </a:lnTo>
                  <a:lnTo>
                    <a:pt x="30429" y="1041"/>
                  </a:lnTo>
                  <a:lnTo>
                    <a:pt x="1041" y="30416"/>
                  </a:lnTo>
                  <a:lnTo>
                    <a:pt x="0" y="35661"/>
                  </a:lnTo>
                  <a:lnTo>
                    <a:pt x="0" y="345948"/>
                  </a:lnTo>
                  <a:lnTo>
                    <a:pt x="1670989" y="345948"/>
                  </a:lnTo>
                  <a:lnTo>
                    <a:pt x="3341979" y="345948"/>
                  </a:lnTo>
                  <a:lnTo>
                    <a:pt x="5012969" y="345948"/>
                  </a:lnTo>
                  <a:lnTo>
                    <a:pt x="6683959" y="345948"/>
                  </a:lnTo>
                  <a:lnTo>
                    <a:pt x="6683959" y="35661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74395" y="2656623"/>
              <a:ext cx="6684009" cy="718185"/>
            </a:xfrm>
            <a:custGeom>
              <a:avLst/>
              <a:gdLst/>
              <a:ahLst/>
              <a:cxnLst/>
              <a:rect l="l" t="t" r="r" b="b"/>
              <a:pathLst>
                <a:path w="6684009" h="718185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717994"/>
                  </a:lnTo>
                  <a:lnTo>
                    <a:pt x="1670989" y="717994"/>
                  </a:lnTo>
                  <a:lnTo>
                    <a:pt x="3341979" y="717994"/>
                  </a:lnTo>
                  <a:lnTo>
                    <a:pt x="5012969" y="717994"/>
                  </a:lnTo>
                  <a:lnTo>
                    <a:pt x="6683959" y="717994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74395" y="3374617"/>
              <a:ext cx="6684009" cy="718185"/>
            </a:xfrm>
            <a:custGeom>
              <a:avLst/>
              <a:gdLst/>
              <a:ahLst/>
              <a:cxnLst/>
              <a:rect l="l" t="t" r="r" b="b"/>
              <a:pathLst>
                <a:path w="6684009" h="718185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718007"/>
                  </a:lnTo>
                  <a:lnTo>
                    <a:pt x="1670989" y="718007"/>
                  </a:lnTo>
                  <a:lnTo>
                    <a:pt x="3341979" y="718007"/>
                  </a:lnTo>
                  <a:lnTo>
                    <a:pt x="5012969" y="718007"/>
                  </a:lnTo>
                  <a:lnTo>
                    <a:pt x="6683959" y="718007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4395" y="4092625"/>
              <a:ext cx="6684009" cy="901065"/>
            </a:xfrm>
            <a:custGeom>
              <a:avLst/>
              <a:gdLst/>
              <a:ahLst/>
              <a:cxnLst/>
              <a:rect l="l" t="t" r="r" b="b"/>
              <a:pathLst>
                <a:path w="6684009" h="901064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900772"/>
                  </a:lnTo>
                  <a:lnTo>
                    <a:pt x="1670989" y="900772"/>
                  </a:lnTo>
                  <a:lnTo>
                    <a:pt x="3341979" y="900772"/>
                  </a:lnTo>
                  <a:lnTo>
                    <a:pt x="5012969" y="900772"/>
                  </a:lnTo>
                  <a:lnTo>
                    <a:pt x="6683959" y="900772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74395" y="4993398"/>
              <a:ext cx="6684009" cy="718185"/>
            </a:xfrm>
            <a:custGeom>
              <a:avLst/>
              <a:gdLst/>
              <a:ahLst/>
              <a:cxnLst/>
              <a:rect l="l" t="t" r="r" b="b"/>
              <a:pathLst>
                <a:path w="6684009" h="718185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717994"/>
                  </a:lnTo>
                  <a:lnTo>
                    <a:pt x="1670989" y="717994"/>
                  </a:lnTo>
                  <a:lnTo>
                    <a:pt x="3341979" y="717994"/>
                  </a:lnTo>
                  <a:lnTo>
                    <a:pt x="5012969" y="717994"/>
                  </a:lnTo>
                  <a:lnTo>
                    <a:pt x="6683959" y="717994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4395" y="5711392"/>
              <a:ext cx="6684009" cy="907415"/>
            </a:xfrm>
            <a:custGeom>
              <a:avLst/>
              <a:gdLst/>
              <a:ahLst/>
              <a:cxnLst/>
              <a:rect l="l" t="t" r="r" b="b"/>
              <a:pathLst>
                <a:path w="6684009" h="907415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907300"/>
                  </a:lnTo>
                  <a:lnTo>
                    <a:pt x="1670989" y="907300"/>
                  </a:lnTo>
                  <a:lnTo>
                    <a:pt x="3341979" y="907300"/>
                  </a:lnTo>
                  <a:lnTo>
                    <a:pt x="5012969" y="907300"/>
                  </a:lnTo>
                  <a:lnTo>
                    <a:pt x="6683959" y="907300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74395" y="6618693"/>
              <a:ext cx="6684009" cy="718185"/>
            </a:xfrm>
            <a:custGeom>
              <a:avLst/>
              <a:gdLst/>
              <a:ahLst/>
              <a:cxnLst/>
              <a:rect l="l" t="t" r="r" b="b"/>
              <a:pathLst>
                <a:path w="6684009" h="718184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682332"/>
                  </a:lnTo>
                  <a:lnTo>
                    <a:pt x="30429" y="716953"/>
                  </a:lnTo>
                  <a:lnTo>
                    <a:pt x="35674" y="718007"/>
                  </a:lnTo>
                  <a:lnTo>
                    <a:pt x="1670989" y="718007"/>
                  </a:lnTo>
                  <a:lnTo>
                    <a:pt x="3341979" y="718007"/>
                  </a:lnTo>
                  <a:lnTo>
                    <a:pt x="5012969" y="718007"/>
                  </a:lnTo>
                  <a:lnTo>
                    <a:pt x="6648297" y="718007"/>
                  </a:lnTo>
                  <a:lnTo>
                    <a:pt x="6653543" y="716953"/>
                  </a:lnTo>
                  <a:lnTo>
                    <a:pt x="6682918" y="687578"/>
                  </a:lnTo>
                  <a:lnTo>
                    <a:pt x="6683959" y="682332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79194" y="2389349"/>
            <a:ext cx="47117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-10" b="1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endParaRPr sz="9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53448" y="2389349"/>
            <a:ext cx="83820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900" spc="7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 b="1">
                <a:solidFill>
                  <a:srgbClr val="3B3838"/>
                </a:solidFill>
                <a:latin typeface="Roboto"/>
                <a:cs typeface="Roboto"/>
              </a:rPr>
              <a:t>Cause</a:t>
            </a:r>
            <a:endParaRPr sz="9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24438" y="2389349"/>
            <a:ext cx="1426845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r>
              <a:rPr dirty="0" sz="900" spc="15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 b="1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endParaRPr sz="90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95428" y="2389349"/>
            <a:ext cx="947419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900" spc="7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 b="1">
                <a:solidFill>
                  <a:srgbClr val="3B3838"/>
                </a:solidFill>
                <a:latin typeface="Roboto"/>
                <a:cs typeface="Roboto"/>
              </a:rPr>
              <a:t>Solution</a:t>
            </a:r>
            <a:endParaRPr sz="9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1894" y="2680467"/>
            <a:ext cx="1417955" cy="40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cannot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created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 poзted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66148" y="2680467"/>
            <a:ext cx="1243330" cy="59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claзз,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data,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authoriзation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37138" y="2680467"/>
            <a:ext cx="1188085" cy="59372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claзз</a:t>
            </a:r>
            <a:endParaRPr sz="900">
              <a:latin typeface="Roboto"/>
              <a:cs typeface="Roboto"/>
            </a:endParaRPr>
          </a:p>
          <a:p>
            <a:pPr marR="5080">
              <a:lnSpc>
                <a:spcPct val="138000"/>
              </a:lnSpc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uзer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authoriзationз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08128" y="2680467"/>
            <a:ext cx="1152525" cy="59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claзз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requeзt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appropriate authoriзation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9194" y="3398468"/>
            <a:ext cx="1169670" cy="40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9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depreciation poзted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53448" y="3398468"/>
            <a:ext cx="1264920" cy="59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9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depreciation</a:t>
            </a:r>
            <a:r>
              <a:rPr dirty="0" sz="9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key,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uзeful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life,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wrong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value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date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24438" y="3398468"/>
            <a:ext cx="1442085" cy="59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data;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depreciation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key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uзeful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life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зettingз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95428" y="3398468"/>
            <a:ext cx="1428750" cy="59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depreciation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key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uзeful</a:t>
            </a:r>
            <a:r>
              <a:rPr dirty="0" sz="9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life;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rerun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depreciation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if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permitted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1894" y="4116473"/>
            <a:ext cx="1415415" cy="40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Depreciation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poзted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aз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 expected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66148" y="4116473"/>
            <a:ext cx="1382395" cy="59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Depreciation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run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executed,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period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open,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37138" y="4116473"/>
            <a:ext cx="1246505" cy="78295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9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whether</a:t>
            </a:r>
            <a:endParaRPr sz="900">
              <a:latin typeface="Roboto"/>
              <a:cs typeface="Roboto"/>
            </a:endParaRPr>
          </a:p>
          <a:p>
            <a:pPr marR="5080">
              <a:lnSpc>
                <a:spcPct val="138000"/>
              </a:lnSpc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depreciation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run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waз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executed;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verify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poзting period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08128" y="4116473"/>
            <a:ext cx="1327150" cy="59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Execute</a:t>
            </a:r>
            <a:r>
              <a:rPr dirty="0" sz="9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depreciation</a:t>
            </a:r>
            <a:r>
              <a:rPr dirty="0" sz="9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run;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open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period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if</a:t>
            </a:r>
            <a:endParaRPr sz="9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required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9194" y="5072070"/>
            <a:ext cx="123317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acquiзition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53448" y="5023768"/>
            <a:ext cx="1377950" cy="59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acquiзition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date,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account,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integration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error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24438" y="5023768"/>
            <a:ext cx="1373505" cy="59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acquiзition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poзting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integration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зettingз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95428" y="5023768"/>
            <a:ext cx="1309370" cy="59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66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acquiзition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adjuзt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integration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1894" y="5790074"/>
            <a:ext cx="118491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retirement</a:t>
            </a:r>
            <a:r>
              <a:rPr dirty="0" sz="9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66148" y="5741773"/>
            <a:ext cx="1329690" cy="776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R="5080">
              <a:lnSpc>
                <a:spcPct val="136400"/>
              </a:lnSpc>
              <a:spcBef>
                <a:spcPts val="11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9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retirement</a:t>
            </a:r>
            <a:r>
              <a:rPr dirty="0" sz="9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date,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gain/loзз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account,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incomplete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retirement proceзз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37138" y="5741773"/>
            <a:ext cx="1104265" cy="77660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retirement</a:t>
            </a:r>
            <a:endParaRPr sz="900">
              <a:latin typeface="Roboto"/>
              <a:cs typeface="Roboto"/>
            </a:endParaRPr>
          </a:p>
          <a:p>
            <a:pPr marR="5080">
              <a:lnSpc>
                <a:spcPct val="138000"/>
              </a:lnSpc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check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gain/loзз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endParaRPr sz="9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59"/>
              </a:spcBef>
            </a:pP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08128" y="5741773"/>
            <a:ext cx="1288415" cy="59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Complete</a:t>
            </a:r>
            <a:r>
              <a:rPr dirty="0" sz="9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9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retirement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proceзз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correctly;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 adjuзt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accountз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if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needed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9194" y="6697370"/>
            <a:ext cx="124714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balance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53448" y="6649067"/>
            <a:ext cx="1419860" cy="587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12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Uncleared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acquiзition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poзtingз,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duplicate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entrieз,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depreciation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24438" y="6649067"/>
            <a:ext cx="1352550" cy="587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12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Run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balance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report;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compare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reconciliation</a:t>
            </a:r>
            <a:r>
              <a:rPr dirty="0" sz="9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695428" y="6649067"/>
            <a:ext cx="1350645" cy="587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Reconcile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balanceз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FI;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diзcrepancieз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522006" y="8248225"/>
            <a:ext cx="2847340" cy="1678939"/>
            <a:chOff x="2522006" y="8248225"/>
            <a:chExt cx="2847340" cy="1678939"/>
          </a:xfrm>
        </p:grpSpPr>
        <p:sp>
          <p:nvSpPr>
            <p:cNvPr id="44" name="object 44"/>
            <p:cNvSpPr/>
            <p:nvPr/>
          </p:nvSpPr>
          <p:spPr>
            <a:xfrm>
              <a:off x="2525676" y="8251922"/>
              <a:ext cx="1089025" cy="1089025"/>
            </a:xfrm>
            <a:custGeom>
              <a:avLst/>
              <a:gdLst/>
              <a:ahLst/>
              <a:cxnLst/>
              <a:rect l="l" t="t" r="r" b="b"/>
              <a:pathLst>
                <a:path w="1089025" h="1089025">
                  <a:moveTo>
                    <a:pt x="544489" y="1088965"/>
                  </a:moveTo>
                  <a:lnTo>
                    <a:pt x="0" y="544482"/>
                  </a:lnTo>
                  <a:lnTo>
                    <a:pt x="544489" y="0"/>
                  </a:lnTo>
                  <a:lnTo>
                    <a:pt x="1088972" y="544482"/>
                  </a:lnTo>
                  <a:lnTo>
                    <a:pt x="544489" y="1088965"/>
                  </a:lnTo>
                  <a:close/>
                </a:path>
              </a:pathLst>
            </a:custGeom>
            <a:solidFill>
              <a:srgbClr val="343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525678" y="8251923"/>
              <a:ext cx="1089025" cy="1089025"/>
            </a:xfrm>
            <a:custGeom>
              <a:avLst/>
              <a:gdLst/>
              <a:ahLst/>
              <a:cxnLst/>
              <a:rect l="l" t="t" r="r" b="b"/>
              <a:pathLst>
                <a:path w="1089025" h="1089025">
                  <a:moveTo>
                    <a:pt x="1088969" y="544481"/>
                  </a:moveTo>
                  <a:lnTo>
                    <a:pt x="544488" y="0"/>
                  </a:lnTo>
                  <a:lnTo>
                    <a:pt x="0" y="544481"/>
                  </a:lnTo>
                  <a:lnTo>
                    <a:pt x="544488" y="1088963"/>
                  </a:lnTo>
                </a:path>
              </a:pathLst>
            </a:custGeom>
            <a:ln w="7343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110902" y="8834516"/>
              <a:ext cx="1089025" cy="1089025"/>
            </a:xfrm>
            <a:custGeom>
              <a:avLst/>
              <a:gdLst/>
              <a:ahLst/>
              <a:cxnLst/>
              <a:rect l="l" t="t" r="r" b="b"/>
              <a:pathLst>
                <a:path w="1089025" h="1089025">
                  <a:moveTo>
                    <a:pt x="544489" y="1088965"/>
                  </a:moveTo>
                  <a:lnTo>
                    <a:pt x="0" y="544482"/>
                  </a:lnTo>
                  <a:lnTo>
                    <a:pt x="544489" y="0"/>
                  </a:lnTo>
                  <a:lnTo>
                    <a:pt x="1088972" y="544482"/>
                  </a:lnTo>
                  <a:lnTo>
                    <a:pt x="544489" y="1088965"/>
                  </a:lnTo>
                  <a:close/>
                </a:path>
              </a:pathLst>
            </a:custGeom>
            <a:solidFill>
              <a:srgbClr val="4747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110904" y="8834517"/>
              <a:ext cx="1089025" cy="1089025"/>
            </a:xfrm>
            <a:custGeom>
              <a:avLst/>
              <a:gdLst/>
              <a:ahLst/>
              <a:cxnLst/>
              <a:rect l="l" t="t" r="r" b="b"/>
              <a:pathLst>
                <a:path w="1089025" h="1089025">
                  <a:moveTo>
                    <a:pt x="1088969" y="544481"/>
                  </a:moveTo>
                  <a:lnTo>
                    <a:pt x="544481" y="0"/>
                  </a:lnTo>
                  <a:lnTo>
                    <a:pt x="0" y="544481"/>
                  </a:lnTo>
                  <a:lnTo>
                    <a:pt x="544481" y="1088963"/>
                  </a:lnTo>
                </a:path>
              </a:pathLst>
            </a:custGeom>
            <a:ln w="7343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276143" y="8834516"/>
              <a:ext cx="1089025" cy="1089025"/>
            </a:xfrm>
            <a:custGeom>
              <a:avLst/>
              <a:gdLst/>
              <a:ahLst/>
              <a:cxnLst/>
              <a:rect l="l" t="t" r="r" b="b"/>
              <a:pathLst>
                <a:path w="1089025" h="1089025">
                  <a:moveTo>
                    <a:pt x="544489" y="1088965"/>
                  </a:moveTo>
                  <a:lnTo>
                    <a:pt x="0" y="544482"/>
                  </a:lnTo>
                  <a:lnTo>
                    <a:pt x="544489" y="0"/>
                  </a:lnTo>
                  <a:lnTo>
                    <a:pt x="1088972" y="544482"/>
                  </a:lnTo>
                  <a:lnTo>
                    <a:pt x="544489" y="1088965"/>
                  </a:lnTo>
                  <a:close/>
                </a:path>
              </a:pathLst>
            </a:custGeom>
            <a:solidFill>
              <a:srgbClr val="5B5B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276145" y="8834517"/>
              <a:ext cx="1089025" cy="1089025"/>
            </a:xfrm>
            <a:custGeom>
              <a:avLst/>
              <a:gdLst/>
              <a:ahLst/>
              <a:cxnLst/>
              <a:rect l="l" t="t" r="r" b="b"/>
              <a:pathLst>
                <a:path w="1089025" h="1089025">
                  <a:moveTo>
                    <a:pt x="1088969" y="544481"/>
                  </a:moveTo>
                  <a:lnTo>
                    <a:pt x="544488" y="0"/>
                  </a:lnTo>
                  <a:lnTo>
                    <a:pt x="0" y="544481"/>
                  </a:lnTo>
                  <a:lnTo>
                    <a:pt x="544488" y="1088963"/>
                  </a:lnTo>
                </a:path>
              </a:pathLst>
            </a:custGeom>
            <a:ln w="7343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693536" y="8251895"/>
              <a:ext cx="1089025" cy="1089025"/>
            </a:xfrm>
            <a:custGeom>
              <a:avLst/>
              <a:gdLst/>
              <a:ahLst/>
              <a:cxnLst/>
              <a:rect l="l" t="t" r="r" b="b"/>
              <a:pathLst>
                <a:path w="1089025" h="1089025">
                  <a:moveTo>
                    <a:pt x="544489" y="1088965"/>
                  </a:moveTo>
                  <a:lnTo>
                    <a:pt x="0" y="544482"/>
                  </a:lnTo>
                  <a:lnTo>
                    <a:pt x="544489" y="0"/>
                  </a:lnTo>
                  <a:lnTo>
                    <a:pt x="1088972" y="544482"/>
                  </a:lnTo>
                  <a:lnTo>
                    <a:pt x="544489" y="1088965"/>
                  </a:lnTo>
                  <a:close/>
                </a:path>
              </a:pathLst>
            </a:custGeom>
            <a:solidFill>
              <a:srgbClr val="7070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693537" y="8251896"/>
              <a:ext cx="1089025" cy="1089025"/>
            </a:xfrm>
            <a:custGeom>
              <a:avLst/>
              <a:gdLst/>
              <a:ahLst/>
              <a:cxnLst/>
              <a:rect l="l" t="t" r="r" b="b"/>
              <a:pathLst>
                <a:path w="1089025" h="1089025">
                  <a:moveTo>
                    <a:pt x="1088969" y="544481"/>
                  </a:moveTo>
                  <a:lnTo>
                    <a:pt x="544488" y="0"/>
                  </a:lnTo>
                  <a:lnTo>
                    <a:pt x="0" y="544481"/>
                  </a:lnTo>
                  <a:lnTo>
                    <a:pt x="544488" y="1088963"/>
                  </a:lnTo>
                </a:path>
              </a:pathLst>
            </a:custGeom>
            <a:ln w="7343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1825850" y="9693181"/>
            <a:ext cx="1405890" cy="6330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695"/>
              </a:spcBef>
            </a:pPr>
            <a:r>
              <a:rPr dirty="0" sz="1150" spc="65">
                <a:solidFill>
                  <a:srgbClr val="1B1B27"/>
                </a:solidFill>
                <a:latin typeface="Trebuchet MS"/>
                <a:cs typeface="Trebuchet MS"/>
              </a:rPr>
              <a:t>Asset</a:t>
            </a:r>
            <a:r>
              <a:rPr dirty="0" sz="1150" spc="-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50">
                <a:solidFill>
                  <a:srgbClr val="1B1B27"/>
                </a:solidFill>
                <a:latin typeface="Trebuchet MS"/>
                <a:cs typeface="Trebuchet MS"/>
              </a:rPr>
              <a:t>Master</a:t>
            </a:r>
            <a:r>
              <a:rPr dirty="0" sz="1150" spc="-6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60">
                <a:solidFill>
                  <a:srgbClr val="1B1B27"/>
                </a:solidFill>
                <a:latin typeface="Trebuchet MS"/>
                <a:cs typeface="Trebuchet MS"/>
              </a:rPr>
              <a:t>Check</a:t>
            </a:r>
            <a:endParaRPr sz="115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455"/>
              </a:spcBef>
            </a:pP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Verify</a:t>
            </a:r>
            <a:r>
              <a:rPr dirty="0" sz="9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maзter recordз </a:t>
            </a:r>
            <a:r>
              <a:rPr dirty="0" sz="95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endParaRPr sz="95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75"/>
              </a:spcBef>
            </a:pP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claззificationз.</a:t>
            </a:r>
            <a:endParaRPr sz="950">
              <a:latin typeface="Roboto"/>
              <a:cs typeface="Robo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66476" y="7764441"/>
            <a:ext cx="1576070" cy="6330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33985">
              <a:lnSpc>
                <a:spcPct val="100000"/>
              </a:lnSpc>
              <a:spcBef>
                <a:spcPts val="695"/>
              </a:spcBef>
            </a:pPr>
            <a:r>
              <a:rPr dirty="0" sz="1150" spc="10">
                <a:solidFill>
                  <a:srgbClr val="1B1B27"/>
                </a:solidFill>
                <a:latin typeface="Trebuchet MS"/>
                <a:cs typeface="Trebuchet MS"/>
              </a:rPr>
              <a:t>Depreciation</a:t>
            </a:r>
            <a:r>
              <a:rPr dirty="0" sz="1150" spc="2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B1B27"/>
                </a:solidFill>
                <a:latin typeface="Trebuchet MS"/>
                <a:cs typeface="Trebuchet MS"/>
              </a:rPr>
              <a:t>Review</a:t>
            </a:r>
            <a:endParaRPr sz="115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455"/>
              </a:spcBef>
            </a:pPr>
            <a:r>
              <a:rPr dirty="0" sz="950">
                <a:solidFill>
                  <a:srgbClr val="3B3838"/>
                </a:solidFill>
                <a:latin typeface="Roboto"/>
                <a:cs typeface="Roboto"/>
              </a:rPr>
              <a:t>Confirm</a:t>
            </a:r>
            <a:r>
              <a:rPr dirty="0" sz="9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calculation</a:t>
            </a:r>
            <a:r>
              <a:rPr dirty="0" sz="9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keyз </a:t>
            </a:r>
            <a:r>
              <a:rPr dirty="0" sz="95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endParaRPr sz="95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75"/>
              </a:spcBef>
            </a:pP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areaз.</a:t>
            </a:r>
            <a:endParaRPr sz="950">
              <a:latin typeface="Roboto"/>
              <a:cs typeface="Robo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619135" y="7764441"/>
            <a:ext cx="1490345" cy="6330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150" spc="55">
                <a:solidFill>
                  <a:srgbClr val="1B1B27"/>
                </a:solidFill>
                <a:latin typeface="Trebuchet MS"/>
                <a:cs typeface="Trebuchet MS"/>
              </a:rPr>
              <a:t>Posting</a:t>
            </a:r>
            <a:r>
              <a:rPr dirty="0" sz="1150" spc="-8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B1B27"/>
                </a:solidFill>
                <a:latin typeface="Trebuchet MS"/>
                <a:cs typeface="Trebuchet MS"/>
              </a:rPr>
              <a:t>Verification</a:t>
            </a:r>
            <a:endParaRPr sz="1150">
              <a:latin typeface="Trebuchet MS"/>
              <a:cs typeface="Trebuchet MS"/>
            </a:endParaRPr>
          </a:p>
          <a:p>
            <a:pPr marL="12700" marR="5080">
              <a:lnSpc>
                <a:spcPct val="106400"/>
              </a:lnSpc>
              <a:spcBef>
                <a:spcPts val="380"/>
              </a:spcBef>
            </a:pP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Enзure</a:t>
            </a:r>
            <a:r>
              <a:rPr dirty="0" sz="95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poзted</a:t>
            </a:r>
            <a:r>
              <a:rPr dirty="0" sz="95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50" spc="-20">
                <a:solidFill>
                  <a:srgbClr val="3B3838"/>
                </a:solidFill>
                <a:latin typeface="Roboto"/>
                <a:cs typeface="Roboto"/>
              </a:rPr>
              <a:t>tranзactionз </a:t>
            </a:r>
            <a:r>
              <a:rPr dirty="0" sz="950">
                <a:solidFill>
                  <a:srgbClr val="3B3838"/>
                </a:solidFill>
                <a:latin typeface="Roboto"/>
                <a:cs typeface="Roboto"/>
              </a:rPr>
              <a:t>match</a:t>
            </a:r>
            <a:r>
              <a:rPr dirty="0" sz="950" spc="-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documentз.</a:t>
            </a:r>
            <a:endParaRPr sz="950">
              <a:latin typeface="Roboto"/>
              <a:cs typeface="Robot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188382" y="9693181"/>
            <a:ext cx="1603375" cy="6330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150" spc="55">
                <a:solidFill>
                  <a:srgbClr val="1B1B27"/>
                </a:solidFill>
                <a:latin typeface="Trebuchet MS"/>
                <a:cs typeface="Trebuchet MS"/>
              </a:rPr>
              <a:t>Balance</a:t>
            </a:r>
            <a:r>
              <a:rPr dirty="0" sz="1150" spc="-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B1B27"/>
                </a:solidFill>
                <a:latin typeface="Trebuchet MS"/>
                <a:cs typeface="Trebuchet MS"/>
              </a:rPr>
              <a:t>Reconciliation</a:t>
            </a:r>
            <a:endParaRPr sz="1150">
              <a:latin typeface="Trebuchet MS"/>
              <a:cs typeface="Trebuchet MS"/>
            </a:endParaRPr>
          </a:p>
          <a:p>
            <a:pPr marL="12700" marR="62230">
              <a:lnSpc>
                <a:spcPct val="106400"/>
              </a:lnSpc>
              <a:spcBef>
                <a:spcPts val="380"/>
              </a:spcBef>
            </a:pPr>
            <a:r>
              <a:rPr dirty="0" sz="950">
                <a:solidFill>
                  <a:srgbClr val="3B3838"/>
                </a:solidFill>
                <a:latin typeface="Roboto"/>
                <a:cs typeface="Roboto"/>
              </a:rPr>
              <a:t>Reconcile</a:t>
            </a: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50">
                <a:solidFill>
                  <a:srgbClr val="3B3838"/>
                </a:solidFill>
                <a:latin typeface="Roboto"/>
                <a:cs typeface="Roboto"/>
              </a:rPr>
              <a:t>AA</a:t>
            </a: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 ledgerз with</a:t>
            </a:r>
            <a:r>
              <a:rPr dirty="0" sz="95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50" spc="-25">
                <a:solidFill>
                  <a:srgbClr val="3B3838"/>
                </a:solidFill>
                <a:latin typeface="Roboto"/>
                <a:cs typeface="Roboto"/>
              </a:rPr>
              <a:t>FI </a:t>
            </a:r>
            <a:r>
              <a:rPr dirty="0" sz="950" spc="-10">
                <a:solidFill>
                  <a:srgbClr val="3B3838"/>
                </a:solidFill>
                <a:latin typeface="Roboto"/>
                <a:cs typeface="Roboto"/>
              </a:rPr>
              <a:t>balanceз.</a:t>
            </a:r>
            <a:endParaRPr sz="950">
              <a:latin typeface="Roboto"/>
              <a:cs typeface="Robot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55175" y="10861789"/>
            <a:ext cx="6643370" cy="845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14">
                <a:solidFill>
                  <a:srgbClr val="1B1B27"/>
                </a:solidFill>
                <a:latin typeface="Trebuchet MS"/>
                <a:cs typeface="Trebuchet MS"/>
              </a:rPr>
              <a:t>Common</a:t>
            </a:r>
            <a:r>
              <a:rPr dirty="0" sz="1850" spc="-7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850" spc="135">
                <a:solidFill>
                  <a:srgbClr val="1B1B27"/>
                </a:solidFill>
                <a:latin typeface="Trebuchet MS"/>
                <a:cs typeface="Trebuchet MS"/>
              </a:rPr>
              <a:t>CO</a:t>
            </a:r>
            <a:r>
              <a:rPr dirty="0" sz="1850" spc="-7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1850">
              <a:latin typeface="Trebuchet MS"/>
              <a:cs typeface="Trebuchet MS"/>
            </a:endParaRPr>
          </a:p>
          <a:p>
            <a:pPr marL="12700" marR="5080">
              <a:lnSpc>
                <a:spcPct val="138000"/>
              </a:lnSpc>
              <a:spcBef>
                <a:spcPts val="125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Controlling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(CO)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often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relate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aззignmentз,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allocationз,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reporting.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Since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cloзely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integrated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FI,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many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originate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problemз.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67875" y="11860114"/>
            <a:ext cx="6697345" cy="4850130"/>
            <a:chOff x="567875" y="11860114"/>
            <a:chExt cx="6697345" cy="4850130"/>
          </a:xfrm>
        </p:grpSpPr>
        <p:sp>
          <p:nvSpPr>
            <p:cNvPr id="58" name="object 58"/>
            <p:cNvSpPr/>
            <p:nvPr/>
          </p:nvSpPr>
          <p:spPr>
            <a:xfrm>
              <a:off x="571139" y="11863377"/>
              <a:ext cx="6690995" cy="4843780"/>
            </a:xfrm>
            <a:custGeom>
              <a:avLst/>
              <a:gdLst/>
              <a:ahLst/>
              <a:cxnLst/>
              <a:rect l="l" t="t" r="r" b="b"/>
              <a:pathLst>
                <a:path w="6690995" h="4843780">
                  <a:moveTo>
                    <a:pt x="0" y="4805402"/>
                  </a:moveTo>
                  <a:lnTo>
                    <a:pt x="0" y="37858"/>
                  </a:lnTo>
                  <a:lnTo>
                    <a:pt x="0" y="35371"/>
                  </a:lnTo>
                  <a:lnTo>
                    <a:pt x="241" y="32910"/>
                  </a:lnTo>
                  <a:lnTo>
                    <a:pt x="11089" y="11089"/>
                  </a:lnTo>
                  <a:lnTo>
                    <a:pt x="12845" y="9327"/>
                  </a:lnTo>
                  <a:lnTo>
                    <a:pt x="35371" y="0"/>
                  </a:lnTo>
                  <a:lnTo>
                    <a:pt x="37858" y="0"/>
                  </a:lnTo>
                  <a:lnTo>
                    <a:pt x="6652629" y="0"/>
                  </a:lnTo>
                  <a:lnTo>
                    <a:pt x="6655116" y="0"/>
                  </a:lnTo>
                  <a:lnTo>
                    <a:pt x="6657577" y="241"/>
                  </a:lnTo>
                  <a:lnTo>
                    <a:pt x="6679398" y="11089"/>
                  </a:lnTo>
                  <a:lnTo>
                    <a:pt x="6681154" y="12845"/>
                  </a:lnTo>
                  <a:lnTo>
                    <a:pt x="6687603" y="23367"/>
                  </a:lnTo>
                  <a:lnTo>
                    <a:pt x="6688556" y="25665"/>
                  </a:lnTo>
                  <a:lnTo>
                    <a:pt x="6689274" y="28034"/>
                  </a:lnTo>
                  <a:lnTo>
                    <a:pt x="6689763" y="30469"/>
                  </a:lnTo>
                  <a:lnTo>
                    <a:pt x="6690246" y="32910"/>
                  </a:lnTo>
                  <a:lnTo>
                    <a:pt x="6690488" y="35371"/>
                  </a:lnTo>
                  <a:lnTo>
                    <a:pt x="6690488" y="37858"/>
                  </a:lnTo>
                  <a:lnTo>
                    <a:pt x="6690488" y="4805402"/>
                  </a:lnTo>
                  <a:lnTo>
                    <a:pt x="6690488" y="4807889"/>
                  </a:lnTo>
                  <a:lnTo>
                    <a:pt x="6690246" y="4810350"/>
                  </a:lnTo>
                  <a:lnTo>
                    <a:pt x="6689763" y="4812784"/>
                  </a:lnTo>
                  <a:lnTo>
                    <a:pt x="6689274" y="4815226"/>
                  </a:lnTo>
                  <a:lnTo>
                    <a:pt x="6688556" y="4817588"/>
                  </a:lnTo>
                  <a:lnTo>
                    <a:pt x="6687603" y="4819886"/>
                  </a:lnTo>
                  <a:lnTo>
                    <a:pt x="6686656" y="4822184"/>
                  </a:lnTo>
                  <a:lnTo>
                    <a:pt x="6685488" y="4824364"/>
                  </a:lnTo>
                  <a:lnTo>
                    <a:pt x="6684104" y="4826433"/>
                  </a:lnTo>
                  <a:lnTo>
                    <a:pt x="6682727" y="4828502"/>
                  </a:lnTo>
                  <a:lnTo>
                    <a:pt x="6681154" y="4830415"/>
                  </a:lnTo>
                  <a:lnTo>
                    <a:pt x="6679398" y="4832170"/>
                  </a:lnTo>
                  <a:lnTo>
                    <a:pt x="6677642" y="4833926"/>
                  </a:lnTo>
                  <a:lnTo>
                    <a:pt x="6675730" y="4835493"/>
                  </a:lnTo>
                  <a:lnTo>
                    <a:pt x="6673660" y="4836877"/>
                  </a:lnTo>
                  <a:lnTo>
                    <a:pt x="6671591" y="4838260"/>
                  </a:lnTo>
                  <a:lnTo>
                    <a:pt x="6660012" y="4842529"/>
                  </a:lnTo>
                  <a:lnTo>
                    <a:pt x="6657577" y="4843019"/>
                  </a:lnTo>
                  <a:lnTo>
                    <a:pt x="6655116" y="4843260"/>
                  </a:lnTo>
                  <a:lnTo>
                    <a:pt x="6652629" y="4843260"/>
                  </a:lnTo>
                  <a:lnTo>
                    <a:pt x="37858" y="4843260"/>
                  </a:lnTo>
                  <a:lnTo>
                    <a:pt x="35371" y="4843260"/>
                  </a:lnTo>
                  <a:lnTo>
                    <a:pt x="32910" y="4843019"/>
                  </a:lnTo>
                  <a:lnTo>
                    <a:pt x="30469" y="4842529"/>
                  </a:lnTo>
                  <a:lnTo>
                    <a:pt x="28034" y="4842046"/>
                  </a:lnTo>
                  <a:lnTo>
                    <a:pt x="16827" y="4836877"/>
                  </a:lnTo>
                  <a:lnTo>
                    <a:pt x="14758" y="4835499"/>
                  </a:lnTo>
                  <a:lnTo>
                    <a:pt x="12845" y="4833926"/>
                  </a:lnTo>
                  <a:lnTo>
                    <a:pt x="11089" y="4832170"/>
                  </a:lnTo>
                  <a:lnTo>
                    <a:pt x="9327" y="4830415"/>
                  </a:lnTo>
                  <a:lnTo>
                    <a:pt x="0" y="4807889"/>
                  </a:lnTo>
                  <a:lnTo>
                    <a:pt x="0" y="4805402"/>
                  </a:lnTo>
                  <a:close/>
                </a:path>
              </a:pathLst>
            </a:custGeom>
            <a:ln w="6527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74395" y="11866651"/>
              <a:ext cx="6684009" cy="339725"/>
            </a:xfrm>
            <a:custGeom>
              <a:avLst/>
              <a:gdLst/>
              <a:ahLst/>
              <a:cxnLst/>
              <a:rect l="l" t="t" r="r" b="b"/>
              <a:pathLst>
                <a:path w="6684009" h="339725">
                  <a:moveTo>
                    <a:pt x="6683959" y="35661"/>
                  </a:moveTo>
                  <a:lnTo>
                    <a:pt x="6653543" y="1041"/>
                  </a:lnTo>
                  <a:lnTo>
                    <a:pt x="6648297" y="0"/>
                  </a:ln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35674" y="0"/>
                  </a:lnTo>
                  <a:lnTo>
                    <a:pt x="30429" y="1041"/>
                  </a:lnTo>
                  <a:lnTo>
                    <a:pt x="1041" y="30416"/>
                  </a:lnTo>
                  <a:lnTo>
                    <a:pt x="0" y="35661"/>
                  </a:lnTo>
                  <a:lnTo>
                    <a:pt x="0" y="339420"/>
                  </a:lnTo>
                  <a:lnTo>
                    <a:pt x="1670989" y="339420"/>
                  </a:lnTo>
                  <a:lnTo>
                    <a:pt x="3341979" y="339420"/>
                  </a:lnTo>
                  <a:lnTo>
                    <a:pt x="5012969" y="339420"/>
                  </a:lnTo>
                  <a:lnTo>
                    <a:pt x="6683959" y="339420"/>
                  </a:lnTo>
                  <a:lnTo>
                    <a:pt x="6683959" y="35661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74395" y="12206071"/>
              <a:ext cx="6684009" cy="718185"/>
            </a:xfrm>
            <a:custGeom>
              <a:avLst/>
              <a:gdLst/>
              <a:ahLst/>
              <a:cxnLst/>
              <a:rect l="l" t="t" r="r" b="b"/>
              <a:pathLst>
                <a:path w="6684009" h="718184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717994"/>
                  </a:lnTo>
                  <a:lnTo>
                    <a:pt x="1670989" y="717994"/>
                  </a:lnTo>
                  <a:lnTo>
                    <a:pt x="3341979" y="717994"/>
                  </a:lnTo>
                  <a:lnTo>
                    <a:pt x="5012969" y="717994"/>
                  </a:lnTo>
                  <a:lnTo>
                    <a:pt x="6683959" y="717994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74395" y="12924065"/>
              <a:ext cx="6684009" cy="718185"/>
            </a:xfrm>
            <a:custGeom>
              <a:avLst/>
              <a:gdLst/>
              <a:ahLst/>
              <a:cxnLst/>
              <a:rect l="l" t="t" r="r" b="b"/>
              <a:pathLst>
                <a:path w="6684009" h="718184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718007"/>
                  </a:lnTo>
                  <a:lnTo>
                    <a:pt x="1670989" y="718007"/>
                  </a:lnTo>
                  <a:lnTo>
                    <a:pt x="3341979" y="718007"/>
                  </a:lnTo>
                  <a:lnTo>
                    <a:pt x="5012969" y="718007"/>
                  </a:lnTo>
                  <a:lnTo>
                    <a:pt x="6683959" y="718007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74395" y="13642073"/>
              <a:ext cx="6684009" cy="718185"/>
            </a:xfrm>
            <a:custGeom>
              <a:avLst/>
              <a:gdLst/>
              <a:ahLst/>
              <a:cxnLst/>
              <a:rect l="l" t="t" r="r" b="b"/>
              <a:pathLst>
                <a:path w="6684009" h="718184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718007"/>
                  </a:lnTo>
                  <a:lnTo>
                    <a:pt x="1670989" y="718007"/>
                  </a:lnTo>
                  <a:lnTo>
                    <a:pt x="3341979" y="718007"/>
                  </a:lnTo>
                  <a:lnTo>
                    <a:pt x="5012969" y="718007"/>
                  </a:lnTo>
                  <a:lnTo>
                    <a:pt x="6683959" y="718007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74395" y="14360080"/>
              <a:ext cx="6684009" cy="718185"/>
            </a:xfrm>
            <a:custGeom>
              <a:avLst/>
              <a:gdLst/>
              <a:ahLst/>
              <a:cxnLst/>
              <a:rect l="l" t="t" r="r" b="b"/>
              <a:pathLst>
                <a:path w="6684009" h="718184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718007"/>
                  </a:lnTo>
                  <a:lnTo>
                    <a:pt x="1670989" y="718007"/>
                  </a:lnTo>
                  <a:lnTo>
                    <a:pt x="3341979" y="718007"/>
                  </a:lnTo>
                  <a:lnTo>
                    <a:pt x="5012969" y="718007"/>
                  </a:lnTo>
                  <a:lnTo>
                    <a:pt x="6683959" y="718007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74395" y="15078087"/>
              <a:ext cx="6684009" cy="907415"/>
            </a:xfrm>
            <a:custGeom>
              <a:avLst/>
              <a:gdLst/>
              <a:ahLst/>
              <a:cxnLst/>
              <a:rect l="l" t="t" r="r" b="b"/>
              <a:pathLst>
                <a:path w="6684009" h="907415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907288"/>
                  </a:lnTo>
                  <a:lnTo>
                    <a:pt x="1670989" y="907288"/>
                  </a:lnTo>
                  <a:lnTo>
                    <a:pt x="3341979" y="907288"/>
                  </a:lnTo>
                  <a:lnTo>
                    <a:pt x="5012969" y="907288"/>
                  </a:lnTo>
                  <a:lnTo>
                    <a:pt x="6683959" y="907288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74395" y="15985375"/>
              <a:ext cx="6684009" cy="718185"/>
            </a:xfrm>
            <a:custGeom>
              <a:avLst/>
              <a:gdLst/>
              <a:ahLst/>
              <a:cxnLst/>
              <a:rect l="l" t="t" r="r" b="b"/>
              <a:pathLst>
                <a:path w="6684009" h="718184">
                  <a:moveTo>
                    <a:pt x="6683959" y="0"/>
                  </a:moveTo>
                  <a:lnTo>
                    <a:pt x="5012969" y="0"/>
                  </a:lnTo>
                  <a:lnTo>
                    <a:pt x="3341979" y="0"/>
                  </a:lnTo>
                  <a:lnTo>
                    <a:pt x="1670989" y="0"/>
                  </a:lnTo>
                  <a:lnTo>
                    <a:pt x="0" y="0"/>
                  </a:lnTo>
                  <a:lnTo>
                    <a:pt x="0" y="682332"/>
                  </a:lnTo>
                  <a:lnTo>
                    <a:pt x="30429" y="716965"/>
                  </a:lnTo>
                  <a:lnTo>
                    <a:pt x="35674" y="718007"/>
                  </a:lnTo>
                  <a:lnTo>
                    <a:pt x="1670989" y="718007"/>
                  </a:lnTo>
                  <a:lnTo>
                    <a:pt x="3341979" y="718007"/>
                  </a:lnTo>
                  <a:lnTo>
                    <a:pt x="5012969" y="718007"/>
                  </a:lnTo>
                  <a:lnTo>
                    <a:pt x="6648297" y="718007"/>
                  </a:lnTo>
                  <a:lnTo>
                    <a:pt x="6653543" y="716965"/>
                  </a:lnTo>
                  <a:lnTo>
                    <a:pt x="6682918" y="687578"/>
                  </a:lnTo>
                  <a:lnTo>
                    <a:pt x="6683959" y="682332"/>
                  </a:lnTo>
                  <a:lnTo>
                    <a:pt x="6683959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679194" y="11938796"/>
            <a:ext cx="47117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-10" b="1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endParaRPr sz="900">
              <a:latin typeface="Roboto"/>
              <a:cs typeface="Roboto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353448" y="11938796"/>
            <a:ext cx="83820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900" spc="7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 b="1">
                <a:solidFill>
                  <a:srgbClr val="3B3838"/>
                </a:solidFill>
                <a:latin typeface="Roboto"/>
                <a:cs typeface="Roboto"/>
              </a:rPr>
              <a:t>Cause</a:t>
            </a:r>
            <a:endParaRPr sz="900">
              <a:latin typeface="Roboto"/>
              <a:cs typeface="Roboto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024438" y="11938796"/>
            <a:ext cx="890905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-10" b="1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endParaRPr sz="900">
              <a:latin typeface="Roboto"/>
              <a:cs typeface="Roboto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695428" y="11938796"/>
            <a:ext cx="464184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-10" b="1">
                <a:solidFill>
                  <a:srgbClr val="3B3838"/>
                </a:solidFill>
                <a:latin typeface="Roboto"/>
                <a:cs typeface="Roboto"/>
              </a:rPr>
              <a:t>Solution</a:t>
            </a:r>
            <a:endParaRPr sz="900">
              <a:latin typeface="Roboto"/>
              <a:cs typeface="Roboto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79194" y="12236441"/>
            <a:ext cx="1189990" cy="40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 poзting</a:t>
            </a:r>
            <a:endParaRPr sz="900">
              <a:latin typeface="Roboto"/>
              <a:cs typeface="Roboto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353448" y="12236441"/>
            <a:ext cx="1450340" cy="587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12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aззigned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FI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9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endParaRPr sz="900">
              <a:latin typeface="Roboto"/>
              <a:cs typeface="Roboto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024438" y="12236441"/>
            <a:ext cx="1257300" cy="587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12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9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coзt centre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field;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review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endParaRPr sz="900">
              <a:latin typeface="Roboto"/>
              <a:cs typeface="Roboto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695428" y="12236441"/>
            <a:ext cx="1124585" cy="587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12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Add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centre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aззignment;</a:t>
            </a:r>
            <a:r>
              <a:rPr dirty="0" sz="9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repoзt</a:t>
            </a:r>
            <a:r>
              <a:rPr dirty="0" sz="9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if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 neceззary</a:t>
            </a:r>
            <a:endParaRPr sz="900">
              <a:latin typeface="Roboto"/>
              <a:cs typeface="Roboto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79194" y="12954444"/>
            <a:ext cx="1106170" cy="40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centre aззignment</a:t>
            </a:r>
            <a:endParaRPr sz="900">
              <a:latin typeface="Roboto"/>
              <a:cs typeface="Roboto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353448" y="12954444"/>
            <a:ext cx="1403985" cy="40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entered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during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tranзaction</a:t>
            </a:r>
            <a:endParaRPr sz="900">
              <a:latin typeface="Roboto"/>
              <a:cs typeface="Roboto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024438" y="12954444"/>
            <a:ext cx="1334135" cy="587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12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document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compare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with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expected</a:t>
            </a:r>
            <a:r>
              <a:rPr dirty="0" sz="9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endParaRPr sz="900">
              <a:latin typeface="Roboto"/>
              <a:cs typeface="Roboto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695428" y="12954444"/>
            <a:ext cx="1276350" cy="40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Reverзe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repoзt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with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endParaRPr sz="900">
              <a:latin typeface="Roboto"/>
              <a:cs typeface="Roboto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79194" y="13720750"/>
            <a:ext cx="111252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endParaRPr sz="900">
              <a:latin typeface="Roboto"/>
              <a:cs typeface="Roboto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353448" y="13672447"/>
            <a:ext cx="1417320" cy="587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derived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manually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entered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incorrectly</a:t>
            </a:r>
            <a:endParaRPr sz="900">
              <a:latin typeface="Roboto"/>
              <a:cs typeface="Roboto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024438" y="13672447"/>
            <a:ext cx="1448435" cy="587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12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9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centre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derivation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ruleз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maзter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endParaRPr sz="900">
              <a:latin typeface="Roboto"/>
              <a:cs typeface="Robot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695428" y="13672447"/>
            <a:ext cx="1376045" cy="587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derivation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ruleз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update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endParaRPr sz="900">
              <a:latin typeface="Roboto"/>
              <a:cs typeface="Robot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79194" y="14438752"/>
            <a:ext cx="129032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allocation</a:t>
            </a:r>
            <a:endParaRPr sz="900">
              <a:latin typeface="Roboto"/>
              <a:cs typeface="Robot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353448" y="14390451"/>
            <a:ext cx="1350645" cy="58737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9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allocation</a:t>
            </a:r>
            <a:r>
              <a:rPr dirty="0" sz="9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cycle,</a:t>
            </a:r>
            <a:endParaRPr sz="900">
              <a:latin typeface="Roboto"/>
              <a:cs typeface="Roboto"/>
            </a:endParaRPr>
          </a:p>
          <a:p>
            <a:pPr marL="12700" marR="5080">
              <a:lnSpc>
                <a:spcPct val="133200"/>
              </a:lnSpc>
              <a:spcBef>
                <a:spcPts val="5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9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зender/receiver,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percentageз</a:t>
            </a:r>
            <a:endParaRPr sz="900">
              <a:latin typeface="Roboto"/>
              <a:cs typeface="Robot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024438" y="14390451"/>
            <a:ext cx="1235710" cy="587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12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allocation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cycle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execution</a:t>
            </a:r>
            <a:r>
              <a:rPr dirty="0" sz="9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log</a:t>
            </a:r>
            <a:endParaRPr sz="900">
              <a:latin typeface="Roboto"/>
              <a:cs typeface="Robot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695428" y="14390451"/>
            <a:ext cx="1249680" cy="40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9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allocation</a:t>
            </a:r>
            <a:r>
              <a:rPr dirty="0" sz="9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cycle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rerun</a:t>
            </a:r>
            <a:endParaRPr sz="900">
              <a:latin typeface="Roboto"/>
              <a:cs typeface="Robot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91894" y="15156757"/>
            <a:ext cx="138938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Plan vз. actual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differenceз</a:t>
            </a:r>
            <a:endParaRPr sz="900">
              <a:latin typeface="Roboto"/>
              <a:cs typeface="Robot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366148" y="15108454"/>
            <a:ext cx="1271905" cy="776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R="5080">
              <a:lnSpc>
                <a:spcPct val="136400"/>
              </a:lnSpc>
              <a:spcBef>
                <a:spcPts val="11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Budget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updated,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actualз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poзted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wrong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object,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timing differenceз</a:t>
            </a:r>
            <a:endParaRPr sz="900">
              <a:latin typeface="Roboto"/>
              <a:cs typeface="Robot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037138" y="15108454"/>
            <a:ext cx="1316990" cy="40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80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Compare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plan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actual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reportз;</a:t>
            </a:r>
            <a:r>
              <a:rPr dirty="0" sz="9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9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poзtingз</a:t>
            </a:r>
            <a:endParaRPr sz="900">
              <a:latin typeface="Roboto"/>
              <a:cs typeface="Robot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708128" y="15108454"/>
            <a:ext cx="1231900" cy="587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R="5080">
              <a:lnSpc>
                <a:spcPct val="135600"/>
              </a:lnSpc>
              <a:spcBef>
                <a:spcPts val="12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Inveзtigate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correct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poзtingз; update plan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if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 required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79194" y="16064052"/>
            <a:ext cx="1115695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Settlement</a:t>
            </a:r>
            <a:r>
              <a:rPr dirty="0" sz="9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problemз</a:t>
            </a:r>
            <a:endParaRPr sz="900">
              <a:latin typeface="Roboto"/>
              <a:cs typeface="Robot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353448" y="16022277"/>
            <a:ext cx="1328420" cy="5803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70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9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9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rule,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unreзolved balanceз,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period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900">
              <a:latin typeface="Roboto"/>
              <a:cs typeface="Robot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024438" y="16022277"/>
            <a:ext cx="1324610" cy="580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rule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on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the</a:t>
            </a:r>
            <a:r>
              <a:rPr dirty="0" sz="9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object;</a:t>
            </a:r>
            <a:r>
              <a:rPr dirty="0" sz="9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9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log</a:t>
            </a:r>
            <a:endParaRPr sz="900">
              <a:latin typeface="Roboto"/>
              <a:cs typeface="Robot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695428" y="16022277"/>
            <a:ext cx="14471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rule</a:t>
            </a:r>
            <a:r>
              <a:rPr dirty="0" sz="9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rerun</a:t>
            </a:r>
            <a:r>
              <a:rPr dirty="0" sz="9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endParaRPr sz="900">
              <a:latin typeface="Roboto"/>
              <a:cs typeface="Roboto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96769" y="16969230"/>
            <a:ext cx="6439535" cy="2680335"/>
          </a:xfrm>
          <a:custGeom>
            <a:avLst/>
            <a:gdLst/>
            <a:ahLst/>
            <a:cxnLst/>
            <a:rect l="l" t="t" r="r" b="b"/>
            <a:pathLst>
              <a:path w="6439534" h="2680334">
                <a:moveTo>
                  <a:pt x="3112078" y="2680020"/>
                </a:moveTo>
                <a:lnTo>
                  <a:pt x="1733693" y="2674930"/>
                </a:lnTo>
                <a:lnTo>
                  <a:pt x="1689021" y="2667575"/>
                </a:lnTo>
                <a:lnTo>
                  <a:pt x="1650249" y="2647398"/>
                </a:lnTo>
                <a:lnTo>
                  <a:pt x="1619689" y="2616724"/>
                </a:lnTo>
                <a:lnTo>
                  <a:pt x="1599656" y="2577874"/>
                </a:lnTo>
                <a:lnTo>
                  <a:pt x="1592464" y="2533173"/>
                </a:lnTo>
                <a:lnTo>
                  <a:pt x="1592464" y="1375246"/>
                </a:lnTo>
                <a:lnTo>
                  <a:pt x="1537675" y="1320457"/>
                </a:lnTo>
                <a:lnTo>
                  <a:pt x="1537675" y="1314342"/>
                </a:lnTo>
                <a:lnTo>
                  <a:pt x="1545220" y="1306790"/>
                </a:lnTo>
                <a:lnTo>
                  <a:pt x="1551341" y="1306790"/>
                </a:lnTo>
                <a:lnTo>
                  <a:pt x="1592464" y="1347913"/>
                </a:lnTo>
                <a:lnTo>
                  <a:pt x="1592464" y="141757"/>
                </a:lnTo>
                <a:lnTo>
                  <a:pt x="1583349" y="96611"/>
                </a:lnTo>
                <a:lnTo>
                  <a:pt x="1558493" y="59745"/>
                </a:lnTo>
                <a:lnTo>
                  <a:pt x="1521626" y="34888"/>
                </a:lnTo>
                <a:lnTo>
                  <a:pt x="1476480" y="25774"/>
                </a:lnTo>
                <a:lnTo>
                  <a:pt x="197603" y="25774"/>
                </a:lnTo>
                <a:lnTo>
                  <a:pt x="152457" y="34888"/>
                </a:lnTo>
                <a:lnTo>
                  <a:pt x="115591" y="59745"/>
                </a:lnTo>
                <a:lnTo>
                  <a:pt x="90734" y="96611"/>
                </a:lnTo>
                <a:lnTo>
                  <a:pt x="81620" y="141757"/>
                </a:lnTo>
                <a:lnTo>
                  <a:pt x="81620" y="1282402"/>
                </a:lnTo>
                <a:lnTo>
                  <a:pt x="103761" y="1290776"/>
                </a:lnTo>
                <a:lnTo>
                  <a:pt x="121467" y="1305837"/>
                </a:lnTo>
                <a:lnTo>
                  <a:pt x="133211" y="1326058"/>
                </a:lnTo>
                <a:lnTo>
                  <a:pt x="137466" y="1349917"/>
                </a:lnTo>
                <a:lnTo>
                  <a:pt x="132064" y="1376670"/>
                </a:lnTo>
                <a:lnTo>
                  <a:pt x="117334" y="1398518"/>
                </a:lnTo>
                <a:lnTo>
                  <a:pt x="95486" y="1413248"/>
                </a:lnTo>
                <a:lnTo>
                  <a:pt x="68733" y="1418650"/>
                </a:lnTo>
                <a:lnTo>
                  <a:pt x="41979" y="1413248"/>
                </a:lnTo>
                <a:lnTo>
                  <a:pt x="20131" y="1398518"/>
                </a:lnTo>
                <a:lnTo>
                  <a:pt x="5401" y="1376670"/>
                </a:lnTo>
                <a:lnTo>
                  <a:pt x="0" y="1349917"/>
                </a:lnTo>
                <a:lnTo>
                  <a:pt x="4254" y="1326058"/>
                </a:lnTo>
                <a:lnTo>
                  <a:pt x="15998" y="1305837"/>
                </a:lnTo>
                <a:lnTo>
                  <a:pt x="33704" y="1290776"/>
                </a:lnTo>
                <a:lnTo>
                  <a:pt x="55845" y="1282402"/>
                </a:lnTo>
                <a:lnTo>
                  <a:pt x="55845" y="141757"/>
                </a:lnTo>
                <a:lnTo>
                  <a:pt x="63073" y="96951"/>
                </a:lnTo>
                <a:lnTo>
                  <a:pt x="83197" y="58038"/>
                </a:lnTo>
                <a:lnTo>
                  <a:pt x="113884" y="27351"/>
                </a:lnTo>
                <a:lnTo>
                  <a:pt x="152797" y="7227"/>
                </a:lnTo>
                <a:lnTo>
                  <a:pt x="197603" y="0"/>
                </a:lnTo>
                <a:lnTo>
                  <a:pt x="1476480" y="0"/>
                </a:lnTo>
                <a:lnTo>
                  <a:pt x="1521286" y="7227"/>
                </a:lnTo>
                <a:lnTo>
                  <a:pt x="1560200" y="27351"/>
                </a:lnTo>
                <a:lnTo>
                  <a:pt x="1590886" y="58038"/>
                </a:lnTo>
                <a:lnTo>
                  <a:pt x="1611011" y="96951"/>
                </a:lnTo>
                <a:lnTo>
                  <a:pt x="1618238" y="141757"/>
                </a:lnTo>
                <a:lnTo>
                  <a:pt x="1618238" y="1250042"/>
                </a:lnTo>
                <a:lnTo>
                  <a:pt x="1619456" y="1250042"/>
                </a:lnTo>
                <a:lnTo>
                  <a:pt x="1619456" y="1355574"/>
                </a:lnTo>
                <a:lnTo>
                  <a:pt x="1668240" y="1306790"/>
                </a:lnTo>
                <a:lnTo>
                  <a:pt x="1674361" y="1306790"/>
                </a:lnTo>
                <a:lnTo>
                  <a:pt x="1681906" y="1314342"/>
                </a:lnTo>
                <a:lnTo>
                  <a:pt x="1681906" y="1320457"/>
                </a:lnTo>
                <a:lnTo>
                  <a:pt x="1618238" y="1384132"/>
                </a:lnTo>
                <a:lnTo>
                  <a:pt x="1618238" y="2533173"/>
                </a:lnTo>
                <a:lnTo>
                  <a:pt x="1627309" y="2578215"/>
                </a:lnTo>
                <a:lnTo>
                  <a:pt x="1652056" y="2615035"/>
                </a:lnTo>
                <a:lnTo>
                  <a:pt x="1688782" y="2639920"/>
                </a:lnTo>
                <a:lnTo>
                  <a:pt x="1733789" y="2649156"/>
                </a:lnTo>
                <a:lnTo>
                  <a:pt x="3112181" y="2654246"/>
                </a:lnTo>
                <a:lnTo>
                  <a:pt x="3157463" y="2645256"/>
                </a:lnTo>
                <a:lnTo>
                  <a:pt x="3194469" y="2620427"/>
                </a:lnTo>
                <a:lnTo>
                  <a:pt x="3219432" y="2583513"/>
                </a:lnTo>
                <a:lnTo>
                  <a:pt x="3228589" y="2538263"/>
                </a:lnTo>
                <a:lnTo>
                  <a:pt x="3228589" y="1339549"/>
                </a:lnTo>
                <a:lnTo>
                  <a:pt x="3181552" y="1386593"/>
                </a:lnTo>
                <a:lnTo>
                  <a:pt x="3175430" y="1386593"/>
                </a:lnTo>
                <a:lnTo>
                  <a:pt x="3167885" y="1379042"/>
                </a:lnTo>
                <a:lnTo>
                  <a:pt x="3167885" y="1372927"/>
                </a:lnTo>
                <a:lnTo>
                  <a:pt x="3228589" y="1312216"/>
                </a:lnTo>
                <a:lnTo>
                  <a:pt x="3228589" y="147318"/>
                </a:lnTo>
                <a:lnTo>
                  <a:pt x="3235781" y="102619"/>
                </a:lnTo>
                <a:lnTo>
                  <a:pt x="3255814" y="63771"/>
                </a:lnTo>
                <a:lnTo>
                  <a:pt x="3286374" y="33096"/>
                </a:lnTo>
                <a:lnTo>
                  <a:pt x="3325147" y="12918"/>
                </a:lnTo>
                <a:lnTo>
                  <a:pt x="3369818" y="5560"/>
                </a:lnTo>
                <a:lnTo>
                  <a:pt x="4732127" y="483"/>
                </a:lnTo>
                <a:lnTo>
                  <a:pt x="4777066" y="7579"/>
                </a:lnTo>
                <a:lnTo>
                  <a:pt x="4816121" y="27650"/>
                </a:lnTo>
                <a:lnTo>
                  <a:pt x="4846934" y="58348"/>
                </a:lnTo>
                <a:lnTo>
                  <a:pt x="4867150" y="97328"/>
                </a:lnTo>
                <a:lnTo>
                  <a:pt x="4874412" y="142240"/>
                </a:lnTo>
                <a:lnTo>
                  <a:pt x="4874412" y="1354595"/>
                </a:lnTo>
                <a:lnTo>
                  <a:pt x="4922217" y="1306790"/>
                </a:lnTo>
                <a:lnTo>
                  <a:pt x="4928338" y="1306790"/>
                </a:lnTo>
                <a:lnTo>
                  <a:pt x="4935884" y="1314342"/>
                </a:lnTo>
                <a:lnTo>
                  <a:pt x="4935884" y="1320457"/>
                </a:lnTo>
                <a:lnTo>
                  <a:pt x="4874412" y="1381928"/>
                </a:lnTo>
                <a:lnTo>
                  <a:pt x="4874412" y="2532702"/>
                </a:lnTo>
                <a:lnTo>
                  <a:pt x="4883527" y="2577848"/>
                </a:lnTo>
                <a:lnTo>
                  <a:pt x="4908383" y="2614714"/>
                </a:lnTo>
                <a:lnTo>
                  <a:pt x="4945250" y="2639571"/>
                </a:lnTo>
                <a:lnTo>
                  <a:pt x="4990396" y="2648685"/>
                </a:lnTo>
                <a:lnTo>
                  <a:pt x="6241624" y="2648685"/>
                </a:lnTo>
                <a:lnTo>
                  <a:pt x="6286770" y="2639571"/>
                </a:lnTo>
                <a:lnTo>
                  <a:pt x="6323636" y="2614714"/>
                </a:lnTo>
                <a:lnTo>
                  <a:pt x="6348493" y="2577848"/>
                </a:lnTo>
                <a:lnTo>
                  <a:pt x="6357608" y="2532702"/>
                </a:lnTo>
                <a:lnTo>
                  <a:pt x="6357608" y="1417419"/>
                </a:lnTo>
                <a:lnTo>
                  <a:pt x="6335466" y="1409046"/>
                </a:lnTo>
                <a:lnTo>
                  <a:pt x="6317760" y="1393988"/>
                </a:lnTo>
                <a:lnTo>
                  <a:pt x="6306016" y="1373770"/>
                </a:lnTo>
                <a:lnTo>
                  <a:pt x="6301762" y="1349917"/>
                </a:lnTo>
                <a:lnTo>
                  <a:pt x="6307163" y="1323163"/>
                </a:lnTo>
                <a:lnTo>
                  <a:pt x="6321893" y="1301316"/>
                </a:lnTo>
                <a:lnTo>
                  <a:pt x="6343741" y="1286585"/>
                </a:lnTo>
                <a:lnTo>
                  <a:pt x="6370495" y="1281184"/>
                </a:lnTo>
                <a:lnTo>
                  <a:pt x="6397248" y="1286585"/>
                </a:lnTo>
                <a:lnTo>
                  <a:pt x="6419096" y="1301316"/>
                </a:lnTo>
                <a:lnTo>
                  <a:pt x="6433826" y="1323163"/>
                </a:lnTo>
                <a:lnTo>
                  <a:pt x="6439228" y="1349917"/>
                </a:lnTo>
                <a:lnTo>
                  <a:pt x="6434973" y="1373770"/>
                </a:lnTo>
                <a:lnTo>
                  <a:pt x="6423229" y="1393988"/>
                </a:lnTo>
                <a:lnTo>
                  <a:pt x="6405523" y="1409046"/>
                </a:lnTo>
                <a:lnTo>
                  <a:pt x="6383382" y="1417419"/>
                </a:lnTo>
                <a:lnTo>
                  <a:pt x="6383382" y="2532702"/>
                </a:lnTo>
                <a:lnTo>
                  <a:pt x="6376155" y="2577508"/>
                </a:lnTo>
                <a:lnTo>
                  <a:pt x="6356030" y="2616422"/>
                </a:lnTo>
                <a:lnTo>
                  <a:pt x="6325344" y="2647108"/>
                </a:lnTo>
                <a:lnTo>
                  <a:pt x="6286430" y="2667233"/>
                </a:lnTo>
                <a:lnTo>
                  <a:pt x="6241624" y="2674460"/>
                </a:lnTo>
                <a:lnTo>
                  <a:pt x="4990396" y="2674460"/>
                </a:lnTo>
                <a:lnTo>
                  <a:pt x="4945590" y="2667233"/>
                </a:lnTo>
                <a:lnTo>
                  <a:pt x="4906676" y="2647108"/>
                </a:lnTo>
                <a:lnTo>
                  <a:pt x="4875990" y="2616422"/>
                </a:lnTo>
                <a:lnTo>
                  <a:pt x="4855865" y="2577508"/>
                </a:lnTo>
                <a:lnTo>
                  <a:pt x="4848638" y="2532702"/>
                </a:lnTo>
                <a:lnTo>
                  <a:pt x="4848638" y="1377450"/>
                </a:lnTo>
                <a:lnTo>
                  <a:pt x="4791652" y="1320457"/>
                </a:lnTo>
                <a:lnTo>
                  <a:pt x="4791652" y="1314342"/>
                </a:lnTo>
                <a:lnTo>
                  <a:pt x="4799197" y="1306790"/>
                </a:lnTo>
                <a:lnTo>
                  <a:pt x="4805319" y="1306790"/>
                </a:lnTo>
                <a:lnTo>
                  <a:pt x="4848638" y="1350117"/>
                </a:lnTo>
                <a:lnTo>
                  <a:pt x="4848638" y="142240"/>
                </a:lnTo>
                <a:lnTo>
                  <a:pt x="4839480" y="96990"/>
                </a:lnTo>
                <a:lnTo>
                  <a:pt x="4814514" y="60076"/>
                </a:lnTo>
                <a:lnTo>
                  <a:pt x="4777507" y="35247"/>
                </a:lnTo>
                <a:lnTo>
                  <a:pt x="4732223" y="26257"/>
                </a:lnTo>
                <a:lnTo>
                  <a:pt x="3369915" y="31334"/>
                </a:lnTo>
                <a:lnTo>
                  <a:pt x="3324908" y="40573"/>
                </a:lnTo>
                <a:lnTo>
                  <a:pt x="3288181" y="65458"/>
                </a:lnTo>
                <a:lnTo>
                  <a:pt x="3263434" y="102276"/>
                </a:lnTo>
                <a:lnTo>
                  <a:pt x="3254363" y="147318"/>
                </a:lnTo>
                <a:lnTo>
                  <a:pt x="3254363" y="1315173"/>
                </a:lnTo>
                <a:lnTo>
                  <a:pt x="3312117" y="1372927"/>
                </a:lnTo>
                <a:lnTo>
                  <a:pt x="3312117" y="1379042"/>
                </a:lnTo>
                <a:lnTo>
                  <a:pt x="3304571" y="1386593"/>
                </a:lnTo>
                <a:lnTo>
                  <a:pt x="3298450" y="1386593"/>
                </a:lnTo>
                <a:lnTo>
                  <a:pt x="3254363" y="1342507"/>
                </a:lnTo>
                <a:lnTo>
                  <a:pt x="3254363" y="2538263"/>
                </a:lnTo>
                <a:lnTo>
                  <a:pt x="3247101" y="2583176"/>
                </a:lnTo>
                <a:lnTo>
                  <a:pt x="3226885" y="2622155"/>
                </a:lnTo>
                <a:lnTo>
                  <a:pt x="3196072" y="2652854"/>
                </a:lnTo>
                <a:lnTo>
                  <a:pt x="3157017" y="2672924"/>
                </a:lnTo>
                <a:lnTo>
                  <a:pt x="3112078" y="2680020"/>
                </a:lnTo>
                <a:close/>
              </a:path>
            </a:pathLst>
          </a:custGeom>
          <a:solidFill>
            <a:srgbClr val="5757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2686570" y="18648378"/>
            <a:ext cx="834390" cy="86423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ctr" marL="33020" marR="26034">
              <a:lnSpc>
                <a:spcPct val="102899"/>
              </a:lnSpc>
              <a:spcBef>
                <a:spcPts val="50"/>
              </a:spcBef>
            </a:pPr>
            <a:r>
              <a:rPr dirty="0" sz="1150">
                <a:solidFill>
                  <a:srgbClr val="1B1B27"/>
                </a:solidFill>
                <a:latin typeface="Trebuchet MS"/>
                <a:cs typeface="Trebuchet MS"/>
              </a:rPr>
              <a:t>Check</a:t>
            </a:r>
            <a:r>
              <a:rPr dirty="0" sz="1150" spc="18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B1B27"/>
                </a:solidFill>
                <a:latin typeface="Trebuchet MS"/>
                <a:cs typeface="Trebuchet MS"/>
              </a:rPr>
              <a:t>Cost </a:t>
            </a:r>
            <a:r>
              <a:rPr dirty="0" sz="1150" spc="-10">
                <a:solidFill>
                  <a:srgbClr val="1B1B27"/>
                </a:solidFill>
                <a:latin typeface="Trebuchet MS"/>
                <a:cs typeface="Trebuchet MS"/>
              </a:rPr>
              <a:t>Element</a:t>
            </a:r>
            <a:endParaRPr sz="1150">
              <a:latin typeface="Trebuchet MS"/>
              <a:cs typeface="Trebuchet MS"/>
            </a:endParaRPr>
          </a:p>
          <a:p>
            <a:pPr algn="ctr" marL="12065" marR="5080">
              <a:lnSpc>
                <a:spcPct val="108100"/>
              </a:lnSpc>
              <a:spcBef>
                <a:spcPts val="35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Confirm</a:t>
            </a:r>
            <a:r>
              <a:rPr dirty="0" sz="9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correct element</a:t>
            </a:r>
            <a:endParaRPr sz="9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endParaRPr sz="900">
              <a:latin typeface="Roboto"/>
              <a:cs typeface="Robot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59314" y="18796584"/>
            <a:ext cx="919480" cy="71564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ctr" marL="96520" marR="88900">
              <a:lnSpc>
                <a:spcPct val="102899"/>
              </a:lnSpc>
              <a:spcBef>
                <a:spcPts val="50"/>
              </a:spcBef>
            </a:pPr>
            <a:r>
              <a:rPr dirty="0" sz="1150">
                <a:solidFill>
                  <a:srgbClr val="1B1B27"/>
                </a:solidFill>
                <a:latin typeface="Trebuchet MS"/>
                <a:cs typeface="Trebuchet MS"/>
              </a:rPr>
              <a:t>Review</a:t>
            </a:r>
            <a:r>
              <a:rPr dirty="0" sz="1150" spc="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50">
                <a:solidFill>
                  <a:srgbClr val="1B1B27"/>
                </a:solidFill>
                <a:latin typeface="Trebuchet MS"/>
                <a:cs typeface="Trebuchet MS"/>
              </a:rPr>
              <a:t>CO </a:t>
            </a:r>
            <a:r>
              <a:rPr dirty="0" sz="1150" spc="-10">
                <a:solidFill>
                  <a:srgbClr val="1B1B27"/>
                </a:solidFill>
                <a:latin typeface="Trebuchet MS"/>
                <a:cs typeface="Trebuchet MS"/>
              </a:rPr>
              <a:t>Reports</a:t>
            </a:r>
            <a:endParaRPr sz="1150">
              <a:latin typeface="Trebuchet MS"/>
              <a:cs typeface="Trebuchet MS"/>
            </a:endParaRPr>
          </a:p>
          <a:p>
            <a:pPr algn="ctr" marL="12700" marR="5080">
              <a:lnSpc>
                <a:spcPct val="103400"/>
              </a:lnSpc>
              <a:spcBef>
                <a:spcPts val="40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Validate</a:t>
            </a:r>
            <a:r>
              <a:rPr dirty="0" sz="90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poзtingз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varianceз</a:t>
            </a:r>
            <a:endParaRPr sz="900">
              <a:latin typeface="Roboto"/>
              <a:cs typeface="Robot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023874" y="17088989"/>
            <a:ext cx="1014730" cy="72199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ctr" marL="88265" marR="80645">
              <a:lnSpc>
                <a:spcPct val="102899"/>
              </a:lnSpc>
              <a:spcBef>
                <a:spcPts val="50"/>
              </a:spcBef>
            </a:pPr>
            <a:r>
              <a:rPr dirty="0" sz="1150" spc="-10">
                <a:solidFill>
                  <a:srgbClr val="1B1B27"/>
                </a:solidFill>
                <a:latin typeface="Trebuchet MS"/>
                <a:cs typeface="Trebuchet MS"/>
              </a:rPr>
              <a:t>Identify</a:t>
            </a:r>
            <a:r>
              <a:rPr dirty="0" sz="1150" spc="-6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B1B27"/>
                </a:solidFill>
                <a:latin typeface="Trebuchet MS"/>
                <a:cs typeface="Trebuchet MS"/>
              </a:rPr>
              <a:t>Cost </a:t>
            </a:r>
            <a:r>
              <a:rPr dirty="0" sz="1150" spc="-10">
                <a:solidFill>
                  <a:srgbClr val="1B1B27"/>
                </a:solidFill>
                <a:latin typeface="Trebuchet MS"/>
                <a:cs typeface="Trebuchet MS"/>
              </a:rPr>
              <a:t>Object</a:t>
            </a:r>
            <a:endParaRPr sz="1150">
              <a:latin typeface="Trebuchet MS"/>
              <a:cs typeface="Trebuchet MS"/>
            </a:endParaRPr>
          </a:p>
          <a:p>
            <a:pPr algn="ctr" marL="12065" marR="5080">
              <a:lnSpc>
                <a:spcPct val="108100"/>
              </a:lnSpc>
              <a:spcBef>
                <a:spcPts val="35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Locate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9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 internal</a:t>
            </a:r>
            <a:r>
              <a:rPr dirty="0" sz="9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order</a:t>
            </a:r>
            <a:endParaRPr sz="900">
              <a:latin typeface="Roboto"/>
              <a:cs typeface="Robot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220983" y="17088989"/>
            <a:ext cx="1026160" cy="72199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ctr" marL="176530" marR="168910" indent="-635">
              <a:lnSpc>
                <a:spcPct val="102899"/>
              </a:lnSpc>
              <a:spcBef>
                <a:spcPts val="50"/>
              </a:spcBef>
            </a:pPr>
            <a:r>
              <a:rPr dirty="0" sz="1150" spc="-10">
                <a:solidFill>
                  <a:srgbClr val="1B1B27"/>
                </a:solidFill>
                <a:latin typeface="Trebuchet MS"/>
                <a:cs typeface="Trebuchet MS"/>
              </a:rPr>
              <a:t>Verify Allocation</a:t>
            </a:r>
            <a:endParaRPr sz="1150">
              <a:latin typeface="Trebuchet MS"/>
              <a:cs typeface="Trebuchet MS"/>
            </a:endParaRPr>
          </a:p>
          <a:p>
            <a:pPr algn="ctr" marL="12065" marR="5080">
              <a:lnSpc>
                <a:spcPct val="108100"/>
              </a:lnSpc>
              <a:spcBef>
                <a:spcPts val="355"/>
              </a:spcBef>
            </a:pP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Inзpect</a:t>
            </a:r>
            <a:r>
              <a:rPr dirty="0" sz="9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зettlement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3B3838"/>
                </a:solidFill>
                <a:latin typeface="Roboto"/>
                <a:cs typeface="Roboto"/>
              </a:rPr>
              <a:t>diзtribution</a:t>
            </a:r>
            <a:r>
              <a:rPr dirty="0" sz="9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3B3838"/>
                </a:solidFill>
                <a:latin typeface="Roboto"/>
                <a:cs typeface="Roboto"/>
              </a:rPr>
              <a:t>ruleз</a:t>
            </a:r>
            <a:endParaRPr sz="9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1349" y="283578"/>
            <a:ext cx="2908935" cy="151765"/>
          </a:xfrm>
          <a:custGeom>
            <a:avLst/>
            <a:gdLst/>
            <a:ahLst/>
            <a:cxnLst/>
            <a:rect l="l" t="t" r="r" b="b"/>
            <a:pathLst>
              <a:path w="2908935" h="151765">
                <a:moveTo>
                  <a:pt x="0" y="126122"/>
                </a:moveTo>
                <a:lnTo>
                  <a:pt x="0" y="25494"/>
                </a:lnTo>
                <a:lnTo>
                  <a:pt x="0" y="22113"/>
                </a:lnTo>
                <a:lnTo>
                  <a:pt x="645" y="18862"/>
                </a:lnTo>
                <a:lnTo>
                  <a:pt x="1942" y="15740"/>
                </a:lnTo>
                <a:lnTo>
                  <a:pt x="3234" y="12612"/>
                </a:lnTo>
                <a:lnTo>
                  <a:pt x="5076" y="9855"/>
                </a:lnTo>
                <a:lnTo>
                  <a:pt x="7468" y="7468"/>
                </a:lnTo>
                <a:lnTo>
                  <a:pt x="9855" y="5076"/>
                </a:lnTo>
                <a:lnTo>
                  <a:pt x="12612" y="3234"/>
                </a:lnTo>
                <a:lnTo>
                  <a:pt x="15740" y="1942"/>
                </a:lnTo>
                <a:lnTo>
                  <a:pt x="18862" y="645"/>
                </a:lnTo>
                <a:lnTo>
                  <a:pt x="22113" y="0"/>
                </a:lnTo>
                <a:lnTo>
                  <a:pt x="25494" y="0"/>
                </a:lnTo>
                <a:lnTo>
                  <a:pt x="2883293" y="0"/>
                </a:lnTo>
                <a:lnTo>
                  <a:pt x="2886673" y="0"/>
                </a:lnTo>
                <a:lnTo>
                  <a:pt x="2889925" y="645"/>
                </a:lnTo>
                <a:lnTo>
                  <a:pt x="2893047" y="1942"/>
                </a:lnTo>
                <a:lnTo>
                  <a:pt x="2896175" y="3234"/>
                </a:lnTo>
                <a:lnTo>
                  <a:pt x="2898932" y="5076"/>
                </a:lnTo>
                <a:lnTo>
                  <a:pt x="2901318" y="7468"/>
                </a:lnTo>
                <a:lnTo>
                  <a:pt x="2903711" y="9855"/>
                </a:lnTo>
                <a:lnTo>
                  <a:pt x="2905552" y="12612"/>
                </a:lnTo>
                <a:lnTo>
                  <a:pt x="2906844" y="15740"/>
                </a:lnTo>
                <a:lnTo>
                  <a:pt x="2908141" y="18862"/>
                </a:lnTo>
                <a:lnTo>
                  <a:pt x="2908787" y="22113"/>
                </a:lnTo>
                <a:lnTo>
                  <a:pt x="2908787" y="25494"/>
                </a:lnTo>
                <a:lnTo>
                  <a:pt x="2908787" y="126122"/>
                </a:lnTo>
                <a:lnTo>
                  <a:pt x="2908787" y="129502"/>
                </a:lnTo>
                <a:lnTo>
                  <a:pt x="2908141" y="132754"/>
                </a:lnTo>
                <a:lnTo>
                  <a:pt x="2906844" y="135876"/>
                </a:lnTo>
                <a:lnTo>
                  <a:pt x="2905552" y="139004"/>
                </a:lnTo>
                <a:lnTo>
                  <a:pt x="2903711" y="141761"/>
                </a:lnTo>
                <a:lnTo>
                  <a:pt x="2901318" y="144147"/>
                </a:lnTo>
                <a:lnTo>
                  <a:pt x="2898932" y="146539"/>
                </a:lnTo>
                <a:lnTo>
                  <a:pt x="2896175" y="148381"/>
                </a:lnTo>
                <a:lnTo>
                  <a:pt x="2893047" y="149673"/>
                </a:lnTo>
                <a:lnTo>
                  <a:pt x="2889925" y="150970"/>
                </a:lnTo>
                <a:lnTo>
                  <a:pt x="2886673" y="151616"/>
                </a:lnTo>
                <a:lnTo>
                  <a:pt x="2883293" y="151616"/>
                </a:lnTo>
                <a:lnTo>
                  <a:pt x="25494" y="151616"/>
                </a:lnTo>
                <a:lnTo>
                  <a:pt x="22113" y="151616"/>
                </a:lnTo>
                <a:lnTo>
                  <a:pt x="18862" y="150970"/>
                </a:lnTo>
                <a:lnTo>
                  <a:pt x="15740" y="149673"/>
                </a:lnTo>
                <a:lnTo>
                  <a:pt x="12612" y="148381"/>
                </a:lnTo>
                <a:lnTo>
                  <a:pt x="9855" y="146539"/>
                </a:lnTo>
                <a:lnTo>
                  <a:pt x="7468" y="144147"/>
                </a:lnTo>
                <a:lnTo>
                  <a:pt x="5076" y="141761"/>
                </a:lnTo>
                <a:lnTo>
                  <a:pt x="3234" y="139004"/>
                </a:lnTo>
                <a:lnTo>
                  <a:pt x="1942" y="135876"/>
                </a:lnTo>
                <a:lnTo>
                  <a:pt x="645" y="132754"/>
                </a:lnTo>
                <a:lnTo>
                  <a:pt x="0" y="129502"/>
                </a:lnTo>
                <a:lnTo>
                  <a:pt x="0" y="126122"/>
                </a:lnTo>
                <a:close/>
              </a:path>
            </a:pathLst>
          </a:custGeom>
          <a:ln w="5615">
            <a:solidFill>
              <a:srgbClr val="1B1B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36470" y="288285"/>
            <a:ext cx="282130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>
                <a:solidFill>
                  <a:srgbClr val="1B1B27"/>
                </a:solidFill>
                <a:latin typeface="Roboto"/>
                <a:cs typeface="Roboto"/>
              </a:rPr>
              <a:t>SECTIONS</a:t>
            </a:r>
            <a:r>
              <a:rPr dirty="0" sz="600" spc="9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1B1B27"/>
                </a:solidFill>
                <a:latin typeface="Roboto"/>
                <a:cs typeface="Roboto"/>
              </a:rPr>
              <a:t>9–10</a:t>
            </a:r>
            <a:r>
              <a:rPr dirty="0" sz="600" spc="9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1B1B27"/>
                </a:solidFill>
                <a:latin typeface="Roboto"/>
                <a:cs typeface="Roboto"/>
              </a:rPr>
              <a:t>—</a:t>
            </a:r>
            <a:r>
              <a:rPr dirty="0" sz="600" spc="9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1B1B27"/>
                </a:solidFill>
                <a:latin typeface="Roboto"/>
                <a:cs typeface="Roboto"/>
              </a:rPr>
              <a:t>COST</a:t>
            </a:r>
            <a:r>
              <a:rPr dirty="0" sz="600" spc="7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1B1B27"/>
                </a:solidFill>
                <a:latin typeface="Roboto"/>
                <a:cs typeface="Roboto"/>
              </a:rPr>
              <a:t>CENTRE,</a:t>
            </a:r>
            <a:r>
              <a:rPr dirty="0" sz="600" spc="9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1B1B27"/>
                </a:solidFill>
                <a:latin typeface="Roboto"/>
                <a:cs typeface="Roboto"/>
              </a:rPr>
              <a:t>PROFIT</a:t>
            </a:r>
            <a:r>
              <a:rPr dirty="0" sz="600" spc="7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1B1B27"/>
                </a:solidFill>
                <a:latin typeface="Roboto"/>
                <a:cs typeface="Roboto"/>
              </a:rPr>
              <a:t>CENTRE</a:t>
            </a:r>
            <a:r>
              <a:rPr dirty="0" sz="600" spc="9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1B1B27"/>
                </a:solidFill>
                <a:latin typeface="Roboto"/>
                <a:cs typeface="Roboto"/>
              </a:rPr>
              <a:t>AND</a:t>
            </a:r>
            <a:r>
              <a:rPr dirty="0" sz="600" spc="9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1B1B27"/>
                </a:solidFill>
                <a:latin typeface="Roboto"/>
                <a:cs typeface="Roboto"/>
              </a:rPr>
              <a:t>FI–CO</a:t>
            </a:r>
            <a:r>
              <a:rPr dirty="0" sz="600" spc="9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1B1B27"/>
                </a:solidFill>
                <a:latin typeface="Roboto"/>
                <a:cs typeface="Roboto"/>
              </a:rPr>
              <a:t>INTEGRATION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841" y="453379"/>
            <a:ext cx="5703570" cy="12757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08585">
              <a:lnSpc>
                <a:spcPct val="105800"/>
              </a:lnSpc>
            </a:pPr>
            <a:r>
              <a:rPr dirty="0" sz="1950" spc="90">
                <a:solidFill>
                  <a:srgbClr val="1B1B27"/>
                </a:solidFill>
                <a:latin typeface="Trebuchet MS"/>
                <a:cs typeface="Trebuchet MS"/>
              </a:rPr>
              <a:t>Cost</a:t>
            </a:r>
            <a:r>
              <a:rPr dirty="0" sz="1950" spc="-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1B1B27"/>
                </a:solidFill>
                <a:latin typeface="Trebuchet MS"/>
                <a:cs typeface="Trebuchet MS"/>
              </a:rPr>
              <a:t>Centre,</a:t>
            </a:r>
            <a:r>
              <a:rPr dirty="0" sz="1950" spc="-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950" spc="-25">
                <a:solidFill>
                  <a:srgbClr val="1B1B27"/>
                </a:solidFill>
                <a:latin typeface="Trebuchet MS"/>
                <a:cs typeface="Trebuchet MS"/>
              </a:rPr>
              <a:t>Profit</a:t>
            </a:r>
            <a:r>
              <a:rPr dirty="0" sz="1950" spc="-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1B1B27"/>
                </a:solidFill>
                <a:latin typeface="Trebuchet MS"/>
                <a:cs typeface="Trebuchet MS"/>
              </a:rPr>
              <a:t>Centre</a:t>
            </a:r>
            <a:r>
              <a:rPr dirty="0" sz="1950" spc="-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950" spc="95">
                <a:solidFill>
                  <a:srgbClr val="1B1B27"/>
                </a:solidFill>
                <a:latin typeface="Trebuchet MS"/>
                <a:cs typeface="Trebuchet MS"/>
              </a:rPr>
              <a:t>and</a:t>
            </a:r>
            <a:r>
              <a:rPr dirty="0" sz="1950" spc="-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950" spc="155">
                <a:solidFill>
                  <a:srgbClr val="1B1B27"/>
                </a:solidFill>
                <a:latin typeface="Trebuchet MS"/>
                <a:cs typeface="Trebuchet MS"/>
              </a:rPr>
              <a:t>FI–</a:t>
            </a:r>
            <a:r>
              <a:rPr dirty="0" sz="1950" spc="195">
                <a:solidFill>
                  <a:srgbClr val="1B1B27"/>
                </a:solidFill>
                <a:latin typeface="Trebuchet MS"/>
                <a:cs typeface="Trebuchet MS"/>
              </a:rPr>
              <a:t>CO</a:t>
            </a:r>
            <a:r>
              <a:rPr dirty="0" sz="1950" spc="-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1B1B27"/>
                </a:solidFill>
                <a:latin typeface="Trebuchet MS"/>
                <a:cs typeface="Trebuchet MS"/>
              </a:rPr>
              <a:t>Integration </a:t>
            </a:r>
            <a:r>
              <a:rPr dirty="0" sz="1950" spc="95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1950">
              <a:latin typeface="Trebuchet MS"/>
              <a:cs typeface="Trebuchet MS"/>
            </a:endParaRPr>
          </a:p>
          <a:p>
            <a:pPr marL="12700" marR="5080">
              <a:lnSpc>
                <a:spcPct val="133600"/>
              </a:lnSpc>
              <a:spcBef>
                <a:spcPts val="1145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centreз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centreз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building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blоckз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оf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internal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repоrting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CO.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When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theзe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incоrrectly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cоnfigured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aззigned,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affectз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bоth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internal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repоrtз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accuracy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оf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FI–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integratiоn.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Thiз зectiоn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cоverз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cоmmоn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theзe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areaз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explainз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hоw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cоnnected.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841" y="1879696"/>
            <a:ext cx="176212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50">
                <a:solidFill>
                  <a:srgbClr val="1B1B27"/>
                </a:solidFill>
                <a:latin typeface="Trebuchet MS"/>
                <a:cs typeface="Trebuchet MS"/>
              </a:rPr>
              <a:t>Cost</a:t>
            </a:r>
            <a:r>
              <a:rPr dirty="0" sz="1600" spc="-4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1B1B27"/>
                </a:solidFill>
                <a:latin typeface="Trebuchet MS"/>
                <a:cs typeface="Trebuchet MS"/>
              </a:rPr>
              <a:t>Centre</a:t>
            </a:r>
            <a:r>
              <a:rPr dirty="0" sz="1600" spc="-4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00" spc="55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88541" y="2302321"/>
            <a:ext cx="5761990" cy="2936875"/>
            <a:chOff x="488541" y="2302321"/>
            <a:chExt cx="5761990" cy="2936875"/>
          </a:xfrm>
        </p:grpSpPr>
        <p:sp>
          <p:nvSpPr>
            <p:cNvPr id="7" name="object 7"/>
            <p:cNvSpPr/>
            <p:nvPr/>
          </p:nvSpPr>
          <p:spPr>
            <a:xfrm>
              <a:off x="491349" y="2305129"/>
              <a:ext cx="5756275" cy="2931795"/>
            </a:xfrm>
            <a:custGeom>
              <a:avLst/>
              <a:gdLst/>
              <a:ahLst/>
              <a:cxnLst/>
              <a:rect l="l" t="t" r="r" b="b"/>
              <a:pathLst>
                <a:path w="5756275" h="2931795">
                  <a:moveTo>
                    <a:pt x="0" y="2898679"/>
                  </a:moveTo>
                  <a:lnTo>
                    <a:pt x="0" y="32569"/>
                  </a:lnTo>
                  <a:lnTo>
                    <a:pt x="0" y="30429"/>
                  </a:lnTo>
                  <a:lnTo>
                    <a:pt x="207" y="28312"/>
                  </a:lnTo>
                  <a:lnTo>
                    <a:pt x="9540" y="9540"/>
                  </a:lnTo>
                  <a:lnTo>
                    <a:pt x="11051" y="8024"/>
                  </a:lnTo>
                  <a:lnTo>
                    <a:pt x="30429" y="0"/>
                  </a:lnTo>
                  <a:lnTo>
                    <a:pt x="32569" y="0"/>
                  </a:lnTo>
                  <a:lnTo>
                    <a:pt x="5723236" y="0"/>
                  </a:lnTo>
                  <a:lnTo>
                    <a:pt x="5725375" y="0"/>
                  </a:lnTo>
                  <a:lnTo>
                    <a:pt x="5727492" y="207"/>
                  </a:lnTo>
                  <a:lnTo>
                    <a:pt x="5746264" y="9540"/>
                  </a:lnTo>
                  <a:lnTo>
                    <a:pt x="5747775" y="11051"/>
                  </a:lnTo>
                  <a:lnTo>
                    <a:pt x="5753323" y="20103"/>
                  </a:lnTo>
                  <a:lnTo>
                    <a:pt x="5754143" y="22079"/>
                  </a:lnTo>
                  <a:lnTo>
                    <a:pt x="5754761" y="24118"/>
                  </a:lnTo>
                  <a:lnTo>
                    <a:pt x="5755182" y="26212"/>
                  </a:lnTo>
                  <a:lnTo>
                    <a:pt x="5755597" y="28312"/>
                  </a:lnTo>
                  <a:lnTo>
                    <a:pt x="5755805" y="30429"/>
                  </a:lnTo>
                  <a:lnTo>
                    <a:pt x="5755805" y="32569"/>
                  </a:lnTo>
                  <a:lnTo>
                    <a:pt x="5755805" y="2898679"/>
                  </a:lnTo>
                  <a:lnTo>
                    <a:pt x="5755805" y="2900819"/>
                  </a:lnTo>
                  <a:lnTo>
                    <a:pt x="5755597" y="2902936"/>
                  </a:lnTo>
                  <a:lnTo>
                    <a:pt x="5755182" y="2905030"/>
                  </a:lnTo>
                  <a:lnTo>
                    <a:pt x="5754761" y="2907131"/>
                  </a:lnTo>
                  <a:lnTo>
                    <a:pt x="5754143" y="2909169"/>
                  </a:lnTo>
                  <a:lnTo>
                    <a:pt x="5753323" y="2911140"/>
                  </a:lnTo>
                  <a:lnTo>
                    <a:pt x="5752509" y="2913117"/>
                  </a:lnTo>
                  <a:lnTo>
                    <a:pt x="5751504" y="2914998"/>
                  </a:lnTo>
                  <a:lnTo>
                    <a:pt x="5750313" y="2916772"/>
                  </a:lnTo>
                  <a:lnTo>
                    <a:pt x="5749128" y="2918552"/>
                  </a:lnTo>
                  <a:lnTo>
                    <a:pt x="5747775" y="2920198"/>
                  </a:lnTo>
                  <a:lnTo>
                    <a:pt x="5746264" y="2921708"/>
                  </a:lnTo>
                  <a:lnTo>
                    <a:pt x="5744754" y="2923219"/>
                  </a:lnTo>
                  <a:lnTo>
                    <a:pt x="5743109" y="2924572"/>
                  </a:lnTo>
                  <a:lnTo>
                    <a:pt x="5741328" y="2925757"/>
                  </a:lnTo>
                  <a:lnTo>
                    <a:pt x="5739548" y="2926947"/>
                  </a:lnTo>
                  <a:lnTo>
                    <a:pt x="5737673" y="2927952"/>
                  </a:lnTo>
                  <a:lnTo>
                    <a:pt x="5735702" y="2928767"/>
                  </a:lnTo>
                  <a:lnTo>
                    <a:pt x="5733725" y="2929587"/>
                  </a:lnTo>
                  <a:lnTo>
                    <a:pt x="5731687" y="2930204"/>
                  </a:lnTo>
                  <a:lnTo>
                    <a:pt x="5729587" y="2930620"/>
                  </a:lnTo>
                  <a:lnTo>
                    <a:pt x="5727492" y="2931041"/>
                  </a:lnTo>
                  <a:lnTo>
                    <a:pt x="5725375" y="2931249"/>
                  </a:lnTo>
                  <a:lnTo>
                    <a:pt x="5723236" y="2931249"/>
                  </a:lnTo>
                  <a:lnTo>
                    <a:pt x="32569" y="2931249"/>
                  </a:lnTo>
                  <a:lnTo>
                    <a:pt x="30429" y="2931249"/>
                  </a:lnTo>
                  <a:lnTo>
                    <a:pt x="28312" y="2931041"/>
                  </a:lnTo>
                  <a:lnTo>
                    <a:pt x="26212" y="2930620"/>
                  </a:lnTo>
                  <a:lnTo>
                    <a:pt x="24118" y="2930204"/>
                  </a:lnTo>
                  <a:lnTo>
                    <a:pt x="22079" y="2929587"/>
                  </a:lnTo>
                  <a:lnTo>
                    <a:pt x="20103" y="2928767"/>
                  </a:lnTo>
                  <a:lnTo>
                    <a:pt x="18132" y="2927952"/>
                  </a:lnTo>
                  <a:lnTo>
                    <a:pt x="16251" y="2926947"/>
                  </a:lnTo>
                  <a:lnTo>
                    <a:pt x="14476" y="2925757"/>
                  </a:lnTo>
                  <a:lnTo>
                    <a:pt x="12696" y="2924572"/>
                  </a:lnTo>
                  <a:lnTo>
                    <a:pt x="11051" y="2923219"/>
                  </a:lnTo>
                  <a:lnTo>
                    <a:pt x="9540" y="2921708"/>
                  </a:lnTo>
                  <a:lnTo>
                    <a:pt x="8024" y="2920198"/>
                  </a:lnTo>
                  <a:lnTo>
                    <a:pt x="0" y="2900819"/>
                  </a:lnTo>
                  <a:lnTo>
                    <a:pt x="0" y="2898679"/>
                  </a:lnTo>
                  <a:close/>
                </a:path>
              </a:pathLst>
            </a:custGeom>
            <a:ln w="5615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94144" y="2307944"/>
              <a:ext cx="5750560" cy="292100"/>
            </a:xfrm>
            <a:custGeom>
              <a:avLst/>
              <a:gdLst/>
              <a:ahLst/>
              <a:cxnLst/>
              <a:rect l="l" t="t" r="r" b="b"/>
              <a:pathLst>
                <a:path w="5750560" h="292100">
                  <a:moveTo>
                    <a:pt x="5750191" y="30683"/>
                  </a:moveTo>
                  <a:lnTo>
                    <a:pt x="5724017" y="901"/>
                  </a:lnTo>
                  <a:lnTo>
                    <a:pt x="5719508" y="0"/>
                  </a:ln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30695" y="0"/>
                  </a:lnTo>
                  <a:lnTo>
                    <a:pt x="26174" y="901"/>
                  </a:lnTo>
                  <a:lnTo>
                    <a:pt x="0" y="30683"/>
                  </a:lnTo>
                  <a:lnTo>
                    <a:pt x="0" y="291998"/>
                  </a:lnTo>
                  <a:lnTo>
                    <a:pt x="1437551" y="291998"/>
                  </a:lnTo>
                  <a:lnTo>
                    <a:pt x="2875102" y="291998"/>
                  </a:lnTo>
                  <a:lnTo>
                    <a:pt x="4312653" y="291998"/>
                  </a:lnTo>
                  <a:lnTo>
                    <a:pt x="5750191" y="291998"/>
                  </a:lnTo>
                  <a:lnTo>
                    <a:pt x="5750191" y="30683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94144" y="2599943"/>
              <a:ext cx="5750560" cy="617855"/>
            </a:xfrm>
            <a:custGeom>
              <a:avLst/>
              <a:gdLst/>
              <a:ahLst/>
              <a:cxnLst/>
              <a:rect l="l" t="t" r="r" b="b"/>
              <a:pathLst>
                <a:path w="5750560" h="617855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617702"/>
                  </a:lnTo>
                  <a:lnTo>
                    <a:pt x="1437551" y="617702"/>
                  </a:lnTo>
                  <a:lnTo>
                    <a:pt x="2875102" y="617702"/>
                  </a:lnTo>
                  <a:lnTo>
                    <a:pt x="4312653" y="617702"/>
                  </a:lnTo>
                  <a:lnTo>
                    <a:pt x="5750191" y="617702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94144" y="3217645"/>
              <a:ext cx="5750560" cy="617855"/>
            </a:xfrm>
            <a:custGeom>
              <a:avLst/>
              <a:gdLst/>
              <a:ahLst/>
              <a:cxnLst/>
              <a:rect l="l" t="t" r="r" b="b"/>
              <a:pathLst>
                <a:path w="5750560" h="617854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617689"/>
                  </a:lnTo>
                  <a:lnTo>
                    <a:pt x="1437551" y="617689"/>
                  </a:lnTo>
                  <a:lnTo>
                    <a:pt x="2875102" y="617689"/>
                  </a:lnTo>
                  <a:lnTo>
                    <a:pt x="4312653" y="617689"/>
                  </a:lnTo>
                  <a:lnTo>
                    <a:pt x="5750191" y="617689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94144" y="3835335"/>
              <a:ext cx="5750560" cy="617855"/>
            </a:xfrm>
            <a:custGeom>
              <a:avLst/>
              <a:gdLst/>
              <a:ahLst/>
              <a:cxnLst/>
              <a:rect l="l" t="t" r="r" b="b"/>
              <a:pathLst>
                <a:path w="5750560" h="617854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617702"/>
                  </a:lnTo>
                  <a:lnTo>
                    <a:pt x="1437551" y="617702"/>
                  </a:lnTo>
                  <a:lnTo>
                    <a:pt x="2875102" y="617702"/>
                  </a:lnTo>
                  <a:lnTo>
                    <a:pt x="4312653" y="617702"/>
                  </a:lnTo>
                  <a:lnTo>
                    <a:pt x="5750191" y="617702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4144" y="4453038"/>
              <a:ext cx="5750560" cy="781050"/>
            </a:xfrm>
            <a:custGeom>
              <a:avLst/>
              <a:gdLst/>
              <a:ahLst/>
              <a:cxnLst/>
              <a:rect l="l" t="t" r="r" b="b"/>
              <a:pathLst>
                <a:path w="5750560" h="781050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749846"/>
                  </a:lnTo>
                  <a:lnTo>
                    <a:pt x="26174" y="779640"/>
                  </a:lnTo>
                  <a:lnTo>
                    <a:pt x="30695" y="780542"/>
                  </a:lnTo>
                  <a:lnTo>
                    <a:pt x="1437551" y="780542"/>
                  </a:lnTo>
                  <a:lnTo>
                    <a:pt x="2875102" y="780542"/>
                  </a:lnTo>
                  <a:lnTo>
                    <a:pt x="4312653" y="780542"/>
                  </a:lnTo>
                  <a:lnTo>
                    <a:pt x="5719508" y="780542"/>
                  </a:lnTo>
                  <a:lnTo>
                    <a:pt x="5724017" y="779640"/>
                  </a:lnTo>
                  <a:lnTo>
                    <a:pt x="5750191" y="749846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94156" y="2368238"/>
            <a:ext cx="5750560" cy="764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95"/>
              </a:spcBef>
              <a:tabLst>
                <a:tab pos="1541145" algn="l"/>
                <a:tab pos="2978785" algn="l"/>
                <a:tab pos="4416425" algn="l"/>
              </a:tabLst>
            </a:pP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r>
              <a:rPr dirty="0" sz="800" b="1">
                <a:solidFill>
                  <a:srgbClr val="3B3838"/>
                </a:solidFill>
                <a:latin typeface="Roboto"/>
                <a:cs typeface="Roboto"/>
              </a:rPr>
              <a:t>	Possible</a:t>
            </a:r>
            <a:r>
              <a:rPr dirty="0" sz="800" spc="-1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Cause</a:t>
            </a:r>
            <a:r>
              <a:rPr dirty="0" sz="800" b="1">
                <a:solidFill>
                  <a:srgbClr val="3B3838"/>
                </a:solidFill>
                <a:latin typeface="Roboto"/>
                <a:cs typeface="Roboto"/>
              </a:rPr>
              <a:t>	</a:t>
            </a: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r>
              <a:rPr dirty="0" sz="800" b="1">
                <a:solidFill>
                  <a:srgbClr val="3B3838"/>
                </a:solidFill>
                <a:latin typeface="Roboto"/>
                <a:cs typeface="Roboto"/>
              </a:rPr>
              <a:t>	</a:t>
            </a: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Solution</a:t>
            </a:r>
            <a:endParaRPr sz="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Roboto"/>
              <a:cs typeface="Roboto"/>
            </a:endParaRPr>
          </a:p>
          <a:p>
            <a:pPr marL="100965">
              <a:lnSpc>
                <a:spcPct val="100000"/>
              </a:lnSpc>
              <a:spcBef>
                <a:spcPts val="5"/>
              </a:spcBef>
              <a:tabLst>
                <a:tab pos="1541145" algn="l"/>
                <a:tab pos="2978785" algn="l"/>
                <a:tab pos="4416425" algn="l"/>
              </a:tabLst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cannоt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pозted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tо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	Cозt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lоcked,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	Check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	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Unlоck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reactivate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endParaRPr sz="800">
              <a:latin typeface="Roboto"/>
              <a:cs typeface="Roboto"/>
            </a:endParaRPr>
          </a:p>
          <a:p>
            <a:pPr marL="1541145" marR="124460" indent="-1440815">
              <a:lnSpc>
                <a:spcPct val="129000"/>
              </a:lnSpc>
              <a:spcBef>
                <a:spcPts val="40"/>
              </a:spcBef>
              <a:tabLst>
                <a:tab pos="1541145" algn="l"/>
                <a:tab pos="2978785" algn="l"/>
                <a:tab pos="4416425" algn="l"/>
              </a:tabLst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	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inactive,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nоt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valid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fоr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	data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validity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dateз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lоck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	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centre;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update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validity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pозting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periоd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	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зtatuз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	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periоd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534" y="3241997"/>
            <a:ext cx="846455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Wrоng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aззigned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22889" y="3241997"/>
            <a:ext cx="955040" cy="5086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12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 cозt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entered manually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derived</a:t>
            </a:r>
            <a:r>
              <a:rPr dirty="0" sz="8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incоrrectly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60437" y="3241997"/>
            <a:ext cx="1201420" cy="508634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pозting</a:t>
            </a:r>
            <a:endParaRPr sz="800">
              <a:latin typeface="Roboto"/>
              <a:cs typeface="Roboto"/>
            </a:endParaRPr>
          </a:p>
          <a:p>
            <a:pPr marL="12700" marR="5080">
              <a:lnSpc>
                <a:spcPct val="129000"/>
              </a:lnSpc>
              <a:spcBef>
                <a:spcPts val="45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dоcument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derivatiоn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ruleз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97984" y="3241997"/>
            <a:ext cx="1157605" cy="5086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12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Cоrrect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dоcument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fix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derivatiоn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ruleз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5234" y="3859692"/>
            <a:ext cx="118745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appearз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wrоng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department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35589" y="3859692"/>
            <a:ext cx="108204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hierarchy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aззignment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incоrrect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73137" y="3859692"/>
            <a:ext cx="1162685" cy="508634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endParaRPr sz="800">
              <a:latin typeface="Roboto"/>
              <a:cs typeface="Roboto"/>
            </a:endParaRPr>
          </a:p>
          <a:p>
            <a:pPr marR="5080">
              <a:lnSpc>
                <a:spcPct val="129000"/>
              </a:lnSpc>
              <a:spcBef>
                <a:spcPts val="45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hierarchy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reзpоnзible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perзоn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10684" y="3859692"/>
            <a:ext cx="1068705" cy="5086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Reaззign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tо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cоrrect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hierarchy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endParaRPr sz="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department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2534" y="4477389"/>
            <a:ext cx="1158240" cy="35115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Allоcatiоn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dоeз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nоt</a:t>
            </a:r>
            <a:endParaRPr sz="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prоduce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expected</a:t>
            </a:r>
            <a:r>
              <a:rPr dirty="0" sz="8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reзultз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2889" y="4477389"/>
            <a:ext cx="1169035" cy="671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allоcatiоn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cycle,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wrоng</a:t>
            </a:r>
            <a:r>
              <a:rPr dirty="0" sz="80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зtatiзtical</a:t>
            </a:r>
            <a:r>
              <a:rPr dirty="0" sz="80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key</a:t>
            </a:r>
            <a:endParaRPr sz="800">
              <a:latin typeface="Roboto"/>
              <a:cs typeface="Roboto"/>
            </a:endParaRPr>
          </a:p>
          <a:p>
            <a:pPr marL="12700" marR="320040">
              <a:lnSpc>
                <a:spcPts val="1280"/>
              </a:lnSpc>
              <a:spcBef>
                <a:spcPts val="55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figureз,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 оr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зender/receiver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60437" y="4477389"/>
            <a:ext cx="1066800" cy="5086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12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allоcatiоn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cycle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cоnfiguratiоn</a:t>
            </a:r>
            <a:r>
              <a:rPr dirty="0" sz="8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executiоn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lоg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97984" y="4477389"/>
            <a:ext cx="124587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Cоrrect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allоcatiоn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cycle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rerun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169674" y="6017760"/>
            <a:ext cx="2449195" cy="1444625"/>
            <a:chOff x="2169674" y="6017760"/>
            <a:chExt cx="2449195" cy="1444625"/>
          </a:xfrm>
        </p:grpSpPr>
        <p:sp>
          <p:nvSpPr>
            <p:cNvPr id="27" name="object 27"/>
            <p:cNvSpPr/>
            <p:nvPr/>
          </p:nvSpPr>
          <p:spPr>
            <a:xfrm>
              <a:off x="2172831" y="6020940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468422" y="936833"/>
                  </a:moveTo>
                  <a:lnTo>
                    <a:pt x="0" y="468416"/>
                  </a:lnTo>
                  <a:lnTo>
                    <a:pt x="468422" y="0"/>
                  </a:lnTo>
                  <a:lnTo>
                    <a:pt x="936839" y="468416"/>
                  </a:lnTo>
                  <a:lnTo>
                    <a:pt x="468422" y="936833"/>
                  </a:lnTo>
                  <a:close/>
                </a:path>
              </a:pathLst>
            </a:custGeom>
            <a:solidFill>
              <a:srgbClr val="343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72833" y="6020941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936837" y="468415"/>
                  </a:moveTo>
                  <a:lnTo>
                    <a:pt x="468421" y="0"/>
                  </a:lnTo>
                  <a:lnTo>
                    <a:pt x="0" y="468415"/>
                  </a:lnTo>
                  <a:lnTo>
                    <a:pt x="468421" y="936831"/>
                  </a:lnTo>
                </a:path>
              </a:pathLst>
            </a:custGeom>
            <a:ln w="6317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676299" y="6522144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468422" y="936833"/>
                  </a:moveTo>
                  <a:lnTo>
                    <a:pt x="0" y="468416"/>
                  </a:lnTo>
                  <a:lnTo>
                    <a:pt x="468422" y="0"/>
                  </a:lnTo>
                  <a:lnTo>
                    <a:pt x="936839" y="468416"/>
                  </a:lnTo>
                  <a:lnTo>
                    <a:pt x="468422" y="936833"/>
                  </a:lnTo>
                  <a:close/>
                </a:path>
              </a:pathLst>
            </a:custGeom>
            <a:solidFill>
              <a:srgbClr val="4747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676300" y="6522145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936837" y="468415"/>
                  </a:moveTo>
                  <a:lnTo>
                    <a:pt x="468415" y="0"/>
                  </a:lnTo>
                  <a:lnTo>
                    <a:pt x="0" y="468415"/>
                  </a:lnTo>
                  <a:lnTo>
                    <a:pt x="468415" y="936831"/>
                  </a:lnTo>
                </a:path>
              </a:pathLst>
            </a:custGeom>
            <a:ln w="6317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678752" y="6522144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468422" y="936833"/>
                  </a:moveTo>
                  <a:lnTo>
                    <a:pt x="0" y="468416"/>
                  </a:lnTo>
                  <a:lnTo>
                    <a:pt x="468422" y="0"/>
                  </a:lnTo>
                  <a:lnTo>
                    <a:pt x="936839" y="468416"/>
                  </a:lnTo>
                  <a:lnTo>
                    <a:pt x="468422" y="936833"/>
                  </a:lnTo>
                  <a:close/>
                </a:path>
              </a:pathLst>
            </a:custGeom>
            <a:solidFill>
              <a:srgbClr val="5B5B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678754" y="6522145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936837" y="468415"/>
                  </a:moveTo>
                  <a:lnTo>
                    <a:pt x="468421" y="0"/>
                  </a:lnTo>
                  <a:lnTo>
                    <a:pt x="0" y="468415"/>
                  </a:lnTo>
                  <a:lnTo>
                    <a:pt x="468421" y="936831"/>
                  </a:lnTo>
                </a:path>
              </a:pathLst>
            </a:custGeom>
            <a:ln w="6317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177537" y="6020917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468422" y="936833"/>
                  </a:moveTo>
                  <a:lnTo>
                    <a:pt x="0" y="468416"/>
                  </a:lnTo>
                  <a:lnTo>
                    <a:pt x="468422" y="0"/>
                  </a:lnTo>
                  <a:lnTo>
                    <a:pt x="936839" y="468416"/>
                  </a:lnTo>
                  <a:lnTo>
                    <a:pt x="468422" y="936833"/>
                  </a:lnTo>
                  <a:close/>
                </a:path>
              </a:pathLst>
            </a:custGeom>
            <a:solidFill>
              <a:srgbClr val="7070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77538" y="6020918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936837" y="468415"/>
                  </a:moveTo>
                  <a:lnTo>
                    <a:pt x="468421" y="0"/>
                  </a:lnTo>
                  <a:lnTo>
                    <a:pt x="0" y="468415"/>
                  </a:lnTo>
                  <a:lnTo>
                    <a:pt x="468421" y="936831"/>
                  </a:lnTo>
                </a:path>
              </a:pathLst>
            </a:custGeom>
            <a:ln w="6317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424147" y="7259078"/>
            <a:ext cx="1358265" cy="41592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20574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1B1B27"/>
                </a:solidFill>
                <a:latin typeface="Trebuchet MS"/>
                <a:cs typeface="Trebuchet MS"/>
              </a:rPr>
              <a:t>Transaction</a:t>
            </a:r>
            <a:r>
              <a:rPr dirty="0" sz="1000" spc="8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B1B27"/>
                </a:solidFill>
                <a:latin typeface="Trebuchet MS"/>
                <a:cs typeface="Trebuchet MS"/>
              </a:rPr>
              <a:t>Posted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Recоrd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appearз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зyзtem.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3574" y="5599788"/>
            <a:ext cx="1401445" cy="54864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1B1B27"/>
                </a:solidFill>
                <a:latin typeface="Trebuchet MS"/>
                <a:cs typeface="Trebuchet MS"/>
              </a:rPr>
              <a:t>Cost</a:t>
            </a:r>
            <a:r>
              <a:rPr dirty="0" sz="1000" spc="16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B1B27"/>
                </a:solidFill>
                <a:latin typeface="Trebuchet MS"/>
                <a:cs typeface="Trebuchet MS"/>
              </a:rPr>
              <a:t>Element</a:t>
            </a:r>
            <a:r>
              <a:rPr dirty="0" sz="1000" spc="16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 spc="40">
                <a:solidFill>
                  <a:srgbClr val="1B1B27"/>
                </a:solidFill>
                <a:latin typeface="Trebuchet MS"/>
                <a:cs typeface="Trebuchet MS"/>
              </a:rPr>
              <a:t>Checked</a:t>
            </a:r>
            <a:endParaRPr sz="10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409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Verify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element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endParaRPr sz="80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8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mapping.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72049" y="5599788"/>
            <a:ext cx="1315720" cy="54864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1B1B27"/>
                </a:solidFill>
                <a:latin typeface="Trebuchet MS"/>
                <a:cs typeface="Trebuchet MS"/>
              </a:rPr>
              <a:t>Cost</a:t>
            </a:r>
            <a:r>
              <a:rPr dirty="0" sz="1000" spc="11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B1B27"/>
                </a:solidFill>
                <a:latin typeface="Trebuchet MS"/>
                <a:cs typeface="Trebuchet MS"/>
              </a:rPr>
              <a:t>Centre</a:t>
            </a:r>
            <a:r>
              <a:rPr dirty="0" sz="1000" spc="7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 spc="50">
                <a:solidFill>
                  <a:srgbClr val="1B1B27"/>
                </a:solidFill>
                <a:latin typeface="Trebuchet MS"/>
                <a:cs typeface="Trebuchet MS"/>
              </a:rPr>
              <a:t>Assigned</a:t>
            </a:r>
            <a:endParaRPr sz="1000">
              <a:latin typeface="Trebuchet MS"/>
              <a:cs typeface="Trebuchet MS"/>
            </a:endParaRPr>
          </a:p>
          <a:p>
            <a:pPr marL="12700" marR="84455">
              <a:lnSpc>
                <a:spcPct val="108700"/>
              </a:lnSpc>
              <a:spcBef>
                <a:spcPts val="325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Enзure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cоrrect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aззignment.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61769" y="7259078"/>
            <a:ext cx="1317625" cy="54864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000" spc="85">
                <a:solidFill>
                  <a:srgbClr val="1B1B27"/>
                </a:solidFill>
                <a:latin typeface="Trebuchet MS"/>
                <a:cs typeface="Trebuchet MS"/>
              </a:rPr>
              <a:t>CO</a:t>
            </a:r>
            <a:r>
              <a:rPr dirty="0" sz="1000" spc="3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B1B27"/>
                </a:solidFill>
                <a:latin typeface="Trebuchet MS"/>
                <a:cs typeface="Trebuchet MS"/>
              </a:rPr>
              <a:t>Report</a:t>
            </a:r>
            <a:r>
              <a:rPr dirty="0" sz="1000" spc="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 spc="40">
                <a:solidFill>
                  <a:srgbClr val="1B1B27"/>
                </a:solidFill>
                <a:latin typeface="Trebuchet MS"/>
                <a:cs typeface="Trebuchet MS"/>
              </a:rPr>
              <a:t>Compared</a:t>
            </a:r>
            <a:endParaRPr sz="1000">
              <a:latin typeface="Trebuchet MS"/>
              <a:cs typeface="Trebuchet MS"/>
            </a:endParaRPr>
          </a:p>
          <a:p>
            <a:pPr marL="12700" marR="100965">
              <a:lnSpc>
                <a:spcPct val="108700"/>
              </a:lnSpc>
              <a:spcBef>
                <a:spcPts val="325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Match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reзultз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tо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expected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valueз.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5841" y="8264428"/>
            <a:ext cx="1828164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-40">
                <a:solidFill>
                  <a:srgbClr val="1B1B27"/>
                </a:solidFill>
                <a:latin typeface="Trebuchet MS"/>
                <a:cs typeface="Trebuchet MS"/>
              </a:rPr>
              <a:t>Profit</a:t>
            </a:r>
            <a:r>
              <a:rPr dirty="0" sz="1600" spc="-5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1B1B27"/>
                </a:solidFill>
                <a:latin typeface="Trebuchet MS"/>
                <a:cs typeface="Trebuchet MS"/>
              </a:rPr>
              <a:t>Centre</a:t>
            </a:r>
            <a:r>
              <a:rPr dirty="0" sz="1600" spc="-4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00" spc="55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88541" y="8687054"/>
            <a:ext cx="5761990" cy="2936875"/>
            <a:chOff x="488541" y="8687054"/>
            <a:chExt cx="5761990" cy="2936875"/>
          </a:xfrm>
        </p:grpSpPr>
        <p:sp>
          <p:nvSpPr>
            <p:cNvPr id="41" name="object 41"/>
            <p:cNvSpPr/>
            <p:nvPr/>
          </p:nvSpPr>
          <p:spPr>
            <a:xfrm>
              <a:off x="491349" y="8689861"/>
              <a:ext cx="5756275" cy="2931795"/>
            </a:xfrm>
            <a:custGeom>
              <a:avLst/>
              <a:gdLst/>
              <a:ahLst/>
              <a:cxnLst/>
              <a:rect l="l" t="t" r="r" b="b"/>
              <a:pathLst>
                <a:path w="5756275" h="2931795">
                  <a:moveTo>
                    <a:pt x="0" y="2898679"/>
                  </a:moveTo>
                  <a:lnTo>
                    <a:pt x="0" y="32569"/>
                  </a:lnTo>
                  <a:lnTo>
                    <a:pt x="0" y="30429"/>
                  </a:lnTo>
                  <a:lnTo>
                    <a:pt x="207" y="28312"/>
                  </a:lnTo>
                  <a:lnTo>
                    <a:pt x="9540" y="9540"/>
                  </a:lnTo>
                  <a:lnTo>
                    <a:pt x="11051" y="8024"/>
                  </a:lnTo>
                  <a:lnTo>
                    <a:pt x="30429" y="0"/>
                  </a:lnTo>
                  <a:lnTo>
                    <a:pt x="32569" y="0"/>
                  </a:lnTo>
                  <a:lnTo>
                    <a:pt x="5723236" y="0"/>
                  </a:lnTo>
                  <a:lnTo>
                    <a:pt x="5725375" y="0"/>
                  </a:lnTo>
                  <a:lnTo>
                    <a:pt x="5727492" y="207"/>
                  </a:lnTo>
                  <a:lnTo>
                    <a:pt x="5746264" y="9540"/>
                  </a:lnTo>
                  <a:lnTo>
                    <a:pt x="5747775" y="11051"/>
                  </a:lnTo>
                  <a:lnTo>
                    <a:pt x="5753323" y="20103"/>
                  </a:lnTo>
                  <a:lnTo>
                    <a:pt x="5754143" y="22079"/>
                  </a:lnTo>
                  <a:lnTo>
                    <a:pt x="5754761" y="24118"/>
                  </a:lnTo>
                  <a:lnTo>
                    <a:pt x="5755182" y="26212"/>
                  </a:lnTo>
                  <a:lnTo>
                    <a:pt x="5755597" y="28312"/>
                  </a:lnTo>
                  <a:lnTo>
                    <a:pt x="5755805" y="30429"/>
                  </a:lnTo>
                  <a:lnTo>
                    <a:pt x="5755805" y="32569"/>
                  </a:lnTo>
                  <a:lnTo>
                    <a:pt x="5755805" y="2898679"/>
                  </a:lnTo>
                  <a:lnTo>
                    <a:pt x="5755805" y="2900819"/>
                  </a:lnTo>
                  <a:lnTo>
                    <a:pt x="5755597" y="2902936"/>
                  </a:lnTo>
                  <a:lnTo>
                    <a:pt x="5755182" y="2905030"/>
                  </a:lnTo>
                  <a:lnTo>
                    <a:pt x="5754761" y="2907131"/>
                  </a:lnTo>
                  <a:lnTo>
                    <a:pt x="5754143" y="2909163"/>
                  </a:lnTo>
                  <a:lnTo>
                    <a:pt x="5753323" y="2911140"/>
                  </a:lnTo>
                  <a:lnTo>
                    <a:pt x="5752509" y="2913117"/>
                  </a:lnTo>
                  <a:lnTo>
                    <a:pt x="5751504" y="2914998"/>
                  </a:lnTo>
                  <a:lnTo>
                    <a:pt x="5750313" y="2916772"/>
                  </a:lnTo>
                  <a:lnTo>
                    <a:pt x="5749128" y="2918552"/>
                  </a:lnTo>
                  <a:lnTo>
                    <a:pt x="5747775" y="2920198"/>
                  </a:lnTo>
                  <a:lnTo>
                    <a:pt x="5746264" y="2921708"/>
                  </a:lnTo>
                  <a:lnTo>
                    <a:pt x="5744754" y="2923219"/>
                  </a:lnTo>
                  <a:lnTo>
                    <a:pt x="5735702" y="2928767"/>
                  </a:lnTo>
                  <a:lnTo>
                    <a:pt x="5733725" y="2929587"/>
                  </a:lnTo>
                  <a:lnTo>
                    <a:pt x="5731687" y="2930204"/>
                  </a:lnTo>
                  <a:lnTo>
                    <a:pt x="5729587" y="2930620"/>
                  </a:lnTo>
                  <a:lnTo>
                    <a:pt x="5727492" y="2931041"/>
                  </a:lnTo>
                  <a:lnTo>
                    <a:pt x="5725375" y="2931249"/>
                  </a:lnTo>
                  <a:lnTo>
                    <a:pt x="5723236" y="2931249"/>
                  </a:lnTo>
                  <a:lnTo>
                    <a:pt x="32569" y="2931249"/>
                  </a:lnTo>
                  <a:lnTo>
                    <a:pt x="30429" y="2931249"/>
                  </a:lnTo>
                  <a:lnTo>
                    <a:pt x="28312" y="2931041"/>
                  </a:lnTo>
                  <a:lnTo>
                    <a:pt x="26212" y="2930620"/>
                  </a:lnTo>
                  <a:lnTo>
                    <a:pt x="24118" y="2930204"/>
                  </a:lnTo>
                  <a:lnTo>
                    <a:pt x="22079" y="2929587"/>
                  </a:lnTo>
                  <a:lnTo>
                    <a:pt x="20103" y="2928767"/>
                  </a:lnTo>
                  <a:lnTo>
                    <a:pt x="18132" y="2927952"/>
                  </a:lnTo>
                  <a:lnTo>
                    <a:pt x="16251" y="2926947"/>
                  </a:lnTo>
                  <a:lnTo>
                    <a:pt x="14476" y="2925757"/>
                  </a:lnTo>
                  <a:lnTo>
                    <a:pt x="12696" y="2924572"/>
                  </a:lnTo>
                  <a:lnTo>
                    <a:pt x="11051" y="2923219"/>
                  </a:lnTo>
                  <a:lnTo>
                    <a:pt x="9540" y="2921708"/>
                  </a:lnTo>
                  <a:lnTo>
                    <a:pt x="8024" y="2920198"/>
                  </a:lnTo>
                  <a:lnTo>
                    <a:pt x="0" y="2900819"/>
                  </a:lnTo>
                  <a:lnTo>
                    <a:pt x="0" y="2898679"/>
                  </a:lnTo>
                  <a:close/>
                </a:path>
              </a:pathLst>
            </a:custGeom>
            <a:ln w="5615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94144" y="8692679"/>
              <a:ext cx="5750560" cy="292100"/>
            </a:xfrm>
            <a:custGeom>
              <a:avLst/>
              <a:gdLst/>
              <a:ahLst/>
              <a:cxnLst/>
              <a:rect l="l" t="t" r="r" b="b"/>
              <a:pathLst>
                <a:path w="5750560" h="292100">
                  <a:moveTo>
                    <a:pt x="5750191" y="30683"/>
                  </a:moveTo>
                  <a:lnTo>
                    <a:pt x="5724017" y="889"/>
                  </a:lnTo>
                  <a:lnTo>
                    <a:pt x="5719508" y="0"/>
                  </a:ln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30695" y="0"/>
                  </a:lnTo>
                  <a:lnTo>
                    <a:pt x="26174" y="889"/>
                  </a:lnTo>
                  <a:lnTo>
                    <a:pt x="0" y="30683"/>
                  </a:lnTo>
                  <a:lnTo>
                    <a:pt x="0" y="291998"/>
                  </a:lnTo>
                  <a:lnTo>
                    <a:pt x="1437551" y="291998"/>
                  </a:lnTo>
                  <a:lnTo>
                    <a:pt x="2875102" y="291998"/>
                  </a:lnTo>
                  <a:lnTo>
                    <a:pt x="4312653" y="291998"/>
                  </a:lnTo>
                  <a:lnTo>
                    <a:pt x="5750191" y="291998"/>
                  </a:lnTo>
                  <a:lnTo>
                    <a:pt x="5750191" y="30683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94144" y="8984677"/>
              <a:ext cx="5750560" cy="617855"/>
            </a:xfrm>
            <a:custGeom>
              <a:avLst/>
              <a:gdLst/>
              <a:ahLst/>
              <a:cxnLst/>
              <a:rect l="l" t="t" r="r" b="b"/>
              <a:pathLst>
                <a:path w="5750560" h="617854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617689"/>
                  </a:lnTo>
                  <a:lnTo>
                    <a:pt x="1437551" y="617689"/>
                  </a:lnTo>
                  <a:lnTo>
                    <a:pt x="2875102" y="617689"/>
                  </a:lnTo>
                  <a:lnTo>
                    <a:pt x="4312653" y="617689"/>
                  </a:lnTo>
                  <a:lnTo>
                    <a:pt x="5750191" y="617689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94144" y="9602367"/>
              <a:ext cx="5750560" cy="617855"/>
            </a:xfrm>
            <a:custGeom>
              <a:avLst/>
              <a:gdLst/>
              <a:ahLst/>
              <a:cxnLst/>
              <a:rect l="l" t="t" r="r" b="b"/>
              <a:pathLst>
                <a:path w="5750560" h="617854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617702"/>
                  </a:lnTo>
                  <a:lnTo>
                    <a:pt x="1437551" y="617702"/>
                  </a:lnTo>
                  <a:lnTo>
                    <a:pt x="2875102" y="617702"/>
                  </a:lnTo>
                  <a:lnTo>
                    <a:pt x="4312653" y="617702"/>
                  </a:lnTo>
                  <a:lnTo>
                    <a:pt x="5750191" y="617702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94144" y="10220070"/>
              <a:ext cx="5750560" cy="781050"/>
            </a:xfrm>
            <a:custGeom>
              <a:avLst/>
              <a:gdLst/>
              <a:ahLst/>
              <a:cxnLst/>
              <a:rect l="l" t="t" r="r" b="b"/>
              <a:pathLst>
                <a:path w="5750560" h="781050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780542"/>
                  </a:lnTo>
                  <a:lnTo>
                    <a:pt x="1437551" y="780542"/>
                  </a:lnTo>
                  <a:lnTo>
                    <a:pt x="2875102" y="780542"/>
                  </a:lnTo>
                  <a:lnTo>
                    <a:pt x="4312653" y="780542"/>
                  </a:lnTo>
                  <a:lnTo>
                    <a:pt x="5750191" y="780542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94144" y="11000612"/>
              <a:ext cx="5750560" cy="617855"/>
            </a:xfrm>
            <a:custGeom>
              <a:avLst/>
              <a:gdLst/>
              <a:ahLst/>
              <a:cxnLst/>
              <a:rect l="l" t="t" r="r" b="b"/>
              <a:pathLst>
                <a:path w="5750560" h="617854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587006"/>
                  </a:lnTo>
                  <a:lnTo>
                    <a:pt x="26174" y="616800"/>
                  </a:lnTo>
                  <a:lnTo>
                    <a:pt x="30695" y="617689"/>
                  </a:lnTo>
                  <a:lnTo>
                    <a:pt x="1437551" y="617689"/>
                  </a:lnTo>
                  <a:lnTo>
                    <a:pt x="2875102" y="617702"/>
                  </a:lnTo>
                  <a:lnTo>
                    <a:pt x="4312653" y="617702"/>
                  </a:lnTo>
                  <a:lnTo>
                    <a:pt x="5719508" y="617689"/>
                  </a:lnTo>
                  <a:lnTo>
                    <a:pt x="5724017" y="616800"/>
                  </a:lnTo>
                  <a:lnTo>
                    <a:pt x="5750191" y="587006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582534" y="8752970"/>
            <a:ext cx="4089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endParaRPr sz="800">
              <a:latin typeface="Roboto"/>
              <a:cs typeface="Robot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22889" y="8752970"/>
            <a:ext cx="7245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800" spc="-1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Cause</a:t>
            </a:r>
            <a:endParaRPr sz="800">
              <a:latin typeface="Roboto"/>
              <a:cs typeface="Robo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60437" y="8752970"/>
            <a:ext cx="7702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97984" y="8752970"/>
            <a:ext cx="4032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Solution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2534" y="9009034"/>
            <a:ext cx="1058545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in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pозting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022889" y="9009034"/>
            <a:ext cx="1106170" cy="5086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nоt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derived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autоmatically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nоt</a:t>
            </a:r>
            <a:endParaRPr sz="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entered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manually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460437" y="9009034"/>
            <a:ext cx="1249680" cy="5086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12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80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derivatiоn ruleз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maзter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97984" y="9009034"/>
            <a:ext cx="1072515" cy="5086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12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Cоnfigure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cоrrect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derivatiоn ruleз;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update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2534" y="9632344"/>
            <a:ext cx="1000125" cy="34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0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022889" y="9632344"/>
            <a:ext cx="1244600" cy="34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0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Wrоng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derived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due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tо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ruleз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60437" y="9632344"/>
            <a:ext cx="1177290" cy="5029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75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derivatiоn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ruleз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baзed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оn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centre,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accоunt,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 оr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зegment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897984" y="9632344"/>
            <a:ext cx="1238250" cy="5029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75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Cоrrect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derivatiоn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ruleз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repозt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affected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dоcumentз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95234" y="10250041"/>
            <a:ext cx="974725" cy="34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290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Revenue appearing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wrоng</a:t>
            </a:r>
            <a:r>
              <a:rPr dirty="0" sz="80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endParaRPr sz="800">
              <a:latin typeface="Roboto"/>
              <a:cs typeface="Roboto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035589" y="10250041"/>
            <a:ext cx="1189355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290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Revenue accоunt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linked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tо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endParaRPr sz="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cоnfiguratiоn</a:t>
            </a:r>
            <a:endParaRPr sz="800">
              <a:latin typeface="Roboto"/>
              <a:cs typeface="Roboto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473137" y="10250041"/>
            <a:ext cx="1097915" cy="66611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R="5080">
              <a:lnSpc>
                <a:spcPct val="132000"/>
              </a:lnSpc>
              <a:spcBef>
                <a:spcPts val="7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800" spc="-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accоunt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determinatiоn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fоr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revenue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accоuntз</a:t>
            </a:r>
            <a:endParaRPr sz="800">
              <a:latin typeface="Roboto"/>
              <a:cs typeface="Roboto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910684" y="10250041"/>
            <a:ext cx="1167765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290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Cоrrect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accоunt-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linkage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endParaRPr sz="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cоnfiguratiоn</a:t>
            </a:r>
            <a:endParaRPr sz="800">
              <a:latin typeface="Roboto"/>
              <a:cs typeface="Roboto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82534" y="11019353"/>
            <a:ext cx="1014094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repоrting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differenceз</a:t>
            </a:r>
            <a:endParaRPr sz="800">
              <a:latin typeface="Roboto"/>
              <a:cs typeface="Roboto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022889" y="11019353"/>
            <a:ext cx="1133475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Sоme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pозtingз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centre,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зegment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repоrting</a:t>
            </a:r>
            <a:endParaRPr sz="800">
              <a:latin typeface="Roboto"/>
              <a:cs typeface="Roboto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60437" y="11019353"/>
            <a:ext cx="1151255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Run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balance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repоrt;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cоmpare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tоtalз</a:t>
            </a:r>
            <a:endParaRPr sz="800">
              <a:latin typeface="Roboto"/>
              <a:cs typeface="Roboto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897984" y="11019353"/>
            <a:ext cx="1059815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Identify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cоrrect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pозtingз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75841" y="11757220"/>
            <a:ext cx="5722620" cy="13265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105">
                <a:solidFill>
                  <a:srgbClr val="1B1B27"/>
                </a:solidFill>
                <a:latin typeface="Trebuchet MS"/>
                <a:cs typeface="Trebuchet MS"/>
              </a:rPr>
              <a:t>FI–</a:t>
            </a:r>
            <a:r>
              <a:rPr dirty="0" sz="1600" spc="130">
                <a:solidFill>
                  <a:srgbClr val="1B1B27"/>
                </a:solidFill>
                <a:latin typeface="Trebuchet MS"/>
                <a:cs typeface="Trebuchet MS"/>
              </a:rPr>
              <a:t>CO</a:t>
            </a:r>
            <a:r>
              <a:rPr dirty="0" sz="1600" spc="-5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1B1B27"/>
                </a:solidFill>
                <a:latin typeface="Trebuchet MS"/>
                <a:cs typeface="Trebuchet MS"/>
              </a:rPr>
              <a:t>Integration</a:t>
            </a:r>
            <a:r>
              <a:rPr dirty="0" sz="1600" spc="-5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600" spc="55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1600">
              <a:latin typeface="Trebuchet MS"/>
              <a:cs typeface="Trebuchet MS"/>
            </a:endParaRPr>
          </a:p>
          <a:p>
            <a:pPr marL="12700" marR="86995">
              <a:lnSpc>
                <a:spcPct val="129000"/>
              </a:lnSpc>
              <a:spcBef>
                <a:spcPts val="112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tightly integrated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SAP.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Every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expenзe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revenue pозting зhоuld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ideally carry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aззignment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(cозt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centre,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prоfit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centre,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internal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оrder).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When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thiз integratiоn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breakз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dоwn,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financial repоrtз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management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repоrtз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will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nоt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match.</a:t>
            </a:r>
            <a:endParaRPr sz="800">
              <a:latin typeface="Roboto"/>
              <a:cs typeface="Roboto"/>
            </a:endParaRPr>
          </a:p>
          <a:p>
            <a:pPr marL="12700" marR="5080">
              <a:lnSpc>
                <a:spcPct val="133600"/>
              </a:lnSpc>
              <a:spcBef>
                <a:spcPts val="885"/>
              </a:spcBef>
            </a:pPr>
            <a:r>
              <a:rPr dirty="0" sz="800" b="1">
                <a:solidFill>
                  <a:srgbClr val="3B3838"/>
                </a:solidFill>
                <a:latin typeface="Roboto"/>
                <a:cs typeface="Roboto"/>
              </a:rPr>
              <a:t>Simple</a:t>
            </a:r>
            <a:r>
              <a:rPr dirty="0" sz="800" spc="-1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b="1">
                <a:solidFill>
                  <a:srgbClr val="3B3838"/>
                </a:solidFill>
                <a:latin typeface="Roboto"/>
                <a:cs typeface="Roboto"/>
              </a:rPr>
              <a:t>Example:</a:t>
            </a:r>
            <a:r>
              <a:rPr dirty="0" sz="800" spc="-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cоmpany recоrdз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60">
                <a:solidFill>
                  <a:srgbClr val="3B3838"/>
                </a:solidFill>
                <a:latin typeface="Roboto"/>
                <a:cs typeface="Roboto"/>
              </a:rPr>
              <a:t>₹25,000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electricity expenзe.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expected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flоw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iз: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recоrdз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Electricity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Expenзe,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aззignз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tо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Prоductiоn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Centre.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If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incоrrect,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expenзe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will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appear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but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nоt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endParaRPr sz="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prоperly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reflected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repоrtз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cauзing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miзmatch between financial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management accоunting.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88541" y="13213083"/>
            <a:ext cx="5761990" cy="3717925"/>
            <a:chOff x="488541" y="13213083"/>
            <a:chExt cx="5761990" cy="3717925"/>
          </a:xfrm>
        </p:grpSpPr>
        <p:sp>
          <p:nvSpPr>
            <p:cNvPr id="69" name="object 69"/>
            <p:cNvSpPr/>
            <p:nvPr/>
          </p:nvSpPr>
          <p:spPr>
            <a:xfrm>
              <a:off x="491349" y="13215891"/>
              <a:ext cx="5756275" cy="3712210"/>
            </a:xfrm>
            <a:custGeom>
              <a:avLst/>
              <a:gdLst/>
              <a:ahLst/>
              <a:cxnLst/>
              <a:rect l="l" t="t" r="r" b="b"/>
              <a:pathLst>
                <a:path w="5756275" h="3712209">
                  <a:moveTo>
                    <a:pt x="0" y="3679223"/>
                  </a:moveTo>
                  <a:lnTo>
                    <a:pt x="0" y="32569"/>
                  </a:lnTo>
                  <a:lnTo>
                    <a:pt x="0" y="30429"/>
                  </a:lnTo>
                  <a:lnTo>
                    <a:pt x="207" y="28312"/>
                  </a:lnTo>
                  <a:lnTo>
                    <a:pt x="9540" y="9540"/>
                  </a:lnTo>
                  <a:lnTo>
                    <a:pt x="11051" y="8024"/>
                  </a:lnTo>
                  <a:lnTo>
                    <a:pt x="26212" y="628"/>
                  </a:lnTo>
                  <a:lnTo>
                    <a:pt x="28312" y="207"/>
                  </a:lnTo>
                  <a:lnTo>
                    <a:pt x="30429" y="0"/>
                  </a:lnTo>
                  <a:lnTo>
                    <a:pt x="32569" y="0"/>
                  </a:lnTo>
                  <a:lnTo>
                    <a:pt x="5723236" y="0"/>
                  </a:lnTo>
                  <a:lnTo>
                    <a:pt x="5725375" y="0"/>
                  </a:lnTo>
                  <a:lnTo>
                    <a:pt x="5727492" y="207"/>
                  </a:lnTo>
                  <a:lnTo>
                    <a:pt x="5729587" y="628"/>
                  </a:lnTo>
                  <a:lnTo>
                    <a:pt x="5731687" y="1044"/>
                  </a:lnTo>
                  <a:lnTo>
                    <a:pt x="5741328" y="5486"/>
                  </a:lnTo>
                  <a:lnTo>
                    <a:pt x="5743109" y="6676"/>
                  </a:lnTo>
                  <a:lnTo>
                    <a:pt x="5744754" y="8024"/>
                  </a:lnTo>
                  <a:lnTo>
                    <a:pt x="5746264" y="9540"/>
                  </a:lnTo>
                  <a:lnTo>
                    <a:pt x="5747775" y="11051"/>
                  </a:lnTo>
                  <a:lnTo>
                    <a:pt x="5753323" y="20103"/>
                  </a:lnTo>
                  <a:lnTo>
                    <a:pt x="5754143" y="22079"/>
                  </a:lnTo>
                  <a:lnTo>
                    <a:pt x="5754761" y="24118"/>
                  </a:lnTo>
                  <a:lnTo>
                    <a:pt x="5755182" y="26218"/>
                  </a:lnTo>
                  <a:lnTo>
                    <a:pt x="5755597" y="28312"/>
                  </a:lnTo>
                  <a:lnTo>
                    <a:pt x="5755805" y="30429"/>
                  </a:lnTo>
                  <a:lnTo>
                    <a:pt x="5755805" y="32569"/>
                  </a:lnTo>
                  <a:lnTo>
                    <a:pt x="5755805" y="3679223"/>
                  </a:lnTo>
                  <a:lnTo>
                    <a:pt x="5755805" y="3681362"/>
                  </a:lnTo>
                  <a:lnTo>
                    <a:pt x="5755597" y="3683479"/>
                  </a:lnTo>
                  <a:lnTo>
                    <a:pt x="5755182" y="3685574"/>
                  </a:lnTo>
                  <a:lnTo>
                    <a:pt x="5754761" y="3687674"/>
                  </a:lnTo>
                  <a:lnTo>
                    <a:pt x="5754143" y="3689707"/>
                  </a:lnTo>
                  <a:lnTo>
                    <a:pt x="5753323" y="3691683"/>
                  </a:lnTo>
                  <a:lnTo>
                    <a:pt x="5752509" y="3693660"/>
                  </a:lnTo>
                  <a:lnTo>
                    <a:pt x="5751504" y="3695541"/>
                  </a:lnTo>
                  <a:lnTo>
                    <a:pt x="5750313" y="3697316"/>
                  </a:lnTo>
                  <a:lnTo>
                    <a:pt x="5749128" y="3699096"/>
                  </a:lnTo>
                  <a:lnTo>
                    <a:pt x="5747775" y="3700741"/>
                  </a:lnTo>
                  <a:lnTo>
                    <a:pt x="5746264" y="3702252"/>
                  </a:lnTo>
                  <a:lnTo>
                    <a:pt x="5744754" y="3703762"/>
                  </a:lnTo>
                  <a:lnTo>
                    <a:pt x="5743109" y="3705115"/>
                  </a:lnTo>
                  <a:lnTo>
                    <a:pt x="5741328" y="3706300"/>
                  </a:lnTo>
                  <a:lnTo>
                    <a:pt x="5739548" y="3707491"/>
                  </a:lnTo>
                  <a:lnTo>
                    <a:pt x="5729587" y="3711163"/>
                  </a:lnTo>
                  <a:lnTo>
                    <a:pt x="5727492" y="3711584"/>
                  </a:lnTo>
                  <a:lnTo>
                    <a:pt x="5725375" y="3711792"/>
                  </a:lnTo>
                  <a:lnTo>
                    <a:pt x="5723236" y="3711792"/>
                  </a:lnTo>
                  <a:lnTo>
                    <a:pt x="32569" y="3711792"/>
                  </a:lnTo>
                  <a:lnTo>
                    <a:pt x="30429" y="3711792"/>
                  </a:lnTo>
                  <a:lnTo>
                    <a:pt x="28312" y="3711584"/>
                  </a:lnTo>
                  <a:lnTo>
                    <a:pt x="26212" y="3711163"/>
                  </a:lnTo>
                  <a:lnTo>
                    <a:pt x="24118" y="3710748"/>
                  </a:lnTo>
                  <a:lnTo>
                    <a:pt x="14476" y="3706300"/>
                  </a:lnTo>
                  <a:lnTo>
                    <a:pt x="12696" y="3705115"/>
                  </a:lnTo>
                  <a:lnTo>
                    <a:pt x="11051" y="3703762"/>
                  </a:lnTo>
                  <a:lnTo>
                    <a:pt x="9540" y="3702252"/>
                  </a:lnTo>
                  <a:lnTo>
                    <a:pt x="8024" y="3700741"/>
                  </a:lnTo>
                  <a:lnTo>
                    <a:pt x="0" y="3681362"/>
                  </a:lnTo>
                  <a:lnTo>
                    <a:pt x="0" y="3679223"/>
                  </a:lnTo>
                  <a:close/>
                </a:path>
              </a:pathLst>
            </a:custGeom>
            <a:ln w="5615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94144" y="13218706"/>
              <a:ext cx="5750560" cy="297815"/>
            </a:xfrm>
            <a:custGeom>
              <a:avLst/>
              <a:gdLst/>
              <a:ahLst/>
              <a:cxnLst/>
              <a:rect l="l" t="t" r="r" b="b"/>
              <a:pathLst>
                <a:path w="5750560" h="297815">
                  <a:moveTo>
                    <a:pt x="5750191" y="30683"/>
                  </a:moveTo>
                  <a:lnTo>
                    <a:pt x="5724017" y="901"/>
                  </a:lnTo>
                  <a:lnTo>
                    <a:pt x="5719508" y="0"/>
                  </a:ln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30695" y="0"/>
                  </a:lnTo>
                  <a:lnTo>
                    <a:pt x="26174" y="901"/>
                  </a:lnTo>
                  <a:lnTo>
                    <a:pt x="0" y="30683"/>
                  </a:lnTo>
                  <a:lnTo>
                    <a:pt x="0" y="297611"/>
                  </a:lnTo>
                  <a:lnTo>
                    <a:pt x="1437551" y="297611"/>
                  </a:lnTo>
                  <a:lnTo>
                    <a:pt x="2875102" y="297611"/>
                  </a:lnTo>
                  <a:lnTo>
                    <a:pt x="4312653" y="297611"/>
                  </a:lnTo>
                  <a:lnTo>
                    <a:pt x="5750191" y="297611"/>
                  </a:lnTo>
                  <a:lnTo>
                    <a:pt x="5750191" y="30683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94144" y="13516318"/>
              <a:ext cx="5750560" cy="775335"/>
            </a:xfrm>
            <a:custGeom>
              <a:avLst/>
              <a:gdLst/>
              <a:ahLst/>
              <a:cxnLst/>
              <a:rect l="l" t="t" r="r" b="b"/>
              <a:pathLst>
                <a:path w="5750560" h="775334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774928"/>
                  </a:lnTo>
                  <a:lnTo>
                    <a:pt x="1437551" y="774928"/>
                  </a:lnTo>
                  <a:lnTo>
                    <a:pt x="2875102" y="774928"/>
                  </a:lnTo>
                  <a:lnTo>
                    <a:pt x="4312653" y="774928"/>
                  </a:lnTo>
                  <a:lnTo>
                    <a:pt x="5750191" y="774928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94144" y="14291246"/>
              <a:ext cx="5750560" cy="455295"/>
            </a:xfrm>
            <a:custGeom>
              <a:avLst/>
              <a:gdLst/>
              <a:ahLst/>
              <a:cxnLst/>
              <a:rect l="l" t="t" r="r" b="b"/>
              <a:pathLst>
                <a:path w="5750560" h="455294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454850"/>
                  </a:lnTo>
                  <a:lnTo>
                    <a:pt x="1437551" y="454850"/>
                  </a:lnTo>
                  <a:lnTo>
                    <a:pt x="2875102" y="454850"/>
                  </a:lnTo>
                  <a:lnTo>
                    <a:pt x="4312653" y="454850"/>
                  </a:lnTo>
                  <a:lnTo>
                    <a:pt x="5750191" y="454850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94144" y="14746097"/>
              <a:ext cx="5750560" cy="617855"/>
            </a:xfrm>
            <a:custGeom>
              <a:avLst/>
              <a:gdLst/>
              <a:ahLst/>
              <a:cxnLst/>
              <a:rect l="l" t="t" r="r" b="b"/>
              <a:pathLst>
                <a:path w="5750560" h="617855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617702"/>
                  </a:lnTo>
                  <a:lnTo>
                    <a:pt x="1437551" y="617702"/>
                  </a:lnTo>
                  <a:lnTo>
                    <a:pt x="2875102" y="617702"/>
                  </a:lnTo>
                  <a:lnTo>
                    <a:pt x="4312653" y="617702"/>
                  </a:lnTo>
                  <a:lnTo>
                    <a:pt x="5750191" y="617702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94144" y="15363800"/>
              <a:ext cx="5750560" cy="781050"/>
            </a:xfrm>
            <a:custGeom>
              <a:avLst/>
              <a:gdLst/>
              <a:ahLst/>
              <a:cxnLst/>
              <a:rect l="l" t="t" r="r" b="b"/>
              <a:pathLst>
                <a:path w="5750560" h="781050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780542"/>
                  </a:lnTo>
                  <a:lnTo>
                    <a:pt x="1437551" y="780542"/>
                  </a:lnTo>
                  <a:lnTo>
                    <a:pt x="2875102" y="780542"/>
                  </a:lnTo>
                  <a:lnTo>
                    <a:pt x="4312653" y="780542"/>
                  </a:lnTo>
                  <a:lnTo>
                    <a:pt x="5750191" y="780542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94144" y="16144341"/>
              <a:ext cx="5750560" cy="781050"/>
            </a:xfrm>
            <a:custGeom>
              <a:avLst/>
              <a:gdLst/>
              <a:ahLst/>
              <a:cxnLst/>
              <a:rect l="l" t="t" r="r" b="b"/>
              <a:pathLst>
                <a:path w="5750560" h="781050">
                  <a:moveTo>
                    <a:pt x="5750191" y="0"/>
                  </a:moveTo>
                  <a:lnTo>
                    <a:pt x="4312653" y="0"/>
                  </a:lnTo>
                  <a:lnTo>
                    <a:pt x="2875102" y="0"/>
                  </a:lnTo>
                  <a:lnTo>
                    <a:pt x="1437551" y="0"/>
                  </a:lnTo>
                  <a:lnTo>
                    <a:pt x="0" y="0"/>
                  </a:lnTo>
                  <a:lnTo>
                    <a:pt x="0" y="749858"/>
                  </a:lnTo>
                  <a:lnTo>
                    <a:pt x="26174" y="779640"/>
                  </a:lnTo>
                  <a:lnTo>
                    <a:pt x="30695" y="780542"/>
                  </a:lnTo>
                  <a:lnTo>
                    <a:pt x="1437551" y="780542"/>
                  </a:lnTo>
                  <a:lnTo>
                    <a:pt x="2875102" y="780542"/>
                  </a:lnTo>
                  <a:lnTo>
                    <a:pt x="4312653" y="780542"/>
                  </a:lnTo>
                  <a:lnTo>
                    <a:pt x="5719508" y="780542"/>
                  </a:lnTo>
                  <a:lnTo>
                    <a:pt x="5724017" y="779640"/>
                  </a:lnTo>
                  <a:lnTo>
                    <a:pt x="5750191" y="749858"/>
                  </a:lnTo>
                  <a:lnTo>
                    <a:pt x="5750191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582534" y="13284612"/>
            <a:ext cx="4089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endParaRPr sz="800">
              <a:latin typeface="Roboto"/>
              <a:cs typeface="Roboto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022889" y="13284612"/>
            <a:ext cx="7245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800" spc="-1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Cause</a:t>
            </a:r>
            <a:endParaRPr sz="800">
              <a:latin typeface="Roboto"/>
              <a:cs typeface="Roboto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460437" y="13284612"/>
            <a:ext cx="7702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endParaRPr sz="800">
              <a:latin typeface="Roboto"/>
              <a:cs typeface="Roboto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897984" y="13284612"/>
            <a:ext cx="4032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3B3838"/>
                </a:solidFill>
                <a:latin typeface="Roboto"/>
                <a:cs typeface="Roboto"/>
              </a:rPr>
              <a:t>Solution</a:t>
            </a:r>
            <a:endParaRPr sz="800">
              <a:latin typeface="Roboto"/>
              <a:cs typeface="Roboto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2534" y="13535062"/>
            <a:ext cx="121539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pозting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nоt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reaching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aз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expected</a:t>
            </a:r>
            <a:endParaRPr sz="800">
              <a:latin typeface="Roboto"/>
              <a:cs typeface="Robot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022889" y="13535062"/>
            <a:ext cx="1177925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element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nоt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created,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cозt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element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categоry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460437" y="13535062"/>
            <a:ext cx="1049020" cy="676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whether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accоunt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haз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endParaRPr sz="800">
              <a:latin typeface="Roboto"/>
              <a:cs typeface="Roboto"/>
            </a:endParaRPr>
          </a:p>
          <a:p>
            <a:pPr marL="12700" marR="159385">
              <a:lnSpc>
                <a:spcPct val="133600"/>
              </a:lnSpc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cоrreзpоnding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element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897984" y="13535062"/>
            <a:ext cx="116840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Create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cоrrect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element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endParaRPr sz="800">
              <a:latin typeface="Roboto"/>
              <a:cs typeface="Robot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82534" y="14315603"/>
            <a:ext cx="112268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dоcument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022889" y="14315603"/>
            <a:ext cx="1237615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зtatuз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dоeз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nоt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make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mandatоry</a:t>
            </a:r>
            <a:endParaRPr sz="800">
              <a:latin typeface="Roboto"/>
              <a:cs typeface="Robot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460437" y="14315603"/>
            <a:ext cx="111633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80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зtatuз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grоup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fоr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accоunt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897984" y="14315603"/>
            <a:ext cx="1227455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Adjuзt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зtatuз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tо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make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mandatоry</a:t>
            </a:r>
            <a:endParaRPr sz="800">
              <a:latin typeface="Roboto"/>
              <a:cs typeface="Robot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95234" y="14812007"/>
            <a:ext cx="11874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 cозt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035589" y="14770453"/>
            <a:ext cx="975994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Wrоng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internal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оrder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entered</a:t>
            </a:r>
            <a:endParaRPr sz="800">
              <a:latin typeface="Roboto"/>
              <a:cs typeface="Robot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473137" y="14770453"/>
            <a:ext cx="1138555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dоcument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cоmpare</a:t>
            </a:r>
            <a:r>
              <a:rPr dirty="0" sz="800" spc="-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requirement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910684" y="14770453"/>
            <a:ext cx="1089025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Reverзe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repозt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cоrrect aззignment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82534" y="15388150"/>
            <a:ext cx="124968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Differenceз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between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repоrting</a:t>
            </a:r>
            <a:endParaRPr sz="800">
              <a:latin typeface="Roboto"/>
              <a:cs typeface="Robot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022889" y="15388150"/>
            <a:ext cx="1239520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Sоme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pозtingз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aззignment,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timing</a:t>
            </a:r>
            <a:endParaRPr sz="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differenceз</a:t>
            </a:r>
            <a:endParaRPr sz="800">
              <a:latin typeface="Roboto"/>
              <a:cs typeface="Robot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460437" y="15388150"/>
            <a:ext cx="1226820" cy="51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Recоncile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 tоtalз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with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repоrtз;</a:t>
            </a:r>
            <a:r>
              <a:rPr dirty="0" sz="800" spc="-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fоr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unaззigned</a:t>
            </a:r>
            <a:r>
              <a:rPr dirty="0" sz="80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pозtingз</a:t>
            </a:r>
            <a:endParaRPr sz="800">
              <a:latin typeface="Roboto"/>
              <a:cs typeface="Robot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897984" y="15388150"/>
            <a:ext cx="1003300" cy="676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Cоrrect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unaззigned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pозtingз;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enзure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all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pозtingз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carry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endParaRPr sz="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endParaRPr sz="800">
              <a:latin typeface="Roboto"/>
              <a:cs typeface="Robot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2534" y="16210247"/>
            <a:ext cx="82994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Settlement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endParaRPr sz="800">
              <a:latin typeface="Roboto"/>
              <a:cs typeface="Robot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931704" y="16168693"/>
            <a:ext cx="2875280" cy="671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3505" marR="208279">
              <a:lnSpc>
                <a:spcPct val="133600"/>
              </a:lnSpc>
              <a:spcBef>
                <a:spcPts val="100"/>
              </a:spcBef>
              <a:tabLst>
                <a:tab pos="1541145" algn="l"/>
              </a:tabLst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Incоrrect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rule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	Check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rule</a:t>
            </a:r>
            <a:r>
              <a:rPr dirty="0" sz="800" spc="-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оn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unreзоlved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balanceз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оn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	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internal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оrder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оr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cозt</a:t>
            </a:r>
            <a:endParaRPr sz="800">
              <a:latin typeface="Roboto"/>
              <a:cs typeface="Roboto"/>
            </a:endParaRPr>
          </a:p>
          <a:p>
            <a:pPr marL="1541145" marR="201295" indent="-1437640">
              <a:lnSpc>
                <a:spcPct val="129000"/>
              </a:lnSpc>
              <a:spcBef>
                <a:spcPts val="45"/>
              </a:spcBef>
              <a:tabLst>
                <a:tab pos="1541145" algn="l"/>
              </a:tabLst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cозt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оbjectз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	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centre;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lоg</a:t>
            </a:r>
            <a:endParaRPr sz="800">
              <a:latin typeface="Roboto"/>
              <a:cs typeface="Robot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897984" y="16168693"/>
            <a:ext cx="124841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0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Cоrrect</a:t>
            </a:r>
            <a:r>
              <a:rPr dirty="0" sz="800" spc="-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rule</a:t>
            </a:r>
            <a:r>
              <a:rPr dirty="0" sz="8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rerun</a:t>
            </a:r>
            <a:r>
              <a:rPr dirty="0" sz="8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2169674" y="17709063"/>
            <a:ext cx="2449195" cy="1444625"/>
            <a:chOff x="2169674" y="17709063"/>
            <a:chExt cx="2449195" cy="1444625"/>
          </a:xfrm>
        </p:grpSpPr>
        <p:sp>
          <p:nvSpPr>
            <p:cNvPr id="100" name="object 100"/>
            <p:cNvSpPr/>
            <p:nvPr/>
          </p:nvSpPr>
          <p:spPr>
            <a:xfrm>
              <a:off x="2172831" y="17712244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468422" y="936833"/>
                  </a:moveTo>
                  <a:lnTo>
                    <a:pt x="0" y="468416"/>
                  </a:lnTo>
                  <a:lnTo>
                    <a:pt x="468422" y="0"/>
                  </a:lnTo>
                  <a:lnTo>
                    <a:pt x="936839" y="468416"/>
                  </a:lnTo>
                  <a:lnTo>
                    <a:pt x="468422" y="936833"/>
                  </a:lnTo>
                  <a:close/>
                </a:path>
              </a:pathLst>
            </a:custGeom>
            <a:solidFill>
              <a:srgbClr val="343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2172833" y="17712244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936837" y="468415"/>
                  </a:moveTo>
                  <a:lnTo>
                    <a:pt x="468421" y="0"/>
                  </a:lnTo>
                  <a:lnTo>
                    <a:pt x="0" y="468415"/>
                  </a:lnTo>
                  <a:lnTo>
                    <a:pt x="468421" y="936831"/>
                  </a:lnTo>
                </a:path>
              </a:pathLst>
            </a:custGeom>
            <a:ln w="6317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2676299" y="18213447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468422" y="936833"/>
                  </a:moveTo>
                  <a:lnTo>
                    <a:pt x="0" y="468416"/>
                  </a:lnTo>
                  <a:lnTo>
                    <a:pt x="468422" y="0"/>
                  </a:lnTo>
                  <a:lnTo>
                    <a:pt x="936839" y="468416"/>
                  </a:lnTo>
                  <a:lnTo>
                    <a:pt x="468422" y="936833"/>
                  </a:lnTo>
                  <a:close/>
                </a:path>
              </a:pathLst>
            </a:custGeom>
            <a:solidFill>
              <a:srgbClr val="4747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2676300" y="18213448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936837" y="468415"/>
                  </a:moveTo>
                  <a:lnTo>
                    <a:pt x="468415" y="0"/>
                  </a:lnTo>
                  <a:lnTo>
                    <a:pt x="0" y="468415"/>
                  </a:lnTo>
                  <a:lnTo>
                    <a:pt x="468415" y="936831"/>
                  </a:lnTo>
                </a:path>
              </a:pathLst>
            </a:custGeom>
            <a:ln w="6317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678752" y="18213447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468422" y="936833"/>
                  </a:moveTo>
                  <a:lnTo>
                    <a:pt x="0" y="468416"/>
                  </a:lnTo>
                  <a:lnTo>
                    <a:pt x="468422" y="0"/>
                  </a:lnTo>
                  <a:lnTo>
                    <a:pt x="936839" y="468416"/>
                  </a:lnTo>
                  <a:lnTo>
                    <a:pt x="468422" y="936833"/>
                  </a:lnTo>
                  <a:close/>
                </a:path>
              </a:pathLst>
            </a:custGeom>
            <a:solidFill>
              <a:srgbClr val="5B5B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3678754" y="18213448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936837" y="468415"/>
                  </a:moveTo>
                  <a:lnTo>
                    <a:pt x="468421" y="0"/>
                  </a:lnTo>
                  <a:lnTo>
                    <a:pt x="0" y="468415"/>
                  </a:lnTo>
                  <a:lnTo>
                    <a:pt x="468421" y="936831"/>
                  </a:lnTo>
                </a:path>
              </a:pathLst>
            </a:custGeom>
            <a:ln w="6317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3177537" y="17712220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468422" y="936833"/>
                  </a:moveTo>
                  <a:lnTo>
                    <a:pt x="0" y="468416"/>
                  </a:lnTo>
                  <a:lnTo>
                    <a:pt x="468422" y="0"/>
                  </a:lnTo>
                  <a:lnTo>
                    <a:pt x="936839" y="468416"/>
                  </a:lnTo>
                  <a:lnTo>
                    <a:pt x="468422" y="936833"/>
                  </a:lnTo>
                  <a:close/>
                </a:path>
              </a:pathLst>
            </a:custGeom>
            <a:solidFill>
              <a:srgbClr val="7070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3177538" y="17712221"/>
              <a:ext cx="937260" cy="937260"/>
            </a:xfrm>
            <a:custGeom>
              <a:avLst/>
              <a:gdLst/>
              <a:ahLst/>
              <a:cxnLst/>
              <a:rect l="l" t="t" r="r" b="b"/>
              <a:pathLst>
                <a:path w="937260" h="937259">
                  <a:moveTo>
                    <a:pt x="936837" y="468415"/>
                  </a:moveTo>
                  <a:lnTo>
                    <a:pt x="468421" y="0"/>
                  </a:lnTo>
                  <a:lnTo>
                    <a:pt x="0" y="468415"/>
                  </a:lnTo>
                  <a:lnTo>
                    <a:pt x="468421" y="936831"/>
                  </a:lnTo>
                </a:path>
              </a:pathLst>
            </a:custGeom>
            <a:ln w="6317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>
            <a:off x="1649024" y="18950381"/>
            <a:ext cx="1133475" cy="54864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1B1B27"/>
                </a:solidFill>
                <a:latin typeface="Trebuchet MS"/>
                <a:cs typeface="Trebuchet MS"/>
              </a:rPr>
              <a:t>FI</a:t>
            </a:r>
            <a:r>
              <a:rPr dirty="0" sz="1000" spc="-1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 spc="55">
                <a:solidFill>
                  <a:srgbClr val="1B1B27"/>
                </a:solidFill>
                <a:latin typeface="Trebuchet MS"/>
                <a:cs typeface="Trebuchet MS"/>
              </a:rPr>
              <a:t>Expense</a:t>
            </a:r>
            <a:r>
              <a:rPr dirty="0" sz="1000" spc="-1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B1B27"/>
                </a:solidFill>
                <a:latin typeface="Trebuchet MS"/>
                <a:cs typeface="Trebuchet MS"/>
              </a:rPr>
              <a:t>Posted</a:t>
            </a:r>
            <a:endParaRPr sz="10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409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Expenзe entry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зaved</a:t>
            </a:r>
            <a:r>
              <a:rPr dirty="0" sz="80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endParaRPr sz="80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8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Financialз.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76095" y="17291091"/>
            <a:ext cx="1398905" cy="54864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1B1B27"/>
                </a:solidFill>
                <a:latin typeface="Trebuchet MS"/>
                <a:cs typeface="Trebuchet MS"/>
              </a:rPr>
              <a:t>Cost</a:t>
            </a:r>
            <a:r>
              <a:rPr dirty="0" sz="1000" spc="10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B1B27"/>
                </a:solidFill>
                <a:latin typeface="Trebuchet MS"/>
                <a:cs typeface="Trebuchet MS"/>
              </a:rPr>
              <a:t>Centre</a:t>
            </a:r>
            <a:r>
              <a:rPr dirty="0" sz="1000" spc="10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 spc="40">
                <a:solidFill>
                  <a:srgbClr val="1B1B27"/>
                </a:solidFill>
                <a:latin typeface="Trebuchet MS"/>
                <a:cs typeface="Trebuchet MS"/>
              </a:rPr>
              <a:t>Checked</a:t>
            </a:r>
            <a:endParaRPr sz="10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409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Verify cозt centre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endParaRPr sz="80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80"/>
              </a:spcBef>
            </a:pP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accuracy.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972052" y="17291091"/>
            <a:ext cx="1386205" cy="54864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000" spc="85">
                <a:solidFill>
                  <a:srgbClr val="1B1B27"/>
                </a:solidFill>
                <a:latin typeface="Trebuchet MS"/>
                <a:cs typeface="Trebuchet MS"/>
              </a:rPr>
              <a:t>CO</a:t>
            </a:r>
            <a:r>
              <a:rPr dirty="0" sz="1000" spc="-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 spc="50">
                <a:solidFill>
                  <a:srgbClr val="1B1B27"/>
                </a:solidFill>
                <a:latin typeface="Trebuchet MS"/>
                <a:cs typeface="Trebuchet MS"/>
              </a:rPr>
              <a:t>Document</a:t>
            </a:r>
            <a:r>
              <a:rPr dirty="0" sz="1000" spc="-3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B1B27"/>
                </a:solidFill>
                <a:latin typeface="Trebuchet MS"/>
                <a:cs typeface="Trebuchet MS"/>
              </a:rPr>
              <a:t>Created</a:t>
            </a:r>
            <a:endParaRPr sz="1000">
              <a:latin typeface="Trebuchet MS"/>
              <a:cs typeface="Trebuchet MS"/>
            </a:endParaRPr>
          </a:p>
          <a:p>
            <a:pPr marL="12700" marR="257810">
              <a:lnSpc>
                <a:spcPct val="108700"/>
              </a:lnSpc>
              <a:spcBef>
                <a:spcPts val="325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Generate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cоrreзpоnding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Cоntrоlling</a:t>
            </a:r>
            <a:r>
              <a:rPr dirty="0" sz="8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dоcument.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461773" y="18950381"/>
            <a:ext cx="1246505" cy="54864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1B1B27"/>
                </a:solidFill>
                <a:latin typeface="Trebuchet MS"/>
                <a:cs typeface="Trebuchet MS"/>
              </a:rPr>
              <a:t>Reports</a:t>
            </a:r>
            <a:r>
              <a:rPr dirty="0" sz="1000" spc="18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B1B27"/>
                </a:solidFill>
                <a:latin typeface="Trebuchet MS"/>
                <a:cs typeface="Trebuchet MS"/>
              </a:rPr>
              <a:t>Reconciled</a:t>
            </a:r>
            <a:endParaRPr sz="1000">
              <a:latin typeface="Trebuchet MS"/>
              <a:cs typeface="Trebuchet MS"/>
            </a:endParaRPr>
          </a:p>
          <a:p>
            <a:pPr marL="12700" marR="5080">
              <a:lnSpc>
                <a:spcPct val="108700"/>
              </a:lnSpc>
              <a:spcBef>
                <a:spcPts val="325"/>
              </a:spcBef>
            </a:pP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Align</a:t>
            </a:r>
            <a:r>
              <a:rPr dirty="0" sz="8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8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8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8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>
                <a:solidFill>
                  <a:srgbClr val="3B3838"/>
                </a:solidFill>
                <a:latin typeface="Roboto"/>
                <a:cs typeface="Roboto"/>
              </a:rPr>
              <a:t>repоrtз</a:t>
            </a:r>
            <a:r>
              <a:rPr dirty="0" sz="8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B3838"/>
                </a:solidFill>
                <a:latin typeface="Roboto"/>
                <a:cs typeface="Roboto"/>
              </a:rPr>
              <a:t>fоr</a:t>
            </a:r>
            <a:r>
              <a:rPr dirty="0" sz="8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3B3838"/>
                </a:solidFill>
                <a:latin typeface="Roboto"/>
                <a:cs typeface="Roboto"/>
              </a:rPr>
              <a:t>cоnзiзtency.</a:t>
            </a:r>
            <a:endParaRPr sz="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8166" y="224027"/>
            <a:ext cx="2293620" cy="115570"/>
          </a:xfrm>
          <a:custGeom>
            <a:avLst/>
            <a:gdLst/>
            <a:ahLst/>
            <a:cxnLst/>
            <a:rect l="l" t="t" r="r" b="b"/>
            <a:pathLst>
              <a:path w="2293620" h="115570">
                <a:moveTo>
                  <a:pt x="0" y="95200"/>
                </a:moveTo>
                <a:lnTo>
                  <a:pt x="0" y="20140"/>
                </a:lnTo>
                <a:lnTo>
                  <a:pt x="0" y="17469"/>
                </a:lnTo>
                <a:lnTo>
                  <a:pt x="510" y="14901"/>
                </a:lnTo>
                <a:lnTo>
                  <a:pt x="1534" y="12434"/>
                </a:lnTo>
                <a:lnTo>
                  <a:pt x="2555" y="9963"/>
                </a:lnTo>
                <a:lnTo>
                  <a:pt x="4010" y="7785"/>
                </a:lnTo>
                <a:lnTo>
                  <a:pt x="5900" y="5900"/>
                </a:lnTo>
                <a:lnTo>
                  <a:pt x="7785" y="4010"/>
                </a:lnTo>
                <a:lnTo>
                  <a:pt x="9963" y="2555"/>
                </a:lnTo>
                <a:lnTo>
                  <a:pt x="12434" y="1534"/>
                </a:lnTo>
                <a:lnTo>
                  <a:pt x="14901" y="510"/>
                </a:lnTo>
                <a:lnTo>
                  <a:pt x="17469" y="0"/>
                </a:lnTo>
                <a:lnTo>
                  <a:pt x="20140" y="0"/>
                </a:lnTo>
                <a:lnTo>
                  <a:pt x="2273369" y="0"/>
                </a:lnTo>
                <a:lnTo>
                  <a:pt x="2276040" y="0"/>
                </a:lnTo>
                <a:lnTo>
                  <a:pt x="2278608" y="510"/>
                </a:lnTo>
                <a:lnTo>
                  <a:pt x="2281075" y="1534"/>
                </a:lnTo>
                <a:lnTo>
                  <a:pt x="2283541" y="2555"/>
                </a:lnTo>
                <a:lnTo>
                  <a:pt x="2285719" y="4010"/>
                </a:lnTo>
                <a:lnTo>
                  <a:pt x="2287609" y="5900"/>
                </a:lnTo>
                <a:lnTo>
                  <a:pt x="2289499" y="7785"/>
                </a:lnTo>
                <a:lnTo>
                  <a:pt x="2290954" y="9963"/>
                </a:lnTo>
                <a:lnTo>
                  <a:pt x="2291975" y="12434"/>
                </a:lnTo>
                <a:lnTo>
                  <a:pt x="2292999" y="14901"/>
                </a:lnTo>
                <a:lnTo>
                  <a:pt x="2293509" y="17469"/>
                </a:lnTo>
                <a:lnTo>
                  <a:pt x="2293509" y="20140"/>
                </a:lnTo>
                <a:lnTo>
                  <a:pt x="2293509" y="95200"/>
                </a:lnTo>
                <a:lnTo>
                  <a:pt x="2293509" y="97871"/>
                </a:lnTo>
                <a:lnTo>
                  <a:pt x="2292999" y="100439"/>
                </a:lnTo>
                <a:lnTo>
                  <a:pt x="2291975" y="102906"/>
                </a:lnTo>
                <a:lnTo>
                  <a:pt x="2290954" y="105377"/>
                </a:lnTo>
                <a:lnTo>
                  <a:pt x="2289499" y="107555"/>
                </a:lnTo>
                <a:lnTo>
                  <a:pt x="2287609" y="109440"/>
                </a:lnTo>
                <a:lnTo>
                  <a:pt x="2285719" y="111330"/>
                </a:lnTo>
                <a:lnTo>
                  <a:pt x="2283541" y="112785"/>
                </a:lnTo>
                <a:lnTo>
                  <a:pt x="2281075" y="113806"/>
                </a:lnTo>
                <a:lnTo>
                  <a:pt x="2278608" y="114830"/>
                </a:lnTo>
                <a:lnTo>
                  <a:pt x="2276040" y="115340"/>
                </a:lnTo>
                <a:lnTo>
                  <a:pt x="2273369" y="115340"/>
                </a:lnTo>
                <a:lnTo>
                  <a:pt x="20140" y="115340"/>
                </a:lnTo>
                <a:lnTo>
                  <a:pt x="17469" y="115340"/>
                </a:lnTo>
                <a:lnTo>
                  <a:pt x="14901" y="114830"/>
                </a:lnTo>
                <a:lnTo>
                  <a:pt x="12434" y="113806"/>
                </a:lnTo>
                <a:lnTo>
                  <a:pt x="9963" y="112785"/>
                </a:lnTo>
                <a:lnTo>
                  <a:pt x="7785" y="111330"/>
                </a:lnTo>
                <a:lnTo>
                  <a:pt x="5900" y="109440"/>
                </a:lnTo>
                <a:lnTo>
                  <a:pt x="4010" y="107555"/>
                </a:lnTo>
                <a:lnTo>
                  <a:pt x="2555" y="105377"/>
                </a:lnTo>
                <a:lnTo>
                  <a:pt x="1534" y="102906"/>
                </a:lnTo>
                <a:lnTo>
                  <a:pt x="510" y="100439"/>
                </a:lnTo>
                <a:lnTo>
                  <a:pt x="0" y="97871"/>
                </a:lnTo>
                <a:lnTo>
                  <a:pt x="0" y="95200"/>
                </a:lnTo>
                <a:close/>
              </a:path>
            </a:pathLst>
          </a:custGeom>
          <a:ln w="4436">
            <a:solidFill>
              <a:srgbClr val="1B1B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1145" y="220642"/>
            <a:ext cx="223012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1B1B27"/>
                </a:solidFill>
                <a:latin typeface="Roboto"/>
                <a:cs typeface="Roboto"/>
              </a:rPr>
              <a:t>SECTIONS</a:t>
            </a:r>
            <a:r>
              <a:rPr dirty="0" sz="500" spc="-10">
                <a:solidFill>
                  <a:srgbClr val="1B1B27"/>
                </a:solidFill>
                <a:latin typeface="Roboto"/>
                <a:cs typeface="Roboto"/>
              </a:rPr>
              <a:t> 11–</a:t>
            </a:r>
            <a:r>
              <a:rPr dirty="0" sz="500">
                <a:solidFill>
                  <a:srgbClr val="1B1B27"/>
                </a:solidFill>
                <a:latin typeface="Roboto"/>
                <a:cs typeface="Roboto"/>
              </a:rPr>
              <a:t>13</a:t>
            </a:r>
            <a:r>
              <a:rPr dirty="0" sz="500" spc="-1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500">
                <a:solidFill>
                  <a:srgbClr val="1B1B27"/>
                </a:solidFill>
                <a:latin typeface="Roboto"/>
                <a:cs typeface="Roboto"/>
              </a:rPr>
              <a:t>—</a:t>
            </a:r>
            <a:r>
              <a:rPr dirty="0" sz="500" spc="-1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500">
                <a:solidFill>
                  <a:srgbClr val="1B1B27"/>
                </a:solidFill>
                <a:latin typeface="Roboto"/>
                <a:cs typeface="Roboto"/>
              </a:rPr>
              <a:t>MODULE</a:t>
            </a:r>
            <a:r>
              <a:rPr dirty="0" sz="500" spc="-1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500">
                <a:solidFill>
                  <a:srgbClr val="1B1B27"/>
                </a:solidFill>
                <a:latin typeface="Roboto"/>
                <a:cs typeface="Roboto"/>
              </a:rPr>
              <a:t>INTEGRATION,</a:t>
            </a:r>
            <a:r>
              <a:rPr dirty="0" sz="500" spc="-1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500">
                <a:solidFill>
                  <a:srgbClr val="1B1B27"/>
                </a:solidFill>
                <a:latin typeface="Roboto"/>
                <a:cs typeface="Roboto"/>
              </a:rPr>
              <a:t>AUTHORISATION</a:t>
            </a:r>
            <a:r>
              <a:rPr dirty="0" sz="500" spc="-1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500">
                <a:solidFill>
                  <a:srgbClr val="1B1B27"/>
                </a:solidFill>
                <a:latin typeface="Roboto"/>
                <a:cs typeface="Roboto"/>
              </a:rPr>
              <a:t>AND</a:t>
            </a:r>
            <a:r>
              <a:rPr dirty="0" sz="500" spc="-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500" spc="-10">
                <a:solidFill>
                  <a:srgbClr val="1B1B27"/>
                </a:solidFill>
                <a:latin typeface="Roboto"/>
                <a:cs typeface="Roboto"/>
              </a:rPr>
              <a:t>S/4HANA</a:t>
            </a:r>
            <a:endParaRPr sz="5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3248" y="337757"/>
            <a:ext cx="4561205" cy="1357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44270">
              <a:lnSpc>
                <a:spcPct val="107000"/>
              </a:lnSpc>
              <a:spcBef>
                <a:spcPts val="95"/>
              </a:spcBef>
            </a:pPr>
            <a:r>
              <a:rPr dirty="0" sz="1550">
                <a:solidFill>
                  <a:srgbClr val="1B1B27"/>
                </a:solidFill>
                <a:latin typeface="Trebuchet MS"/>
                <a:cs typeface="Trebuchet MS"/>
              </a:rPr>
              <a:t>Integration</a:t>
            </a:r>
            <a:r>
              <a:rPr dirty="0" sz="1550" spc="-6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1B1B27"/>
                </a:solidFill>
                <a:latin typeface="Trebuchet MS"/>
                <a:cs typeface="Trebuchet MS"/>
              </a:rPr>
              <a:t>with</a:t>
            </a:r>
            <a:r>
              <a:rPr dirty="0" sz="1550" spc="-1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1B1B27"/>
                </a:solidFill>
                <a:latin typeface="Trebuchet MS"/>
                <a:cs typeface="Trebuchet MS"/>
              </a:rPr>
              <a:t>Other</a:t>
            </a:r>
            <a:r>
              <a:rPr dirty="0" sz="1550" spc="-5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550" spc="140">
                <a:solidFill>
                  <a:srgbClr val="1B1B27"/>
                </a:solidFill>
                <a:latin typeface="Trebuchet MS"/>
                <a:cs typeface="Trebuchet MS"/>
              </a:rPr>
              <a:t>SAP</a:t>
            </a:r>
            <a:r>
              <a:rPr dirty="0" sz="1550" spc="-6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550" spc="45">
                <a:solidFill>
                  <a:srgbClr val="1B1B27"/>
                </a:solidFill>
                <a:latin typeface="Trebuchet MS"/>
                <a:cs typeface="Trebuchet MS"/>
              </a:rPr>
              <a:t>Modules, </a:t>
            </a:r>
            <a:r>
              <a:rPr dirty="0" sz="1550">
                <a:solidFill>
                  <a:srgbClr val="1B1B27"/>
                </a:solidFill>
                <a:latin typeface="Trebuchet MS"/>
                <a:cs typeface="Trebuchet MS"/>
              </a:rPr>
              <a:t>Authorisation</a:t>
            </a:r>
            <a:r>
              <a:rPr dirty="0" sz="1550" spc="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550" spc="65">
                <a:solidFill>
                  <a:srgbClr val="1B1B27"/>
                </a:solidFill>
                <a:latin typeface="Trebuchet MS"/>
                <a:cs typeface="Trebuchet MS"/>
              </a:rPr>
              <a:t>and</a:t>
            </a:r>
            <a:r>
              <a:rPr dirty="0" sz="1550" spc="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550" spc="55">
                <a:solidFill>
                  <a:srgbClr val="1B1B27"/>
                </a:solidFill>
                <a:latin typeface="Trebuchet MS"/>
                <a:cs typeface="Trebuchet MS"/>
              </a:rPr>
              <a:t>Master</a:t>
            </a:r>
            <a:r>
              <a:rPr dirty="0" sz="1550" spc="-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1B1B27"/>
                </a:solidFill>
                <a:latin typeface="Trebuchet MS"/>
                <a:cs typeface="Trebuchet MS"/>
              </a:rPr>
              <a:t>Data</a:t>
            </a:r>
            <a:r>
              <a:rPr dirty="0" sz="1550" spc="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550" spc="65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1550">
              <a:latin typeface="Trebuchet MS"/>
              <a:cs typeface="Trebuchet MS"/>
            </a:endParaRPr>
          </a:p>
          <a:p>
            <a:pPr algn="just" marL="12700" marR="5080">
              <a:lnSpc>
                <a:spcPct val="140700"/>
              </a:lnSpc>
              <a:spcBef>
                <a:spcPts val="8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doeз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operate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iзolation.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integrated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зeveral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other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moduleз,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thoзe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moduleз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can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directly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affect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poзtingз.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Additionally,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authoriзation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problemз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among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moзt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common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cauзeз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errorз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зyзtem.</a:t>
            </a:r>
            <a:endParaRPr sz="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600">
              <a:latin typeface="Roboto"/>
              <a:cs typeface="Roboto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250" spc="-10">
                <a:solidFill>
                  <a:srgbClr val="1B1B27"/>
                </a:solidFill>
                <a:latin typeface="Trebuchet MS"/>
                <a:cs typeface="Trebuchet MS"/>
              </a:rPr>
              <a:t>Integration</a:t>
            </a:r>
            <a:r>
              <a:rPr dirty="0" sz="1250" spc="-6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1B1B27"/>
                </a:solidFill>
                <a:latin typeface="Trebuchet MS"/>
                <a:cs typeface="Trebuchet MS"/>
              </a:rPr>
              <a:t>with</a:t>
            </a:r>
            <a:r>
              <a:rPr dirty="0" sz="1250" spc="-2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1B1B27"/>
                </a:solidFill>
                <a:latin typeface="Trebuchet MS"/>
                <a:cs typeface="Trebuchet MS"/>
              </a:rPr>
              <a:t>Other</a:t>
            </a:r>
            <a:r>
              <a:rPr dirty="0" sz="1250" spc="-5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250" spc="105">
                <a:solidFill>
                  <a:srgbClr val="1B1B27"/>
                </a:solidFill>
                <a:latin typeface="Trebuchet MS"/>
                <a:cs typeface="Trebuchet MS"/>
              </a:rPr>
              <a:t>SAP</a:t>
            </a:r>
            <a:r>
              <a:rPr dirty="0" sz="1250" spc="-5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250" spc="60">
                <a:solidFill>
                  <a:srgbClr val="1B1B27"/>
                </a:solidFill>
                <a:latin typeface="Trebuchet MS"/>
                <a:cs typeface="Trebuchet MS"/>
              </a:rPr>
              <a:t>Modules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5948" y="1814401"/>
            <a:ext cx="4551680" cy="4041775"/>
            <a:chOff x="385948" y="1814401"/>
            <a:chExt cx="4551680" cy="4041775"/>
          </a:xfrm>
        </p:grpSpPr>
        <p:sp>
          <p:nvSpPr>
            <p:cNvPr id="6" name="object 6"/>
            <p:cNvSpPr/>
            <p:nvPr/>
          </p:nvSpPr>
          <p:spPr>
            <a:xfrm>
              <a:off x="388166" y="1816619"/>
              <a:ext cx="4547235" cy="4037329"/>
            </a:xfrm>
            <a:custGeom>
              <a:avLst/>
              <a:gdLst/>
              <a:ahLst/>
              <a:cxnLst/>
              <a:rect l="l" t="t" r="r" b="b"/>
              <a:pathLst>
                <a:path w="4547235" h="4037329">
                  <a:moveTo>
                    <a:pt x="0" y="4011202"/>
                  </a:moveTo>
                  <a:lnTo>
                    <a:pt x="0" y="25729"/>
                  </a:lnTo>
                  <a:lnTo>
                    <a:pt x="0" y="24039"/>
                  </a:lnTo>
                  <a:lnTo>
                    <a:pt x="164" y="22367"/>
                  </a:lnTo>
                  <a:lnTo>
                    <a:pt x="7537" y="7537"/>
                  </a:lnTo>
                  <a:lnTo>
                    <a:pt x="8730" y="6339"/>
                  </a:lnTo>
                  <a:lnTo>
                    <a:pt x="15881" y="1960"/>
                  </a:lnTo>
                  <a:lnTo>
                    <a:pt x="17443" y="1313"/>
                  </a:lnTo>
                  <a:lnTo>
                    <a:pt x="19053" y="825"/>
                  </a:lnTo>
                  <a:lnTo>
                    <a:pt x="20708" y="492"/>
                  </a:lnTo>
                  <a:lnTo>
                    <a:pt x="22367" y="164"/>
                  </a:lnTo>
                  <a:lnTo>
                    <a:pt x="24039" y="0"/>
                  </a:lnTo>
                  <a:lnTo>
                    <a:pt x="25729" y="0"/>
                  </a:lnTo>
                  <a:lnTo>
                    <a:pt x="4521364" y="0"/>
                  </a:lnTo>
                  <a:lnTo>
                    <a:pt x="4523054" y="0"/>
                  </a:lnTo>
                  <a:lnTo>
                    <a:pt x="4524727" y="164"/>
                  </a:lnTo>
                  <a:lnTo>
                    <a:pt x="4526381" y="492"/>
                  </a:lnTo>
                  <a:lnTo>
                    <a:pt x="4528041" y="825"/>
                  </a:lnTo>
                  <a:lnTo>
                    <a:pt x="4529651" y="1313"/>
                  </a:lnTo>
                  <a:lnTo>
                    <a:pt x="4531208" y="1960"/>
                  </a:lnTo>
                  <a:lnTo>
                    <a:pt x="4532770" y="2604"/>
                  </a:lnTo>
                  <a:lnTo>
                    <a:pt x="4539557" y="7537"/>
                  </a:lnTo>
                  <a:lnTo>
                    <a:pt x="4540750" y="8730"/>
                  </a:lnTo>
                  <a:lnTo>
                    <a:pt x="4545133" y="15881"/>
                  </a:lnTo>
                  <a:lnTo>
                    <a:pt x="4545781" y="17443"/>
                  </a:lnTo>
                  <a:lnTo>
                    <a:pt x="4546269" y="19053"/>
                  </a:lnTo>
                  <a:lnTo>
                    <a:pt x="4546602" y="20712"/>
                  </a:lnTo>
                  <a:lnTo>
                    <a:pt x="4546930" y="22367"/>
                  </a:lnTo>
                  <a:lnTo>
                    <a:pt x="4547094" y="24039"/>
                  </a:lnTo>
                  <a:lnTo>
                    <a:pt x="4547094" y="25729"/>
                  </a:lnTo>
                  <a:lnTo>
                    <a:pt x="4547094" y="4011202"/>
                  </a:lnTo>
                  <a:lnTo>
                    <a:pt x="4547094" y="4012893"/>
                  </a:lnTo>
                  <a:lnTo>
                    <a:pt x="4546930" y="4014565"/>
                  </a:lnTo>
                  <a:lnTo>
                    <a:pt x="4546602" y="4016224"/>
                  </a:lnTo>
                  <a:lnTo>
                    <a:pt x="4546269" y="4017879"/>
                  </a:lnTo>
                  <a:lnTo>
                    <a:pt x="4545781" y="4019489"/>
                  </a:lnTo>
                  <a:lnTo>
                    <a:pt x="4545133" y="4021046"/>
                  </a:lnTo>
                  <a:lnTo>
                    <a:pt x="4544490" y="4022608"/>
                  </a:lnTo>
                  <a:lnTo>
                    <a:pt x="4543696" y="4024094"/>
                  </a:lnTo>
                  <a:lnTo>
                    <a:pt x="4542755" y="4025496"/>
                  </a:lnTo>
                  <a:lnTo>
                    <a:pt x="4541819" y="4026902"/>
                  </a:lnTo>
                  <a:lnTo>
                    <a:pt x="4531213" y="4034971"/>
                  </a:lnTo>
                  <a:lnTo>
                    <a:pt x="4529651" y="4035619"/>
                  </a:lnTo>
                  <a:lnTo>
                    <a:pt x="4528041" y="4036107"/>
                  </a:lnTo>
                  <a:lnTo>
                    <a:pt x="4526381" y="4036435"/>
                  </a:lnTo>
                  <a:lnTo>
                    <a:pt x="4524727" y="4036768"/>
                  </a:lnTo>
                  <a:lnTo>
                    <a:pt x="4523054" y="4036932"/>
                  </a:lnTo>
                  <a:lnTo>
                    <a:pt x="4521364" y="4036932"/>
                  </a:lnTo>
                  <a:lnTo>
                    <a:pt x="25729" y="4036932"/>
                  </a:lnTo>
                  <a:lnTo>
                    <a:pt x="24039" y="4036932"/>
                  </a:lnTo>
                  <a:lnTo>
                    <a:pt x="22367" y="4036768"/>
                  </a:lnTo>
                  <a:lnTo>
                    <a:pt x="20708" y="4036435"/>
                  </a:lnTo>
                  <a:lnTo>
                    <a:pt x="19053" y="4036107"/>
                  </a:lnTo>
                  <a:lnTo>
                    <a:pt x="17443" y="4035619"/>
                  </a:lnTo>
                  <a:lnTo>
                    <a:pt x="15881" y="4034971"/>
                  </a:lnTo>
                  <a:lnTo>
                    <a:pt x="14324" y="4034328"/>
                  </a:lnTo>
                  <a:lnTo>
                    <a:pt x="12838" y="4033534"/>
                  </a:lnTo>
                  <a:lnTo>
                    <a:pt x="11436" y="4032594"/>
                  </a:lnTo>
                  <a:lnTo>
                    <a:pt x="10030" y="4031658"/>
                  </a:lnTo>
                  <a:lnTo>
                    <a:pt x="8730" y="4030588"/>
                  </a:lnTo>
                  <a:lnTo>
                    <a:pt x="7537" y="4029395"/>
                  </a:lnTo>
                  <a:lnTo>
                    <a:pt x="6339" y="4028202"/>
                  </a:lnTo>
                  <a:lnTo>
                    <a:pt x="0" y="4012893"/>
                  </a:lnTo>
                  <a:lnTo>
                    <a:pt x="0" y="4011202"/>
                  </a:lnTo>
                  <a:close/>
                </a:path>
              </a:pathLst>
            </a:custGeom>
            <a:ln w="4436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0372" y="1818842"/>
              <a:ext cx="4542790" cy="235585"/>
            </a:xfrm>
            <a:custGeom>
              <a:avLst/>
              <a:gdLst/>
              <a:ahLst/>
              <a:cxnLst/>
              <a:rect l="l" t="t" r="r" b="b"/>
              <a:pathLst>
                <a:path w="4542790" h="235585">
                  <a:moveTo>
                    <a:pt x="4542663" y="24244"/>
                  </a:moveTo>
                  <a:lnTo>
                    <a:pt x="4518418" y="0"/>
                  </a:ln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24244" y="0"/>
                  </a:lnTo>
                  <a:lnTo>
                    <a:pt x="20675" y="711"/>
                  </a:lnTo>
                  <a:lnTo>
                    <a:pt x="0" y="24244"/>
                  </a:lnTo>
                  <a:lnTo>
                    <a:pt x="0" y="235115"/>
                  </a:lnTo>
                  <a:lnTo>
                    <a:pt x="1135672" y="235115"/>
                  </a:lnTo>
                  <a:lnTo>
                    <a:pt x="2271331" y="235115"/>
                  </a:lnTo>
                  <a:lnTo>
                    <a:pt x="3407003" y="235115"/>
                  </a:lnTo>
                  <a:lnTo>
                    <a:pt x="4542663" y="235115"/>
                  </a:lnTo>
                  <a:lnTo>
                    <a:pt x="4542663" y="2424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0372" y="2053957"/>
              <a:ext cx="4542790" cy="612775"/>
            </a:xfrm>
            <a:custGeom>
              <a:avLst/>
              <a:gdLst/>
              <a:ahLst/>
              <a:cxnLst/>
              <a:rect l="l" t="t" r="r" b="b"/>
              <a:pathLst>
                <a:path w="4542790" h="612775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612203"/>
                  </a:lnTo>
                  <a:lnTo>
                    <a:pt x="1135672" y="612203"/>
                  </a:lnTo>
                  <a:lnTo>
                    <a:pt x="2271331" y="612203"/>
                  </a:lnTo>
                  <a:lnTo>
                    <a:pt x="3407003" y="612203"/>
                  </a:lnTo>
                  <a:lnTo>
                    <a:pt x="4542663" y="612203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90372" y="2666160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4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7972"/>
                  </a:lnTo>
                  <a:lnTo>
                    <a:pt x="1135672" y="487972"/>
                  </a:lnTo>
                  <a:lnTo>
                    <a:pt x="2271331" y="487972"/>
                  </a:lnTo>
                  <a:lnTo>
                    <a:pt x="3407003" y="487972"/>
                  </a:lnTo>
                  <a:lnTo>
                    <a:pt x="4542663" y="487972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0372" y="3154133"/>
              <a:ext cx="4542790" cy="617220"/>
            </a:xfrm>
            <a:custGeom>
              <a:avLst/>
              <a:gdLst/>
              <a:ahLst/>
              <a:cxnLst/>
              <a:rect l="l" t="t" r="r" b="b"/>
              <a:pathLst>
                <a:path w="4542790" h="617220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616635"/>
                  </a:lnTo>
                  <a:lnTo>
                    <a:pt x="1135672" y="616635"/>
                  </a:lnTo>
                  <a:lnTo>
                    <a:pt x="2271331" y="616635"/>
                  </a:lnTo>
                  <a:lnTo>
                    <a:pt x="3407003" y="616635"/>
                  </a:lnTo>
                  <a:lnTo>
                    <a:pt x="4542663" y="616635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0372" y="3770768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4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7972"/>
                  </a:lnTo>
                  <a:lnTo>
                    <a:pt x="1135672" y="487972"/>
                  </a:lnTo>
                  <a:lnTo>
                    <a:pt x="2271331" y="487972"/>
                  </a:lnTo>
                  <a:lnTo>
                    <a:pt x="3407003" y="487972"/>
                  </a:lnTo>
                  <a:lnTo>
                    <a:pt x="4542663" y="487972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90372" y="4258741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4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7984"/>
                  </a:lnTo>
                  <a:lnTo>
                    <a:pt x="1135672" y="487984"/>
                  </a:lnTo>
                  <a:lnTo>
                    <a:pt x="2271331" y="487984"/>
                  </a:lnTo>
                  <a:lnTo>
                    <a:pt x="3407003" y="487984"/>
                  </a:lnTo>
                  <a:lnTo>
                    <a:pt x="4542663" y="487984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90372" y="4746725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4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7984"/>
                  </a:lnTo>
                  <a:lnTo>
                    <a:pt x="1135672" y="487984"/>
                  </a:lnTo>
                  <a:lnTo>
                    <a:pt x="2271331" y="487984"/>
                  </a:lnTo>
                  <a:lnTo>
                    <a:pt x="3407003" y="487984"/>
                  </a:lnTo>
                  <a:lnTo>
                    <a:pt x="4542663" y="487984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90372" y="5234710"/>
              <a:ext cx="4542790" cy="617220"/>
            </a:xfrm>
            <a:custGeom>
              <a:avLst/>
              <a:gdLst/>
              <a:ahLst/>
              <a:cxnLst/>
              <a:rect l="l" t="t" r="r" b="b"/>
              <a:pathLst>
                <a:path w="4542790" h="617220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592391"/>
                  </a:lnTo>
                  <a:lnTo>
                    <a:pt x="24244" y="616623"/>
                  </a:lnTo>
                  <a:lnTo>
                    <a:pt x="1135672" y="616623"/>
                  </a:lnTo>
                  <a:lnTo>
                    <a:pt x="2271331" y="616623"/>
                  </a:lnTo>
                  <a:lnTo>
                    <a:pt x="3407003" y="616623"/>
                  </a:lnTo>
                  <a:lnTo>
                    <a:pt x="4518418" y="616623"/>
                  </a:lnTo>
                  <a:lnTo>
                    <a:pt x="4521987" y="615924"/>
                  </a:lnTo>
                  <a:lnTo>
                    <a:pt x="4542663" y="592391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57536" y="1868245"/>
            <a:ext cx="29464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Module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5418" y="1868245"/>
            <a:ext cx="56451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b="1">
                <a:solidFill>
                  <a:srgbClr val="3B3838"/>
                </a:solidFill>
                <a:latin typeface="Roboto"/>
                <a:cs typeface="Roboto"/>
              </a:rPr>
              <a:t>Common</a:t>
            </a:r>
            <a:r>
              <a:rPr dirty="0" sz="600" spc="10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Issue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31083" y="1868245"/>
            <a:ext cx="57785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600" spc="9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Cause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66747" y="1868245"/>
            <a:ext cx="97790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 b="1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r>
              <a:rPr dirty="0" sz="600" spc="2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0236" y="2074971"/>
            <a:ext cx="586740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MM</a:t>
            </a:r>
            <a:r>
              <a:rPr dirty="0" sz="6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6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Materialз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endParaRPr sz="60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8118" y="2074971"/>
            <a:ext cx="960755" cy="402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Purchaзe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tranзaction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doeз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create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expected</a:t>
            </a:r>
            <a:endParaRPr sz="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600" spc="1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impact</a:t>
            </a:r>
            <a:endParaRPr sz="60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43783" y="2074971"/>
            <a:ext cx="900430" cy="5314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determination</a:t>
            </a:r>
            <a:r>
              <a:rPr dirty="0" sz="60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35">
                <a:solidFill>
                  <a:srgbClr val="3B3838"/>
                </a:solidFill>
                <a:latin typeface="Roboto"/>
                <a:cs typeface="Roboto"/>
              </a:rPr>
              <a:t>MM</a:t>
            </a:r>
            <a:endParaRPr sz="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79447" y="2074971"/>
            <a:ext cx="919480" cy="402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automatic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determination</a:t>
            </a:r>
            <a:r>
              <a:rPr dirty="0" sz="600" spc="1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зettingз</a:t>
            </a:r>
            <a:r>
              <a:rPr dirty="0" sz="600" spc="1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MM;</a:t>
            </a:r>
            <a:r>
              <a:rPr dirty="0" sz="6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verify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accountз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7536" y="2682728"/>
            <a:ext cx="599440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MM</a:t>
            </a:r>
            <a:r>
              <a:rPr dirty="0" sz="6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6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Materialз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endParaRPr sz="6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95418" y="2682728"/>
            <a:ext cx="980440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Vendor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invoice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(price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variance)</a:t>
            </a:r>
            <a:endParaRPr sz="60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31083" y="2682728"/>
            <a:ext cx="913130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Invoice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price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differз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purchaзe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order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price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66747" y="2682728"/>
            <a:ext cx="966469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purchaзe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order,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goodз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receipt,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invoice;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tolerance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limitз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0236" y="3170709"/>
            <a:ext cx="560705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SD</a:t>
            </a:r>
            <a:r>
              <a:rPr dirty="0" sz="6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6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Saleз</a:t>
            </a:r>
            <a:r>
              <a:rPr dirty="0" sz="6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Diзtribution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08118" y="3170709"/>
            <a:ext cx="801370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Billing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doeз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create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expected</a:t>
            </a:r>
            <a:r>
              <a:rPr dirty="0" sz="600" spc="1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endParaRPr sz="60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43783" y="3170709"/>
            <a:ext cx="934719" cy="5403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Revenue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determination</a:t>
            </a:r>
            <a:r>
              <a:rPr dirty="0" sz="600" spc="1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1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billing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60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releaзed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endParaRPr sz="60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79447" y="3170709"/>
            <a:ext cx="940435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revenue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determination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SD;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verify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billing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60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зtatuз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7536" y="3787340"/>
            <a:ext cx="573405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SD</a:t>
            </a:r>
            <a:r>
              <a:rPr dirty="0" sz="6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6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Saleз</a:t>
            </a:r>
            <a:r>
              <a:rPr dirty="0" sz="6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Diзtribution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95418" y="3820167"/>
            <a:ext cx="99631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600" spc="10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accounting</a:t>
            </a:r>
            <a:r>
              <a:rPr dirty="0" sz="600" spc="10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31083" y="3787340"/>
            <a:ext cx="903605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reconciliation</a:t>
            </a:r>
            <a:r>
              <a:rPr dirty="0" sz="600" spc="1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600" spc="1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termз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66747" y="3787340"/>
            <a:ext cx="904875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reconciliation</a:t>
            </a:r>
            <a:endParaRPr sz="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зettingз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0236" y="4308149"/>
            <a:ext cx="93345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PP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Production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Planning</a:t>
            </a:r>
            <a:endParaRPr sz="60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08118" y="4275321"/>
            <a:ext cx="752475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Production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coзtз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appearing</a:t>
            </a:r>
            <a:r>
              <a:rPr dirty="0" sz="600" spc="1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correctly</a:t>
            </a:r>
            <a:endParaRPr sz="60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43783" y="4275321"/>
            <a:ext cx="925194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collector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60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rule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79447" y="4275321"/>
            <a:ext cx="884555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4699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production</a:t>
            </a:r>
            <a:r>
              <a:rPr dirty="0" sz="600" spc="9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order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collector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endParaRPr sz="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600" spc="1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7536" y="4796130"/>
            <a:ext cx="94615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PP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Production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Planning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95418" y="4796130"/>
            <a:ext cx="76644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Settlement</a:t>
            </a:r>
            <a:r>
              <a:rPr dirty="0" sz="600" spc="1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problemз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731083" y="4763302"/>
            <a:ext cx="985519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8745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Unreзolved</a:t>
            </a:r>
            <a:r>
              <a:rPr dirty="0" sz="60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balanceз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35">
                <a:solidFill>
                  <a:srgbClr val="3B3838"/>
                </a:solidFill>
                <a:latin typeface="Roboto"/>
                <a:cs typeface="Roboto"/>
              </a:rPr>
              <a:t>on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production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orderз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endParaRPr sz="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1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600" spc="1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profile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866747" y="4763302"/>
            <a:ext cx="922655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profile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run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зettlement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affected</a:t>
            </a:r>
            <a:r>
              <a:rPr dirty="0" sz="600" spc="114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orderз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7536" y="5284111"/>
            <a:ext cx="84391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HCM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/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SucceззFactorз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08118" y="5251283"/>
            <a:ext cx="843915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Payroll-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related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43783" y="5251283"/>
            <a:ext cx="876300" cy="5359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endParaRPr sz="600">
              <a:latin typeface="Roboto"/>
              <a:cs typeface="Roboto"/>
            </a:endParaRPr>
          </a:p>
          <a:p>
            <a:pPr marR="5080">
              <a:lnSpc>
                <a:spcPct val="140700"/>
              </a:lnSpc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employee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payroll</a:t>
            </a:r>
            <a:endParaRPr sz="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66747" y="5251283"/>
            <a:ext cx="837565" cy="535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39100"/>
              </a:lnSpc>
              <a:spcBef>
                <a:spcPts val="10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600" spc="1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employee</a:t>
            </a:r>
            <a:r>
              <a:rPr dirty="0" sz="600" spc="1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payroll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determination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797633" y="6261160"/>
            <a:ext cx="1718310" cy="1714500"/>
          </a:xfrm>
          <a:custGeom>
            <a:avLst/>
            <a:gdLst/>
            <a:ahLst/>
            <a:cxnLst/>
            <a:rect l="l" t="t" r="r" b="b"/>
            <a:pathLst>
              <a:path w="1718310" h="1714500">
                <a:moveTo>
                  <a:pt x="818255" y="50799"/>
                </a:moveTo>
                <a:lnTo>
                  <a:pt x="808988" y="50799"/>
                </a:lnTo>
                <a:lnTo>
                  <a:pt x="808988" y="38099"/>
                </a:lnTo>
                <a:lnTo>
                  <a:pt x="853260" y="0"/>
                </a:lnTo>
                <a:lnTo>
                  <a:pt x="859969" y="0"/>
                </a:lnTo>
                <a:lnTo>
                  <a:pt x="875579" y="12699"/>
                </a:lnTo>
                <a:lnTo>
                  <a:pt x="851340" y="12699"/>
                </a:lnTo>
                <a:lnTo>
                  <a:pt x="818255" y="50799"/>
                </a:lnTo>
                <a:close/>
              </a:path>
              <a:path w="1718310" h="1714500">
                <a:moveTo>
                  <a:pt x="864452" y="126999"/>
                </a:moveTo>
                <a:lnTo>
                  <a:pt x="851340" y="126999"/>
                </a:lnTo>
                <a:lnTo>
                  <a:pt x="851340" y="12699"/>
                </a:lnTo>
                <a:lnTo>
                  <a:pt x="864452" y="12699"/>
                </a:lnTo>
                <a:lnTo>
                  <a:pt x="864452" y="126999"/>
                </a:lnTo>
                <a:close/>
              </a:path>
              <a:path w="1718310" h="1714500">
                <a:moveTo>
                  <a:pt x="906799" y="50799"/>
                </a:moveTo>
                <a:lnTo>
                  <a:pt x="897533" y="50799"/>
                </a:lnTo>
                <a:lnTo>
                  <a:pt x="864452" y="12699"/>
                </a:lnTo>
                <a:lnTo>
                  <a:pt x="875579" y="12699"/>
                </a:lnTo>
                <a:lnTo>
                  <a:pt x="906799" y="38099"/>
                </a:lnTo>
                <a:lnTo>
                  <a:pt x="906799" y="50799"/>
                </a:lnTo>
                <a:close/>
              </a:path>
              <a:path w="1718310" h="1714500">
                <a:moveTo>
                  <a:pt x="168873" y="850899"/>
                </a:moveTo>
                <a:lnTo>
                  <a:pt x="132461" y="850899"/>
                </a:lnTo>
                <a:lnTo>
                  <a:pt x="134640" y="800099"/>
                </a:lnTo>
                <a:lnTo>
                  <a:pt x="139994" y="749299"/>
                </a:lnTo>
                <a:lnTo>
                  <a:pt x="148421" y="698499"/>
                </a:lnTo>
                <a:lnTo>
                  <a:pt x="159816" y="660399"/>
                </a:lnTo>
                <a:lnTo>
                  <a:pt x="174077" y="609599"/>
                </a:lnTo>
                <a:lnTo>
                  <a:pt x="191098" y="571499"/>
                </a:lnTo>
                <a:lnTo>
                  <a:pt x="210776" y="520699"/>
                </a:lnTo>
                <a:lnTo>
                  <a:pt x="233008" y="482599"/>
                </a:lnTo>
                <a:lnTo>
                  <a:pt x="257690" y="444499"/>
                </a:lnTo>
                <a:lnTo>
                  <a:pt x="284718" y="406399"/>
                </a:lnTo>
                <a:lnTo>
                  <a:pt x="313988" y="368299"/>
                </a:lnTo>
                <a:lnTo>
                  <a:pt x="345397" y="342899"/>
                </a:lnTo>
                <a:lnTo>
                  <a:pt x="378840" y="304799"/>
                </a:lnTo>
                <a:lnTo>
                  <a:pt x="414215" y="279399"/>
                </a:lnTo>
                <a:lnTo>
                  <a:pt x="451417" y="253999"/>
                </a:lnTo>
                <a:lnTo>
                  <a:pt x="490342" y="228599"/>
                </a:lnTo>
                <a:lnTo>
                  <a:pt x="530887" y="203199"/>
                </a:lnTo>
                <a:lnTo>
                  <a:pt x="572948" y="190499"/>
                </a:lnTo>
                <a:lnTo>
                  <a:pt x="616421" y="165099"/>
                </a:lnTo>
                <a:lnTo>
                  <a:pt x="707189" y="139699"/>
                </a:lnTo>
                <a:lnTo>
                  <a:pt x="754277" y="139699"/>
                </a:lnTo>
                <a:lnTo>
                  <a:pt x="802361" y="126999"/>
                </a:lnTo>
                <a:lnTo>
                  <a:pt x="958319" y="126999"/>
                </a:lnTo>
                <a:lnTo>
                  <a:pt x="1048544" y="152399"/>
                </a:lnTo>
                <a:lnTo>
                  <a:pt x="1092060" y="165099"/>
                </a:lnTo>
                <a:lnTo>
                  <a:pt x="755292" y="165099"/>
                </a:lnTo>
                <a:lnTo>
                  <a:pt x="663405" y="190499"/>
                </a:lnTo>
                <a:lnTo>
                  <a:pt x="619301" y="203199"/>
                </a:lnTo>
                <a:lnTo>
                  <a:pt x="576573" y="228599"/>
                </a:lnTo>
                <a:lnTo>
                  <a:pt x="535331" y="241299"/>
                </a:lnTo>
                <a:lnTo>
                  <a:pt x="495688" y="266699"/>
                </a:lnTo>
                <a:lnTo>
                  <a:pt x="457756" y="292099"/>
                </a:lnTo>
                <a:lnTo>
                  <a:pt x="421646" y="317499"/>
                </a:lnTo>
                <a:lnTo>
                  <a:pt x="387470" y="355599"/>
                </a:lnTo>
                <a:lnTo>
                  <a:pt x="355339" y="380999"/>
                </a:lnTo>
                <a:lnTo>
                  <a:pt x="325366" y="419099"/>
                </a:lnTo>
                <a:lnTo>
                  <a:pt x="297662" y="457199"/>
                </a:lnTo>
                <a:lnTo>
                  <a:pt x="272339" y="495299"/>
                </a:lnTo>
                <a:lnTo>
                  <a:pt x="249509" y="533399"/>
                </a:lnTo>
                <a:lnTo>
                  <a:pt x="229283" y="571499"/>
                </a:lnTo>
                <a:lnTo>
                  <a:pt x="211772" y="609599"/>
                </a:lnTo>
                <a:lnTo>
                  <a:pt x="197090" y="660399"/>
                </a:lnTo>
                <a:lnTo>
                  <a:pt x="185347" y="698499"/>
                </a:lnTo>
                <a:lnTo>
                  <a:pt x="176656" y="749299"/>
                </a:lnTo>
                <a:lnTo>
                  <a:pt x="171127" y="800099"/>
                </a:lnTo>
                <a:lnTo>
                  <a:pt x="168873" y="850899"/>
                </a:lnTo>
                <a:close/>
              </a:path>
              <a:path w="1718310" h="1714500">
                <a:moveTo>
                  <a:pt x="864452" y="444499"/>
                </a:moveTo>
                <a:lnTo>
                  <a:pt x="851340" y="444499"/>
                </a:lnTo>
                <a:lnTo>
                  <a:pt x="851340" y="165099"/>
                </a:lnTo>
                <a:lnTo>
                  <a:pt x="864452" y="165099"/>
                </a:lnTo>
                <a:lnTo>
                  <a:pt x="864452" y="444499"/>
                </a:lnTo>
                <a:close/>
              </a:path>
              <a:path w="1718310" h="1714500">
                <a:moveTo>
                  <a:pt x="1588829" y="850899"/>
                </a:moveTo>
                <a:lnTo>
                  <a:pt x="1552422" y="850899"/>
                </a:lnTo>
                <a:lnTo>
                  <a:pt x="1550149" y="800099"/>
                </a:lnTo>
                <a:lnTo>
                  <a:pt x="1544570" y="749299"/>
                </a:lnTo>
                <a:lnTo>
                  <a:pt x="1535798" y="698499"/>
                </a:lnTo>
                <a:lnTo>
                  <a:pt x="1523947" y="660399"/>
                </a:lnTo>
                <a:lnTo>
                  <a:pt x="1509129" y="609599"/>
                </a:lnTo>
                <a:lnTo>
                  <a:pt x="1491458" y="571499"/>
                </a:lnTo>
                <a:lnTo>
                  <a:pt x="1471048" y="533399"/>
                </a:lnTo>
                <a:lnTo>
                  <a:pt x="1448013" y="482599"/>
                </a:lnTo>
                <a:lnTo>
                  <a:pt x="1422464" y="444499"/>
                </a:lnTo>
                <a:lnTo>
                  <a:pt x="1394516" y="419099"/>
                </a:lnTo>
                <a:lnTo>
                  <a:pt x="1364283" y="380999"/>
                </a:lnTo>
                <a:lnTo>
                  <a:pt x="1331876" y="342899"/>
                </a:lnTo>
                <a:lnTo>
                  <a:pt x="1297411" y="317499"/>
                </a:lnTo>
                <a:lnTo>
                  <a:pt x="1261000" y="292099"/>
                </a:lnTo>
                <a:lnTo>
                  <a:pt x="1222757" y="266699"/>
                </a:lnTo>
                <a:lnTo>
                  <a:pt x="1182795" y="241299"/>
                </a:lnTo>
                <a:lnTo>
                  <a:pt x="1141227" y="215899"/>
                </a:lnTo>
                <a:lnTo>
                  <a:pt x="1053728" y="190499"/>
                </a:lnTo>
                <a:lnTo>
                  <a:pt x="961168" y="165099"/>
                </a:lnTo>
                <a:lnTo>
                  <a:pt x="1092060" y="165099"/>
                </a:lnTo>
                <a:lnTo>
                  <a:pt x="1134386" y="177799"/>
                </a:lnTo>
                <a:lnTo>
                  <a:pt x="1175429" y="203199"/>
                </a:lnTo>
                <a:lnTo>
                  <a:pt x="1215098" y="215899"/>
                </a:lnTo>
                <a:lnTo>
                  <a:pt x="1253297" y="241299"/>
                </a:lnTo>
                <a:lnTo>
                  <a:pt x="1289935" y="266699"/>
                </a:lnTo>
                <a:lnTo>
                  <a:pt x="1324919" y="292099"/>
                </a:lnTo>
                <a:lnTo>
                  <a:pt x="1358155" y="317499"/>
                </a:lnTo>
                <a:lnTo>
                  <a:pt x="1389550" y="355599"/>
                </a:lnTo>
                <a:lnTo>
                  <a:pt x="1419011" y="380999"/>
                </a:lnTo>
                <a:lnTo>
                  <a:pt x="1446445" y="419099"/>
                </a:lnTo>
                <a:lnTo>
                  <a:pt x="1471759" y="457199"/>
                </a:lnTo>
                <a:lnTo>
                  <a:pt x="1494861" y="495299"/>
                </a:lnTo>
                <a:lnTo>
                  <a:pt x="1515656" y="533399"/>
                </a:lnTo>
                <a:lnTo>
                  <a:pt x="1534051" y="571499"/>
                </a:lnTo>
                <a:lnTo>
                  <a:pt x="1549955" y="622299"/>
                </a:lnTo>
                <a:lnTo>
                  <a:pt x="1563273" y="660399"/>
                </a:lnTo>
                <a:lnTo>
                  <a:pt x="1573912" y="711199"/>
                </a:lnTo>
                <a:lnTo>
                  <a:pt x="1581780" y="749299"/>
                </a:lnTo>
                <a:lnTo>
                  <a:pt x="1586784" y="800099"/>
                </a:lnTo>
                <a:lnTo>
                  <a:pt x="1588829" y="850899"/>
                </a:lnTo>
                <a:close/>
              </a:path>
              <a:path w="1718310" h="1714500">
                <a:moveTo>
                  <a:pt x="469311" y="850899"/>
                </a:moveTo>
                <a:lnTo>
                  <a:pt x="451106" y="850899"/>
                </a:lnTo>
                <a:lnTo>
                  <a:pt x="454636" y="800099"/>
                </a:lnTo>
                <a:lnTo>
                  <a:pt x="463156" y="749299"/>
                </a:lnTo>
                <a:lnTo>
                  <a:pt x="476384" y="711199"/>
                </a:lnTo>
                <a:lnTo>
                  <a:pt x="494034" y="673099"/>
                </a:lnTo>
                <a:lnTo>
                  <a:pt x="515824" y="634999"/>
                </a:lnTo>
                <a:lnTo>
                  <a:pt x="541468" y="596899"/>
                </a:lnTo>
                <a:lnTo>
                  <a:pt x="570684" y="571499"/>
                </a:lnTo>
                <a:lnTo>
                  <a:pt x="603187" y="533399"/>
                </a:lnTo>
                <a:lnTo>
                  <a:pt x="638693" y="507999"/>
                </a:lnTo>
                <a:lnTo>
                  <a:pt x="676919" y="482599"/>
                </a:lnTo>
                <a:lnTo>
                  <a:pt x="717580" y="469899"/>
                </a:lnTo>
                <a:lnTo>
                  <a:pt x="760393" y="457199"/>
                </a:lnTo>
                <a:lnTo>
                  <a:pt x="805075" y="444499"/>
                </a:lnTo>
                <a:lnTo>
                  <a:pt x="911266" y="444499"/>
                </a:lnTo>
                <a:lnTo>
                  <a:pt x="956500" y="457199"/>
                </a:lnTo>
                <a:lnTo>
                  <a:pt x="851340" y="457199"/>
                </a:lnTo>
                <a:lnTo>
                  <a:pt x="803861" y="469899"/>
                </a:lnTo>
                <a:lnTo>
                  <a:pt x="758160" y="482599"/>
                </a:lnTo>
                <a:lnTo>
                  <a:pt x="714575" y="495299"/>
                </a:lnTo>
                <a:lnTo>
                  <a:pt x="673442" y="507999"/>
                </a:lnTo>
                <a:lnTo>
                  <a:pt x="635099" y="533399"/>
                </a:lnTo>
                <a:lnTo>
                  <a:pt x="599884" y="558799"/>
                </a:lnTo>
                <a:lnTo>
                  <a:pt x="568135" y="596899"/>
                </a:lnTo>
                <a:lnTo>
                  <a:pt x="540188" y="634999"/>
                </a:lnTo>
                <a:lnTo>
                  <a:pt x="516382" y="673099"/>
                </a:lnTo>
                <a:lnTo>
                  <a:pt x="497053" y="711199"/>
                </a:lnTo>
                <a:lnTo>
                  <a:pt x="482541" y="749299"/>
                </a:lnTo>
                <a:lnTo>
                  <a:pt x="473181" y="800099"/>
                </a:lnTo>
                <a:lnTo>
                  <a:pt x="469311" y="850899"/>
                </a:lnTo>
                <a:close/>
              </a:path>
              <a:path w="1718310" h="1714500">
                <a:moveTo>
                  <a:pt x="864452" y="800099"/>
                </a:moveTo>
                <a:lnTo>
                  <a:pt x="851340" y="800099"/>
                </a:lnTo>
                <a:lnTo>
                  <a:pt x="851340" y="457199"/>
                </a:lnTo>
                <a:lnTo>
                  <a:pt x="864452" y="457199"/>
                </a:lnTo>
                <a:lnTo>
                  <a:pt x="864452" y="800099"/>
                </a:lnTo>
                <a:close/>
              </a:path>
              <a:path w="1718310" h="1714500">
                <a:moveTo>
                  <a:pt x="1270189" y="850899"/>
                </a:moveTo>
                <a:lnTo>
                  <a:pt x="1251979" y="850899"/>
                </a:lnTo>
                <a:lnTo>
                  <a:pt x="1248051" y="800099"/>
                </a:lnTo>
                <a:lnTo>
                  <a:pt x="1238540" y="749299"/>
                </a:lnTo>
                <a:lnTo>
                  <a:pt x="1204150" y="660399"/>
                </a:lnTo>
                <a:lnTo>
                  <a:pt x="1179964" y="622299"/>
                </a:lnTo>
                <a:lnTo>
                  <a:pt x="1151581" y="596899"/>
                </a:lnTo>
                <a:lnTo>
                  <a:pt x="1119346" y="558799"/>
                </a:lnTo>
                <a:lnTo>
                  <a:pt x="1083605" y="533399"/>
                </a:lnTo>
                <a:lnTo>
                  <a:pt x="1044706" y="507999"/>
                </a:lnTo>
                <a:lnTo>
                  <a:pt x="1002995" y="495299"/>
                </a:lnTo>
                <a:lnTo>
                  <a:pt x="958818" y="469899"/>
                </a:lnTo>
                <a:lnTo>
                  <a:pt x="912521" y="469899"/>
                </a:lnTo>
                <a:lnTo>
                  <a:pt x="864452" y="457199"/>
                </a:lnTo>
                <a:lnTo>
                  <a:pt x="956500" y="457199"/>
                </a:lnTo>
                <a:lnTo>
                  <a:pt x="999864" y="469899"/>
                </a:lnTo>
                <a:lnTo>
                  <a:pt x="1041067" y="482599"/>
                </a:lnTo>
                <a:lnTo>
                  <a:pt x="1079817" y="507999"/>
                </a:lnTo>
                <a:lnTo>
                  <a:pt x="1115824" y="533399"/>
                </a:lnTo>
                <a:lnTo>
                  <a:pt x="1148797" y="558799"/>
                </a:lnTo>
                <a:lnTo>
                  <a:pt x="1178444" y="596899"/>
                </a:lnTo>
                <a:lnTo>
                  <a:pt x="1204474" y="634999"/>
                </a:lnTo>
                <a:lnTo>
                  <a:pt x="1226597" y="673099"/>
                </a:lnTo>
                <a:lnTo>
                  <a:pt x="1244521" y="711199"/>
                </a:lnTo>
                <a:lnTo>
                  <a:pt x="1257955" y="749299"/>
                </a:lnTo>
                <a:lnTo>
                  <a:pt x="1266608" y="800099"/>
                </a:lnTo>
                <a:lnTo>
                  <a:pt x="1270189" y="850899"/>
                </a:lnTo>
                <a:close/>
              </a:path>
              <a:path w="1718310" h="1714500">
                <a:moveTo>
                  <a:pt x="772608" y="787399"/>
                </a:moveTo>
                <a:lnTo>
                  <a:pt x="634639" y="787399"/>
                </a:lnTo>
                <a:lnTo>
                  <a:pt x="628522" y="774699"/>
                </a:lnTo>
                <a:lnTo>
                  <a:pt x="628522" y="761999"/>
                </a:lnTo>
                <a:lnTo>
                  <a:pt x="634635" y="749299"/>
                </a:lnTo>
                <a:lnTo>
                  <a:pt x="732100" y="749299"/>
                </a:lnTo>
                <a:lnTo>
                  <a:pt x="618868" y="634999"/>
                </a:lnTo>
                <a:lnTo>
                  <a:pt x="638180" y="622299"/>
                </a:lnTo>
                <a:lnTo>
                  <a:pt x="751412" y="736599"/>
                </a:lnTo>
                <a:lnTo>
                  <a:pt x="778718" y="736599"/>
                </a:lnTo>
                <a:lnTo>
                  <a:pt x="778716" y="774699"/>
                </a:lnTo>
                <a:lnTo>
                  <a:pt x="772608" y="787399"/>
                </a:lnTo>
                <a:close/>
              </a:path>
              <a:path w="1718310" h="1714500">
                <a:moveTo>
                  <a:pt x="1001777" y="736599"/>
                </a:moveTo>
                <a:lnTo>
                  <a:pt x="969883" y="736599"/>
                </a:lnTo>
                <a:lnTo>
                  <a:pt x="1083119" y="622299"/>
                </a:lnTo>
                <a:lnTo>
                  <a:pt x="1102431" y="634999"/>
                </a:lnTo>
                <a:lnTo>
                  <a:pt x="1001777" y="736599"/>
                </a:lnTo>
                <a:close/>
              </a:path>
              <a:path w="1718310" h="1714500">
                <a:moveTo>
                  <a:pt x="778718" y="736599"/>
                </a:moveTo>
                <a:lnTo>
                  <a:pt x="751412" y="736599"/>
                </a:lnTo>
                <a:lnTo>
                  <a:pt x="751412" y="634999"/>
                </a:lnTo>
                <a:lnTo>
                  <a:pt x="778721" y="634999"/>
                </a:lnTo>
                <a:lnTo>
                  <a:pt x="778718" y="736599"/>
                </a:lnTo>
                <a:close/>
              </a:path>
              <a:path w="1718310" h="1714500">
                <a:moveTo>
                  <a:pt x="1086656" y="787399"/>
                </a:moveTo>
                <a:lnTo>
                  <a:pt x="948687" y="787399"/>
                </a:lnTo>
                <a:lnTo>
                  <a:pt x="942574" y="774699"/>
                </a:lnTo>
                <a:lnTo>
                  <a:pt x="942574" y="634999"/>
                </a:lnTo>
                <a:lnTo>
                  <a:pt x="969878" y="634999"/>
                </a:lnTo>
                <a:lnTo>
                  <a:pt x="969883" y="736599"/>
                </a:lnTo>
                <a:lnTo>
                  <a:pt x="1001777" y="736599"/>
                </a:lnTo>
                <a:lnTo>
                  <a:pt x="989195" y="749299"/>
                </a:lnTo>
                <a:lnTo>
                  <a:pt x="1086660" y="749299"/>
                </a:lnTo>
                <a:lnTo>
                  <a:pt x="1092768" y="761999"/>
                </a:lnTo>
                <a:lnTo>
                  <a:pt x="1092773" y="774699"/>
                </a:lnTo>
                <a:lnTo>
                  <a:pt x="1086656" y="787399"/>
                </a:lnTo>
                <a:close/>
              </a:path>
              <a:path w="1718310" h="1714500">
                <a:moveTo>
                  <a:pt x="36562" y="901699"/>
                </a:moveTo>
                <a:lnTo>
                  <a:pt x="30522" y="901699"/>
                </a:lnTo>
                <a:lnTo>
                  <a:pt x="0" y="850899"/>
                </a:lnTo>
                <a:lnTo>
                  <a:pt x="30522" y="800099"/>
                </a:lnTo>
                <a:lnTo>
                  <a:pt x="33225" y="800099"/>
                </a:lnTo>
                <a:lnTo>
                  <a:pt x="36562" y="812799"/>
                </a:lnTo>
                <a:lnTo>
                  <a:pt x="15001" y="850899"/>
                </a:lnTo>
                <a:lnTo>
                  <a:pt x="1718109" y="850899"/>
                </a:lnTo>
                <a:lnTo>
                  <a:pt x="1710479" y="863599"/>
                </a:lnTo>
                <a:lnTo>
                  <a:pt x="15001" y="863599"/>
                </a:lnTo>
                <a:lnTo>
                  <a:pt x="36562" y="888999"/>
                </a:lnTo>
                <a:lnTo>
                  <a:pt x="36562" y="901699"/>
                </a:lnTo>
                <a:close/>
              </a:path>
              <a:path w="1718310" h="1714500">
                <a:moveTo>
                  <a:pt x="919225" y="850899"/>
                </a:moveTo>
                <a:lnTo>
                  <a:pt x="802070" y="850899"/>
                </a:lnTo>
                <a:lnTo>
                  <a:pt x="807707" y="825499"/>
                </a:lnTo>
                <a:lnTo>
                  <a:pt x="818487" y="812799"/>
                </a:lnTo>
                <a:lnTo>
                  <a:pt x="833375" y="800099"/>
                </a:lnTo>
                <a:lnTo>
                  <a:pt x="884323" y="800099"/>
                </a:lnTo>
                <a:lnTo>
                  <a:pt x="900922" y="812799"/>
                </a:lnTo>
                <a:lnTo>
                  <a:pt x="912980" y="825499"/>
                </a:lnTo>
                <a:lnTo>
                  <a:pt x="919225" y="850899"/>
                </a:lnTo>
                <a:close/>
              </a:path>
              <a:path w="1718310" h="1714500">
                <a:moveTo>
                  <a:pt x="1718109" y="850899"/>
                </a:moveTo>
                <a:lnTo>
                  <a:pt x="1703103" y="850899"/>
                </a:lnTo>
                <a:lnTo>
                  <a:pt x="1681547" y="812799"/>
                </a:lnTo>
                <a:lnTo>
                  <a:pt x="1684884" y="800099"/>
                </a:lnTo>
                <a:lnTo>
                  <a:pt x="1687587" y="800099"/>
                </a:lnTo>
                <a:lnTo>
                  <a:pt x="1718109" y="850899"/>
                </a:lnTo>
                <a:close/>
              </a:path>
              <a:path w="1718310" h="1714500">
                <a:moveTo>
                  <a:pt x="1004340" y="1574799"/>
                </a:moveTo>
                <a:lnTo>
                  <a:pt x="757810" y="1574799"/>
                </a:lnTo>
                <a:lnTo>
                  <a:pt x="712375" y="1562099"/>
                </a:lnTo>
                <a:lnTo>
                  <a:pt x="667951" y="1562099"/>
                </a:lnTo>
                <a:lnTo>
                  <a:pt x="624629" y="1549399"/>
                </a:lnTo>
                <a:lnTo>
                  <a:pt x="582503" y="1523999"/>
                </a:lnTo>
                <a:lnTo>
                  <a:pt x="541665" y="1511299"/>
                </a:lnTo>
                <a:lnTo>
                  <a:pt x="502208" y="1485899"/>
                </a:lnTo>
                <a:lnTo>
                  <a:pt x="464224" y="1460499"/>
                </a:lnTo>
                <a:lnTo>
                  <a:pt x="427806" y="1435099"/>
                </a:lnTo>
                <a:lnTo>
                  <a:pt x="393046" y="1409699"/>
                </a:lnTo>
                <a:lnTo>
                  <a:pt x="360038" y="1384299"/>
                </a:lnTo>
                <a:lnTo>
                  <a:pt x="328874" y="1346199"/>
                </a:lnTo>
                <a:lnTo>
                  <a:pt x="299646" y="1320799"/>
                </a:lnTo>
                <a:lnTo>
                  <a:pt x="272447" y="1282699"/>
                </a:lnTo>
                <a:lnTo>
                  <a:pt x="247370" y="1244599"/>
                </a:lnTo>
                <a:lnTo>
                  <a:pt x="224508" y="1206499"/>
                </a:lnTo>
                <a:lnTo>
                  <a:pt x="203952" y="1168399"/>
                </a:lnTo>
                <a:lnTo>
                  <a:pt x="185796" y="1130299"/>
                </a:lnTo>
                <a:lnTo>
                  <a:pt x="170132" y="1092199"/>
                </a:lnTo>
                <a:lnTo>
                  <a:pt x="157053" y="1041399"/>
                </a:lnTo>
                <a:lnTo>
                  <a:pt x="146652" y="1003299"/>
                </a:lnTo>
                <a:lnTo>
                  <a:pt x="139020" y="952499"/>
                </a:lnTo>
                <a:lnTo>
                  <a:pt x="134252" y="901699"/>
                </a:lnTo>
                <a:lnTo>
                  <a:pt x="132438" y="863599"/>
                </a:lnTo>
                <a:lnTo>
                  <a:pt x="168850" y="863599"/>
                </a:lnTo>
                <a:lnTo>
                  <a:pt x="170871" y="901699"/>
                </a:lnTo>
                <a:lnTo>
                  <a:pt x="176195" y="952499"/>
                </a:lnTo>
                <a:lnTo>
                  <a:pt x="184710" y="1003299"/>
                </a:lnTo>
                <a:lnTo>
                  <a:pt x="196302" y="1054099"/>
                </a:lnTo>
                <a:lnTo>
                  <a:pt x="210860" y="1092199"/>
                </a:lnTo>
                <a:lnTo>
                  <a:pt x="228270" y="1130299"/>
                </a:lnTo>
                <a:lnTo>
                  <a:pt x="248419" y="1181099"/>
                </a:lnTo>
                <a:lnTo>
                  <a:pt x="271195" y="1219199"/>
                </a:lnTo>
                <a:lnTo>
                  <a:pt x="296485" y="1257299"/>
                </a:lnTo>
                <a:lnTo>
                  <a:pt x="324176" y="1295399"/>
                </a:lnTo>
                <a:lnTo>
                  <a:pt x="354155" y="1320799"/>
                </a:lnTo>
                <a:lnTo>
                  <a:pt x="386310" y="1358899"/>
                </a:lnTo>
                <a:lnTo>
                  <a:pt x="420528" y="1384299"/>
                </a:lnTo>
                <a:lnTo>
                  <a:pt x="456696" y="1422399"/>
                </a:lnTo>
                <a:lnTo>
                  <a:pt x="494700" y="1447799"/>
                </a:lnTo>
                <a:lnTo>
                  <a:pt x="534429" y="1460499"/>
                </a:lnTo>
                <a:lnTo>
                  <a:pt x="575770" y="1485899"/>
                </a:lnTo>
                <a:lnTo>
                  <a:pt x="662835" y="1511299"/>
                </a:lnTo>
                <a:lnTo>
                  <a:pt x="802698" y="1549399"/>
                </a:lnTo>
                <a:lnTo>
                  <a:pt x="1092705" y="1549399"/>
                </a:lnTo>
                <a:lnTo>
                  <a:pt x="1004340" y="1574799"/>
                </a:lnTo>
                <a:close/>
              </a:path>
              <a:path w="1718310" h="1714500">
                <a:moveTo>
                  <a:pt x="956981" y="1257299"/>
                </a:moveTo>
                <a:lnTo>
                  <a:pt x="759915" y="1257299"/>
                </a:lnTo>
                <a:lnTo>
                  <a:pt x="716895" y="1231899"/>
                </a:lnTo>
                <a:lnTo>
                  <a:pt x="676055" y="1219199"/>
                </a:lnTo>
                <a:lnTo>
                  <a:pt x="637684" y="1193799"/>
                </a:lnTo>
                <a:lnTo>
                  <a:pt x="602070" y="1168399"/>
                </a:lnTo>
                <a:lnTo>
                  <a:pt x="569501" y="1142999"/>
                </a:lnTo>
                <a:lnTo>
                  <a:pt x="540267" y="1104899"/>
                </a:lnTo>
                <a:lnTo>
                  <a:pt x="514656" y="1079499"/>
                </a:lnTo>
                <a:lnTo>
                  <a:pt x="492956" y="1041399"/>
                </a:lnTo>
                <a:lnTo>
                  <a:pt x="475456" y="990599"/>
                </a:lnTo>
                <a:lnTo>
                  <a:pt x="462444" y="952499"/>
                </a:lnTo>
                <a:lnTo>
                  <a:pt x="454210" y="901699"/>
                </a:lnTo>
                <a:lnTo>
                  <a:pt x="451042" y="863599"/>
                </a:lnTo>
                <a:lnTo>
                  <a:pt x="469248" y="863599"/>
                </a:lnTo>
                <a:lnTo>
                  <a:pt x="472731" y="901699"/>
                </a:lnTo>
                <a:lnTo>
                  <a:pt x="481791" y="952499"/>
                </a:lnTo>
                <a:lnTo>
                  <a:pt x="496085" y="1003299"/>
                </a:lnTo>
                <a:lnTo>
                  <a:pt x="515269" y="1041399"/>
                </a:lnTo>
                <a:lnTo>
                  <a:pt x="539001" y="1079499"/>
                </a:lnTo>
                <a:lnTo>
                  <a:pt x="566936" y="1117599"/>
                </a:lnTo>
                <a:lnTo>
                  <a:pt x="598732" y="1142999"/>
                </a:lnTo>
                <a:lnTo>
                  <a:pt x="634044" y="1168399"/>
                </a:lnTo>
                <a:lnTo>
                  <a:pt x="672530" y="1193799"/>
                </a:lnTo>
                <a:lnTo>
                  <a:pt x="713846" y="1219199"/>
                </a:lnTo>
                <a:lnTo>
                  <a:pt x="757648" y="1231899"/>
                </a:lnTo>
                <a:lnTo>
                  <a:pt x="803594" y="1244599"/>
                </a:lnTo>
                <a:lnTo>
                  <a:pt x="1000553" y="1244599"/>
                </a:lnTo>
                <a:lnTo>
                  <a:pt x="956981" y="1257299"/>
                </a:lnTo>
                <a:close/>
              </a:path>
              <a:path w="1718310" h="1714500">
                <a:moveTo>
                  <a:pt x="864452" y="1244599"/>
                </a:moveTo>
                <a:lnTo>
                  <a:pt x="851340" y="1244599"/>
                </a:lnTo>
                <a:lnTo>
                  <a:pt x="851340" y="914399"/>
                </a:lnTo>
                <a:lnTo>
                  <a:pt x="832611" y="901699"/>
                </a:lnTo>
                <a:lnTo>
                  <a:pt x="817300" y="888999"/>
                </a:lnTo>
                <a:lnTo>
                  <a:pt x="806590" y="876299"/>
                </a:lnTo>
                <a:lnTo>
                  <a:pt x="801669" y="863599"/>
                </a:lnTo>
                <a:lnTo>
                  <a:pt x="919625" y="863599"/>
                </a:lnTo>
                <a:lnTo>
                  <a:pt x="914148" y="876299"/>
                </a:lnTo>
                <a:lnTo>
                  <a:pt x="902165" y="901699"/>
                </a:lnTo>
                <a:lnTo>
                  <a:pt x="885120" y="914399"/>
                </a:lnTo>
                <a:lnTo>
                  <a:pt x="864452" y="914399"/>
                </a:lnTo>
                <a:lnTo>
                  <a:pt x="864452" y="1244599"/>
                </a:lnTo>
                <a:close/>
              </a:path>
              <a:path w="1718310" h="1714500">
                <a:moveTo>
                  <a:pt x="1000553" y="1244599"/>
                </a:moveTo>
                <a:lnTo>
                  <a:pt x="912790" y="1244599"/>
                </a:lnTo>
                <a:lnTo>
                  <a:pt x="959332" y="1231899"/>
                </a:lnTo>
                <a:lnTo>
                  <a:pt x="1003727" y="1219199"/>
                </a:lnTo>
                <a:lnTo>
                  <a:pt x="1045623" y="1193799"/>
                </a:lnTo>
                <a:lnTo>
                  <a:pt x="1084666" y="1181099"/>
                </a:lnTo>
                <a:lnTo>
                  <a:pt x="1120505" y="1142999"/>
                </a:lnTo>
                <a:lnTo>
                  <a:pt x="1152786" y="1117599"/>
                </a:lnTo>
                <a:lnTo>
                  <a:pt x="1181159" y="1079499"/>
                </a:lnTo>
                <a:lnTo>
                  <a:pt x="1205269" y="1041399"/>
                </a:lnTo>
                <a:lnTo>
                  <a:pt x="1224765" y="1003299"/>
                </a:lnTo>
                <a:lnTo>
                  <a:pt x="1239294" y="952499"/>
                </a:lnTo>
                <a:lnTo>
                  <a:pt x="1248504" y="901699"/>
                </a:lnTo>
                <a:lnTo>
                  <a:pt x="1252043" y="863599"/>
                </a:lnTo>
                <a:lnTo>
                  <a:pt x="1270253" y="863599"/>
                </a:lnTo>
                <a:lnTo>
                  <a:pt x="1267037" y="901699"/>
                </a:lnTo>
                <a:lnTo>
                  <a:pt x="1258673" y="952499"/>
                </a:lnTo>
                <a:lnTo>
                  <a:pt x="1245457" y="990599"/>
                </a:lnTo>
                <a:lnTo>
                  <a:pt x="1227685" y="1041399"/>
                </a:lnTo>
                <a:lnTo>
                  <a:pt x="1205652" y="1079499"/>
                </a:lnTo>
                <a:lnTo>
                  <a:pt x="1179654" y="1117599"/>
                </a:lnTo>
                <a:lnTo>
                  <a:pt x="1149988" y="1142999"/>
                </a:lnTo>
                <a:lnTo>
                  <a:pt x="1116949" y="1168399"/>
                </a:lnTo>
                <a:lnTo>
                  <a:pt x="1080832" y="1193799"/>
                </a:lnTo>
                <a:lnTo>
                  <a:pt x="1041935" y="1219199"/>
                </a:lnTo>
                <a:lnTo>
                  <a:pt x="1000553" y="1244599"/>
                </a:lnTo>
                <a:close/>
              </a:path>
              <a:path w="1718310" h="1714500">
                <a:moveTo>
                  <a:pt x="1092705" y="1549399"/>
                </a:moveTo>
                <a:lnTo>
                  <a:pt x="913427" y="1549399"/>
                </a:lnTo>
                <a:lnTo>
                  <a:pt x="961469" y="1536699"/>
                </a:lnTo>
                <a:lnTo>
                  <a:pt x="1008465" y="1536699"/>
                </a:lnTo>
                <a:lnTo>
                  <a:pt x="1054301" y="1523999"/>
                </a:lnTo>
                <a:lnTo>
                  <a:pt x="1098862" y="1498599"/>
                </a:lnTo>
                <a:lnTo>
                  <a:pt x="1142033" y="1485899"/>
                </a:lnTo>
                <a:lnTo>
                  <a:pt x="1183700" y="1460499"/>
                </a:lnTo>
                <a:lnTo>
                  <a:pt x="1223749" y="1447799"/>
                </a:lnTo>
                <a:lnTo>
                  <a:pt x="1262065" y="1422399"/>
                </a:lnTo>
                <a:lnTo>
                  <a:pt x="1298534" y="1384299"/>
                </a:lnTo>
                <a:lnTo>
                  <a:pt x="1333041" y="1358899"/>
                </a:lnTo>
                <a:lnTo>
                  <a:pt x="1365471" y="1333499"/>
                </a:lnTo>
                <a:lnTo>
                  <a:pt x="1395712" y="1295399"/>
                </a:lnTo>
                <a:lnTo>
                  <a:pt x="1423646" y="1257299"/>
                </a:lnTo>
                <a:lnTo>
                  <a:pt x="1449162" y="1219199"/>
                </a:lnTo>
                <a:lnTo>
                  <a:pt x="1472143" y="1181099"/>
                </a:lnTo>
                <a:lnTo>
                  <a:pt x="1492476" y="1142999"/>
                </a:lnTo>
                <a:lnTo>
                  <a:pt x="1510046" y="1092199"/>
                </a:lnTo>
                <a:lnTo>
                  <a:pt x="1524738" y="1054099"/>
                </a:lnTo>
                <a:lnTo>
                  <a:pt x="1536439" y="1003299"/>
                </a:lnTo>
                <a:lnTo>
                  <a:pt x="1545033" y="952499"/>
                </a:lnTo>
                <a:lnTo>
                  <a:pt x="1550406" y="914399"/>
                </a:lnTo>
                <a:lnTo>
                  <a:pt x="1552445" y="863599"/>
                </a:lnTo>
                <a:lnTo>
                  <a:pt x="1588852" y="863599"/>
                </a:lnTo>
                <a:lnTo>
                  <a:pt x="1587023" y="901699"/>
                </a:lnTo>
                <a:lnTo>
                  <a:pt x="1582212" y="952499"/>
                </a:lnTo>
                <a:lnTo>
                  <a:pt x="1574512" y="1003299"/>
                </a:lnTo>
                <a:lnTo>
                  <a:pt x="1564018" y="1041399"/>
                </a:lnTo>
                <a:lnTo>
                  <a:pt x="1550824" y="1092199"/>
                </a:lnTo>
                <a:lnTo>
                  <a:pt x="1535023" y="1130299"/>
                </a:lnTo>
                <a:lnTo>
                  <a:pt x="1516709" y="1168399"/>
                </a:lnTo>
                <a:lnTo>
                  <a:pt x="1495976" y="1206499"/>
                </a:lnTo>
                <a:lnTo>
                  <a:pt x="1472919" y="1244599"/>
                </a:lnTo>
                <a:lnTo>
                  <a:pt x="1447631" y="1282699"/>
                </a:lnTo>
                <a:lnTo>
                  <a:pt x="1420205" y="1320799"/>
                </a:lnTo>
                <a:lnTo>
                  <a:pt x="1390736" y="1358899"/>
                </a:lnTo>
                <a:lnTo>
                  <a:pt x="1359319" y="1384299"/>
                </a:lnTo>
                <a:lnTo>
                  <a:pt x="1326046" y="1409699"/>
                </a:lnTo>
                <a:lnTo>
                  <a:pt x="1291011" y="1447799"/>
                </a:lnTo>
                <a:lnTo>
                  <a:pt x="1254309" y="1473199"/>
                </a:lnTo>
                <a:lnTo>
                  <a:pt x="1216034" y="1485899"/>
                </a:lnTo>
                <a:lnTo>
                  <a:pt x="1176279" y="1511299"/>
                </a:lnTo>
                <a:lnTo>
                  <a:pt x="1135138" y="1523999"/>
                </a:lnTo>
                <a:lnTo>
                  <a:pt x="1092705" y="1549399"/>
                </a:lnTo>
                <a:close/>
              </a:path>
              <a:path w="1718310" h="1714500">
                <a:moveTo>
                  <a:pt x="1687587" y="901699"/>
                </a:moveTo>
                <a:lnTo>
                  <a:pt x="1681547" y="901699"/>
                </a:lnTo>
                <a:lnTo>
                  <a:pt x="1681547" y="888999"/>
                </a:lnTo>
                <a:lnTo>
                  <a:pt x="1703103" y="863599"/>
                </a:lnTo>
                <a:lnTo>
                  <a:pt x="1710479" y="863599"/>
                </a:lnTo>
                <a:lnTo>
                  <a:pt x="1687587" y="901699"/>
                </a:lnTo>
                <a:close/>
              </a:path>
              <a:path w="1718310" h="1714500">
                <a:moveTo>
                  <a:pt x="638180" y="1092199"/>
                </a:moveTo>
                <a:lnTo>
                  <a:pt x="618868" y="1079499"/>
                </a:lnTo>
                <a:lnTo>
                  <a:pt x="732100" y="965199"/>
                </a:lnTo>
                <a:lnTo>
                  <a:pt x="634635" y="965199"/>
                </a:lnTo>
                <a:lnTo>
                  <a:pt x="628522" y="952499"/>
                </a:lnTo>
                <a:lnTo>
                  <a:pt x="628522" y="939799"/>
                </a:lnTo>
                <a:lnTo>
                  <a:pt x="778716" y="939799"/>
                </a:lnTo>
                <a:lnTo>
                  <a:pt x="778718" y="977899"/>
                </a:lnTo>
                <a:lnTo>
                  <a:pt x="751412" y="977899"/>
                </a:lnTo>
                <a:lnTo>
                  <a:pt x="638180" y="1092199"/>
                </a:lnTo>
                <a:close/>
              </a:path>
              <a:path w="1718310" h="1714500">
                <a:moveTo>
                  <a:pt x="963770" y="1092199"/>
                </a:moveTo>
                <a:lnTo>
                  <a:pt x="948691" y="1092199"/>
                </a:lnTo>
                <a:lnTo>
                  <a:pt x="942574" y="1079499"/>
                </a:lnTo>
                <a:lnTo>
                  <a:pt x="942574" y="939799"/>
                </a:lnTo>
                <a:lnTo>
                  <a:pt x="1092768" y="939799"/>
                </a:lnTo>
                <a:lnTo>
                  <a:pt x="1092768" y="952499"/>
                </a:lnTo>
                <a:lnTo>
                  <a:pt x="1086660" y="965199"/>
                </a:lnTo>
                <a:lnTo>
                  <a:pt x="989195" y="965199"/>
                </a:lnTo>
                <a:lnTo>
                  <a:pt x="1001777" y="977899"/>
                </a:lnTo>
                <a:lnTo>
                  <a:pt x="969883" y="977899"/>
                </a:lnTo>
                <a:lnTo>
                  <a:pt x="969878" y="1079499"/>
                </a:lnTo>
                <a:lnTo>
                  <a:pt x="963770" y="1092199"/>
                </a:lnTo>
                <a:close/>
              </a:path>
              <a:path w="1718310" h="1714500">
                <a:moveTo>
                  <a:pt x="772604" y="1092199"/>
                </a:moveTo>
                <a:lnTo>
                  <a:pt x="757525" y="1092199"/>
                </a:lnTo>
                <a:lnTo>
                  <a:pt x="751412" y="1079499"/>
                </a:lnTo>
                <a:lnTo>
                  <a:pt x="751412" y="977899"/>
                </a:lnTo>
                <a:lnTo>
                  <a:pt x="778718" y="977899"/>
                </a:lnTo>
                <a:lnTo>
                  <a:pt x="778721" y="1079499"/>
                </a:lnTo>
                <a:lnTo>
                  <a:pt x="772604" y="1092199"/>
                </a:lnTo>
                <a:close/>
              </a:path>
              <a:path w="1718310" h="1714500">
                <a:moveTo>
                  <a:pt x="1083119" y="1092199"/>
                </a:moveTo>
                <a:lnTo>
                  <a:pt x="969883" y="977899"/>
                </a:lnTo>
                <a:lnTo>
                  <a:pt x="1001777" y="977899"/>
                </a:lnTo>
                <a:lnTo>
                  <a:pt x="1102431" y="1079499"/>
                </a:lnTo>
                <a:lnTo>
                  <a:pt x="1083119" y="1092199"/>
                </a:lnTo>
                <a:close/>
              </a:path>
              <a:path w="1718310" h="1714500">
                <a:moveTo>
                  <a:pt x="864452" y="1549399"/>
                </a:moveTo>
                <a:lnTo>
                  <a:pt x="851340" y="1549399"/>
                </a:lnTo>
                <a:lnTo>
                  <a:pt x="851340" y="1269999"/>
                </a:lnTo>
                <a:lnTo>
                  <a:pt x="804826" y="1257299"/>
                </a:lnTo>
                <a:lnTo>
                  <a:pt x="911515" y="1257299"/>
                </a:lnTo>
                <a:lnTo>
                  <a:pt x="864452" y="1269999"/>
                </a:lnTo>
                <a:lnTo>
                  <a:pt x="864452" y="1549399"/>
                </a:lnTo>
                <a:close/>
              </a:path>
              <a:path w="1718310" h="1714500">
                <a:moveTo>
                  <a:pt x="864452" y="1689099"/>
                </a:moveTo>
                <a:lnTo>
                  <a:pt x="851340" y="1689099"/>
                </a:lnTo>
                <a:lnTo>
                  <a:pt x="851340" y="1587499"/>
                </a:lnTo>
                <a:lnTo>
                  <a:pt x="804162" y="1574799"/>
                </a:lnTo>
                <a:lnTo>
                  <a:pt x="911935" y="1574799"/>
                </a:lnTo>
                <a:lnTo>
                  <a:pt x="864452" y="1587499"/>
                </a:lnTo>
                <a:lnTo>
                  <a:pt x="864452" y="1689099"/>
                </a:lnTo>
                <a:close/>
              </a:path>
              <a:path w="1718310" h="1714500">
                <a:moveTo>
                  <a:pt x="859969" y="1714499"/>
                </a:moveTo>
                <a:lnTo>
                  <a:pt x="855818" y="1714499"/>
                </a:lnTo>
                <a:lnTo>
                  <a:pt x="808988" y="1663699"/>
                </a:lnTo>
                <a:lnTo>
                  <a:pt x="814109" y="1650999"/>
                </a:lnTo>
                <a:lnTo>
                  <a:pt x="818255" y="1650999"/>
                </a:lnTo>
                <a:lnTo>
                  <a:pt x="851340" y="1689099"/>
                </a:lnTo>
                <a:lnTo>
                  <a:pt x="883384" y="1689099"/>
                </a:lnTo>
                <a:lnTo>
                  <a:pt x="859969" y="1714499"/>
                </a:lnTo>
                <a:close/>
              </a:path>
              <a:path w="1718310" h="1714500">
                <a:moveTo>
                  <a:pt x="883384" y="1689099"/>
                </a:moveTo>
                <a:lnTo>
                  <a:pt x="864452" y="1689099"/>
                </a:lnTo>
                <a:lnTo>
                  <a:pt x="897533" y="1650999"/>
                </a:lnTo>
                <a:lnTo>
                  <a:pt x="901679" y="1650999"/>
                </a:lnTo>
                <a:lnTo>
                  <a:pt x="906799" y="1663699"/>
                </a:lnTo>
                <a:lnTo>
                  <a:pt x="883384" y="1689099"/>
                </a:lnTo>
                <a:close/>
              </a:path>
            </a:pathLst>
          </a:custGeom>
          <a:solidFill>
            <a:srgbClr val="5757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46387" y="6978774"/>
            <a:ext cx="729615" cy="276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90">
                <a:solidFill>
                  <a:srgbClr val="1B1B27"/>
                </a:solidFill>
                <a:latin typeface="Trebuchet MS"/>
                <a:cs typeface="Trebuchet MS"/>
              </a:rPr>
              <a:t>HCM</a:t>
            </a:r>
            <a:r>
              <a:rPr dirty="0" sz="800" spc="-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800" spc="135">
                <a:solidFill>
                  <a:srgbClr val="1B1B27"/>
                </a:solidFill>
                <a:latin typeface="Trebuchet MS"/>
                <a:cs typeface="Trebuchet MS"/>
              </a:rPr>
              <a:t>—</a:t>
            </a:r>
            <a:r>
              <a:rPr dirty="0" sz="800" spc="-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1B1B27"/>
                </a:solidFill>
                <a:latin typeface="Trebuchet MS"/>
                <a:cs typeface="Trebuchet MS"/>
              </a:rPr>
              <a:t>Payroll</a:t>
            </a:r>
            <a:endParaRPr sz="800">
              <a:latin typeface="Trebuchet MS"/>
              <a:cs typeface="Trebuchet MS"/>
            </a:endParaRPr>
          </a:p>
          <a:p>
            <a:pPr marL="314325">
              <a:lnSpc>
                <a:spcPct val="100000"/>
              </a:lnSpc>
              <a:spcBef>
                <a:spcPts val="45"/>
              </a:spcBef>
            </a:pPr>
            <a:r>
              <a:rPr dirty="0" sz="800" spc="-10">
                <a:solidFill>
                  <a:srgbClr val="1B1B27"/>
                </a:solidFill>
                <a:latin typeface="Trebuchet MS"/>
                <a:cs typeface="Trebuchet MS"/>
              </a:rPr>
              <a:t>Postings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73248" y="7893632"/>
            <a:ext cx="4435475" cy="1052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3716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1B1B27"/>
                </a:solidFill>
                <a:latin typeface="Trebuchet MS"/>
                <a:cs typeface="Trebuchet MS"/>
              </a:rPr>
              <a:t>PP</a:t>
            </a:r>
            <a:r>
              <a:rPr dirty="0" sz="800" spc="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800" spc="75">
                <a:solidFill>
                  <a:srgbClr val="1B1B27"/>
                </a:solidFill>
                <a:latin typeface="Trebuchet MS"/>
                <a:cs typeface="Trebuchet MS"/>
              </a:rPr>
              <a:t>—</a:t>
            </a:r>
            <a:endParaRPr sz="800">
              <a:latin typeface="Trebuchet MS"/>
              <a:cs typeface="Trebuchet MS"/>
            </a:endParaRPr>
          </a:p>
          <a:p>
            <a:pPr algn="ctr" marL="2027555" marR="1882139">
              <a:lnSpc>
                <a:spcPct val="104500"/>
              </a:lnSpc>
            </a:pPr>
            <a:r>
              <a:rPr dirty="0" sz="800" spc="-10">
                <a:solidFill>
                  <a:srgbClr val="1B1B27"/>
                </a:solidFill>
                <a:latin typeface="Trebuchet MS"/>
                <a:cs typeface="Trebuchet MS"/>
              </a:rPr>
              <a:t>Production Costs</a:t>
            </a:r>
            <a:endParaRPr sz="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250">
                <a:solidFill>
                  <a:srgbClr val="1B1B27"/>
                </a:solidFill>
                <a:latin typeface="Trebuchet MS"/>
                <a:cs typeface="Trebuchet MS"/>
              </a:rPr>
              <a:t>Authorisation</a:t>
            </a:r>
            <a:r>
              <a:rPr dirty="0" sz="1250" spc="5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250" spc="50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1250">
              <a:latin typeface="Trebuchet MS"/>
              <a:cs typeface="Trebuchet MS"/>
            </a:endParaRPr>
          </a:p>
          <a:p>
            <a:pPr marL="12700" marR="5080">
              <a:lnSpc>
                <a:spcPct val="135800"/>
              </a:lnSpc>
              <a:spcBef>
                <a:spcPts val="880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Authoriзation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occur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when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uзer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doeз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have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neceззary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permiззionз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perform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зpecific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activity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SAP.</a:t>
            </a:r>
            <a:r>
              <a:rPr dirty="0" sz="6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Theзe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зhould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alwayз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handled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by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authoriзed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зecurity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adminiзtration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perзonnel.</a:t>
            </a:r>
            <a:endParaRPr sz="600">
              <a:latin typeface="Roboto"/>
              <a:cs typeface="Robot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644025" y="6965118"/>
            <a:ext cx="655320" cy="289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95"/>
              </a:spcBef>
            </a:pPr>
            <a:r>
              <a:rPr dirty="0" sz="800" spc="90">
                <a:solidFill>
                  <a:srgbClr val="1B1B27"/>
                </a:solidFill>
                <a:latin typeface="Trebuchet MS"/>
                <a:cs typeface="Trebuchet MS"/>
              </a:rPr>
              <a:t>SD</a:t>
            </a:r>
            <a:r>
              <a:rPr dirty="0" sz="800" spc="2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800" spc="135">
                <a:solidFill>
                  <a:srgbClr val="1B1B27"/>
                </a:solidFill>
                <a:latin typeface="Trebuchet MS"/>
                <a:cs typeface="Trebuchet MS"/>
              </a:rPr>
              <a:t>—</a:t>
            </a:r>
            <a:r>
              <a:rPr dirty="0" sz="800" spc="2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1B1B27"/>
                </a:solidFill>
                <a:latin typeface="Trebuchet MS"/>
                <a:cs typeface="Trebuchet MS"/>
              </a:rPr>
              <a:t>Sales</a:t>
            </a:r>
            <a:r>
              <a:rPr dirty="0" sz="800" spc="2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800" spc="160">
                <a:solidFill>
                  <a:srgbClr val="1B1B27"/>
                </a:solidFill>
                <a:latin typeface="Trebuchet MS"/>
                <a:cs typeface="Trebuchet MS"/>
              </a:rPr>
              <a:t>s </a:t>
            </a:r>
            <a:r>
              <a:rPr dirty="0" sz="800" spc="-10">
                <a:solidFill>
                  <a:srgbClr val="1B1B27"/>
                </a:solidFill>
                <a:latin typeface="Trebuchet MS"/>
                <a:cs typeface="Trebuchet MS"/>
              </a:rPr>
              <a:t>Billing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37949" y="5963783"/>
            <a:ext cx="643890" cy="276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800" spc="140">
                <a:solidFill>
                  <a:srgbClr val="1B1B27"/>
                </a:solidFill>
                <a:latin typeface="Trebuchet MS"/>
                <a:cs typeface="Trebuchet MS"/>
              </a:rPr>
              <a:t>MM</a:t>
            </a:r>
            <a:r>
              <a:rPr dirty="0" sz="800" spc="-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800" spc="85">
                <a:solidFill>
                  <a:srgbClr val="1B1B27"/>
                </a:solidFill>
                <a:latin typeface="Trebuchet MS"/>
                <a:cs typeface="Trebuchet MS"/>
              </a:rPr>
              <a:t>—</a:t>
            </a:r>
            <a:endParaRPr sz="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800" spc="-10">
                <a:solidFill>
                  <a:srgbClr val="1B1B27"/>
                </a:solidFill>
                <a:latin typeface="Trebuchet MS"/>
                <a:cs typeface="Trebuchet MS"/>
              </a:rPr>
              <a:t>Procurement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85948" y="9045390"/>
            <a:ext cx="4551680" cy="1708150"/>
            <a:chOff x="385948" y="9045390"/>
            <a:chExt cx="4551680" cy="1708150"/>
          </a:xfrm>
        </p:grpSpPr>
        <p:sp>
          <p:nvSpPr>
            <p:cNvPr id="53" name="object 53"/>
            <p:cNvSpPr/>
            <p:nvPr/>
          </p:nvSpPr>
          <p:spPr>
            <a:xfrm>
              <a:off x="388166" y="9047608"/>
              <a:ext cx="4547235" cy="1703705"/>
            </a:xfrm>
            <a:custGeom>
              <a:avLst/>
              <a:gdLst/>
              <a:ahLst/>
              <a:cxnLst/>
              <a:rect l="l" t="t" r="r" b="b"/>
              <a:pathLst>
                <a:path w="4547235" h="1703704">
                  <a:moveTo>
                    <a:pt x="0" y="1677766"/>
                  </a:moveTo>
                  <a:lnTo>
                    <a:pt x="0" y="25729"/>
                  </a:lnTo>
                  <a:lnTo>
                    <a:pt x="0" y="24039"/>
                  </a:lnTo>
                  <a:lnTo>
                    <a:pt x="164" y="22367"/>
                  </a:lnTo>
                  <a:lnTo>
                    <a:pt x="7537" y="7537"/>
                  </a:lnTo>
                  <a:lnTo>
                    <a:pt x="8730" y="6339"/>
                  </a:lnTo>
                  <a:lnTo>
                    <a:pt x="24039" y="0"/>
                  </a:lnTo>
                  <a:lnTo>
                    <a:pt x="25729" y="0"/>
                  </a:lnTo>
                  <a:lnTo>
                    <a:pt x="4521364" y="0"/>
                  </a:lnTo>
                  <a:lnTo>
                    <a:pt x="4523054" y="0"/>
                  </a:lnTo>
                  <a:lnTo>
                    <a:pt x="4524726" y="164"/>
                  </a:lnTo>
                  <a:lnTo>
                    <a:pt x="4539557" y="7537"/>
                  </a:lnTo>
                  <a:lnTo>
                    <a:pt x="4540750" y="8730"/>
                  </a:lnTo>
                  <a:lnTo>
                    <a:pt x="4545133" y="15881"/>
                  </a:lnTo>
                  <a:lnTo>
                    <a:pt x="4545781" y="17443"/>
                  </a:lnTo>
                  <a:lnTo>
                    <a:pt x="4546269" y="19053"/>
                  </a:lnTo>
                  <a:lnTo>
                    <a:pt x="4546601" y="20708"/>
                  </a:lnTo>
                  <a:lnTo>
                    <a:pt x="4546930" y="22367"/>
                  </a:lnTo>
                  <a:lnTo>
                    <a:pt x="4547094" y="24039"/>
                  </a:lnTo>
                  <a:lnTo>
                    <a:pt x="4547094" y="25729"/>
                  </a:lnTo>
                  <a:lnTo>
                    <a:pt x="4547094" y="1677766"/>
                  </a:lnTo>
                  <a:lnTo>
                    <a:pt x="4547094" y="1679457"/>
                  </a:lnTo>
                  <a:lnTo>
                    <a:pt x="4546930" y="1681129"/>
                  </a:lnTo>
                  <a:lnTo>
                    <a:pt x="4546601" y="1682784"/>
                  </a:lnTo>
                  <a:lnTo>
                    <a:pt x="4546269" y="1684443"/>
                  </a:lnTo>
                  <a:lnTo>
                    <a:pt x="4545781" y="1686053"/>
                  </a:lnTo>
                  <a:lnTo>
                    <a:pt x="4545133" y="1687610"/>
                  </a:lnTo>
                  <a:lnTo>
                    <a:pt x="4544490" y="1689172"/>
                  </a:lnTo>
                  <a:lnTo>
                    <a:pt x="4543696" y="1690658"/>
                  </a:lnTo>
                  <a:lnTo>
                    <a:pt x="4542755" y="1692060"/>
                  </a:lnTo>
                  <a:lnTo>
                    <a:pt x="4541819" y="1693466"/>
                  </a:lnTo>
                  <a:lnTo>
                    <a:pt x="4540750" y="1694766"/>
                  </a:lnTo>
                  <a:lnTo>
                    <a:pt x="4539557" y="1695959"/>
                  </a:lnTo>
                  <a:lnTo>
                    <a:pt x="4538363" y="1697157"/>
                  </a:lnTo>
                  <a:lnTo>
                    <a:pt x="4537063" y="1698222"/>
                  </a:lnTo>
                  <a:lnTo>
                    <a:pt x="4535657" y="1699158"/>
                  </a:lnTo>
                  <a:lnTo>
                    <a:pt x="4534251" y="1700098"/>
                  </a:lnTo>
                  <a:lnTo>
                    <a:pt x="4532769" y="1700892"/>
                  </a:lnTo>
                  <a:lnTo>
                    <a:pt x="4531212" y="1701535"/>
                  </a:lnTo>
                  <a:lnTo>
                    <a:pt x="4529651" y="1702183"/>
                  </a:lnTo>
                  <a:lnTo>
                    <a:pt x="4528040" y="1702671"/>
                  </a:lnTo>
                  <a:lnTo>
                    <a:pt x="4526381" y="1702999"/>
                  </a:lnTo>
                  <a:lnTo>
                    <a:pt x="4524726" y="1703332"/>
                  </a:lnTo>
                  <a:lnTo>
                    <a:pt x="4523054" y="1703496"/>
                  </a:lnTo>
                  <a:lnTo>
                    <a:pt x="4521364" y="1703496"/>
                  </a:lnTo>
                  <a:lnTo>
                    <a:pt x="25729" y="1703496"/>
                  </a:lnTo>
                  <a:lnTo>
                    <a:pt x="24039" y="1703496"/>
                  </a:lnTo>
                  <a:lnTo>
                    <a:pt x="22367" y="1703332"/>
                  </a:lnTo>
                  <a:lnTo>
                    <a:pt x="20708" y="1702999"/>
                  </a:lnTo>
                  <a:lnTo>
                    <a:pt x="19053" y="1702671"/>
                  </a:lnTo>
                  <a:lnTo>
                    <a:pt x="17443" y="1702183"/>
                  </a:lnTo>
                  <a:lnTo>
                    <a:pt x="15881" y="1701535"/>
                  </a:lnTo>
                  <a:lnTo>
                    <a:pt x="14324" y="1700892"/>
                  </a:lnTo>
                  <a:lnTo>
                    <a:pt x="7537" y="1695959"/>
                  </a:lnTo>
                  <a:lnTo>
                    <a:pt x="6339" y="1694766"/>
                  </a:lnTo>
                  <a:lnTo>
                    <a:pt x="0" y="1679457"/>
                  </a:lnTo>
                  <a:lnTo>
                    <a:pt x="0" y="1677766"/>
                  </a:lnTo>
                  <a:close/>
                </a:path>
              </a:pathLst>
            </a:custGeom>
            <a:ln w="4436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90372" y="9049828"/>
              <a:ext cx="4542790" cy="235585"/>
            </a:xfrm>
            <a:custGeom>
              <a:avLst/>
              <a:gdLst/>
              <a:ahLst/>
              <a:cxnLst/>
              <a:rect l="l" t="t" r="r" b="b"/>
              <a:pathLst>
                <a:path w="4542790" h="235584">
                  <a:moveTo>
                    <a:pt x="4542663" y="24244"/>
                  </a:moveTo>
                  <a:lnTo>
                    <a:pt x="4518418" y="0"/>
                  </a:ln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24244" y="0"/>
                  </a:lnTo>
                  <a:lnTo>
                    <a:pt x="20675" y="711"/>
                  </a:lnTo>
                  <a:lnTo>
                    <a:pt x="0" y="24244"/>
                  </a:lnTo>
                  <a:lnTo>
                    <a:pt x="0" y="235115"/>
                  </a:lnTo>
                  <a:lnTo>
                    <a:pt x="1135672" y="235115"/>
                  </a:lnTo>
                  <a:lnTo>
                    <a:pt x="2271331" y="235115"/>
                  </a:lnTo>
                  <a:lnTo>
                    <a:pt x="3407003" y="235115"/>
                  </a:lnTo>
                  <a:lnTo>
                    <a:pt x="4542663" y="235115"/>
                  </a:lnTo>
                  <a:lnTo>
                    <a:pt x="4542663" y="2424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90372" y="9284943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5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7984"/>
                  </a:lnTo>
                  <a:lnTo>
                    <a:pt x="1135672" y="487984"/>
                  </a:lnTo>
                  <a:lnTo>
                    <a:pt x="2271331" y="487984"/>
                  </a:lnTo>
                  <a:lnTo>
                    <a:pt x="3407003" y="487984"/>
                  </a:lnTo>
                  <a:lnTo>
                    <a:pt x="4542663" y="487984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90372" y="9772928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5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7984"/>
                  </a:lnTo>
                  <a:lnTo>
                    <a:pt x="1135672" y="487984"/>
                  </a:lnTo>
                  <a:lnTo>
                    <a:pt x="2271331" y="487984"/>
                  </a:lnTo>
                  <a:lnTo>
                    <a:pt x="3407003" y="487984"/>
                  </a:lnTo>
                  <a:lnTo>
                    <a:pt x="4542663" y="487984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90372" y="10260913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5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63740"/>
                  </a:lnTo>
                  <a:lnTo>
                    <a:pt x="24244" y="487972"/>
                  </a:lnTo>
                  <a:lnTo>
                    <a:pt x="1135672" y="487972"/>
                  </a:lnTo>
                  <a:lnTo>
                    <a:pt x="2271331" y="487984"/>
                  </a:lnTo>
                  <a:lnTo>
                    <a:pt x="3407003" y="487984"/>
                  </a:lnTo>
                  <a:lnTo>
                    <a:pt x="4518418" y="487972"/>
                  </a:lnTo>
                  <a:lnTo>
                    <a:pt x="4521987" y="487273"/>
                  </a:lnTo>
                  <a:lnTo>
                    <a:pt x="4542663" y="463740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457536" y="9099232"/>
            <a:ext cx="32829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endParaRPr sz="600">
              <a:latin typeface="Roboto"/>
              <a:cs typeface="Robot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595418" y="9099232"/>
            <a:ext cx="57785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b="1">
                <a:solidFill>
                  <a:srgbClr val="3B3838"/>
                </a:solidFill>
                <a:latin typeface="Roboto"/>
                <a:cs typeface="Roboto"/>
              </a:rPr>
              <a:t>Possible</a:t>
            </a:r>
            <a:r>
              <a:rPr dirty="0" sz="600" spc="9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Cause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731083" y="9099232"/>
            <a:ext cx="61404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endParaRPr sz="600">
              <a:latin typeface="Roboto"/>
              <a:cs typeface="Roboto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866747" y="9099232"/>
            <a:ext cx="32385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Solution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70236" y="9305959"/>
            <a:ext cx="852805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Uзer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cannot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perform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35">
                <a:solidFill>
                  <a:srgbClr val="3B3838"/>
                </a:solidFill>
                <a:latin typeface="Roboto"/>
                <a:cs typeface="Roboto"/>
              </a:rPr>
              <a:t>an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activity</a:t>
            </a:r>
            <a:endParaRPr sz="600">
              <a:latin typeface="Roboto"/>
              <a:cs typeface="Roboto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608118" y="9305959"/>
            <a:ext cx="782320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authoriзation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object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role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43783" y="9305959"/>
            <a:ext cx="855344" cy="402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authoriзation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error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meззage;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identify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object</a:t>
            </a:r>
            <a:endParaRPr sz="600">
              <a:latin typeface="Roboto"/>
              <a:cs typeface="Roboto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879447" y="9305959"/>
            <a:ext cx="884555" cy="402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Security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team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addз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required</a:t>
            </a:r>
            <a:r>
              <a:rPr dirty="0" sz="60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authoriзation</a:t>
            </a:r>
            <a:r>
              <a:rPr dirty="0" sz="60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uзer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role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57536" y="9793940"/>
            <a:ext cx="788035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Uзer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can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view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but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change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information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595418" y="9793940"/>
            <a:ext cx="941705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Diзplay-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only</a:t>
            </a:r>
            <a:r>
              <a:rPr dirty="0" sz="600" spc="-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authoriзation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aззigned</a:t>
            </a:r>
            <a:endParaRPr sz="600">
              <a:latin typeface="Roboto"/>
              <a:cs typeface="Roboto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731083" y="9793940"/>
            <a:ext cx="889635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uзer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role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authoriзation</a:t>
            </a:r>
            <a:r>
              <a:rPr dirty="0" sz="600" spc="1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objectз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866747" y="9793940"/>
            <a:ext cx="989965" cy="402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Security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team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updateз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role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change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authoriзation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if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appropriate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57536" y="10281921"/>
            <a:ext cx="923925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Authoriзation</a:t>
            </a:r>
            <a:r>
              <a:rPr dirty="0" sz="600" spc="1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reзtrictionз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blocking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endParaRPr sz="600">
              <a:latin typeface="Roboto"/>
              <a:cs typeface="Roboto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608118" y="10281921"/>
            <a:ext cx="825500" cy="402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Company</a:t>
            </a:r>
            <a:r>
              <a:rPr dirty="0" sz="600" spc="9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code,</a:t>
            </a:r>
            <a:r>
              <a:rPr dirty="0" sz="600" spc="1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account,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reзtrictionз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role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743783" y="10281921"/>
            <a:ext cx="882650" cy="402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Identify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зpecific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reзtriction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error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meззage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866747" y="10281921"/>
            <a:ext cx="969644" cy="402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Security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team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adjuзtз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role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include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required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зcope</a:t>
            </a:r>
            <a:endParaRPr sz="600">
              <a:latin typeface="Roboto"/>
              <a:cs typeface="Roboto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385948" y="10842047"/>
            <a:ext cx="4551680" cy="448309"/>
            <a:chOff x="385948" y="10842047"/>
            <a:chExt cx="4551680" cy="448309"/>
          </a:xfrm>
        </p:grpSpPr>
        <p:sp>
          <p:nvSpPr>
            <p:cNvPr id="75" name="object 75"/>
            <p:cNvSpPr/>
            <p:nvPr/>
          </p:nvSpPr>
          <p:spPr>
            <a:xfrm>
              <a:off x="385948" y="10842047"/>
              <a:ext cx="4551680" cy="448309"/>
            </a:xfrm>
            <a:custGeom>
              <a:avLst/>
              <a:gdLst/>
              <a:ahLst/>
              <a:cxnLst/>
              <a:rect l="l" t="t" r="r" b="b"/>
              <a:pathLst>
                <a:path w="4551680" h="448309">
                  <a:moveTo>
                    <a:pt x="4525418" y="448055"/>
                  </a:moveTo>
                  <a:lnTo>
                    <a:pt x="26111" y="448055"/>
                  </a:lnTo>
                  <a:lnTo>
                    <a:pt x="24297" y="447877"/>
                  </a:lnTo>
                  <a:lnTo>
                    <a:pt x="0" y="421939"/>
                  </a:lnTo>
                  <a:lnTo>
                    <a:pt x="0" y="420107"/>
                  </a:lnTo>
                  <a:lnTo>
                    <a:pt x="0" y="26111"/>
                  </a:lnTo>
                  <a:lnTo>
                    <a:pt x="26111" y="0"/>
                  </a:lnTo>
                  <a:lnTo>
                    <a:pt x="4525418" y="0"/>
                  </a:lnTo>
                  <a:lnTo>
                    <a:pt x="4551530" y="26111"/>
                  </a:lnTo>
                  <a:lnTo>
                    <a:pt x="4551530" y="421939"/>
                  </a:lnTo>
                  <a:lnTo>
                    <a:pt x="4527233" y="447877"/>
                  </a:lnTo>
                  <a:lnTo>
                    <a:pt x="4525418" y="448055"/>
                  </a:lnTo>
                  <a:close/>
                </a:path>
              </a:pathLst>
            </a:custGeom>
            <a:solidFill>
              <a:srgbClr val="FBF1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781" y="10957942"/>
              <a:ext cx="79851" cy="69870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373248" y="10911861"/>
            <a:ext cx="4272915" cy="1063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1780" marR="431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latin typeface="Roboto"/>
                <a:cs typeface="Roboto"/>
              </a:rPr>
              <a:t>Important: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Users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should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not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be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given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broad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permissions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as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a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quick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fix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for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authorisation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issues.</a:t>
            </a:r>
            <a:r>
              <a:rPr dirty="0" sz="600" spc="5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This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violates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 spc="-25">
                <a:latin typeface="Roboto"/>
                <a:cs typeface="Roboto"/>
              </a:rPr>
              <a:t>the</a:t>
            </a:r>
            <a:r>
              <a:rPr dirty="0" sz="600" spc="50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principle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of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least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privilege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and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can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create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security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risks.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Always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involve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the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SAP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security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 spc="-10">
                <a:latin typeface="Roboto"/>
                <a:cs typeface="Roboto"/>
              </a:rPr>
              <a:t>team.</a:t>
            </a:r>
            <a:endParaRPr sz="6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1B1B27"/>
                </a:solidFill>
                <a:latin typeface="Trebuchet MS"/>
                <a:cs typeface="Trebuchet MS"/>
              </a:rPr>
              <a:t>Master</a:t>
            </a:r>
            <a:r>
              <a:rPr dirty="0" sz="1250" spc="6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1B1B27"/>
                </a:solidFill>
                <a:latin typeface="Trebuchet MS"/>
                <a:cs typeface="Trebuchet MS"/>
              </a:rPr>
              <a:t>Data</a:t>
            </a:r>
            <a:r>
              <a:rPr dirty="0" sz="1250" spc="10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250" spc="50">
                <a:solidFill>
                  <a:srgbClr val="1B1B27"/>
                </a:solidFill>
                <a:latin typeface="Trebuchet MS"/>
                <a:cs typeface="Trebuchet MS"/>
              </a:rPr>
              <a:t>Issues</a:t>
            </a:r>
            <a:endParaRPr sz="1250">
              <a:latin typeface="Trebuchet MS"/>
              <a:cs typeface="Trebuchet MS"/>
            </a:endParaRPr>
          </a:p>
          <a:p>
            <a:pPr marL="12700" marR="5080">
              <a:lnSpc>
                <a:spcPct val="140700"/>
              </a:lnSpc>
              <a:spcBef>
                <a:spcPts val="850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one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moзt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common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root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cauзeз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problemз.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includeз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all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зtatic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information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about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accountз,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cuзtomerз,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vendorз,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aззetз,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centreз,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centreз.</a:t>
            </a:r>
            <a:endParaRPr sz="600">
              <a:latin typeface="Roboto"/>
              <a:cs typeface="Roboto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385948" y="12075307"/>
            <a:ext cx="4551680" cy="3425190"/>
            <a:chOff x="385948" y="12075307"/>
            <a:chExt cx="4551680" cy="3425190"/>
          </a:xfrm>
        </p:grpSpPr>
        <p:sp>
          <p:nvSpPr>
            <p:cNvPr id="79" name="object 79"/>
            <p:cNvSpPr/>
            <p:nvPr/>
          </p:nvSpPr>
          <p:spPr>
            <a:xfrm>
              <a:off x="388166" y="12077525"/>
              <a:ext cx="4547235" cy="3420745"/>
            </a:xfrm>
            <a:custGeom>
              <a:avLst/>
              <a:gdLst/>
              <a:ahLst/>
              <a:cxnLst/>
              <a:rect l="l" t="t" r="r" b="b"/>
              <a:pathLst>
                <a:path w="4547235" h="3420744">
                  <a:moveTo>
                    <a:pt x="0" y="3394572"/>
                  </a:moveTo>
                  <a:lnTo>
                    <a:pt x="0" y="25729"/>
                  </a:lnTo>
                  <a:lnTo>
                    <a:pt x="0" y="24039"/>
                  </a:lnTo>
                  <a:lnTo>
                    <a:pt x="164" y="22367"/>
                  </a:lnTo>
                  <a:lnTo>
                    <a:pt x="7537" y="7537"/>
                  </a:lnTo>
                  <a:lnTo>
                    <a:pt x="8730" y="6339"/>
                  </a:lnTo>
                  <a:lnTo>
                    <a:pt x="24039" y="0"/>
                  </a:lnTo>
                  <a:lnTo>
                    <a:pt x="25729" y="0"/>
                  </a:lnTo>
                  <a:lnTo>
                    <a:pt x="4521364" y="0"/>
                  </a:lnTo>
                  <a:lnTo>
                    <a:pt x="4523054" y="0"/>
                  </a:lnTo>
                  <a:lnTo>
                    <a:pt x="4524726" y="164"/>
                  </a:lnTo>
                  <a:lnTo>
                    <a:pt x="4526381" y="492"/>
                  </a:lnTo>
                  <a:lnTo>
                    <a:pt x="4528040" y="825"/>
                  </a:lnTo>
                  <a:lnTo>
                    <a:pt x="4529651" y="1308"/>
                  </a:lnTo>
                  <a:lnTo>
                    <a:pt x="4531208" y="1956"/>
                  </a:lnTo>
                  <a:lnTo>
                    <a:pt x="4532769" y="2604"/>
                  </a:lnTo>
                  <a:lnTo>
                    <a:pt x="4539557" y="7537"/>
                  </a:lnTo>
                  <a:lnTo>
                    <a:pt x="4540750" y="8730"/>
                  </a:lnTo>
                  <a:lnTo>
                    <a:pt x="4545133" y="15881"/>
                  </a:lnTo>
                  <a:lnTo>
                    <a:pt x="4545781" y="17443"/>
                  </a:lnTo>
                  <a:lnTo>
                    <a:pt x="4546269" y="19053"/>
                  </a:lnTo>
                  <a:lnTo>
                    <a:pt x="4546601" y="20712"/>
                  </a:lnTo>
                  <a:lnTo>
                    <a:pt x="4546930" y="22367"/>
                  </a:lnTo>
                  <a:lnTo>
                    <a:pt x="4547094" y="24039"/>
                  </a:lnTo>
                  <a:lnTo>
                    <a:pt x="4547094" y="25729"/>
                  </a:lnTo>
                  <a:lnTo>
                    <a:pt x="4547094" y="3394572"/>
                  </a:lnTo>
                  <a:lnTo>
                    <a:pt x="4547094" y="3396262"/>
                  </a:lnTo>
                  <a:lnTo>
                    <a:pt x="4546930" y="3397934"/>
                  </a:lnTo>
                  <a:lnTo>
                    <a:pt x="4546601" y="3399589"/>
                  </a:lnTo>
                  <a:lnTo>
                    <a:pt x="4546269" y="3401248"/>
                  </a:lnTo>
                  <a:lnTo>
                    <a:pt x="4545781" y="3402854"/>
                  </a:lnTo>
                  <a:lnTo>
                    <a:pt x="4545133" y="3404416"/>
                  </a:lnTo>
                  <a:lnTo>
                    <a:pt x="4544490" y="3405977"/>
                  </a:lnTo>
                  <a:lnTo>
                    <a:pt x="4543696" y="3407463"/>
                  </a:lnTo>
                  <a:lnTo>
                    <a:pt x="4542755" y="3408865"/>
                  </a:lnTo>
                  <a:lnTo>
                    <a:pt x="4541819" y="3410271"/>
                  </a:lnTo>
                  <a:lnTo>
                    <a:pt x="4540750" y="3411571"/>
                  </a:lnTo>
                  <a:lnTo>
                    <a:pt x="4539557" y="3412764"/>
                  </a:lnTo>
                  <a:lnTo>
                    <a:pt x="4538363" y="3413958"/>
                  </a:lnTo>
                  <a:lnTo>
                    <a:pt x="4537063" y="3415027"/>
                  </a:lnTo>
                  <a:lnTo>
                    <a:pt x="4535657" y="3415963"/>
                  </a:lnTo>
                  <a:lnTo>
                    <a:pt x="4534251" y="3416903"/>
                  </a:lnTo>
                  <a:lnTo>
                    <a:pt x="4526381" y="3419805"/>
                  </a:lnTo>
                  <a:lnTo>
                    <a:pt x="4524726" y="3420137"/>
                  </a:lnTo>
                  <a:lnTo>
                    <a:pt x="4523054" y="3420302"/>
                  </a:lnTo>
                  <a:lnTo>
                    <a:pt x="4521364" y="3420302"/>
                  </a:lnTo>
                  <a:lnTo>
                    <a:pt x="25729" y="3420302"/>
                  </a:lnTo>
                  <a:lnTo>
                    <a:pt x="24039" y="3420302"/>
                  </a:lnTo>
                  <a:lnTo>
                    <a:pt x="22367" y="3420137"/>
                  </a:lnTo>
                  <a:lnTo>
                    <a:pt x="20708" y="3419805"/>
                  </a:lnTo>
                  <a:lnTo>
                    <a:pt x="19053" y="3419476"/>
                  </a:lnTo>
                  <a:lnTo>
                    <a:pt x="11436" y="3415963"/>
                  </a:lnTo>
                  <a:lnTo>
                    <a:pt x="10030" y="3415027"/>
                  </a:lnTo>
                  <a:lnTo>
                    <a:pt x="8730" y="3413958"/>
                  </a:lnTo>
                  <a:lnTo>
                    <a:pt x="7537" y="3412764"/>
                  </a:lnTo>
                  <a:lnTo>
                    <a:pt x="6339" y="3411571"/>
                  </a:lnTo>
                  <a:lnTo>
                    <a:pt x="0" y="3396262"/>
                  </a:lnTo>
                  <a:lnTo>
                    <a:pt x="0" y="3394572"/>
                  </a:lnTo>
                  <a:close/>
                </a:path>
              </a:pathLst>
            </a:custGeom>
            <a:ln w="4436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90372" y="12079744"/>
              <a:ext cx="4542790" cy="231140"/>
            </a:xfrm>
            <a:custGeom>
              <a:avLst/>
              <a:gdLst/>
              <a:ahLst/>
              <a:cxnLst/>
              <a:rect l="l" t="t" r="r" b="b"/>
              <a:pathLst>
                <a:path w="4542790" h="231140">
                  <a:moveTo>
                    <a:pt x="4542663" y="24244"/>
                  </a:moveTo>
                  <a:lnTo>
                    <a:pt x="4518418" y="0"/>
                  </a:ln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24244" y="0"/>
                  </a:lnTo>
                  <a:lnTo>
                    <a:pt x="20675" y="711"/>
                  </a:lnTo>
                  <a:lnTo>
                    <a:pt x="0" y="24244"/>
                  </a:lnTo>
                  <a:lnTo>
                    <a:pt x="0" y="230682"/>
                  </a:lnTo>
                  <a:lnTo>
                    <a:pt x="1135672" y="230682"/>
                  </a:lnTo>
                  <a:lnTo>
                    <a:pt x="2271331" y="230682"/>
                  </a:lnTo>
                  <a:lnTo>
                    <a:pt x="3407003" y="230682"/>
                  </a:lnTo>
                  <a:lnTo>
                    <a:pt x="4542663" y="230682"/>
                  </a:lnTo>
                  <a:lnTo>
                    <a:pt x="4542663" y="2424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90372" y="12310426"/>
              <a:ext cx="4542790" cy="617220"/>
            </a:xfrm>
            <a:custGeom>
              <a:avLst/>
              <a:gdLst/>
              <a:ahLst/>
              <a:cxnLst/>
              <a:rect l="l" t="t" r="r" b="b"/>
              <a:pathLst>
                <a:path w="4542790" h="617220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616635"/>
                  </a:lnTo>
                  <a:lnTo>
                    <a:pt x="1135672" y="616635"/>
                  </a:lnTo>
                  <a:lnTo>
                    <a:pt x="2271331" y="616635"/>
                  </a:lnTo>
                  <a:lnTo>
                    <a:pt x="3407003" y="616635"/>
                  </a:lnTo>
                  <a:lnTo>
                    <a:pt x="4542663" y="616635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90372" y="12927062"/>
              <a:ext cx="4542790" cy="617220"/>
            </a:xfrm>
            <a:custGeom>
              <a:avLst/>
              <a:gdLst/>
              <a:ahLst/>
              <a:cxnLst/>
              <a:rect l="l" t="t" r="r" b="b"/>
              <a:pathLst>
                <a:path w="4542790" h="617219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616623"/>
                  </a:lnTo>
                  <a:lnTo>
                    <a:pt x="1135672" y="616623"/>
                  </a:lnTo>
                  <a:lnTo>
                    <a:pt x="2271331" y="616623"/>
                  </a:lnTo>
                  <a:lnTo>
                    <a:pt x="3407003" y="616623"/>
                  </a:lnTo>
                  <a:lnTo>
                    <a:pt x="4542663" y="616623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90372" y="13543685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5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7984"/>
                  </a:lnTo>
                  <a:lnTo>
                    <a:pt x="1135672" y="487984"/>
                  </a:lnTo>
                  <a:lnTo>
                    <a:pt x="2271331" y="487984"/>
                  </a:lnTo>
                  <a:lnTo>
                    <a:pt x="3407003" y="487984"/>
                  </a:lnTo>
                  <a:lnTo>
                    <a:pt x="4542663" y="487984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90372" y="14031670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5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7984"/>
                  </a:lnTo>
                  <a:lnTo>
                    <a:pt x="1135672" y="487984"/>
                  </a:lnTo>
                  <a:lnTo>
                    <a:pt x="2271331" y="487984"/>
                  </a:lnTo>
                  <a:lnTo>
                    <a:pt x="3407003" y="487984"/>
                  </a:lnTo>
                  <a:lnTo>
                    <a:pt x="4542663" y="487984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90372" y="14519655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5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7984"/>
                  </a:lnTo>
                  <a:lnTo>
                    <a:pt x="1135672" y="487984"/>
                  </a:lnTo>
                  <a:lnTo>
                    <a:pt x="2271331" y="487984"/>
                  </a:lnTo>
                  <a:lnTo>
                    <a:pt x="3407003" y="487984"/>
                  </a:lnTo>
                  <a:lnTo>
                    <a:pt x="4542663" y="487984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90372" y="15007627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5">
                  <a:moveTo>
                    <a:pt x="4542663" y="0"/>
                  </a:moveTo>
                  <a:lnTo>
                    <a:pt x="3407003" y="0"/>
                  </a:lnTo>
                  <a:lnTo>
                    <a:pt x="2271331" y="12"/>
                  </a:lnTo>
                  <a:lnTo>
                    <a:pt x="1135672" y="12"/>
                  </a:lnTo>
                  <a:lnTo>
                    <a:pt x="0" y="0"/>
                  </a:lnTo>
                  <a:lnTo>
                    <a:pt x="0" y="463740"/>
                  </a:lnTo>
                  <a:lnTo>
                    <a:pt x="711" y="467309"/>
                  </a:lnTo>
                  <a:lnTo>
                    <a:pt x="24257" y="487984"/>
                  </a:lnTo>
                  <a:lnTo>
                    <a:pt x="1135672" y="487984"/>
                  </a:lnTo>
                  <a:lnTo>
                    <a:pt x="2271331" y="487984"/>
                  </a:lnTo>
                  <a:lnTo>
                    <a:pt x="3407003" y="487984"/>
                  </a:lnTo>
                  <a:lnTo>
                    <a:pt x="4518418" y="487984"/>
                  </a:lnTo>
                  <a:lnTo>
                    <a:pt x="4521987" y="487273"/>
                  </a:lnTo>
                  <a:lnTo>
                    <a:pt x="4542663" y="463740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 txBox="1"/>
          <p:nvPr/>
        </p:nvSpPr>
        <p:spPr>
          <a:xfrm>
            <a:off x="457536" y="12124714"/>
            <a:ext cx="65532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b="1">
                <a:solidFill>
                  <a:srgbClr val="3B3838"/>
                </a:solidFill>
                <a:latin typeface="Roboto"/>
                <a:cs typeface="Roboto"/>
              </a:rPr>
              <a:t>Master</a:t>
            </a:r>
            <a:r>
              <a:rPr dirty="0" sz="600" spc="5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b="1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600" spc="4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 b="1">
                <a:solidFill>
                  <a:srgbClr val="3B3838"/>
                </a:solidFill>
                <a:latin typeface="Roboto"/>
                <a:cs typeface="Roboto"/>
              </a:rPr>
              <a:t>Type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595418" y="12124714"/>
            <a:ext cx="56451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b="1">
                <a:solidFill>
                  <a:srgbClr val="3B3838"/>
                </a:solidFill>
                <a:latin typeface="Roboto"/>
                <a:cs typeface="Roboto"/>
              </a:rPr>
              <a:t>Common</a:t>
            </a:r>
            <a:r>
              <a:rPr dirty="0" sz="600" spc="10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Issue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731083" y="12124714"/>
            <a:ext cx="27432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Impact</a:t>
            </a:r>
            <a:endParaRPr sz="600">
              <a:latin typeface="Roboto"/>
              <a:cs typeface="Robot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866747" y="12124714"/>
            <a:ext cx="41402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Prevention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70236" y="12359831"/>
            <a:ext cx="49974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6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Accountз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608118" y="12327004"/>
            <a:ext cx="851535" cy="5359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type,</a:t>
            </a:r>
            <a:endParaRPr sz="600">
              <a:latin typeface="Roboto"/>
              <a:cs typeface="Roboto"/>
            </a:endParaRPr>
          </a:p>
          <a:p>
            <a:pPr marR="5080">
              <a:lnSpc>
                <a:spcPct val="138300"/>
              </a:lnSpc>
              <a:spcBef>
                <a:spcPts val="20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зtatuз,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reconciliation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endParaRPr sz="600">
              <a:latin typeface="Roboto"/>
              <a:cs typeface="Robot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743783" y="12327004"/>
            <a:ext cx="825500" cy="407034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poзtingз,</a:t>
            </a:r>
            <a:endParaRPr sz="600">
              <a:latin typeface="Roboto"/>
              <a:cs typeface="Roboto"/>
            </a:endParaRPr>
          </a:p>
          <a:p>
            <a:pPr marR="5080">
              <a:lnSpc>
                <a:spcPct val="135800"/>
              </a:lnSpc>
              <a:spcBef>
                <a:spcPts val="3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errorз,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FI–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miзmatch</a:t>
            </a:r>
            <a:endParaRPr sz="600">
              <a:latin typeface="Roboto"/>
              <a:cs typeface="Robot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879447" y="12327004"/>
            <a:ext cx="909955" cy="4070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chart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accountз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go-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live;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maintain</a:t>
            </a:r>
            <a:endParaRPr sz="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зtandardз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57536" y="12948070"/>
            <a:ext cx="810260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Cuзtomerз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/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Partnerз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595418" y="12948070"/>
            <a:ext cx="913130" cy="5314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39100"/>
              </a:lnSpc>
              <a:spcBef>
                <a:spcPts val="70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termз,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reconciliation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account,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bank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detailз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731083" y="12948070"/>
            <a:ext cx="972819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failureз,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balanceз,</a:t>
            </a:r>
            <a:r>
              <a:rPr dirty="0" sz="60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dunning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3866747" y="12948070"/>
            <a:ext cx="941069" cy="402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Validate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during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creation;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uзe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templateз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70236" y="13555829"/>
            <a:ext cx="702945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Vendorз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/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Partnerз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608118" y="13555829"/>
            <a:ext cx="904875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method,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tax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information,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bank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743783" y="13555829"/>
            <a:ext cx="829944" cy="41148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Payment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proceззing</a:t>
            </a:r>
            <a:endParaRPr sz="600">
              <a:latin typeface="Roboto"/>
              <a:cs typeface="Roboto"/>
            </a:endParaRPr>
          </a:p>
          <a:p>
            <a:pPr marR="5080">
              <a:lnSpc>
                <a:spcPct val="140700"/>
              </a:lnSpc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failureз,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tax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calculation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errorз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879447" y="13555829"/>
            <a:ext cx="735965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Standardiзe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vendor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onboarding</a:t>
            </a:r>
            <a:r>
              <a:rPr dirty="0" sz="600" spc="10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proceзз;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validate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57536" y="14076636"/>
            <a:ext cx="26987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Aззetз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595418" y="14043809"/>
            <a:ext cx="949960" cy="41148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claзз,</a:t>
            </a:r>
            <a:endParaRPr sz="600">
              <a:latin typeface="Roboto"/>
              <a:cs typeface="Roboto"/>
            </a:endParaRPr>
          </a:p>
          <a:p>
            <a:pPr marL="12700" marR="5080">
              <a:lnSpc>
                <a:spcPct val="140700"/>
              </a:lnSpc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depreciation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key,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uзeful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life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731083" y="14043809"/>
            <a:ext cx="818515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depreciation,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balance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errorз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866747" y="14043809"/>
            <a:ext cx="895985" cy="41148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Define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aззet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claзз</a:t>
            </a:r>
            <a:endParaRPr sz="600">
              <a:latin typeface="Roboto"/>
              <a:cs typeface="Roboto"/>
            </a:endParaRPr>
          </a:p>
          <a:p>
            <a:pPr marL="12700" marR="5080">
              <a:lnSpc>
                <a:spcPct val="140700"/>
              </a:lnSpc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зtandardз;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activation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70236" y="14564617"/>
            <a:ext cx="47244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Centreз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608118" y="14531790"/>
            <a:ext cx="963930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Inactive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centre,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hierarchy,</a:t>
            </a:r>
            <a:r>
              <a:rPr dirty="0" sz="6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endParaRPr sz="6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reзponзible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perзon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2743783" y="14531790"/>
            <a:ext cx="815340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Coзtз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poзted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wrong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department,</a:t>
            </a:r>
            <a:r>
              <a:rPr dirty="0" sz="600" spc="1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allocation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errorз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879447" y="14531790"/>
            <a:ext cx="852805" cy="41148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Maintain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endParaRPr sz="600">
              <a:latin typeface="Roboto"/>
              <a:cs typeface="Roboto"/>
            </a:endParaRPr>
          </a:p>
          <a:p>
            <a:pPr marR="5080">
              <a:lnSpc>
                <a:spcPct val="140700"/>
              </a:lnSpc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regularly;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review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hierarchy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57536" y="15052599"/>
            <a:ext cx="51562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Centreз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595418" y="15019771"/>
            <a:ext cx="774065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centre,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зegment</a:t>
            </a:r>
            <a:endParaRPr sz="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aззignment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731083" y="15019771"/>
            <a:ext cx="923925" cy="41148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endParaRPr sz="600">
              <a:latin typeface="Roboto"/>
              <a:cs typeface="Roboto"/>
            </a:endParaRPr>
          </a:p>
          <a:p>
            <a:pPr marL="12700" marR="5080">
              <a:lnSpc>
                <a:spcPct val="140700"/>
              </a:lnSpc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errorз,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зegment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miзmatch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866747" y="15019771"/>
            <a:ext cx="909955" cy="41148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Define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profit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endParaRPr sz="600">
              <a:latin typeface="Roboto"/>
              <a:cs typeface="Roboto"/>
            </a:endParaRPr>
          </a:p>
          <a:p>
            <a:pPr marL="12700" marR="5080">
              <a:lnSpc>
                <a:spcPct val="140700"/>
              </a:lnSpc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зtructure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clearly;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validate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during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creation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73248" y="15602686"/>
            <a:ext cx="4526915" cy="578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105">
                <a:solidFill>
                  <a:srgbClr val="1B1B27"/>
                </a:solidFill>
                <a:latin typeface="Trebuchet MS"/>
                <a:cs typeface="Trebuchet MS"/>
              </a:rPr>
              <a:t>SAP</a:t>
            </a:r>
            <a:r>
              <a:rPr dirty="0" sz="1250" spc="2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250" spc="85">
                <a:solidFill>
                  <a:srgbClr val="1B1B27"/>
                </a:solidFill>
                <a:latin typeface="Trebuchet MS"/>
                <a:cs typeface="Trebuchet MS"/>
              </a:rPr>
              <a:t>S/4HANA-</a:t>
            </a:r>
            <a:r>
              <a:rPr dirty="0" sz="1250">
                <a:solidFill>
                  <a:srgbClr val="1B1B27"/>
                </a:solidFill>
                <a:latin typeface="Trebuchet MS"/>
                <a:cs typeface="Trebuchet MS"/>
              </a:rPr>
              <a:t>Specific</a:t>
            </a:r>
            <a:r>
              <a:rPr dirty="0" sz="1250" spc="7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1B1B27"/>
                </a:solidFill>
                <a:latin typeface="Trebuchet MS"/>
                <a:cs typeface="Trebuchet MS"/>
              </a:rPr>
              <a:t>Considerations</a:t>
            </a:r>
            <a:endParaRPr sz="1250">
              <a:latin typeface="Trebuchet MS"/>
              <a:cs typeface="Trebuchet MS"/>
            </a:endParaRPr>
          </a:p>
          <a:p>
            <a:pPr marL="12700" marR="5080">
              <a:lnSpc>
                <a:spcPct val="135800"/>
              </a:lnSpc>
              <a:spcBef>
                <a:spcPts val="88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introduceз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зeveral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architectural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changeз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compared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ECC.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Troubleзhooting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can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differ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зome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areaз.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table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below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highlightз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key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differenceз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beginner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зhould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aware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of.</a:t>
            </a:r>
            <a:endParaRPr sz="600">
              <a:latin typeface="Roboto"/>
              <a:cs typeface="Roboto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385948" y="16280817"/>
            <a:ext cx="4551680" cy="2936875"/>
            <a:chOff x="385948" y="16280817"/>
            <a:chExt cx="4551680" cy="2936875"/>
          </a:xfrm>
        </p:grpSpPr>
        <p:sp>
          <p:nvSpPr>
            <p:cNvPr id="117" name="object 117"/>
            <p:cNvSpPr/>
            <p:nvPr/>
          </p:nvSpPr>
          <p:spPr>
            <a:xfrm>
              <a:off x="388166" y="16283035"/>
              <a:ext cx="4547235" cy="2932430"/>
            </a:xfrm>
            <a:custGeom>
              <a:avLst/>
              <a:gdLst/>
              <a:ahLst/>
              <a:cxnLst/>
              <a:rect l="l" t="t" r="r" b="b"/>
              <a:pathLst>
                <a:path w="4547235" h="2932430">
                  <a:moveTo>
                    <a:pt x="0" y="2906591"/>
                  </a:moveTo>
                  <a:lnTo>
                    <a:pt x="0" y="25729"/>
                  </a:lnTo>
                  <a:lnTo>
                    <a:pt x="0" y="24039"/>
                  </a:lnTo>
                  <a:lnTo>
                    <a:pt x="164" y="22367"/>
                  </a:lnTo>
                  <a:lnTo>
                    <a:pt x="7537" y="7532"/>
                  </a:lnTo>
                  <a:lnTo>
                    <a:pt x="8730" y="6339"/>
                  </a:lnTo>
                  <a:lnTo>
                    <a:pt x="10030" y="5274"/>
                  </a:lnTo>
                  <a:lnTo>
                    <a:pt x="11436" y="4334"/>
                  </a:lnTo>
                  <a:lnTo>
                    <a:pt x="12838" y="3393"/>
                  </a:lnTo>
                  <a:lnTo>
                    <a:pt x="24039" y="0"/>
                  </a:lnTo>
                  <a:lnTo>
                    <a:pt x="25729" y="0"/>
                  </a:lnTo>
                  <a:lnTo>
                    <a:pt x="4521364" y="0"/>
                  </a:lnTo>
                  <a:lnTo>
                    <a:pt x="4523054" y="0"/>
                  </a:lnTo>
                  <a:lnTo>
                    <a:pt x="4524726" y="164"/>
                  </a:lnTo>
                  <a:lnTo>
                    <a:pt x="4526381" y="492"/>
                  </a:lnTo>
                  <a:lnTo>
                    <a:pt x="4528040" y="820"/>
                  </a:lnTo>
                  <a:lnTo>
                    <a:pt x="4529651" y="1308"/>
                  </a:lnTo>
                  <a:lnTo>
                    <a:pt x="4531208" y="1956"/>
                  </a:lnTo>
                  <a:lnTo>
                    <a:pt x="4532769" y="2599"/>
                  </a:lnTo>
                  <a:lnTo>
                    <a:pt x="4534251" y="3393"/>
                  </a:lnTo>
                  <a:lnTo>
                    <a:pt x="4535657" y="4334"/>
                  </a:lnTo>
                  <a:lnTo>
                    <a:pt x="4537063" y="5274"/>
                  </a:lnTo>
                  <a:lnTo>
                    <a:pt x="4545133" y="15881"/>
                  </a:lnTo>
                  <a:lnTo>
                    <a:pt x="4545781" y="17443"/>
                  </a:lnTo>
                  <a:lnTo>
                    <a:pt x="4546269" y="19048"/>
                  </a:lnTo>
                  <a:lnTo>
                    <a:pt x="4546601" y="20708"/>
                  </a:lnTo>
                  <a:lnTo>
                    <a:pt x="4546930" y="22367"/>
                  </a:lnTo>
                  <a:lnTo>
                    <a:pt x="4547094" y="24039"/>
                  </a:lnTo>
                  <a:lnTo>
                    <a:pt x="4547094" y="25729"/>
                  </a:lnTo>
                  <a:lnTo>
                    <a:pt x="4547094" y="2906591"/>
                  </a:lnTo>
                  <a:lnTo>
                    <a:pt x="4547094" y="2908277"/>
                  </a:lnTo>
                  <a:lnTo>
                    <a:pt x="4546930" y="2909949"/>
                  </a:lnTo>
                  <a:lnTo>
                    <a:pt x="4546601" y="2911608"/>
                  </a:lnTo>
                  <a:lnTo>
                    <a:pt x="4546269" y="2913263"/>
                  </a:lnTo>
                  <a:lnTo>
                    <a:pt x="4545781" y="2914873"/>
                  </a:lnTo>
                  <a:lnTo>
                    <a:pt x="4545133" y="2916435"/>
                  </a:lnTo>
                  <a:lnTo>
                    <a:pt x="4544490" y="2917992"/>
                  </a:lnTo>
                  <a:lnTo>
                    <a:pt x="4543696" y="2919474"/>
                  </a:lnTo>
                  <a:lnTo>
                    <a:pt x="4542755" y="2920880"/>
                  </a:lnTo>
                  <a:lnTo>
                    <a:pt x="4541819" y="2922286"/>
                  </a:lnTo>
                  <a:lnTo>
                    <a:pt x="4526381" y="2931824"/>
                  </a:lnTo>
                  <a:lnTo>
                    <a:pt x="4524726" y="2932157"/>
                  </a:lnTo>
                  <a:lnTo>
                    <a:pt x="4523054" y="2932321"/>
                  </a:lnTo>
                  <a:lnTo>
                    <a:pt x="4521364" y="2932321"/>
                  </a:lnTo>
                  <a:lnTo>
                    <a:pt x="25729" y="2932321"/>
                  </a:lnTo>
                  <a:lnTo>
                    <a:pt x="24039" y="2932321"/>
                  </a:lnTo>
                  <a:lnTo>
                    <a:pt x="22367" y="2932157"/>
                  </a:lnTo>
                  <a:lnTo>
                    <a:pt x="7537" y="2924784"/>
                  </a:lnTo>
                  <a:lnTo>
                    <a:pt x="6339" y="2923586"/>
                  </a:lnTo>
                  <a:lnTo>
                    <a:pt x="0" y="2908277"/>
                  </a:lnTo>
                  <a:lnTo>
                    <a:pt x="0" y="2906591"/>
                  </a:lnTo>
                  <a:close/>
                </a:path>
              </a:pathLst>
            </a:custGeom>
            <a:ln w="4436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390372" y="16285260"/>
              <a:ext cx="4542790" cy="235585"/>
            </a:xfrm>
            <a:custGeom>
              <a:avLst/>
              <a:gdLst/>
              <a:ahLst/>
              <a:cxnLst/>
              <a:rect l="l" t="t" r="r" b="b"/>
              <a:pathLst>
                <a:path w="4542790" h="235584">
                  <a:moveTo>
                    <a:pt x="4542663" y="24231"/>
                  </a:moveTo>
                  <a:lnTo>
                    <a:pt x="4518418" y="0"/>
                  </a:ln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24244" y="0"/>
                  </a:lnTo>
                  <a:lnTo>
                    <a:pt x="20675" y="698"/>
                  </a:lnTo>
                  <a:lnTo>
                    <a:pt x="0" y="24231"/>
                  </a:lnTo>
                  <a:lnTo>
                    <a:pt x="0" y="235115"/>
                  </a:lnTo>
                  <a:lnTo>
                    <a:pt x="1135672" y="235115"/>
                  </a:lnTo>
                  <a:lnTo>
                    <a:pt x="2271331" y="235115"/>
                  </a:lnTo>
                  <a:lnTo>
                    <a:pt x="3407003" y="235115"/>
                  </a:lnTo>
                  <a:lnTo>
                    <a:pt x="4542663" y="235115"/>
                  </a:lnTo>
                  <a:lnTo>
                    <a:pt x="4542663" y="24231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390372" y="16520376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5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7984"/>
                  </a:lnTo>
                  <a:lnTo>
                    <a:pt x="1135672" y="487984"/>
                  </a:lnTo>
                  <a:lnTo>
                    <a:pt x="2271331" y="487984"/>
                  </a:lnTo>
                  <a:lnTo>
                    <a:pt x="3407003" y="487984"/>
                  </a:lnTo>
                  <a:lnTo>
                    <a:pt x="4542663" y="487984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390372" y="17008360"/>
              <a:ext cx="4542790" cy="488315"/>
            </a:xfrm>
            <a:custGeom>
              <a:avLst/>
              <a:gdLst/>
              <a:ahLst/>
              <a:cxnLst/>
              <a:rect l="l" t="t" r="r" b="b"/>
              <a:pathLst>
                <a:path w="4542790" h="488315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7972"/>
                  </a:lnTo>
                  <a:lnTo>
                    <a:pt x="1135672" y="487972"/>
                  </a:lnTo>
                  <a:lnTo>
                    <a:pt x="2271331" y="487972"/>
                  </a:lnTo>
                  <a:lnTo>
                    <a:pt x="3407003" y="487972"/>
                  </a:lnTo>
                  <a:lnTo>
                    <a:pt x="4542663" y="487972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390372" y="17496333"/>
              <a:ext cx="4542790" cy="617220"/>
            </a:xfrm>
            <a:custGeom>
              <a:avLst/>
              <a:gdLst/>
              <a:ahLst/>
              <a:cxnLst/>
              <a:rect l="l" t="t" r="r" b="b"/>
              <a:pathLst>
                <a:path w="4542790" h="617219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616635"/>
                  </a:lnTo>
                  <a:lnTo>
                    <a:pt x="1135672" y="616635"/>
                  </a:lnTo>
                  <a:lnTo>
                    <a:pt x="2271331" y="616635"/>
                  </a:lnTo>
                  <a:lnTo>
                    <a:pt x="3407003" y="616635"/>
                  </a:lnTo>
                  <a:lnTo>
                    <a:pt x="4542663" y="616635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390372" y="18112968"/>
              <a:ext cx="4542790" cy="483870"/>
            </a:xfrm>
            <a:custGeom>
              <a:avLst/>
              <a:gdLst/>
              <a:ahLst/>
              <a:cxnLst/>
              <a:rect l="l" t="t" r="r" b="b"/>
              <a:pathLst>
                <a:path w="4542790" h="483869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483539"/>
                  </a:lnTo>
                  <a:lnTo>
                    <a:pt x="1135672" y="483539"/>
                  </a:lnTo>
                  <a:lnTo>
                    <a:pt x="2271331" y="483539"/>
                  </a:lnTo>
                  <a:lnTo>
                    <a:pt x="3407003" y="483539"/>
                  </a:lnTo>
                  <a:lnTo>
                    <a:pt x="4542663" y="483539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390372" y="18596508"/>
              <a:ext cx="4542790" cy="617220"/>
            </a:xfrm>
            <a:custGeom>
              <a:avLst/>
              <a:gdLst/>
              <a:ahLst/>
              <a:cxnLst/>
              <a:rect l="l" t="t" r="r" b="b"/>
              <a:pathLst>
                <a:path w="4542790" h="617219">
                  <a:moveTo>
                    <a:pt x="4542663" y="0"/>
                  </a:moveTo>
                  <a:lnTo>
                    <a:pt x="3407003" y="0"/>
                  </a:lnTo>
                  <a:lnTo>
                    <a:pt x="2271331" y="0"/>
                  </a:lnTo>
                  <a:lnTo>
                    <a:pt x="1135672" y="0"/>
                  </a:lnTo>
                  <a:lnTo>
                    <a:pt x="0" y="0"/>
                  </a:lnTo>
                  <a:lnTo>
                    <a:pt x="0" y="592391"/>
                  </a:lnTo>
                  <a:lnTo>
                    <a:pt x="24257" y="616635"/>
                  </a:lnTo>
                  <a:lnTo>
                    <a:pt x="1135672" y="616635"/>
                  </a:lnTo>
                  <a:lnTo>
                    <a:pt x="2271331" y="616635"/>
                  </a:lnTo>
                  <a:lnTo>
                    <a:pt x="3407003" y="616635"/>
                  </a:lnTo>
                  <a:lnTo>
                    <a:pt x="4518418" y="616635"/>
                  </a:lnTo>
                  <a:lnTo>
                    <a:pt x="4521987" y="615924"/>
                  </a:lnTo>
                  <a:lnTo>
                    <a:pt x="4542663" y="592391"/>
                  </a:lnTo>
                  <a:lnTo>
                    <a:pt x="454266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4" name="object 124"/>
          <p:cNvSpPr txBox="1"/>
          <p:nvPr/>
        </p:nvSpPr>
        <p:spPr>
          <a:xfrm>
            <a:off x="457536" y="16334657"/>
            <a:ext cx="29781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Feature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595418" y="16334657"/>
            <a:ext cx="34925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b="1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600" spc="6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 b="1">
                <a:solidFill>
                  <a:srgbClr val="3B3838"/>
                </a:solidFill>
                <a:latin typeface="Roboto"/>
                <a:cs typeface="Roboto"/>
              </a:rPr>
              <a:t>ECC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731083" y="16334657"/>
            <a:ext cx="54546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b="1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600" spc="6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S/4HANA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866747" y="16334657"/>
            <a:ext cx="88265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 b="1">
                <a:solidFill>
                  <a:srgbClr val="3B3838"/>
                </a:solidFill>
                <a:latin typeface="Roboto"/>
                <a:cs typeface="Roboto"/>
              </a:rPr>
              <a:t>Troubleshooting</a:t>
            </a:r>
            <a:r>
              <a:rPr dirty="0" sz="600" spc="2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 b="1">
                <a:solidFill>
                  <a:srgbClr val="3B3838"/>
                </a:solidFill>
                <a:latin typeface="Roboto"/>
                <a:cs typeface="Roboto"/>
              </a:rPr>
              <a:t>Impact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70236" y="16569776"/>
            <a:ext cx="28067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Journal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608118" y="16569776"/>
            <a:ext cx="93027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Separate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tableз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743783" y="16541384"/>
            <a:ext cx="930275" cy="402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Univerзal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Journal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10">
                <a:solidFill>
                  <a:srgbClr val="3B3838"/>
                </a:solidFill>
                <a:latin typeface="Roboto"/>
                <a:cs typeface="Roboto"/>
              </a:rPr>
              <a:t>(ACDOCA)</a:t>
            </a:r>
            <a:r>
              <a:rPr dirty="0" sz="6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1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6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10">
                <a:solidFill>
                  <a:srgbClr val="3B3838"/>
                </a:solidFill>
                <a:latin typeface="Roboto"/>
                <a:cs typeface="Roboto"/>
              </a:rPr>
              <a:t>integrated</a:t>
            </a:r>
            <a:r>
              <a:rPr dirty="0" sz="6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3879447" y="16541384"/>
            <a:ext cx="922019" cy="402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Reconciliation</a:t>
            </a:r>
            <a:r>
              <a:rPr dirty="0" sz="600" spc="114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between</a:t>
            </a:r>
            <a:r>
              <a:rPr dirty="0" sz="600" spc="1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60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зimplified;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60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6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one</a:t>
            </a:r>
            <a:r>
              <a:rPr dirty="0" sz="6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place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457536" y="17057757"/>
            <a:ext cx="63119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6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Partner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1595418" y="17029365"/>
            <a:ext cx="850900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Separate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60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vendor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maзterз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2731083" y="17029365"/>
            <a:ext cx="900430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Unified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Partner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(BP)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3866747" y="17029365"/>
            <a:ext cx="811530" cy="402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7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Cuзtomer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vendor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may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require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BP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checkз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470236" y="17545738"/>
            <a:ext cx="51244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Uзer</a:t>
            </a:r>
            <a:r>
              <a:rPr dirty="0" sz="6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Interface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608118" y="17545738"/>
            <a:ext cx="74295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6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GUI</a:t>
            </a:r>
            <a:r>
              <a:rPr dirty="0" sz="60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(traditional)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2743783" y="17517346"/>
            <a:ext cx="922655" cy="27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58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6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Fiori</a:t>
            </a:r>
            <a:r>
              <a:rPr dirty="0" sz="6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(tile-baзed,</a:t>
            </a:r>
            <a:r>
              <a:rPr dirty="0" sz="600" spc="-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role-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baзed)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3879447" y="17517346"/>
            <a:ext cx="922019" cy="5314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R="5080">
              <a:lnSpc>
                <a:spcPct val="139100"/>
              </a:lnSpc>
              <a:spcBef>
                <a:spcPts val="70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Some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tranзactionз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acceззed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differently;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Fiori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appз</a:t>
            </a:r>
            <a:r>
              <a:rPr dirty="0" sz="60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may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have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different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navigation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457536" y="18157931"/>
            <a:ext cx="37084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1595418" y="18157931"/>
            <a:ext cx="98107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Separate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60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reportз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2731083" y="18125104"/>
            <a:ext cx="739140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Real-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time</a:t>
            </a:r>
            <a:r>
              <a:rPr dirty="0" sz="60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integrated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3866747" y="18125104"/>
            <a:ext cx="884555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Reporting</a:t>
            </a:r>
            <a:r>
              <a:rPr dirty="0" sz="600" spc="9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diзcrepancieз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reduced;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Fiori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analytical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appз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457536" y="18645913"/>
            <a:ext cx="43307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60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Model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608118" y="18645913"/>
            <a:ext cx="91376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Multiple</a:t>
            </a:r>
            <a:r>
              <a:rPr dirty="0" sz="600" spc="9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aggregate</a:t>
            </a:r>
            <a:r>
              <a:rPr dirty="0" sz="600" spc="9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tableз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2743783" y="18613085"/>
            <a:ext cx="957580" cy="283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Simplified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60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model</a:t>
            </a:r>
            <a:r>
              <a:rPr dirty="0" sz="60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fewer</a:t>
            </a:r>
            <a:r>
              <a:rPr dirty="0" sz="600" spc="7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tableз</a:t>
            </a:r>
            <a:endParaRPr sz="600">
              <a:latin typeface="Roboto"/>
              <a:cs typeface="Roboto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3866747" y="18613085"/>
            <a:ext cx="856615" cy="54038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Some</a:t>
            </a:r>
            <a:r>
              <a:rPr dirty="0" sz="600" spc="8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traditional</a:t>
            </a:r>
            <a:endParaRPr sz="600">
              <a:latin typeface="Roboto"/>
              <a:cs typeface="Roboto"/>
            </a:endParaRPr>
          </a:p>
          <a:p>
            <a:pPr marL="12700" marR="5080">
              <a:lnSpc>
                <a:spcPct val="140700"/>
              </a:lnSpc>
            </a:pP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tranзaction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codeз</a:t>
            </a:r>
            <a:r>
              <a:rPr dirty="0" sz="60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may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behave</a:t>
            </a:r>
            <a:r>
              <a:rPr dirty="0" sz="60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differently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600" spc="6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25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60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Roboto"/>
                <a:cs typeface="Roboto"/>
              </a:rPr>
              <a:t>replaced</a:t>
            </a:r>
            <a:endParaRPr sz="600">
              <a:latin typeface="Roboto"/>
              <a:cs typeface="Roboto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385948" y="19310734"/>
            <a:ext cx="4551680" cy="572770"/>
            <a:chOff x="385948" y="19310734"/>
            <a:chExt cx="4551680" cy="572770"/>
          </a:xfrm>
        </p:grpSpPr>
        <p:sp>
          <p:nvSpPr>
            <p:cNvPr id="149" name="object 149"/>
            <p:cNvSpPr/>
            <p:nvPr/>
          </p:nvSpPr>
          <p:spPr>
            <a:xfrm>
              <a:off x="385948" y="19310734"/>
              <a:ext cx="4551680" cy="572770"/>
            </a:xfrm>
            <a:custGeom>
              <a:avLst/>
              <a:gdLst/>
              <a:ahLst/>
              <a:cxnLst/>
              <a:rect l="l" t="t" r="r" b="b"/>
              <a:pathLst>
                <a:path w="4551680" h="572769">
                  <a:moveTo>
                    <a:pt x="4525418" y="572264"/>
                  </a:moveTo>
                  <a:lnTo>
                    <a:pt x="26111" y="572264"/>
                  </a:lnTo>
                  <a:lnTo>
                    <a:pt x="24297" y="572086"/>
                  </a:lnTo>
                  <a:lnTo>
                    <a:pt x="0" y="546157"/>
                  </a:lnTo>
                  <a:lnTo>
                    <a:pt x="0" y="544320"/>
                  </a:lnTo>
                  <a:lnTo>
                    <a:pt x="0" y="26111"/>
                  </a:lnTo>
                  <a:lnTo>
                    <a:pt x="26111" y="0"/>
                  </a:lnTo>
                  <a:lnTo>
                    <a:pt x="4525418" y="0"/>
                  </a:lnTo>
                  <a:lnTo>
                    <a:pt x="4551530" y="26111"/>
                  </a:lnTo>
                  <a:lnTo>
                    <a:pt x="4551530" y="546157"/>
                  </a:lnTo>
                  <a:lnTo>
                    <a:pt x="4527233" y="572086"/>
                  </a:lnTo>
                  <a:lnTo>
                    <a:pt x="4525418" y="57226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772" y="19422192"/>
              <a:ext cx="69870" cy="69870"/>
            </a:xfrm>
            <a:prstGeom prst="rect">
              <a:avLst/>
            </a:prstGeom>
          </p:spPr>
        </p:pic>
      </p:grpSp>
      <p:sp>
        <p:nvSpPr>
          <p:cNvPr id="151" name="object 151"/>
          <p:cNvSpPr txBox="1"/>
          <p:nvPr/>
        </p:nvSpPr>
        <p:spPr>
          <a:xfrm>
            <a:off x="632765" y="19371673"/>
            <a:ext cx="4214495" cy="41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95"/>
              </a:spcBef>
            </a:pPr>
            <a:r>
              <a:rPr dirty="0" sz="600">
                <a:latin typeface="Roboto"/>
                <a:cs typeface="Roboto"/>
              </a:rPr>
              <a:t>Note:</a:t>
            </a:r>
            <a:r>
              <a:rPr dirty="0" sz="600" spc="7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Exact</a:t>
            </a:r>
            <a:r>
              <a:rPr dirty="0" sz="600" spc="7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troubleshooting</a:t>
            </a:r>
            <a:r>
              <a:rPr dirty="0" sz="600" spc="7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steps</a:t>
            </a:r>
            <a:r>
              <a:rPr dirty="0" sz="600" spc="7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in</a:t>
            </a:r>
            <a:r>
              <a:rPr dirty="0" sz="600" spc="7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SAP</a:t>
            </a:r>
            <a:r>
              <a:rPr dirty="0" sz="600" spc="7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S/4HANA</a:t>
            </a:r>
            <a:r>
              <a:rPr dirty="0" sz="600" spc="7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can</a:t>
            </a:r>
            <a:r>
              <a:rPr dirty="0" sz="600" spc="7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vary</a:t>
            </a:r>
            <a:r>
              <a:rPr dirty="0" sz="600" spc="7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depending</a:t>
            </a:r>
            <a:r>
              <a:rPr dirty="0" sz="600" spc="7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on</a:t>
            </a:r>
            <a:r>
              <a:rPr dirty="0" sz="600" spc="7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the</a:t>
            </a:r>
            <a:r>
              <a:rPr dirty="0" sz="600" spc="7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release</a:t>
            </a:r>
            <a:r>
              <a:rPr dirty="0" sz="600" spc="7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version</a:t>
            </a:r>
            <a:r>
              <a:rPr dirty="0" sz="600" spc="7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(e.g.,</a:t>
            </a:r>
            <a:r>
              <a:rPr dirty="0" sz="600" spc="7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1909,</a:t>
            </a:r>
            <a:r>
              <a:rPr dirty="0" sz="600" spc="7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2020,</a:t>
            </a:r>
            <a:r>
              <a:rPr dirty="0" sz="600" spc="70">
                <a:latin typeface="Roboto"/>
                <a:cs typeface="Roboto"/>
              </a:rPr>
              <a:t> </a:t>
            </a:r>
            <a:r>
              <a:rPr dirty="0" sz="600" spc="-10">
                <a:latin typeface="Roboto"/>
                <a:cs typeface="Roboto"/>
              </a:rPr>
              <a:t>2022),</a:t>
            </a:r>
            <a:r>
              <a:rPr dirty="0" sz="600" spc="50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whether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it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is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cloud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or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 spc="-20">
                <a:latin typeface="Roboto"/>
                <a:cs typeface="Roboto"/>
              </a:rPr>
              <a:t>on-</a:t>
            </a:r>
            <a:r>
              <a:rPr dirty="0" sz="600">
                <a:latin typeface="Roboto"/>
                <a:cs typeface="Roboto"/>
              </a:rPr>
              <a:t>premise,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and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the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specific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applications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configured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in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the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system.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Always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refer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to</a:t>
            </a:r>
            <a:r>
              <a:rPr dirty="0" sz="600" spc="60">
                <a:latin typeface="Roboto"/>
                <a:cs typeface="Roboto"/>
              </a:rPr>
              <a:t> </a:t>
            </a:r>
            <a:r>
              <a:rPr dirty="0" sz="600">
                <a:latin typeface="Roboto"/>
                <a:cs typeface="Roboto"/>
              </a:rPr>
              <a:t>the</a:t>
            </a:r>
            <a:r>
              <a:rPr dirty="0" sz="600" spc="55">
                <a:latin typeface="Roboto"/>
                <a:cs typeface="Roboto"/>
              </a:rPr>
              <a:t> </a:t>
            </a:r>
            <a:r>
              <a:rPr dirty="0" sz="600" spc="-10">
                <a:latin typeface="Roboto"/>
                <a:cs typeface="Roboto"/>
              </a:rPr>
              <a:t>relevant</a:t>
            </a:r>
            <a:endParaRPr sz="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600" spc="10">
                <a:latin typeface="Roboto"/>
                <a:cs typeface="Roboto"/>
              </a:rPr>
              <a:t>SAP</a:t>
            </a:r>
            <a:r>
              <a:rPr dirty="0" sz="600" spc="15">
                <a:latin typeface="Roboto"/>
                <a:cs typeface="Roboto"/>
              </a:rPr>
              <a:t> </a:t>
            </a:r>
            <a:r>
              <a:rPr dirty="0" sz="600" spc="10">
                <a:latin typeface="Roboto"/>
                <a:cs typeface="Roboto"/>
              </a:rPr>
              <a:t>Help</a:t>
            </a:r>
            <a:r>
              <a:rPr dirty="0" sz="600" spc="20">
                <a:latin typeface="Roboto"/>
                <a:cs typeface="Roboto"/>
              </a:rPr>
              <a:t> </a:t>
            </a:r>
            <a:r>
              <a:rPr dirty="0" sz="600" spc="10">
                <a:latin typeface="Roboto"/>
                <a:cs typeface="Roboto"/>
              </a:rPr>
              <a:t>documentation</a:t>
            </a:r>
            <a:r>
              <a:rPr dirty="0" sz="600" spc="15">
                <a:latin typeface="Roboto"/>
                <a:cs typeface="Roboto"/>
              </a:rPr>
              <a:t> </a:t>
            </a:r>
            <a:r>
              <a:rPr dirty="0" sz="600" spc="10">
                <a:latin typeface="Roboto"/>
                <a:cs typeface="Roboto"/>
              </a:rPr>
              <a:t>for</a:t>
            </a:r>
            <a:r>
              <a:rPr dirty="0" sz="600" spc="20">
                <a:latin typeface="Roboto"/>
                <a:cs typeface="Roboto"/>
              </a:rPr>
              <a:t> </a:t>
            </a:r>
            <a:r>
              <a:rPr dirty="0" sz="600" spc="10">
                <a:latin typeface="Roboto"/>
                <a:cs typeface="Roboto"/>
              </a:rPr>
              <a:t>your</a:t>
            </a:r>
            <a:r>
              <a:rPr dirty="0" sz="600" spc="20">
                <a:latin typeface="Roboto"/>
                <a:cs typeface="Roboto"/>
              </a:rPr>
              <a:t> </a:t>
            </a:r>
            <a:r>
              <a:rPr dirty="0" sz="600" spc="10">
                <a:latin typeface="Roboto"/>
                <a:cs typeface="Roboto"/>
              </a:rPr>
              <a:t>specific</a:t>
            </a:r>
            <a:r>
              <a:rPr dirty="0" sz="600" spc="15">
                <a:latin typeface="Roboto"/>
                <a:cs typeface="Roboto"/>
              </a:rPr>
              <a:t> </a:t>
            </a:r>
            <a:r>
              <a:rPr dirty="0" sz="600" spc="-10">
                <a:latin typeface="Roboto"/>
                <a:cs typeface="Roboto"/>
              </a:rPr>
              <a:t>version.</a:t>
            </a:r>
            <a:endParaRPr sz="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436" y="165891"/>
            <a:ext cx="2017395" cy="85725"/>
          </a:xfrm>
          <a:custGeom>
            <a:avLst/>
            <a:gdLst/>
            <a:ahLst/>
            <a:cxnLst/>
            <a:rect l="l" t="t" r="r" b="b"/>
            <a:pathLst>
              <a:path w="2017395" h="85725">
                <a:moveTo>
                  <a:pt x="0" y="70495"/>
                </a:moveTo>
                <a:lnTo>
                  <a:pt x="0" y="14913"/>
                </a:lnTo>
                <a:lnTo>
                  <a:pt x="0" y="12936"/>
                </a:lnTo>
                <a:lnTo>
                  <a:pt x="377" y="11034"/>
                </a:lnTo>
                <a:lnTo>
                  <a:pt x="1136" y="9207"/>
                </a:lnTo>
                <a:lnTo>
                  <a:pt x="1892" y="7378"/>
                </a:lnTo>
                <a:lnTo>
                  <a:pt x="2969" y="5765"/>
                </a:lnTo>
                <a:lnTo>
                  <a:pt x="4369" y="4369"/>
                </a:lnTo>
                <a:lnTo>
                  <a:pt x="5765" y="2969"/>
                </a:lnTo>
                <a:lnTo>
                  <a:pt x="7378" y="1892"/>
                </a:lnTo>
                <a:lnTo>
                  <a:pt x="9207" y="1136"/>
                </a:lnTo>
                <a:lnTo>
                  <a:pt x="11034" y="377"/>
                </a:lnTo>
                <a:lnTo>
                  <a:pt x="12936" y="0"/>
                </a:lnTo>
                <a:lnTo>
                  <a:pt x="14913" y="0"/>
                </a:lnTo>
                <a:lnTo>
                  <a:pt x="2002066" y="0"/>
                </a:lnTo>
                <a:lnTo>
                  <a:pt x="2004043" y="0"/>
                </a:lnTo>
                <a:lnTo>
                  <a:pt x="2005945" y="377"/>
                </a:lnTo>
                <a:lnTo>
                  <a:pt x="2007772" y="1136"/>
                </a:lnTo>
                <a:lnTo>
                  <a:pt x="2009598" y="1892"/>
                </a:lnTo>
                <a:lnTo>
                  <a:pt x="2011214" y="2969"/>
                </a:lnTo>
                <a:lnTo>
                  <a:pt x="2012610" y="4369"/>
                </a:lnTo>
                <a:lnTo>
                  <a:pt x="2014010" y="5765"/>
                </a:lnTo>
                <a:lnTo>
                  <a:pt x="2015087" y="7378"/>
                </a:lnTo>
                <a:lnTo>
                  <a:pt x="2015843" y="9207"/>
                </a:lnTo>
                <a:lnTo>
                  <a:pt x="2016602" y="11034"/>
                </a:lnTo>
                <a:lnTo>
                  <a:pt x="2016980" y="12936"/>
                </a:lnTo>
                <a:lnTo>
                  <a:pt x="2016980" y="14913"/>
                </a:lnTo>
                <a:lnTo>
                  <a:pt x="2016980" y="70495"/>
                </a:lnTo>
                <a:lnTo>
                  <a:pt x="2016980" y="72473"/>
                </a:lnTo>
                <a:lnTo>
                  <a:pt x="2016602" y="74375"/>
                </a:lnTo>
                <a:lnTo>
                  <a:pt x="2015843" y="76201"/>
                </a:lnTo>
                <a:lnTo>
                  <a:pt x="2015087" y="78031"/>
                </a:lnTo>
                <a:lnTo>
                  <a:pt x="2014010" y="79644"/>
                </a:lnTo>
                <a:lnTo>
                  <a:pt x="2012610" y="81040"/>
                </a:lnTo>
                <a:lnTo>
                  <a:pt x="2011214" y="82439"/>
                </a:lnTo>
                <a:lnTo>
                  <a:pt x="2009598" y="83517"/>
                </a:lnTo>
                <a:lnTo>
                  <a:pt x="2007772" y="84272"/>
                </a:lnTo>
                <a:lnTo>
                  <a:pt x="2005945" y="85031"/>
                </a:lnTo>
                <a:lnTo>
                  <a:pt x="2004043" y="85409"/>
                </a:lnTo>
                <a:lnTo>
                  <a:pt x="2002066" y="85409"/>
                </a:lnTo>
                <a:lnTo>
                  <a:pt x="14913" y="85409"/>
                </a:lnTo>
                <a:lnTo>
                  <a:pt x="12936" y="85409"/>
                </a:lnTo>
                <a:lnTo>
                  <a:pt x="11034" y="85031"/>
                </a:lnTo>
                <a:lnTo>
                  <a:pt x="9207" y="84272"/>
                </a:lnTo>
                <a:lnTo>
                  <a:pt x="7378" y="83517"/>
                </a:lnTo>
                <a:lnTo>
                  <a:pt x="5765" y="82439"/>
                </a:lnTo>
                <a:lnTo>
                  <a:pt x="4369" y="81040"/>
                </a:lnTo>
                <a:lnTo>
                  <a:pt x="2969" y="79644"/>
                </a:lnTo>
                <a:lnTo>
                  <a:pt x="1892" y="78031"/>
                </a:lnTo>
                <a:lnTo>
                  <a:pt x="1136" y="76201"/>
                </a:lnTo>
                <a:lnTo>
                  <a:pt x="377" y="74375"/>
                </a:lnTo>
                <a:lnTo>
                  <a:pt x="0" y="72473"/>
                </a:lnTo>
                <a:lnTo>
                  <a:pt x="0" y="70495"/>
                </a:lnTo>
                <a:close/>
              </a:path>
            </a:pathLst>
          </a:custGeom>
          <a:ln w="3284">
            <a:solidFill>
              <a:srgbClr val="1B1B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8561" y="163374"/>
            <a:ext cx="1974850" cy="82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0" spc="10">
                <a:solidFill>
                  <a:srgbClr val="1B1B27"/>
                </a:solidFill>
                <a:latin typeface="Roboto"/>
                <a:cs typeface="Roboto"/>
              </a:rPr>
              <a:t>SECTIONS</a:t>
            </a:r>
            <a:r>
              <a:rPr dirty="0" sz="350" spc="2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350">
                <a:solidFill>
                  <a:srgbClr val="1B1B27"/>
                </a:solidFill>
                <a:latin typeface="Roboto"/>
                <a:cs typeface="Roboto"/>
              </a:rPr>
              <a:t>14–</a:t>
            </a:r>
            <a:r>
              <a:rPr dirty="0" sz="350" spc="10">
                <a:solidFill>
                  <a:srgbClr val="1B1B27"/>
                </a:solidFill>
                <a:latin typeface="Roboto"/>
                <a:cs typeface="Roboto"/>
              </a:rPr>
              <a:t>19</a:t>
            </a:r>
            <a:r>
              <a:rPr dirty="0" sz="350" spc="2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350" spc="10">
                <a:solidFill>
                  <a:srgbClr val="1B1B27"/>
                </a:solidFill>
                <a:latin typeface="Roboto"/>
                <a:cs typeface="Roboto"/>
              </a:rPr>
              <a:t>—</a:t>
            </a:r>
            <a:r>
              <a:rPr dirty="0" sz="350" spc="2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350">
                <a:solidFill>
                  <a:srgbClr val="1B1B27"/>
                </a:solidFill>
                <a:latin typeface="Roboto"/>
                <a:cs typeface="Roboto"/>
              </a:rPr>
              <a:t>CHECKLIST,</a:t>
            </a:r>
            <a:r>
              <a:rPr dirty="0" sz="350" spc="2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350" spc="10">
                <a:solidFill>
                  <a:srgbClr val="1B1B27"/>
                </a:solidFill>
                <a:latin typeface="Roboto"/>
                <a:cs typeface="Roboto"/>
              </a:rPr>
              <a:t>EXAMPLE,</a:t>
            </a:r>
            <a:r>
              <a:rPr dirty="0" sz="350" spc="2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350" spc="10">
                <a:solidFill>
                  <a:srgbClr val="1B1B27"/>
                </a:solidFill>
                <a:latin typeface="Roboto"/>
                <a:cs typeface="Roboto"/>
              </a:rPr>
              <a:t>BEST</a:t>
            </a:r>
            <a:r>
              <a:rPr dirty="0" sz="350" spc="1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350">
                <a:solidFill>
                  <a:srgbClr val="1B1B27"/>
                </a:solidFill>
                <a:latin typeface="Roboto"/>
                <a:cs typeface="Roboto"/>
              </a:rPr>
              <a:t>PRACTICES,</a:t>
            </a:r>
            <a:r>
              <a:rPr dirty="0" sz="350" spc="20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350" spc="10">
                <a:solidFill>
                  <a:srgbClr val="1B1B27"/>
                </a:solidFill>
                <a:latin typeface="Roboto"/>
                <a:cs typeface="Roboto"/>
              </a:rPr>
              <a:t>LEARNING</a:t>
            </a:r>
            <a:r>
              <a:rPr dirty="0" sz="350" spc="2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350" spc="10">
                <a:solidFill>
                  <a:srgbClr val="1B1B27"/>
                </a:solidFill>
                <a:latin typeface="Roboto"/>
                <a:cs typeface="Roboto"/>
              </a:rPr>
              <a:t>AND</a:t>
            </a:r>
            <a:r>
              <a:rPr dirty="0" sz="350" spc="25">
                <a:solidFill>
                  <a:srgbClr val="1B1B27"/>
                </a:solidFill>
                <a:latin typeface="Roboto"/>
                <a:cs typeface="Roboto"/>
              </a:rPr>
              <a:t> </a:t>
            </a:r>
            <a:r>
              <a:rPr dirty="0" sz="350" spc="-10">
                <a:solidFill>
                  <a:srgbClr val="1B1B27"/>
                </a:solidFill>
                <a:latin typeface="Roboto"/>
                <a:cs typeface="Roboto"/>
              </a:rPr>
              <a:t>CONCLUSION</a:t>
            </a:r>
            <a:endParaRPr sz="3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093" y="259953"/>
            <a:ext cx="3386454" cy="83248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75565">
              <a:lnSpc>
                <a:spcPct val="105000"/>
              </a:lnSpc>
              <a:spcBef>
                <a:spcPts val="45"/>
              </a:spcBef>
            </a:pPr>
            <a:r>
              <a:rPr dirty="0" sz="1150" spc="20">
                <a:solidFill>
                  <a:srgbClr val="1B1B27"/>
                </a:solidFill>
                <a:latin typeface="Trebuchet MS"/>
                <a:cs typeface="Trebuchet MS"/>
              </a:rPr>
              <a:t>Troubleshooting </a:t>
            </a:r>
            <a:r>
              <a:rPr dirty="0" sz="1150" spc="10">
                <a:solidFill>
                  <a:srgbClr val="1B1B27"/>
                </a:solidFill>
                <a:latin typeface="Trebuchet MS"/>
                <a:cs typeface="Trebuchet MS"/>
              </a:rPr>
              <a:t>Checklist,</a:t>
            </a:r>
            <a:r>
              <a:rPr dirty="0" sz="1150" spc="20">
                <a:solidFill>
                  <a:srgbClr val="1B1B27"/>
                </a:solidFill>
                <a:latin typeface="Trebuchet MS"/>
                <a:cs typeface="Trebuchet MS"/>
              </a:rPr>
              <a:t> Real-</a:t>
            </a:r>
            <a:r>
              <a:rPr dirty="0" sz="1150" spc="50">
                <a:solidFill>
                  <a:srgbClr val="1B1B27"/>
                </a:solidFill>
                <a:latin typeface="Trebuchet MS"/>
                <a:cs typeface="Trebuchet MS"/>
              </a:rPr>
              <a:t>World</a:t>
            </a:r>
            <a:r>
              <a:rPr dirty="0" sz="1150" spc="2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B1B27"/>
                </a:solidFill>
                <a:latin typeface="Trebuchet MS"/>
                <a:cs typeface="Trebuchet MS"/>
              </a:rPr>
              <a:t>Example, </a:t>
            </a:r>
            <a:r>
              <a:rPr dirty="0" sz="1150" spc="50">
                <a:solidFill>
                  <a:srgbClr val="1B1B27"/>
                </a:solidFill>
                <a:latin typeface="Trebuchet MS"/>
                <a:cs typeface="Trebuchet MS"/>
              </a:rPr>
              <a:t>Best</a:t>
            </a:r>
            <a:r>
              <a:rPr dirty="0" sz="1150" spc="3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10">
                <a:solidFill>
                  <a:srgbClr val="1B1B27"/>
                </a:solidFill>
                <a:latin typeface="Trebuchet MS"/>
                <a:cs typeface="Trebuchet MS"/>
              </a:rPr>
              <a:t>Practices</a:t>
            </a:r>
            <a:r>
              <a:rPr dirty="0" sz="1150" spc="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55">
                <a:solidFill>
                  <a:srgbClr val="1B1B27"/>
                </a:solidFill>
                <a:latin typeface="Trebuchet MS"/>
                <a:cs typeface="Trebuchet MS"/>
              </a:rPr>
              <a:t>and</a:t>
            </a:r>
            <a:r>
              <a:rPr dirty="0" sz="1150" spc="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10">
                <a:solidFill>
                  <a:srgbClr val="1B1B27"/>
                </a:solidFill>
                <a:latin typeface="Trebuchet MS"/>
                <a:cs typeface="Trebuchet MS"/>
              </a:rPr>
              <a:t>Learning</a:t>
            </a:r>
            <a:r>
              <a:rPr dirty="0" sz="1150" spc="4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1150" spc="45">
                <a:solidFill>
                  <a:srgbClr val="1B1B27"/>
                </a:solidFill>
                <a:latin typeface="Trebuchet MS"/>
                <a:cs typeface="Trebuchet MS"/>
              </a:rPr>
              <a:t>Outcomes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900" spc="20">
                <a:solidFill>
                  <a:srgbClr val="1B1B27"/>
                </a:solidFill>
                <a:latin typeface="Trebuchet MS"/>
                <a:cs typeface="Trebuchet MS"/>
              </a:rPr>
              <a:t>Troubleshooting</a:t>
            </a:r>
            <a:r>
              <a:rPr dirty="0" sz="900" spc="16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1B1B27"/>
                </a:solidFill>
                <a:latin typeface="Trebuchet MS"/>
                <a:cs typeface="Trebuchet MS"/>
              </a:rPr>
              <a:t>Checklist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38900"/>
              </a:lnSpc>
              <a:spcBef>
                <a:spcPts val="63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checkliзt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below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provideз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practical,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зtep-by-зtep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guide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beginner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can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follow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when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encountering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iззue.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enзureз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moзt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common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cauзeз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checked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зyзtematically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eзcalating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problem.</a:t>
            </a:r>
            <a:endParaRPr sz="450">
              <a:latin typeface="Roboto"/>
              <a:cs typeface="Robo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7436" y="1164526"/>
            <a:ext cx="3367404" cy="3955415"/>
          </a:xfrm>
          <a:custGeom>
            <a:avLst/>
            <a:gdLst/>
            <a:ahLst/>
            <a:cxnLst/>
            <a:rect l="l" t="t" r="r" b="b"/>
            <a:pathLst>
              <a:path w="3367404" h="3955415">
                <a:moveTo>
                  <a:pt x="0" y="3936067"/>
                </a:moveTo>
                <a:lnTo>
                  <a:pt x="0" y="19052"/>
                </a:lnTo>
                <a:lnTo>
                  <a:pt x="0" y="17801"/>
                </a:lnTo>
                <a:lnTo>
                  <a:pt x="121" y="16562"/>
                </a:lnTo>
                <a:lnTo>
                  <a:pt x="5581" y="5581"/>
                </a:lnTo>
                <a:lnTo>
                  <a:pt x="6464" y="4694"/>
                </a:lnTo>
                <a:lnTo>
                  <a:pt x="17801" y="0"/>
                </a:lnTo>
                <a:lnTo>
                  <a:pt x="19052" y="0"/>
                </a:lnTo>
                <a:lnTo>
                  <a:pt x="3348055" y="0"/>
                </a:lnTo>
                <a:lnTo>
                  <a:pt x="3349307" y="0"/>
                </a:lnTo>
                <a:lnTo>
                  <a:pt x="3350545" y="121"/>
                </a:lnTo>
                <a:lnTo>
                  <a:pt x="3361527" y="5581"/>
                </a:lnTo>
                <a:lnTo>
                  <a:pt x="3362410" y="6464"/>
                </a:lnTo>
                <a:lnTo>
                  <a:pt x="3365656" y="11760"/>
                </a:lnTo>
                <a:lnTo>
                  <a:pt x="3366135" y="12916"/>
                </a:lnTo>
                <a:lnTo>
                  <a:pt x="3366497" y="14109"/>
                </a:lnTo>
                <a:lnTo>
                  <a:pt x="3366743" y="15337"/>
                </a:lnTo>
                <a:lnTo>
                  <a:pt x="3366986" y="16562"/>
                </a:lnTo>
                <a:lnTo>
                  <a:pt x="3367108" y="17801"/>
                </a:lnTo>
                <a:lnTo>
                  <a:pt x="3367108" y="19052"/>
                </a:lnTo>
                <a:lnTo>
                  <a:pt x="3367108" y="3936067"/>
                </a:lnTo>
                <a:lnTo>
                  <a:pt x="3367108" y="3937319"/>
                </a:lnTo>
                <a:lnTo>
                  <a:pt x="3366986" y="3938557"/>
                </a:lnTo>
                <a:lnTo>
                  <a:pt x="3366743" y="3939782"/>
                </a:lnTo>
                <a:lnTo>
                  <a:pt x="3366497" y="3941011"/>
                </a:lnTo>
                <a:lnTo>
                  <a:pt x="3366135" y="3942203"/>
                </a:lnTo>
                <a:lnTo>
                  <a:pt x="3365656" y="3943356"/>
                </a:lnTo>
                <a:lnTo>
                  <a:pt x="3365180" y="3944513"/>
                </a:lnTo>
                <a:lnTo>
                  <a:pt x="3364592" y="3945613"/>
                </a:lnTo>
                <a:lnTo>
                  <a:pt x="3363895" y="3946651"/>
                </a:lnTo>
                <a:lnTo>
                  <a:pt x="3363202" y="3947693"/>
                </a:lnTo>
                <a:lnTo>
                  <a:pt x="3362410" y="3948655"/>
                </a:lnTo>
                <a:lnTo>
                  <a:pt x="3361527" y="3949539"/>
                </a:lnTo>
                <a:lnTo>
                  <a:pt x="3360643" y="3950422"/>
                </a:lnTo>
                <a:lnTo>
                  <a:pt x="3355348" y="3953668"/>
                </a:lnTo>
                <a:lnTo>
                  <a:pt x="3354191" y="3954148"/>
                </a:lnTo>
                <a:lnTo>
                  <a:pt x="3352999" y="3954509"/>
                </a:lnTo>
                <a:lnTo>
                  <a:pt x="3351770" y="3954752"/>
                </a:lnTo>
                <a:lnTo>
                  <a:pt x="3350545" y="3954998"/>
                </a:lnTo>
                <a:lnTo>
                  <a:pt x="3349307" y="3955120"/>
                </a:lnTo>
                <a:lnTo>
                  <a:pt x="3348055" y="3955120"/>
                </a:lnTo>
                <a:lnTo>
                  <a:pt x="19052" y="3955120"/>
                </a:lnTo>
                <a:lnTo>
                  <a:pt x="17801" y="3955120"/>
                </a:lnTo>
                <a:lnTo>
                  <a:pt x="16562" y="3954998"/>
                </a:lnTo>
                <a:lnTo>
                  <a:pt x="15334" y="3954752"/>
                </a:lnTo>
                <a:lnTo>
                  <a:pt x="14109" y="3954509"/>
                </a:lnTo>
                <a:lnTo>
                  <a:pt x="12916" y="3954148"/>
                </a:lnTo>
                <a:lnTo>
                  <a:pt x="11760" y="3953668"/>
                </a:lnTo>
                <a:lnTo>
                  <a:pt x="10607" y="3953192"/>
                </a:lnTo>
                <a:lnTo>
                  <a:pt x="9506" y="3952604"/>
                </a:lnTo>
                <a:lnTo>
                  <a:pt x="8468" y="3951907"/>
                </a:lnTo>
                <a:lnTo>
                  <a:pt x="7427" y="3951214"/>
                </a:lnTo>
                <a:lnTo>
                  <a:pt x="6464" y="3950422"/>
                </a:lnTo>
                <a:lnTo>
                  <a:pt x="5581" y="3949539"/>
                </a:lnTo>
                <a:lnTo>
                  <a:pt x="4694" y="3948655"/>
                </a:lnTo>
                <a:lnTo>
                  <a:pt x="0" y="3937319"/>
                </a:lnTo>
                <a:lnTo>
                  <a:pt x="0" y="3936067"/>
                </a:lnTo>
                <a:close/>
              </a:path>
            </a:pathLst>
          </a:custGeom>
          <a:ln w="3284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89078" y="1166169"/>
          <a:ext cx="3440429" cy="39490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045"/>
                <a:gridCol w="1120140"/>
                <a:gridCol w="1122044"/>
              </a:tblGrid>
              <a:tr h="17526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450" spc="-2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Step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R w="3175">
                      <a:solidFill>
                        <a:srgbClr val="B3B3B3"/>
                      </a:solidFill>
                      <a:prstDash val="solid"/>
                    </a:lnR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4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Action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4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What</a:t>
                      </a:r>
                      <a:r>
                        <a:rPr dirty="0" sz="450" spc="5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dirty="0" sz="450" spc="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 b="1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Check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7625">
                    <a:lnL w="3175">
                      <a:solidFill>
                        <a:srgbClr val="B3B3B3"/>
                      </a:solidFill>
                      <a:prstDash val="solid"/>
                    </a:lnL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4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1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6355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Underзtand</a:t>
                      </a:r>
                      <a:r>
                        <a:rPr dirty="0" sz="450" spc="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uзer'з</a:t>
                      </a:r>
                      <a:r>
                        <a:rPr dirty="0" sz="450" spc="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problem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6355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86360">
                        <a:lnSpc>
                          <a:spcPct val="138900"/>
                        </a:lnSpc>
                        <a:spcBef>
                          <a:spcPts val="155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Aзk</a:t>
                      </a:r>
                      <a:r>
                        <a:rPr dirty="0" sz="450" spc="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uзer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what</a:t>
                      </a:r>
                      <a:r>
                        <a:rPr dirty="0" sz="450" spc="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they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were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trying</a:t>
                      </a:r>
                      <a:r>
                        <a:rPr dirty="0" sz="450" spc="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do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what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happened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19685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2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Read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complete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error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meззage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146685">
                        <a:lnSpc>
                          <a:spcPct val="134100"/>
                        </a:lnSpc>
                        <a:spcBef>
                          <a:spcPts val="204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Note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meззage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number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full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text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6034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3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Check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when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problem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зtarted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113664">
                        <a:lnSpc>
                          <a:spcPct val="138900"/>
                        </a:lnSpc>
                        <a:spcBef>
                          <a:spcPts val="18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Waз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it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working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before?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Did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anything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change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recently?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2860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4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Check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maзter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data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113664">
                        <a:lnSpc>
                          <a:spcPct val="138900"/>
                        </a:lnSpc>
                        <a:spcBef>
                          <a:spcPts val="18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G/L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account,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cuзtomer,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vendor,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coзt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centre,</a:t>
                      </a:r>
                      <a:r>
                        <a:rPr dirty="0" sz="450" spc="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aззet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maзter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2860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5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Check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tranзaction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data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401955">
                        <a:lnSpc>
                          <a:spcPct val="138900"/>
                        </a:lnSpc>
                        <a:spcBef>
                          <a:spcPts val="18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Amountз,</a:t>
                      </a:r>
                      <a:r>
                        <a:rPr dirty="0" sz="450" spc="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dateз,</a:t>
                      </a:r>
                      <a:r>
                        <a:rPr dirty="0" sz="450" spc="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aззignmentз,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tax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codeз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2860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4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6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6355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Check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poзting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date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period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6355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60325">
                        <a:lnSpc>
                          <a:spcPct val="138900"/>
                        </a:lnSpc>
                        <a:spcBef>
                          <a:spcPts val="155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Iз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poзting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date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valid?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Iз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period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open?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19685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41630">
                        <a:lnSpc>
                          <a:spcPct val="134100"/>
                        </a:lnSpc>
                        <a:spcBef>
                          <a:spcPts val="204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Check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G/L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tax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information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6034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115570">
                        <a:lnSpc>
                          <a:spcPct val="134100"/>
                        </a:lnSpc>
                        <a:spcBef>
                          <a:spcPts val="204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Correct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зelected?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Tax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code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valid?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6034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8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Check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account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aззignment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180340">
                        <a:lnSpc>
                          <a:spcPct val="134100"/>
                        </a:lnSpc>
                        <a:spcBef>
                          <a:spcPts val="204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Coзt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centre,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profit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centre,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internal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order</a:t>
                      </a:r>
                      <a:r>
                        <a:rPr dirty="0" sz="450" spc="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correctly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aззigned?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6034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 spc="-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9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Check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FI/CO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integration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156210">
                        <a:lnSpc>
                          <a:spcPct val="138900"/>
                        </a:lnSpc>
                        <a:spcBef>
                          <a:spcPts val="18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Iз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coзt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element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created?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Iз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aззignment</a:t>
                      </a:r>
                      <a:r>
                        <a:rPr dirty="0" sz="450" spc="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preзent?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2860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10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Check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authoriзation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224154">
                        <a:lnSpc>
                          <a:spcPct val="138900"/>
                        </a:lnSpc>
                        <a:spcBef>
                          <a:spcPts val="18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Doeз</a:t>
                      </a:r>
                      <a:r>
                        <a:rPr dirty="0" sz="450" spc="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uзer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have</a:t>
                      </a:r>
                      <a:r>
                        <a:rPr dirty="0" sz="450" spc="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required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permiззionз?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2860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11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Check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configuration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187325">
                        <a:lnSpc>
                          <a:spcPct val="138900"/>
                        </a:lnSpc>
                        <a:spcBef>
                          <a:spcPts val="18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Are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relevant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зettingз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correct?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(Authoriзed</a:t>
                      </a:r>
                      <a:r>
                        <a:rPr dirty="0" sz="450" spc="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perзonnel</a:t>
                      </a:r>
                      <a:r>
                        <a:rPr dirty="0" sz="450" spc="4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only)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2860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4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12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6355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Teзt in a</a:t>
                      </a:r>
                      <a:r>
                        <a:rPr dirty="0" sz="450" spc="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зafe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environment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6355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Reproduce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teзt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fix</a:t>
                      </a:r>
                      <a:r>
                        <a:rPr dirty="0" sz="450" spc="2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in</a:t>
                      </a:r>
                      <a:endParaRPr sz="450">
                        <a:latin typeface="Roboto"/>
                        <a:cs typeface="Roboto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development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or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quality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зyзtem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6355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13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Verify</a:t>
                      </a:r>
                      <a:r>
                        <a:rPr dirty="0" sz="450" spc="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reзult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195580">
                        <a:lnSpc>
                          <a:spcPct val="134100"/>
                        </a:lnSpc>
                        <a:spcBef>
                          <a:spcPts val="204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Confirm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original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iззue</a:t>
                      </a:r>
                      <a:r>
                        <a:rPr dirty="0" sz="450" spc="3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iз</a:t>
                      </a:r>
                      <a:r>
                        <a:rPr dirty="0" sz="450" spc="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fully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reзolved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6034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  <a:lnB w="317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14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Document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dirty="0" sz="450" spc="3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зolution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49530">
                    <a:lnL w="3175">
                      <a:solidFill>
                        <a:srgbClr val="B3B3B3"/>
                      </a:solidFill>
                      <a:prstDash val="solid"/>
                    </a:lnL>
                    <a:lnR w="3175">
                      <a:solidFill>
                        <a:srgbClr val="B3B3B3"/>
                      </a:solidFill>
                      <a:prstDash val="solid"/>
                    </a:lnR>
                    <a:lnT w="317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960" marR="89535">
                        <a:lnSpc>
                          <a:spcPct val="138900"/>
                        </a:lnSpc>
                        <a:spcBef>
                          <a:spcPts val="180"/>
                        </a:spcBef>
                      </a:pP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Record</a:t>
                      </a:r>
                      <a:r>
                        <a:rPr dirty="0" sz="450" spc="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problem,</a:t>
                      </a:r>
                      <a:r>
                        <a:rPr dirty="0" sz="450" spc="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cauзe,</a:t>
                      </a:r>
                      <a:r>
                        <a:rPr dirty="0" sz="450" spc="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зolution,</a:t>
                      </a:r>
                      <a:r>
                        <a:rPr dirty="0" sz="450" spc="4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2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and</a:t>
                      </a:r>
                      <a:r>
                        <a:rPr dirty="0" sz="450" spc="50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preventive</a:t>
                      </a:r>
                      <a:r>
                        <a:rPr dirty="0" sz="450" spc="15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450" spc="-10">
                          <a:solidFill>
                            <a:srgbClr val="3B3838"/>
                          </a:solidFill>
                          <a:latin typeface="Roboto"/>
                          <a:cs typeface="Roboto"/>
                        </a:rPr>
                        <a:t>action</a:t>
                      </a:r>
                      <a:endParaRPr sz="450">
                        <a:latin typeface="Roboto"/>
                        <a:cs typeface="Roboto"/>
                      </a:endParaRPr>
                    </a:p>
                  </a:txBody>
                  <a:tcPr marL="0" marR="0" marB="0" marT="22860">
                    <a:lnL w="3175">
                      <a:solidFill>
                        <a:srgbClr val="B3B3B3"/>
                      </a:solidFill>
                      <a:prstDash val="solid"/>
                    </a:lnL>
                    <a:lnT w="317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840" y="5235543"/>
            <a:ext cx="2523837" cy="6676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800387" y="6085808"/>
            <a:ext cx="226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3B3838"/>
                </a:solidFill>
                <a:latin typeface="Trebuchet MS"/>
                <a:cs typeface="Trebuchet MS"/>
              </a:rPr>
              <a:t>Verify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0617" y="6085808"/>
            <a:ext cx="4051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3B3838"/>
                </a:solidFill>
                <a:latin typeface="Trebuchet MS"/>
                <a:cs typeface="Trebuchet MS"/>
              </a:rPr>
              <a:t>Test</a:t>
            </a:r>
            <a:r>
              <a:rPr dirty="0" sz="600" spc="-1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3B3838"/>
                </a:solidFill>
                <a:latin typeface="Trebuchet MS"/>
                <a:cs typeface="Trebuchet MS"/>
              </a:rPr>
              <a:t>Safely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1788" y="6085808"/>
            <a:ext cx="42925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3B3838"/>
                </a:solidFill>
                <a:latin typeface="Trebuchet MS"/>
                <a:cs typeface="Trebuchet MS"/>
              </a:rPr>
              <a:t>Check</a:t>
            </a:r>
            <a:r>
              <a:rPr dirty="0" sz="600" spc="9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3B3838"/>
                </a:solidFill>
                <a:latin typeface="Trebuchet MS"/>
                <a:cs typeface="Trebuchet MS"/>
              </a:rPr>
              <a:t>Data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6271" y="6085808"/>
            <a:ext cx="4400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3B3838"/>
                </a:solidFill>
                <a:latin typeface="Trebuchet MS"/>
                <a:cs typeface="Trebuchet MS"/>
              </a:rPr>
              <a:t>Understand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3093" y="6462002"/>
            <a:ext cx="206883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20">
                <a:solidFill>
                  <a:srgbClr val="1B1B27"/>
                </a:solidFill>
                <a:latin typeface="Trebuchet MS"/>
                <a:cs typeface="Trebuchet MS"/>
              </a:rPr>
              <a:t>Real-</a:t>
            </a:r>
            <a:r>
              <a:rPr dirty="0" sz="900" spc="50">
                <a:solidFill>
                  <a:srgbClr val="1B1B27"/>
                </a:solidFill>
                <a:latin typeface="Trebuchet MS"/>
                <a:cs typeface="Trebuchet MS"/>
              </a:rPr>
              <a:t>World </a:t>
            </a:r>
            <a:r>
              <a:rPr dirty="0" sz="900" spc="20">
                <a:solidFill>
                  <a:srgbClr val="1B1B27"/>
                </a:solidFill>
                <a:latin typeface="Trebuchet MS"/>
                <a:cs typeface="Trebuchet MS"/>
              </a:rPr>
              <a:t>Troubleshooting</a:t>
            </a:r>
            <a:r>
              <a:rPr dirty="0" sz="900" spc="9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1B1B27"/>
                </a:solidFill>
                <a:latin typeface="Trebuchet MS"/>
                <a:cs typeface="Trebuchet MS"/>
              </a:rPr>
              <a:t>Example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5793" y="6714506"/>
            <a:ext cx="3370579" cy="328930"/>
            <a:chOff x="285793" y="6714506"/>
            <a:chExt cx="3370579" cy="328930"/>
          </a:xfrm>
        </p:grpSpPr>
        <p:sp>
          <p:nvSpPr>
            <p:cNvPr id="14" name="object 14"/>
            <p:cNvSpPr/>
            <p:nvPr/>
          </p:nvSpPr>
          <p:spPr>
            <a:xfrm>
              <a:off x="285793" y="6714506"/>
              <a:ext cx="3370579" cy="328930"/>
            </a:xfrm>
            <a:custGeom>
              <a:avLst/>
              <a:gdLst/>
              <a:ahLst/>
              <a:cxnLst/>
              <a:rect l="l" t="t" r="r" b="b"/>
              <a:pathLst>
                <a:path w="3370579" h="328929">
                  <a:moveTo>
                    <a:pt x="3351057" y="328498"/>
                  </a:moveTo>
                  <a:lnTo>
                    <a:pt x="19335" y="328498"/>
                  </a:lnTo>
                  <a:lnTo>
                    <a:pt x="17991" y="328366"/>
                  </a:lnTo>
                  <a:lnTo>
                    <a:pt x="0" y="309162"/>
                  </a:lnTo>
                  <a:lnTo>
                    <a:pt x="0" y="307802"/>
                  </a:lnTo>
                  <a:lnTo>
                    <a:pt x="0" y="19335"/>
                  </a:lnTo>
                  <a:lnTo>
                    <a:pt x="19335" y="0"/>
                  </a:lnTo>
                  <a:lnTo>
                    <a:pt x="3351057" y="0"/>
                  </a:lnTo>
                  <a:lnTo>
                    <a:pt x="3370393" y="19335"/>
                  </a:lnTo>
                  <a:lnTo>
                    <a:pt x="3370393" y="309162"/>
                  </a:lnTo>
                  <a:lnTo>
                    <a:pt x="3352401" y="328366"/>
                  </a:lnTo>
                  <a:lnTo>
                    <a:pt x="3351057" y="328498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56010" y="6797041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70" h="52070">
                  <a:moveTo>
                    <a:pt x="35858" y="51738"/>
                  </a:moveTo>
                  <a:lnTo>
                    <a:pt x="3314" y="51738"/>
                  </a:lnTo>
                  <a:lnTo>
                    <a:pt x="0" y="48424"/>
                  </a:lnTo>
                  <a:lnTo>
                    <a:pt x="0" y="3314"/>
                  </a:lnTo>
                  <a:lnTo>
                    <a:pt x="3314" y="0"/>
                  </a:lnTo>
                  <a:lnTo>
                    <a:pt x="48424" y="0"/>
                  </a:lnTo>
                  <a:lnTo>
                    <a:pt x="51738" y="3314"/>
                  </a:lnTo>
                  <a:lnTo>
                    <a:pt x="51738" y="5543"/>
                  </a:lnTo>
                  <a:lnTo>
                    <a:pt x="6374" y="5543"/>
                  </a:lnTo>
                  <a:lnTo>
                    <a:pt x="5543" y="6374"/>
                  </a:lnTo>
                  <a:lnTo>
                    <a:pt x="5543" y="45363"/>
                  </a:lnTo>
                  <a:lnTo>
                    <a:pt x="6374" y="46195"/>
                  </a:lnTo>
                  <a:lnTo>
                    <a:pt x="42511" y="46195"/>
                  </a:lnTo>
                  <a:lnTo>
                    <a:pt x="37741" y="50964"/>
                  </a:lnTo>
                  <a:lnTo>
                    <a:pt x="35858" y="51738"/>
                  </a:lnTo>
                  <a:close/>
                </a:path>
                <a:path w="52070" h="52070">
                  <a:moveTo>
                    <a:pt x="42511" y="46195"/>
                  </a:moveTo>
                  <a:lnTo>
                    <a:pt x="33260" y="46195"/>
                  </a:lnTo>
                  <a:lnTo>
                    <a:pt x="33260" y="34911"/>
                  </a:lnTo>
                  <a:lnTo>
                    <a:pt x="34911" y="33260"/>
                  </a:lnTo>
                  <a:lnTo>
                    <a:pt x="46195" y="33260"/>
                  </a:lnTo>
                  <a:lnTo>
                    <a:pt x="46195" y="6374"/>
                  </a:lnTo>
                  <a:lnTo>
                    <a:pt x="45363" y="5543"/>
                  </a:lnTo>
                  <a:lnTo>
                    <a:pt x="51738" y="5543"/>
                  </a:lnTo>
                  <a:lnTo>
                    <a:pt x="51738" y="35858"/>
                  </a:lnTo>
                  <a:lnTo>
                    <a:pt x="50964" y="37741"/>
                  </a:lnTo>
                  <a:lnTo>
                    <a:pt x="42511" y="46195"/>
                  </a:lnTo>
                  <a:close/>
                </a:path>
              </a:pathLst>
            </a:custGeom>
            <a:solidFill>
              <a:srgbClr val="3E3E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73093" y="6756337"/>
            <a:ext cx="3377565" cy="633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4470" marR="300990">
              <a:lnSpc>
                <a:spcPct val="138900"/>
              </a:lnSpc>
              <a:spcBef>
                <a:spcPts val="95"/>
              </a:spcBef>
            </a:pPr>
            <a:r>
              <a:rPr dirty="0" sz="450">
                <a:latin typeface="Roboto"/>
                <a:cs typeface="Roboto"/>
              </a:rPr>
              <a:t>This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is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a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fictional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example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created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for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educational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purposes.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It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does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not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represent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a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real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company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or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real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 spc="-25">
                <a:latin typeface="Roboto"/>
                <a:cs typeface="Roboto"/>
              </a:rPr>
              <a:t>SAP</a:t>
            </a:r>
            <a:r>
              <a:rPr dirty="0" sz="450" spc="500">
                <a:latin typeface="Roboto"/>
                <a:cs typeface="Roboto"/>
              </a:rPr>
              <a:t> </a:t>
            </a:r>
            <a:r>
              <a:rPr dirty="0" sz="450" spc="-10">
                <a:latin typeface="Roboto"/>
                <a:cs typeface="Roboto"/>
              </a:rPr>
              <a:t>implementation.</a:t>
            </a:r>
            <a:endParaRPr sz="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4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4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450" b="1">
                <a:solidFill>
                  <a:srgbClr val="3B3838"/>
                </a:solidFill>
                <a:latin typeface="Roboto"/>
                <a:cs typeface="Roboto"/>
              </a:rPr>
              <a:t>Company:</a:t>
            </a:r>
            <a:r>
              <a:rPr dirty="0" sz="450" spc="30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ABC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Electronicз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Pvt.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Ltd.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(Fictional)</a:t>
            </a:r>
            <a:endParaRPr sz="450">
              <a:latin typeface="Roboto"/>
              <a:cs typeface="Roboto"/>
            </a:endParaRPr>
          </a:p>
          <a:p>
            <a:pPr marL="12700" marR="5080">
              <a:lnSpc>
                <a:spcPts val="750"/>
              </a:lnSpc>
              <a:spcBef>
                <a:spcPts val="35"/>
              </a:spcBef>
            </a:pPr>
            <a:r>
              <a:rPr dirty="0" sz="450" b="1">
                <a:solidFill>
                  <a:srgbClr val="3B3838"/>
                </a:solidFill>
                <a:latin typeface="Roboto"/>
                <a:cs typeface="Roboto"/>
              </a:rPr>
              <a:t>Scenario:</a:t>
            </a:r>
            <a:r>
              <a:rPr dirty="0" sz="450" spc="15" b="1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department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trieз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poзt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expenзe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₹50,000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production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department,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but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tranзaction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cannot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completed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becauзe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required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information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incorrect.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5793" y="7460198"/>
            <a:ext cx="3370579" cy="450215"/>
            <a:chOff x="285793" y="7460198"/>
            <a:chExt cx="3370579" cy="450215"/>
          </a:xfrm>
        </p:grpSpPr>
        <p:sp>
          <p:nvSpPr>
            <p:cNvPr id="18" name="object 18"/>
            <p:cNvSpPr/>
            <p:nvPr/>
          </p:nvSpPr>
          <p:spPr>
            <a:xfrm>
              <a:off x="289078" y="7463483"/>
              <a:ext cx="3364229" cy="443865"/>
            </a:xfrm>
            <a:custGeom>
              <a:avLst/>
              <a:gdLst/>
              <a:ahLst/>
              <a:cxnLst/>
              <a:rect l="l" t="t" r="r" b="b"/>
              <a:pathLst>
                <a:path w="3364229" h="443865">
                  <a:moveTo>
                    <a:pt x="0" y="426062"/>
                  </a:moveTo>
                  <a:lnTo>
                    <a:pt x="0" y="17410"/>
                  </a:lnTo>
                  <a:lnTo>
                    <a:pt x="0" y="16267"/>
                  </a:lnTo>
                  <a:lnTo>
                    <a:pt x="111" y="15133"/>
                  </a:lnTo>
                  <a:lnTo>
                    <a:pt x="335" y="14013"/>
                  </a:lnTo>
                  <a:lnTo>
                    <a:pt x="558" y="12893"/>
                  </a:lnTo>
                  <a:lnTo>
                    <a:pt x="886" y="11802"/>
                  </a:lnTo>
                  <a:lnTo>
                    <a:pt x="5098" y="5098"/>
                  </a:lnTo>
                  <a:lnTo>
                    <a:pt x="5906" y="4290"/>
                  </a:lnTo>
                  <a:lnTo>
                    <a:pt x="10748" y="1323"/>
                  </a:lnTo>
                  <a:lnTo>
                    <a:pt x="11802" y="886"/>
                  </a:lnTo>
                  <a:lnTo>
                    <a:pt x="12893" y="558"/>
                  </a:lnTo>
                  <a:lnTo>
                    <a:pt x="14013" y="335"/>
                  </a:lnTo>
                  <a:lnTo>
                    <a:pt x="15133" y="111"/>
                  </a:lnTo>
                  <a:lnTo>
                    <a:pt x="16267" y="0"/>
                  </a:lnTo>
                  <a:lnTo>
                    <a:pt x="17410" y="0"/>
                  </a:lnTo>
                  <a:lnTo>
                    <a:pt x="3346412" y="0"/>
                  </a:lnTo>
                  <a:lnTo>
                    <a:pt x="3347556" y="0"/>
                  </a:lnTo>
                  <a:lnTo>
                    <a:pt x="3348689" y="111"/>
                  </a:lnTo>
                  <a:lnTo>
                    <a:pt x="3349809" y="335"/>
                  </a:lnTo>
                  <a:lnTo>
                    <a:pt x="3350929" y="558"/>
                  </a:lnTo>
                  <a:lnTo>
                    <a:pt x="3352020" y="886"/>
                  </a:lnTo>
                  <a:lnTo>
                    <a:pt x="3353074" y="1323"/>
                  </a:lnTo>
                  <a:lnTo>
                    <a:pt x="3354132" y="1760"/>
                  </a:lnTo>
                  <a:lnTo>
                    <a:pt x="3362496" y="10748"/>
                  </a:lnTo>
                  <a:lnTo>
                    <a:pt x="3362936" y="11802"/>
                  </a:lnTo>
                  <a:lnTo>
                    <a:pt x="3363264" y="12893"/>
                  </a:lnTo>
                  <a:lnTo>
                    <a:pt x="3363488" y="14013"/>
                  </a:lnTo>
                  <a:lnTo>
                    <a:pt x="3363711" y="15133"/>
                  </a:lnTo>
                  <a:lnTo>
                    <a:pt x="3363823" y="16267"/>
                  </a:lnTo>
                  <a:lnTo>
                    <a:pt x="3363823" y="17410"/>
                  </a:lnTo>
                  <a:lnTo>
                    <a:pt x="3363823" y="426062"/>
                  </a:lnTo>
                  <a:lnTo>
                    <a:pt x="3363823" y="427205"/>
                  </a:lnTo>
                  <a:lnTo>
                    <a:pt x="3363711" y="428335"/>
                  </a:lnTo>
                  <a:lnTo>
                    <a:pt x="3363488" y="429459"/>
                  </a:lnTo>
                  <a:lnTo>
                    <a:pt x="3363264" y="430579"/>
                  </a:lnTo>
                  <a:lnTo>
                    <a:pt x="3362936" y="431669"/>
                  </a:lnTo>
                  <a:lnTo>
                    <a:pt x="3362496" y="432724"/>
                  </a:lnTo>
                  <a:lnTo>
                    <a:pt x="3362059" y="433782"/>
                  </a:lnTo>
                  <a:lnTo>
                    <a:pt x="3356083" y="440536"/>
                  </a:lnTo>
                  <a:lnTo>
                    <a:pt x="3355134" y="441173"/>
                  </a:lnTo>
                  <a:lnTo>
                    <a:pt x="3354132" y="441708"/>
                  </a:lnTo>
                  <a:lnTo>
                    <a:pt x="3353074" y="442145"/>
                  </a:lnTo>
                  <a:lnTo>
                    <a:pt x="3352020" y="442582"/>
                  </a:lnTo>
                  <a:lnTo>
                    <a:pt x="3350929" y="442914"/>
                  </a:lnTo>
                  <a:lnTo>
                    <a:pt x="3349809" y="443137"/>
                  </a:lnTo>
                  <a:lnTo>
                    <a:pt x="3348689" y="443361"/>
                  </a:lnTo>
                  <a:lnTo>
                    <a:pt x="3347556" y="443472"/>
                  </a:lnTo>
                  <a:lnTo>
                    <a:pt x="3346412" y="443472"/>
                  </a:lnTo>
                  <a:lnTo>
                    <a:pt x="17410" y="443472"/>
                  </a:lnTo>
                  <a:lnTo>
                    <a:pt x="16267" y="443472"/>
                  </a:lnTo>
                  <a:lnTo>
                    <a:pt x="15133" y="443361"/>
                  </a:lnTo>
                  <a:lnTo>
                    <a:pt x="14013" y="443137"/>
                  </a:lnTo>
                  <a:lnTo>
                    <a:pt x="12893" y="442914"/>
                  </a:lnTo>
                  <a:lnTo>
                    <a:pt x="11802" y="442582"/>
                  </a:lnTo>
                  <a:lnTo>
                    <a:pt x="10748" y="442145"/>
                  </a:lnTo>
                  <a:lnTo>
                    <a:pt x="9690" y="441708"/>
                  </a:lnTo>
                  <a:lnTo>
                    <a:pt x="8688" y="441173"/>
                  </a:lnTo>
                  <a:lnTo>
                    <a:pt x="7736" y="440536"/>
                  </a:lnTo>
                  <a:lnTo>
                    <a:pt x="6786" y="439902"/>
                  </a:lnTo>
                  <a:lnTo>
                    <a:pt x="0" y="427205"/>
                  </a:lnTo>
                  <a:lnTo>
                    <a:pt x="0" y="426062"/>
                  </a:lnTo>
                  <a:close/>
                </a:path>
              </a:pathLst>
            </a:custGeom>
            <a:ln w="6569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92363" y="7466768"/>
              <a:ext cx="234950" cy="437515"/>
            </a:xfrm>
            <a:custGeom>
              <a:avLst/>
              <a:gdLst/>
              <a:ahLst/>
              <a:cxnLst/>
              <a:rect l="l" t="t" r="r" b="b"/>
              <a:pathLst>
                <a:path w="234950" h="437515">
                  <a:moveTo>
                    <a:pt x="234876" y="436902"/>
                  </a:moveTo>
                  <a:lnTo>
                    <a:pt x="12252" y="436902"/>
                  </a:lnTo>
                  <a:lnTo>
                    <a:pt x="10449" y="436544"/>
                  </a:lnTo>
                  <a:lnTo>
                    <a:pt x="0" y="424649"/>
                  </a:lnTo>
                  <a:lnTo>
                    <a:pt x="0" y="422777"/>
                  </a:lnTo>
                  <a:lnTo>
                    <a:pt x="0" y="12252"/>
                  </a:lnTo>
                  <a:lnTo>
                    <a:pt x="12252" y="0"/>
                  </a:lnTo>
                  <a:lnTo>
                    <a:pt x="234876" y="0"/>
                  </a:lnTo>
                  <a:lnTo>
                    <a:pt x="234876" y="436902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25597" y="7466768"/>
              <a:ext cx="3810" cy="437515"/>
            </a:xfrm>
            <a:custGeom>
              <a:avLst/>
              <a:gdLst/>
              <a:ahLst/>
              <a:cxnLst/>
              <a:rect l="l" t="t" r="r" b="b"/>
              <a:pathLst>
                <a:path w="3809" h="437515">
                  <a:moveTo>
                    <a:pt x="3284" y="436902"/>
                  </a:moveTo>
                  <a:lnTo>
                    <a:pt x="0" y="436902"/>
                  </a:lnTo>
                  <a:lnTo>
                    <a:pt x="0" y="0"/>
                  </a:lnTo>
                  <a:lnTo>
                    <a:pt x="3284" y="0"/>
                  </a:lnTo>
                  <a:lnTo>
                    <a:pt x="3284" y="436902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77289" y="7615032"/>
            <a:ext cx="635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3B3838"/>
                </a:solidFill>
                <a:latin typeface="Trebuchet MS"/>
                <a:cs typeface="Trebuchet MS"/>
              </a:rPr>
              <a:t>1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5311" y="7511555"/>
            <a:ext cx="2990215" cy="3282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Problem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8900"/>
              </a:lnSpc>
              <a:spcBef>
                <a:spcPts val="18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team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attemptз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poзt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₹50,000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electricity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expenзe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production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department.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зyзtem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doeз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allow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proceed.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5793" y="7969370"/>
            <a:ext cx="3370579" cy="447040"/>
            <a:chOff x="285793" y="7969370"/>
            <a:chExt cx="3370579" cy="447040"/>
          </a:xfrm>
        </p:grpSpPr>
        <p:sp>
          <p:nvSpPr>
            <p:cNvPr id="24" name="object 24"/>
            <p:cNvSpPr/>
            <p:nvPr/>
          </p:nvSpPr>
          <p:spPr>
            <a:xfrm>
              <a:off x="289078" y="7972655"/>
              <a:ext cx="3364229" cy="440690"/>
            </a:xfrm>
            <a:custGeom>
              <a:avLst/>
              <a:gdLst/>
              <a:ahLst/>
              <a:cxnLst/>
              <a:rect l="l" t="t" r="r" b="b"/>
              <a:pathLst>
                <a:path w="3364229" h="440690">
                  <a:moveTo>
                    <a:pt x="0" y="422777"/>
                  </a:moveTo>
                  <a:lnTo>
                    <a:pt x="0" y="17410"/>
                  </a:lnTo>
                  <a:lnTo>
                    <a:pt x="0" y="16267"/>
                  </a:lnTo>
                  <a:lnTo>
                    <a:pt x="111" y="15133"/>
                  </a:lnTo>
                  <a:lnTo>
                    <a:pt x="335" y="14013"/>
                  </a:lnTo>
                  <a:lnTo>
                    <a:pt x="558" y="12890"/>
                  </a:lnTo>
                  <a:lnTo>
                    <a:pt x="886" y="11802"/>
                  </a:lnTo>
                  <a:lnTo>
                    <a:pt x="5098" y="5098"/>
                  </a:lnTo>
                  <a:lnTo>
                    <a:pt x="5906" y="4290"/>
                  </a:lnTo>
                  <a:lnTo>
                    <a:pt x="10748" y="1323"/>
                  </a:lnTo>
                  <a:lnTo>
                    <a:pt x="11802" y="886"/>
                  </a:lnTo>
                  <a:lnTo>
                    <a:pt x="12893" y="558"/>
                  </a:lnTo>
                  <a:lnTo>
                    <a:pt x="14013" y="335"/>
                  </a:lnTo>
                  <a:lnTo>
                    <a:pt x="15133" y="111"/>
                  </a:lnTo>
                  <a:lnTo>
                    <a:pt x="16267" y="0"/>
                  </a:lnTo>
                  <a:lnTo>
                    <a:pt x="17410" y="0"/>
                  </a:lnTo>
                  <a:lnTo>
                    <a:pt x="3346412" y="0"/>
                  </a:lnTo>
                  <a:lnTo>
                    <a:pt x="3347556" y="0"/>
                  </a:lnTo>
                  <a:lnTo>
                    <a:pt x="3348689" y="111"/>
                  </a:lnTo>
                  <a:lnTo>
                    <a:pt x="3349809" y="335"/>
                  </a:lnTo>
                  <a:lnTo>
                    <a:pt x="3350929" y="558"/>
                  </a:lnTo>
                  <a:lnTo>
                    <a:pt x="3352020" y="886"/>
                  </a:lnTo>
                  <a:lnTo>
                    <a:pt x="3353074" y="1323"/>
                  </a:lnTo>
                  <a:lnTo>
                    <a:pt x="3354132" y="1760"/>
                  </a:lnTo>
                  <a:lnTo>
                    <a:pt x="3362496" y="10748"/>
                  </a:lnTo>
                  <a:lnTo>
                    <a:pt x="3362936" y="11802"/>
                  </a:lnTo>
                  <a:lnTo>
                    <a:pt x="3363264" y="12890"/>
                  </a:lnTo>
                  <a:lnTo>
                    <a:pt x="3363488" y="14013"/>
                  </a:lnTo>
                  <a:lnTo>
                    <a:pt x="3363711" y="15133"/>
                  </a:lnTo>
                  <a:lnTo>
                    <a:pt x="3363823" y="16267"/>
                  </a:lnTo>
                  <a:lnTo>
                    <a:pt x="3363823" y="17410"/>
                  </a:lnTo>
                  <a:lnTo>
                    <a:pt x="3363823" y="422777"/>
                  </a:lnTo>
                  <a:lnTo>
                    <a:pt x="3363823" y="423920"/>
                  </a:lnTo>
                  <a:lnTo>
                    <a:pt x="3363711" y="425053"/>
                  </a:lnTo>
                  <a:lnTo>
                    <a:pt x="3363488" y="426174"/>
                  </a:lnTo>
                  <a:lnTo>
                    <a:pt x="3363264" y="427294"/>
                  </a:lnTo>
                  <a:lnTo>
                    <a:pt x="3362936" y="428381"/>
                  </a:lnTo>
                  <a:lnTo>
                    <a:pt x="3362496" y="429439"/>
                  </a:lnTo>
                  <a:lnTo>
                    <a:pt x="3362059" y="430493"/>
                  </a:lnTo>
                  <a:lnTo>
                    <a:pt x="3356083" y="437251"/>
                  </a:lnTo>
                  <a:lnTo>
                    <a:pt x="3355134" y="437888"/>
                  </a:lnTo>
                  <a:lnTo>
                    <a:pt x="3354132" y="438423"/>
                  </a:lnTo>
                  <a:lnTo>
                    <a:pt x="3353074" y="438860"/>
                  </a:lnTo>
                  <a:lnTo>
                    <a:pt x="3352020" y="439300"/>
                  </a:lnTo>
                  <a:lnTo>
                    <a:pt x="3350929" y="439629"/>
                  </a:lnTo>
                  <a:lnTo>
                    <a:pt x="3349809" y="439852"/>
                  </a:lnTo>
                  <a:lnTo>
                    <a:pt x="3348689" y="440076"/>
                  </a:lnTo>
                  <a:lnTo>
                    <a:pt x="3347556" y="440187"/>
                  </a:lnTo>
                  <a:lnTo>
                    <a:pt x="3346412" y="440187"/>
                  </a:lnTo>
                  <a:lnTo>
                    <a:pt x="17410" y="440187"/>
                  </a:lnTo>
                  <a:lnTo>
                    <a:pt x="16267" y="440187"/>
                  </a:lnTo>
                  <a:lnTo>
                    <a:pt x="15133" y="440076"/>
                  </a:lnTo>
                  <a:lnTo>
                    <a:pt x="14013" y="439852"/>
                  </a:lnTo>
                  <a:lnTo>
                    <a:pt x="12893" y="439629"/>
                  </a:lnTo>
                  <a:lnTo>
                    <a:pt x="11802" y="439300"/>
                  </a:lnTo>
                  <a:lnTo>
                    <a:pt x="10748" y="438860"/>
                  </a:lnTo>
                  <a:lnTo>
                    <a:pt x="9690" y="438423"/>
                  </a:lnTo>
                  <a:lnTo>
                    <a:pt x="8688" y="437888"/>
                  </a:lnTo>
                  <a:lnTo>
                    <a:pt x="7736" y="437251"/>
                  </a:lnTo>
                  <a:lnTo>
                    <a:pt x="6786" y="436617"/>
                  </a:lnTo>
                  <a:lnTo>
                    <a:pt x="0" y="423920"/>
                  </a:lnTo>
                  <a:lnTo>
                    <a:pt x="0" y="422777"/>
                  </a:lnTo>
                  <a:close/>
                </a:path>
              </a:pathLst>
            </a:custGeom>
            <a:ln w="6569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92363" y="7975940"/>
              <a:ext cx="234950" cy="433705"/>
            </a:xfrm>
            <a:custGeom>
              <a:avLst/>
              <a:gdLst/>
              <a:ahLst/>
              <a:cxnLst/>
              <a:rect l="l" t="t" r="r" b="b"/>
              <a:pathLst>
                <a:path w="234950" h="433704">
                  <a:moveTo>
                    <a:pt x="234876" y="433617"/>
                  </a:moveTo>
                  <a:lnTo>
                    <a:pt x="12252" y="433617"/>
                  </a:lnTo>
                  <a:lnTo>
                    <a:pt x="10449" y="433259"/>
                  </a:lnTo>
                  <a:lnTo>
                    <a:pt x="0" y="421364"/>
                  </a:lnTo>
                  <a:lnTo>
                    <a:pt x="0" y="419492"/>
                  </a:lnTo>
                  <a:lnTo>
                    <a:pt x="0" y="12252"/>
                  </a:lnTo>
                  <a:lnTo>
                    <a:pt x="12252" y="0"/>
                  </a:lnTo>
                  <a:lnTo>
                    <a:pt x="234876" y="0"/>
                  </a:lnTo>
                  <a:lnTo>
                    <a:pt x="234876" y="433617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25597" y="7975940"/>
              <a:ext cx="3810" cy="433705"/>
            </a:xfrm>
            <a:custGeom>
              <a:avLst/>
              <a:gdLst/>
              <a:ahLst/>
              <a:cxnLst/>
              <a:rect l="l" t="t" r="r" b="b"/>
              <a:pathLst>
                <a:path w="3809" h="433704">
                  <a:moveTo>
                    <a:pt x="3284" y="433617"/>
                  </a:moveTo>
                  <a:lnTo>
                    <a:pt x="0" y="433617"/>
                  </a:lnTo>
                  <a:lnTo>
                    <a:pt x="0" y="0"/>
                  </a:lnTo>
                  <a:lnTo>
                    <a:pt x="3284" y="0"/>
                  </a:lnTo>
                  <a:lnTo>
                    <a:pt x="3284" y="433617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373131" y="8005672"/>
            <a:ext cx="3110865" cy="34353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14629">
              <a:lnSpc>
                <a:spcPct val="100000"/>
              </a:lnSpc>
              <a:spcBef>
                <a:spcPts val="250"/>
              </a:spcBef>
            </a:pP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Initial Investigation</a:t>
            </a:r>
            <a:endParaRPr sz="550">
              <a:latin typeface="Trebuchet MS"/>
              <a:cs typeface="Trebuchet MS"/>
            </a:endParaRPr>
          </a:p>
          <a:p>
            <a:pPr marL="214629" marR="5080" indent="-202565">
              <a:lnSpc>
                <a:spcPts val="750"/>
              </a:lnSpc>
              <a:spcBef>
                <a:spcPts val="245"/>
              </a:spcBef>
              <a:tabLst>
                <a:tab pos="214629" algn="l"/>
              </a:tabLst>
            </a:pPr>
            <a:r>
              <a:rPr dirty="0" baseline="3968" sz="1050" spc="-75">
                <a:solidFill>
                  <a:srgbClr val="3B3838"/>
                </a:solidFill>
                <a:latin typeface="Trebuchet MS"/>
                <a:cs typeface="Trebuchet MS"/>
              </a:rPr>
              <a:t>2</a:t>
            </a:r>
            <a:r>
              <a:rPr dirty="0" baseline="3968" sz="1050">
                <a:solidFill>
                  <a:srgbClr val="3B3838"/>
                </a:solidFill>
                <a:latin typeface="Trebuchet MS"/>
                <a:cs typeface="Trebuchet MS"/>
              </a:rPr>
              <a:t>	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uзer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readз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error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meззage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carefully.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indicateз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required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either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entered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valid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poзting.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85793" y="8475258"/>
            <a:ext cx="3370579" cy="450215"/>
            <a:chOff x="285793" y="8475258"/>
            <a:chExt cx="3370579" cy="450215"/>
          </a:xfrm>
        </p:grpSpPr>
        <p:sp>
          <p:nvSpPr>
            <p:cNvPr id="29" name="object 29"/>
            <p:cNvSpPr/>
            <p:nvPr/>
          </p:nvSpPr>
          <p:spPr>
            <a:xfrm>
              <a:off x="289078" y="8478543"/>
              <a:ext cx="3364229" cy="443865"/>
            </a:xfrm>
            <a:custGeom>
              <a:avLst/>
              <a:gdLst/>
              <a:ahLst/>
              <a:cxnLst/>
              <a:rect l="l" t="t" r="r" b="b"/>
              <a:pathLst>
                <a:path w="3364229" h="443865">
                  <a:moveTo>
                    <a:pt x="0" y="426062"/>
                  </a:moveTo>
                  <a:lnTo>
                    <a:pt x="0" y="17410"/>
                  </a:lnTo>
                  <a:lnTo>
                    <a:pt x="0" y="16267"/>
                  </a:lnTo>
                  <a:lnTo>
                    <a:pt x="111" y="15133"/>
                  </a:lnTo>
                  <a:lnTo>
                    <a:pt x="335" y="14013"/>
                  </a:lnTo>
                  <a:lnTo>
                    <a:pt x="558" y="12890"/>
                  </a:lnTo>
                  <a:lnTo>
                    <a:pt x="886" y="11802"/>
                  </a:lnTo>
                  <a:lnTo>
                    <a:pt x="5098" y="5098"/>
                  </a:lnTo>
                  <a:lnTo>
                    <a:pt x="5906" y="4290"/>
                  </a:lnTo>
                  <a:lnTo>
                    <a:pt x="6786" y="3567"/>
                  </a:lnTo>
                  <a:lnTo>
                    <a:pt x="7736" y="2933"/>
                  </a:lnTo>
                  <a:lnTo>
                    <a:pt x="8688" y="2296"/>
                  </a:lnTo>
                  <a:lnTo>
                    <a:pt x="9690" y="1760"/>
                  </a:lnTo>
                  <a:lnTo>
                    <a:pt x="10748" y="1323"/>
                  </a:lnTo>
                  <a:lnTo>
                    <a:pt x="11802" y="886"/>
                  </a:lnTo>
                  <a:lnTo>
                    <a:pt x="12893" y="558"/>
                  </a:lnTo>
                  <a:lnTo>
                    <a:pt x="14013" y="335"/>
                  </a:lnTo>
                  <a:lnTo>
                    <a:pt x="15133" y="111"/>
                  </a:lnTo>
                  <a:lnTo>
                    <a:pt x="16267" y="0"/>
                  </a:lnTo>
                  <a:lnTo>
                    <a:pt x="17410" y="0"/>
                  </a:lnTo>
                  <a:lnTo>
                    <a:pt x="3346412" y="0"/>
                  </a:lnTo>
                  <a:lnTo>
                    <a:pt x="3347556" y="0"/>
                  </a:lnTo>
                  <a:lnTo>
                    <a:pt x="3348689" y="111"/>
                  </a:lnTo>
                  <a:lnTo>
                    <a:pt x="3349809" y="335"/>
                  </a:lnTo>
                  <a:lnTo>
                    <a:pt x="3350929" y="558"/>
                  </a:lnTo>
                  <a:lnTo>
                    <a:pt x="3352020" y="886"/>
                  </a:lnTo>
                  <a:lnTo>
                    <a:pt x="3353074" y="1323"/>
                  </a:lnTo>
                  <a:lnTo>
                    <a:pt x="3354132" y="1760"/>
                  </a:lnTo>
                  <a:lnTo>
                    <a:pt x="3355134" y="2296"/>
                  </a:lnTo>
                  <a:lnTo>
                    <a:pt x="3356087" y="2933"/>
                  </a:lnTo>
                  <a:lnTo>
                    <a:pt x="3357036" y="3567"/>
                  </a:lnTo>
                  <a:lnTo>
                    <a:pt x="3362496" y="10745"/>
                  </a:lnTo>
                  <a:lnTo>
                    <a:pt x="3362936" y="11802"/>
                  </a:lnTo>
                  <a:lnTo>
                    <a:pt x="3363264" y="12890"/>
                  </a:lnTo>
                  <a:lnTo>
                    <a:pt x="3363488" y="14013"/>
                  </a:lnTo>
                  <a:lnTo>
                    <a:pt x="3363711" y="15133"/>
                  </a:lnTo>
                  <a:lnTo>
                    <a:pt x="3363823" y="16267"/>
                  </a:lnTo>
                  <a:lnTo>
                    <a:pt x="3363823" y="17410"/>
                  </a:lnTo>
                  <a:lnTo>
                    <a:pt x="3363823" y="426062"/>
                  </a:lnTo>
                  <a:lnTo>
                    <a:pt x="3363823" y="427205"/>
                  </a:lnTo>
                  <a:lnTo>
                    <a:pt x="3363711" y="428338"/>
                  </a:lnTo>
                  <a:lnTo>
                    <a:pt x="3363488" y="429459"/>
                  </a:lnTo>
                  <a:lnTo>
                    <a:pt x="3363264" y="430579"/>
                  </a:lnTo>
                  <a:lnTo>
                    <a:pt x="3362936" y="431666"/>
                  </a:lnTo>
                  <a:lnTo>
                    <a:pt x="3362496" y="432724"/>
                  </a:lnTo>
                  <a:lnTo>
                    <a:pt x="3362059" y="433778"/>
                  </a:lnTo>
                  <a:lnTo>
                    <a:pt x="3356083" y="440536"/>
                  </a:lnTo>
                  <a:lnTo>
                    <a:pt x="3355134" y="441173"/>
                  </a:lnTo>
                  <a:lnTo>
                    <a:pt x="3354132" y="441708"/>
                  </a:lnTo>
                  <a:lnTo>
                    <a:pt x="3353074" y="442145"/>
                  </a:lnTo>
                  <a:lnTo>
                    <a:pt x="3352020" y="442585"/>
                  </a:lnTo>
                  <a:lnTo>
                    <a:pt x="3350929" y="442914"/>
                  </a:lnTo>
                  <a:lnTo>
                    <a:pt x="3349809" y="443137"/>
                  </a:lnTo>
                  <a:lnTo>
                    <a:pt x="3348689" y="443361"/>
                  </a:lnTo>
                  <a:lnTo>
                    <a:pt x="3347556" y="443472"/>
                  </a:lnTo>
                  <a:lnTo>
                    <a:pt x="3346412" y="443472"/>
                  </a:lnTo>
                  <a:lnTo>
                    <a:pt x="17410" y="443472"/>
                  </a:lnTo>
                  <a:lnTo>
                    <a:pt x="16267" y="443472"/>
                  </a:lnTo>
                  <a:lnTo>
                    <a:pt x="15133" y="443361"/>
                  </a:lnTo>
                  <a:lnTo>
                    <a:pt x="14013" y="443137"/>
                  </a:lnTo>
                  <a:lnTo>
                    <a:pt x="12893" y="442914"/>
                  </a:lnTo>
                  <a:lnTo>
                    <a:pt x="11802" y="442585"/>
                  </a:lnTo>
                  <a:lnTo>
                    <a:pt x="10748" y="442145"/>
                  </a:lnTo>
                  <a:lnTo>
                    <a:pt x="9690" y="441708"/>
                  </a:lnTo>
                  <a:lnTo>
                    <a:pt x="8688" y="441173"/>
                  </a:lnTo>
                  <a:lnTo>
                    <a:pt x="7736" y="440536"/>
                  </a:lnTo>
                  <a:lnTo>
                    <a:pt x="6786" y="439902"/>
                  </a:lnTo>
                  <a:lnTo>
                    <a:pt x="0" y="427205"/>
                  </a:lnTo>
                  <a:lnTo>
                    <a:pt x="0" y="426062"/>
                  </a:lnTo>
                  <a:close/>
                </a:path>
              </a:pathLst>
            </a:custGeom>
            <a:ln w="6569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92363" y="8481828"/>
              <a:ext cx="234950" cy="437515"/>
            </a:xfrm>
            <a:custGeom>
              <a:avLst/>
              <a:gdLst/>
              <a:ahLst/>
              <a:cxnLst/>
              <a:rect l="l" t="t" r="r" b="b"/>
              <a:pathLst>
                <a:path w="234950" h="437515">
                  <a:moveTo>
                    <a:pt x="234876" y="436902"/>
                  </a:moveTo>
                  <a:lnTo>
                    <a:pt x="12252" y="436902"/>
                  </a:lnTo>
                  <a:lnTo>
                    <a:pt x="10449" y="436544"/>
                  </a:lnTo>
                  <a:lnTo>
                    <a:pt x="0" y="424649"/>
                  </a:lnTo>
                  <a:lnTo>
                    <a:pt x="0" y="422777"/>
                  </a:lnTo>
                  <a:lnTo>
                    <a:pt x="0" y="12252"/>
                  </a:lnTo>
                  <a:lnTo>
                    <a:pt x="12252" y="0"/>
                  </a:lnTo>
                  <a:lnTo>
                    <a:pt x="234876" y="0"/>
                  </a:lnTo>
                  <a:lnTo>
                    <a:pt x="234876" y="436902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25597" y="8481828"/>
              <a:ext cx="3810" cy="437515"/>
            </a:xfrm>
            <a:custGeom>
              <a:avLst/>
              <a:gdLst/>
              <a:ahLst/>
              <a:cxnLst/>
              <a:rect l="l" t="t" r="r" b="b"/>
              <a:pathLst>
                <a:path w="3809" h="437515">
                  <a:moveTo>
                    <a:pt x="3284" y="436902"/>
                  </a:moveTo>
                  <a:lnTo>
                    <a:pt x="0" y="436902"/>
                  </a:lnTo>
                  <a:lnTo>
                    <a:pt x="0" y="0"/>
                  </a:lnTo>
                  <a:lnTo>
                    <a:pt x="3284" y="0"/>
                  </a:lnTo>
                  <a:lnTo>
                    <a:pt x="3284" y="436902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72566" y="8511558"/>
            <a:ext cx="3091815" cy="34353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250"/>
              </a:spcBef>
            </a:pPr>
            <a:r>
              <a:rPr dirty="0" sz="550" spc="30">
                <a:solidFill>
                  <a:srgbClr val="3B3838"/>
                </a:solidFill>
                <a:latin typeface="Trebuchet MS"/>
                <a:cs typeface="Trebuchet MS"/>
              </a:rPr>
              <a:t>Cause</a:t>
            </a:r>
            <a:r>
              <a:rPr dirty="0" sz="550" spc="7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Identified</a:t>
            </a:r>
            <a:endParaRPr sz="550">
              <a:latin typeface="Trebuchet MS"/>
              <a:cs typeface="Trebuchet MS"/>
            </a:endParaRPr>
          </a:p>
          <a:p>
            <a:pPr marL="215265" marR="5080" indent="-203200">
              <a:lnSpc>
                <a:spcPts val="750"/>
              </a:lnSpc>
              <a:spcBef>
                <a:spcPts val="245"/>
              </a:spcBef>
              <a:tabLst>
                <a:tab pos="215265" algn="l"/>
              </a:tabLst>
            </a:pPr>
            <a:r>
              <a:rPr dirty="0" baseline="3968" sz="1050" spc="-75">
                <a:solidFill>
                  <a:srgbClr val="3B3838"/>
                </a:solidFill>
                <a:latin typeface="Trebuchet MS"/>
                <a:cs typeface="Trebuchet MS"/>
              </a:rPr>
              <a:t>3</a:t>
            </a:r>
            <a:r>
              <a:rPr dirty="0" baseline="3968" sz="1050">
                <a:solidFill>
                  <a:srgbClr val="3B3838"/>
                </a:solidFill>
                <a:latin typeface="Trebuchet MS"/>
                <a:cs typeface="Trebuchet MS"/>
              </a:rPr>
              <a:t>	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Upon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checking,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entered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by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uзer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either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inactive,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haз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expired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validity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date,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waз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0">
                <a:solidFill>
                  <a:srgbClr val="3B3838"/>
                </a:solidFill>
                <a:latin typeface="Roboto"/>
                <a:cs typeface="Roboto"/>
              </a:rPr>
              <a:t>never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created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production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department.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5793" y="8984430"/>
            <a:ext cx="3370579" cy="542290"/>
            <a:chOff x="285793" y="8984430"/>
            <a:chExt cx="3370579" cy="542290"/>
          </a:xfrm>
        </p:grpSpPr>
        <p:sp>
          <p:nvSpPr>
            <p:cNvPr id="34" name="object 34"/>
            <p:cNvSpPr/>
            <p:nvPr/>
          </p:nvSpPr>
          <p:spPr>
            <a:xfrm>
              <a:off x="289078" y="8987715"/>
              <a:ext cx="3364229" cy="535940"/>
            </a:xfrm>
            <a:custGeom>
              <a:avLst/>
              <a:gdLst/>
              <a:ahLst/>
              <a:cxnLst/>
              <a:rect l="l" t="t" r="r" b="b"/>
              <a:pathLst>
                <a:path w="3364229" h="535940">
                  <a:moveTo>
                    <a:pt x="0" y="518041"/>
                  </a:moveTo>
                  <a:lnTo>
                    <a:pt x="0" y="17410"/>
                  </a:lnTo>
                  <a:lnTo>
                    <a:pt x="0" y="16267"/>
                  </a:lnTo>
                  <a:lnTo>
                    <a:pt x="111" y="15133"/>
                  </a:lnTo>
                  <a:lnTo>
                    <a:pt x="335" y="14013"/>
                  </a:lnTo>
                  <a:lnTo>
                    <a:pt x="558" y="12893"/>
                  </a:lnTo>
                  <a:lnTo>
                    <a:pt x="886" y="11802"/>
                  </a:lnTo>
                  <a:lnTo>
                    <a:pt x="5098" y="5098"/>
                  </a:lnTo>
                  <a:lnTo>
                    <a:pt x="5906" y="4290"/>
                  </a:lnTo>
                  <a:lnTo>
                    <a:pt x="10748" y="1323"/>
                  </a:lnTo>
                  <a:lnTo>
                    <a:pt x="11802" y="886"/>
                  </a:lnTo>
                  <a:lnTo>
                    <a:pt x="12893" y="558"/>
                  </a:lnTo>
                  <a:lnTo>
                    <a:pt x="14013" y="335"/>
                  </a:lnTo>
                  <a:lnTo>
                    <a:pt x="15133" y="111"/>
                  </a:lnTo>
                  <a:lnTo>
                    <a:pt x="16267" y="0"/>
                  </a:lnTo>
                  <a:lnTo>
                    <a:pt x="17410" y="0"/>
                  </a:lnTo>
                  <a:lnTo>
                    <a:pt x="3346412" y="0"/>
                  </a:lnTo>
                  <a:lnTo>
                    <a:pt x="3347556" y="0"/>
                  </a:lnTo>
                  <a:lnTo>
                    <a:pt x="3348689" y="111"/>
                  </a:lnTo>
                  <a:lnTo>
                    <a:pt x="3349809" y="335"/>
                  </a:lnTo>
                  <a:lnTo>
                    <a:pt x="3350929" y="558"/>
                  </a:lnTo>
                  <a:lnTo>
                    <a:pt x="3352020" y="886"/>
                  </a:lnTo>
                  <a:lnTo>
                    <a:pt x="3353074" y="1323"/>
                  </a:lnTo>
                  <a:lnTo>
                    <a:pt x="3354132" y="1760"/>
                  </a:lnTo>
                  <a:lnTo>
                    <a:pt x="3362496" y="10748"/>
                  </a:lnTo>
                  <a:lnTo>
                    <a:pt x="3362936" y="11802"/>
                  </a:lnTo>
                  <a:lnTo>
                    <a:pt x="3363264" y="12893"/>
                  </a:lnTo>
                  <a:lnTo>
                    <a:pt x="3363488" y="14013"/>
                  </a:lnTo>
                  <a:lnTo>
                    <a:pt x="3363711" y="15133"/>
                  </a:lnTo>
                  <a:lnTo>
                    <a:pt x="3363823" y="16267"/>
                  </a:lnTo>
                  <a:lnTo>
                    <a:pt x="3363823" y="17410"/>
                  </a:lnTo>
                  <a:lnTo>
                    <a:pt x="3363823" y="518041"/>
                  </a:lnTo>
                  <a:lnTo>
                    <a:pt x="3363823" y="519185"/>
                  </a:lnTo>
                  <a:lnTo>
                    <a:pt x="3363711" y="520315"/>
                  </a:lnTo>
                  <a:lnTo>
                    <a:pt x="3363488" y="521438"/>
                  </a:lnTo>
                  <a:lnTo>
                    <a:pt x="3363264" y="522558"/>
                  </a:lnTo>
                  <a:lnTo>
                    <a:pt x="3362936" y="523649"/>
                  </a:lnTo>
                  <a:lnTo>
                    <a:pt x="3362496" y="524703"/>
                  </a:lnTo>
                  <a:lnTo>
                    <a:pt x="3362059" y="525761"/>
                  </a:lnTo>
                  <a:lnTo>
                    <a:pt x="3356083" y="532515"/>
                  </a:lnTo>
                  <a:lnTo>
                    <a:pt x="3355134" y="533152"/>
                  </a:lnTo>
                  <a:lnTo>
                    <a:pt x="3354132" y="533688"/>
                  </a:lnTo>
                  <a:lnTo>
                    <a:pt x="3353074" y="534125"/>
                  </a:lnTo>
                  <a:lnTo>
                    <a:pt x="3352020" y="534562"/>
                  </a:lnTo>
                  <a:lnTo>
                    <a:pt x="3350929" y="534893"/>
                  </a:lnTo>
                  <a:lnTo>
                    <a:pt x="3349809" y="535117"/>
                  </a:lnTo>
                  <a:lnTo>
                    <a:pt x="3348689" y="535340"/>
                  </a:lnTo>
                  <a:lnTo>
                    <a:pt x="3347556" y="535452"/>
                  </a:lnTo>
                  <a:lnTo>
                    <a:pt x="3346412" y="535452"/>
                  </a:lnTo>
                  <a:lnTo>
                    <a:pt x="17410" y="535452"/>
                  </a:lnTo>
                  <a:lnTo>
                    <a:pt x="16267" y="535452"/>
                  </a:lnTo>
                  <a:lnTo>
                    <a:pt x="15133" y="535340"/>
                  </a:lnTo>
                  <a:lnTo>
                    <a:pt x="14013" y="535117"/>
                  </a:lnTo>
                  <a:lnTo>
                    <a:pt x="12893" y="534893"/>
                  </a:lnTo>
                  <a:lnTo>
                    <a:pt x="11802" y="534562"/>
                  </a:lnTo>
                  <a:lnTo>
                    <a:pt x="10748" y="534125"/>
                  </a:lnTo>
                  <a:lnTo>
                    <a:pt x="9690" y="533688"/>
                  </a:lnTo>
                  <a:lnTo>
                    <a:pt x="8688" y="533152"/>
                  </a:lnTo>
                  <a:lnTo>
                    <a:pt x="7736" y="532515"/>
                  </a:lnTo>
                  <a:lnTo>
                    <a:pt x="6786" y="531881"/>
                  </a:lnTo>
                  <a:lnTo>
                    <a:pt x="0" y="519185"/>
                  </a:lnTo>
                  <a:lnTo>
                    <a:pt x="0" y="518041"/>
                  </a:lnTo>
                  <a:close/>
                </a:path>
              </a:pathLst>
            </a:custGeom>
            <a:ln w="6569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92363" y="8991000"/>
              <a:ext cx="234950" cy="528955"/>
            </a:xfrm>
            <a:custGeom>
              <a:avLst/>
              <a:gdLst/>
              <a:ahLst/>
              <a:cxnLst/>
              <a:rect l="l" t="t" r="r" b="b"/>
              <a:pathLst>
                <a:path w="234950" h="528954">
                  <a:moveTo>
                    <a:pt x="234876" y="528882"/>
                  </a:moveTo>
                  <a:lnTo>
                    <a:pt x="12252" y="528882"/>
                  </a:lnTo>
                  <a:lnTo>
                    <a:pt x="10449" y="528524"/>
                  </a:lnTo>
                  <a:lnTo>
                    <a:pt x="0" y="516629"/>
                  </a:lnTo>
                  <a:lnTo>
                    <a:pt x="0" y="514756"/>
                  </a:lnTo>
                  <a:lnTo>
                    <a:pt x="0" y="12252"/>
                  </a:lnTo>
                  <a:lnTo>
                    <a:pt x="12252" y="0"/>
                  </a:lnTo>
                  <a:lnTo>
                    <a:pt x="234876" y="0"/>
                  </a:lnTo>
                  <a:lnTo>
                    <a:pt x="234876" y="528882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25597" y="8991000"/>
              <a:ext cx="3810" cy="528955"/>
            </a:xfrm>
            <a:custGeom>
              <a:avLst/>
              <a:gdLst/>
              <a:ahLst/>
              <a:cxnLst/>
              <a:rect l="l" t="t" r="r" b="b"/>
              <a:pathLst>
                <a:path w="3809" h="528954">
                  <a:moveTo>
                    <a:pt x="3284" y="528882"/>
                  </a:moveTo>
                  <a:lnTo>
                    <a:pt x="0" y="528882"/>
                  </a:lnTo>
                  <a:lnTo>
                    <a:pt x="0" y="0"/>
                  </a:lnTo>
                  <a:lnTo>
                    <a:pt x="3284" y="0"/>
                  </a:lnTo>
                  <a:lnTo>
                    <a:pt x="3284" y="528882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72053" y="9185254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3B3838"/>
                </a:solidFill>
                <a:latin typeface="Trebuchet MS"/>
                <a:cs typeface="Trebuchet MS"/>
              </a:rPr>
              <a:t>4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5311" y="9035788"/>
            <a:ext cx="3006090" cy="4203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20">
                <a:solidFill>
                  <a:srgbClr val="3B3838"/>
                </a:solidFill>
                <a:latin typeface="Trebuchet MS"/>
                <a:cs typeface="Trebuchet MS"/>
              </a:rPr>
              <a:t>Master</a:t>
            </a:r>
            <a:r>
              <a:rPr dirty="0" sz="55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20">
                <a:solidFill>
                  <a:srgbClr val="3B3838"/>
                </a:solidFill>
                <a:latin typeface="Trebuchet MS"/>
                <a:cs typeface="Trebuchet MS"/>
              </a:rPr>
              <a:t>Data</a:t>
            </a:r>
            <a:r>
              <a:rPr dirty="0" sz="550" spc="2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20">
                <a:solidFill>
                  <a:srgbClr val="3B3838"/>
                </a:solidFill>
                <a:latin typeface="Trebuchet MS"/>
                <a:cs typeface="Trebuchet MS"/>
              </a:rPr>
              <a:t>and</a:t>
            </a:r>
            <a:r>
              <a:rPr dirty="0" sz="550" spc="2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20">
                <a:solidFill>
                  <a:srgbClr val="3B3838"/>
                </a:solidFill>
                <a:latin typeface="Trebuchet MS"/>
                <a:cs typeface="Trebuchet MS"/>
              </a:rPr>
              <a:t>Configuration</a:t>
            </a:r>
            <a:r>
              <a:rPr dirty="0" sz="550" spc="2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Checks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6500"/>
              </a:lnSpc>
              <a:spcBef>
                <a:spcPts val="200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data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reviewed.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exiзtз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but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haз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end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date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haз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already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paззed.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Additionally,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зtatuз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doeз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make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mandatory,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which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allowed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uзer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attempt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without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valid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aззignment.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85793" y="9585583"/>
            <a:ext cx="3370579" cy="450215"/>
            <a:chOff x="285793" y="9585583"/>
            <a:chExt cx="3370579" cy="450215"/>
          </a:xfrm>
        </p:grpSpPr>
        <p:sp>
          <p:nvSpPr>
            <p:cNvPr id="40" name="object 40"/>
            <p:cNvSpPr/>
            <p:nvPr/>
          </p:nvSpPr>
          <p:spPr>
            <a:xfrm>
              <a:off x="289078" y="9588868"/>
              <a:ext cx="3364229" cy="443865"/>
            </a:xfrm>
            <a:custGeom>
              <a:avLst/>
              <a:gdLst/>
              <a:ahLst/>
              <a:cxnLst/>
              <a:rect l="l" t="t" r="r" b="b"/>
              <a:pathLst>
                <a:path w="3364229" h="443865">
                  <a:moveTo>
                    <a:pt x="0" y="426062"/>
                  </a:moveTo>
                  <a:lnTo>
                    <a:pt x="0" y="17410"/>
                  </a:lnTo>
                  <a:lnTo>
                    <a:pt x="0" y="16267"/>
                  </a:lnTo>
                  <a:lnTo>
                    <a:pt x="111" y="15133"/>
                  </a:lnTo>
                  <a:lnTo>
                    <a:pt x="335" y="14013"/>
                  </a:lnTo>
                  <a:lnTo>
                    <a:pt x="558" y="12890"/>
                  </a:lnTo>
                  <a:lnTo>
                    <a:pt x="886" y="11802"/>
                  </a:lnTo>
                  <a:lnTo>
                    <a:pt x="5098" y="5098"/>
                  </a:lnTo>
                  <a:lnTo>
                    <a:pt x="5906" y="4290"/>
                  </a:lnTo>
                  <a:lnTo>
                    <a:pt x="10748" y="1323"/>
                  </a:lnTo>
                  <a:lnTo>
                    <a:pt x="11802" y="886"/>
                  </a:lnTo>
                  <a:lnTo>
                    <a:pt x="12893" y="558"/>
                  </a:lnTo>
                  <a:lnTo>
                    <a:pt x="14013" y="335"/>
                  </a:lnTo>
                  <a:lnTo>
                    <a:pt x="15133" y="111"/>
                  </a:lnTo>
                  <a:lnTo>
                    <a:pt x="16267" y="0"/>
                  </a:lnTo>
                  <a:lnTo>
                    <a:pt x="17410" y="0"/>
                  </a:lnTo>
                  <a:lnTo>
                    <a:pt x="3346412" y="0"/>
                  </a:lnTo>
                  <a:lnTo>
                    <a:pt x="3347556" y="0"/>
                  </a:lnTo>
                  <a:lnTo>
                    <a:pt x="3348689" y="111"/>
                  </a:lnTo>
                  <a:lnTo>
                    <a:pt x="3349809" y="335"/>
                  </a:lnTo>
                  <a:lnTo>
                    <a:pt x="3350929" y="558"/>
                  </a:lnTo>
                  <a:lnTo>
                    <a:pt x="3352020" y="890"/>
                  </a:lnTo>
                  <a:lnTo>
                    <a:pt x="3353074" y="1327"/>
                  </a:lnTo>
                  <a:lnTo>
                    <a:pt x="3354132" y="1760"/>
                  </a:lnTo>
                  <a:lnTo>
                    <a:pt x="3362496" y="10748"/>
                  </a:lnTo>
                  <a:lnTo>
                    <a:pt x="3362936" y="11802"/>
                  </a:lnTo>
                  <a:lnTo>
                    <a:pt x="3363264" y="12890"/>
                  </a:lnTo>
                  <a:lnTo>
                    <a:pt x="3363488" y="14013"/>
                  </a:lnTo>
                  <a:lnTo>
                    <a:pt x="3363711" y="15133"/>
                  </a:lnTo>
                  <a:lnTo>
                    <a:pt x="3363823" y="16267"/>
                  </a:lnTo>
                  <a:lnTo>
                    <a:pt x="3363823" y="17410"/>
                  </a:lnTo>
                  <a:lnTo>
                    <a:pt x="3363823" y="426062"/>
                  </a:lnTo>
                  <a:lnTo>
                    <a:pt x="3363823" y="427205"/>
                  </a:lnTo>
                  <a:lnTo>
                    <a:pt x="3363711" y="428335"/>
                  </a:lnTo>
                  <a:lnTo>
                    <a:pt x="3363488" y="429455"/>
                  </a:lnTo>
                  <a:lnTo>
                    <a:pt x="3363264" y="430579"/>
                  </a:lnTo>
                  <a:lnTo>
                    <a:pt x="3362936" y="431666"/>
                  </a:lnTo>
                  <a:lnTo>
                    <a:pt x="3362496" y="432724"/>
                  </a:lnTo>
                  <a:lnTo>
                    <a:pt x="3362059" y="433778"/>
                  </a:lnTo>
                  <a:lnTo>
                    <a:pt x="3353074" y="442145"/>
                  </a:lnTo>
                  <a:lnTo>
                    <a:pt x="3352020" y="442582"/>
                  </a:lnTo>
                  <a:lnTo>
                    <a:pt x="3350929" y="442914"/>
                  </a:lnTo>
                  <a:lnTo>
                    <a:pt x="3349809" y="443137"/>
                  </a:lnTo>
                  <a:lnTo>
                    <a:pt x="3348689" y="443361"/>
                  </a:lnTo>
                  <a:lnTo>
                    <a:pt x="3347556" y="443472"/>
                  </a:lnTo>
                  <a:lnTo>
                    <a:pt x="3346412" y="443472"/>
                  </a:lnTo>
                  <a:lnTo>
                    <a:pt x="17410" y="443472"/>
                  </a:lnTo>
                  <a:lnTo>
                    <a:pt x="16267" y="443472"/>
                  </a:lnTo>
                  <a:lnTo>
                    <a:pt x="15133" y="443361"/>
                  </a:lnTo>
                  <a:lnTo>
                    <a:pt x="14013" y="443137"/>
                  </a:lnTo>
                  <a:lnTo>
                    <a:pt x="12893" y="442914"/>
                  </a:lnTo>
                  <a:lnTo>
                    <a:pt x="11802" y="442582"/>
                  </a:lnTo>
                  <a:lnTo>
                    <a:pt x="10748" y="442145"/>
                  </a:lnTo>
                  <a:lnTo>
                    <a:pt x="9690" y="441708"/>
                  </a:lnTo>
                  <a:lnTo>
                    <a:pt x="8688" y="441173"/>
                  </a:lnTo>
                  <a:lnTo>
                    <a:pt x="7736" y="440536"/>
                  </a:lnTo>
                  <a:lnTo>
                    <a:pt x="6786" y="439902"/>
                  </a:lnTo>
                  <a:lnTo>
                    <a:pt x="0" y="427205"/>
                  </a:lnTo>
                  <a:lnTo>
                    <a:pt x="0" y="426062"/>
                  </a:lnTo>
                  <a:close/>
                </a:path>
              </a:pathLst>
            </a:custGeom>
            <a:ln w="6569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92363" y="9592153"/>
              <a:ext cx="234950" cy="437515"/>
            </a:xfrm>
            <a:custGeom>
              <a:avLst/>
              <a:gdLst/>
              <a:ahLst/>
              <a:cxnLst/>
              <a:rect l="l" t="t" r="r" b="b"/>
              <a:pathLst>
                <a:path w="234950" h="437515">
                  <a:moveTo>
                    <a:pt x="234876" y="436902"/>
                  </a:moveTo>
                  <a:lnTo>
                    <a:pt x="12252" y="436902"/>
                  </a:lnTo>
                  <a:lnTo>
                    <a:pt x="10449" y="436541"/>
                  </a:lnTo>
                  <a:lnTo>
                    <a:pt x="0" y="424649"/>
                  </a:lnTo>
                  <a:lnTo>
                    <a:pt x="0" y="422777"/>
                  </a:lnTo>
                  <a:lnTo>
                    <a:pt x="0" y="12252"/>
                  </a:lnTo>
                  <a:lnTo>
                    <a:pt x="12252" y="0"/>
                  </a:lnTo>
                  <a:lnTo>
                    <a:pt x="234876" y="0"/>
                  </a:lnTo>
                  <a:lnTo>
                    <a:pt x="234876" y="436902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25597" y="9592152"/>
              <a:ext cx="3810" cy="437515"/>
            </a:xfrm>
            <a:custGeom>
              <a:avLst/>
              <a:gdLst/>
              <a:ahLst/>
              <a:cxnLst/>
              <a:rect l="l" t="t" r="r" b="b"/>
              <a:pathLst>
                <a:path w="3809" h="437515">
                  <a:moveTo>
                    <a:pt x="3284" y="436902"/>
                  </a:moveTo>
                  <a:lnTo>
                    <a:pt x="0" y="436902"/>
                  </a:lnTo>
                  <a:lnTo>
                    <a:pt x="0" y="0"/>
                  </a:lnTo>
                  <a:lnTo>
                    <a:pt x="3284" y="0"/>
                  </a:lnTo>
                  <a:lnTo>
                    <a:pt x="3284" y="436902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372105" y="9740416"/>
            <a:ext cx="74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3B3838"/>
                </a:solidFill>
                <a:latin typeface="Trebuchet MS"/>
                <a:cs typeface="Trebuchet MS"/>
              </a:rPr>
              <a:t>5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5311" y="9636939"/>
            <a:ext cx="2988310" cy="3282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0">
                <a:solidFill>
                  <a:srgbClr val="3B3838"/>
                </a:solidFill>
                <a:latin typeface="Trebuchet MS"/>
                <a:cs typeface="Trebuchet MS"/>
              </a:rPr>
              <a:t>Corrective</a:t>
            </a:r>
            <a:r>
              <a:rPr dirty="0" sz="550" spc="2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Action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8900"/>
              </a:lnSpc>
              <a:spcBef>
                <a:spcPts val="18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validity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period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extended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by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authoriзed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adminiзtrator.</a:t>
            </a:r>
            <a:r>
              <a:rPr dirty="0" sz="45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зtatuз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group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account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updated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make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mandatory,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preventing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зimilar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future.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85793" y="10094755"/>
            <a:ext cx="3370579" cy="447040"/>
            <a:chOff x="285793" y="10094755"/>
            <a:chExt cx="3370579" cy="447040"/>
          </a:xfrm>
        </p:grpSpPr>
        <p:sp>
          <p:nvSpPr>
            <p:cNvPr id="46" name="object 46"/>
            <p:cNvSpPr/>
            <p:nvPr/>
          </p:nvSpPr>
          <p:spPr>
            <a:xfrm>
              <a:off x="289078" y="10098040"/>
              <a:ext cx="3364229" cy="440690"/>
            </a:xfrm>
            <a:custGeom>
              <a:avLst/>
              <a:gdLst/>
              <a:ahLst/>
              <a:cxnLst/>
              <a:rect l="l" t="t" r="r" b="b"/>
              <a:pathLst>
                <a:path w="3364229" h="440690">
                  <a:moveTo>
                    <a:pt x="0" y="422777"/>
                  </a:moveTo>
                  <a:lnTo>
                    <a:pt x="0" y="17410"/>
                  </a:lnTo>
                  <a:lnTo>
                    <a:pt x="0" y="16267"/>
                  </a:lnTo>
                  <a:lnTo>
                    <a:pt x="111" y="15133"/>
                  </a:lnTo>
                  <a:lnTo>
                    <a:pt x="335" y="14013"/>
                  </a:lnTo>
                  <a:lnTo>
                    <a:pt x="558" y="12890"/>
                  </a:lnTo>
                  <a:lnTo>
                    <a:pt x="886" y="11802"/>
                  </a:lnTo>
                  <a:lnTo>
                    <a:pt x="5098" y="5098"/>
                  </a:lnTo>
                  <a:lnTo>
                    <a:pt x="5906" y="4290"/>
                  </a:lnTo>
                  <a:lnTo>
                    <a:pt x="10748" y="1323"/>
                  </a:lnTo>
                  <a:lnTo>
                    <a:pt x="11802" y="886"/>
                  </a:lnTo>
                  <a:lnTo>
                    <a:pt x="12893" y="558"/>
                  </a:lnTo>
                  <a:lnTo>
                    <a:pt x="14013" y="335"/>
                  </a:lnTo>
                  <a:lnTo>
                    <a:pt x="15133" y="111"/>
                  </a:lnTo>
                  <a:lnTo>
                    <a:pt x="16267" y="0"/>
                  </a:lnTo>
                  <a:lnTo>
                    <a:pt x="17410" y="0"/>
                  </a:lnTo>
                  <a:lnTo>
                    <a:pt x="3346412" y="0"/>
                  </a:lnTo>
                  <a:lnTo>
                    <a:pt x="3347556" y="0"/>
                  </a:lnTo>
                  <a:lnTo>
                    <a:pt x="3348689" y="111"/>
                  </a:lnTo>
                  <a:lnTo>
                    <a:pt x="3349809" y="335"/>
                  </a:lnTo>
                  <a:lnTo>
                    <a:pt x="3350929" y="558"/>
                  </a:lnTo>
                  <a:lnTo>
                    <a:pt x="3352020" y="886"/>
                  </a:lnTo>
                  <a:lnTo>
                    <a:pt x="3353074" y="1323"/>
                  </a:lnTo>
                  <a:lnTo>
                    <a:pt x="3354132" y="1760"/>
                  </a:lnTo>
                  <a:lnTo>
                    <a:pt x="3362496" y="10748"/>
                  </a:lnTo>
                  <a:lnTo>
                    <a:pt x="3362936" y="11802"/>
                  </a:lnTo>
                  <a:lnTo>
                    <a:pt x="3363264" y="12890"/>
                  </a:lnTo>
                  <a:lnTo>
                    <a:pt x="3363488" y="14013"/>
                  </a:lnTo>
                  <a:lnTo>
                    <a:pt x="3363711" y="15133"/>
                  </a:lnTo>
                  <a:lnTo>
                    <a:pt x="3363823" y="16267"/>
                  </a:lnTo>
                  <a:lnTo>
                    <a:pt x="3363823" y="17410"/>
                  </a:lnTo>
                  <a:lnTo>
                    <a:pt x="3363823" y="422777"/>
                  </a:lnTo>
                  <a:lnTo>
                    <a:pt x="3363823" y="423920"/>
                  </a:lnTo>
                  <a:lnTo>
                    <a:pt x="3363711" y="425050"/>
                  </a:lnTo>
                  <a:lnTo>
                    <a:pt x="3363488" y="426174"/>
                  </a:lnTo>
                  <a:lnTo>
                    <a:pt x="3363264" y="427294"/>
                  </a:lnTo>
                  <a:lnTo>
                    <a:pt x="3362936" y="428381"/>
                  </a:lnTo>
                  <a:lnTo>
                    <a:pt x="3362496" y="429439"/>
                  </a:lnTo>
                  <a:lnTo>
                    <a:pt x="3362059" y="430493"/>
                  </a:lnTo>
                  <a:lnTo>
                    <a:pt x="3356083" y="437251"/>
                  </a:lnTo>
                  <a:lnTo>
                    <a:pt x="3355134" y="437888"/>
                  </a:lnTo>
                  <a:lnTo>
                    <a:pt x="3354132" y="438423"/>
                  </a:lnTo>
                  <a:lnTo>
                    <a:pt x="3353074" y="438860"/>
                  </a:lnTo>
                  <a:lnTo>
                    <a:pt x="3352020" y="439297"/>
                  </a:lnTo>
                  <a:lnTo>
                    <a:pt x="3350929" y="439629"/>
                  </a:lnTo>
                  <a:lnTo>
                    <a:pt x="3349809" y="439852"/>
                  </a:lnTo>
                  <a:lnTo>
                    <a:pt x="3348689" y="440076"/>
                  </a:lnTo>
                  <a:lnTo>
                    <a:pt x="3347556" y="440187"/>
                  </a:lnTo>
                  <a:lnTo>
                    <a:pt x="3346412" y="440187"/>
                  </a:lnTo>
                  <a:lnTo>
                    <a:pt x="17410" y="440187"/>
                  </a:lnTo>
                  <a:lnTo>
                    <a:pt x="16267" y="440187"/>
                  </a:lnTo>
                  <a:lnTo>
                    <a:pt x="15133" y="440076"/>
                  </a:lnTo>
                  <a:lnTo>
                    <a:pt x="14013" y="439852"/>
                  </a:lnTo>
                  <a:lnTo>
                    <a:pt x="12893" y="439629"/>
                  </a:lnTo>
                  <a:lnTo>
                    <a:pt x="11802" y="439297"/>
                  </a:lnTo>
                  <a:lnTo>
                    <a:pt x="10748" y="438860"/>
                  </a:lnTo>
                  <a:lnTo>
                    <a:pt x="9690" y="438423"/>
                  </a:lnTo>
                  <a:lnTo>
                    <a:pt x="8688" y="437888"/>
                  </a:lnTo>
                  <a:lnTo>
                    <a:pt x="7736" y="437251"/>
                  </a:lnTo>
                  <a:lnTo>
                    <a:pt x="6786" y="436617"/>
                  </a:lnTo>
                  <a:lnTo>
                    <a:pt x="0" y="423920"/>
                  </a:lnTo>
                  <a:lnTo>
                    <a:pt x="0" y="422777"/>
                  </a:lnTo>
                  <a:close/>
                </a:path>
              </a:pathLst>
            </a:custGeom>
            <a:ln w="6569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92363" y="10101325"/>
              <a:ext cx="234950" cy="433705"/>
            </a:xfrm>
            <a:custGeom>
              <a:avLst/>
              <a:gdLst/>
              <a:ahLst/>
              <a:cxnLst/>
              <a:rect l="l" t="t" r="r" b="b"/>
              <a:pathLst>
                <a:path w="234950" h="433704">
                  <a:moveTo>
                    <a:pt x="234876" y="433617"/>
                  </a:moveTo>
                  <a:lnTo>
                    <a:pt x="12252" y="433617"/>
                  </a:lnTo>
                  <a:lnTo>
                    <a:pt x="10449" y="433259"/>
                  </a:lnTo>
                  <a:lnTo>
                    <a:pt x="0" y="421364"/>
                  </a:lnTo>
                  <a:lnTo>
                    <a:pt x="0" y="419492"/>
                  </a:lnTo>
                  <a:lnTo>
                    <a:pt x="0" y="12252"/>
                  </a:lnTo>
                  <a:lnTo>
                    <a:pt x="12252" y="0"/>
                  </a:lnTo>
                  <a:lnTo>
                    <a:pt x="234876" y="0"/>
                  </a:lnTo>
                  <a:lnTo>
                    <a:pt x="234876" y="433617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25597" y="10101324"/>
              <a:ext cx="3810" cy="433705"/>
            </a:xfrm>
            <a:custGeom>
              <a:avLst/>
              <a:gdLst/>
              <a:ahLst/>
              <a:cxnLst/>
              <a:rect l="l" t="t" r="r" b="b"/>
              <a:pathLst>
                <a:path w="3809" h="433704">
                  <a:moveTo>
                    <a:pt x="3284" y="433617"/>
                  </a:moveTo>
                  <a:lnTo>
                    <a:pt x="0" y="433617"/>
                  </a:lnTo>
                  <a:lnTo>
                    <a:pt x="0" y="0"/>
                  </a:lnTo>
                  <a:lnTo>
                    <a:pt x="3284" y="0"/>
                  </a:lnTo>
                  <a:lnTo>
                    <a:pt x="3284" y="433617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369538" y="10246304"/>
            <a:ext cx="793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5">
                <a:solidFill>
                  <a:srgbClr val="3B3838"/>
                </a:solidFill>
                <a:latin typeface="Trebuchet MS"/>
                <a:cs typeface="Trebuchet MS"/>
              </a:rPr>
              <a:t>6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75313" y="10146112"/>
            <a:ext cx="2968625" cy="325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Testing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4100"/>
              </a:lnSpc>
              <a:spcBef>
                <a:spcPts val="21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corrected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teзted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development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environment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firзt.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teзt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10">
                <a:solidFill>
                  <a:srgbClr val="3B3838"/>
                </a:solidFill>
                <a:latin typeface="Roboto"/>
                <a:cs typeface="Roboto"/>
              </a:rPr>
              <a:t>₹1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made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confirm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accepted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created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correctly.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85793" y="10600642"/>
            <a:ext cx="3370579" cy="450215"/>
            <a:chOff x="285793" y="10600642"/>
            <a:chExt cx="3370579" cy="450215"/>
          </a:xfrm>
        </p:grpSpPr>
        <p:sp>
          <p:nvSpPr>
            <p:cNvPr id="52" name="object 52"/>
            <p:cNvSpPr/>
            <p:nvPr/>
          </p:nvSpPr>
          <p:spPr>
            <a:xfrm>
              <a:off x="289078" y="10603927"/>
              <a:ext cx="3364229" cy="443865"/>
            </a:xfrm>
            <a:custGeom>
              <a:avLst/>
              <a:gdLst/>
              <a:ahLst/>
              <a:cxnLst/>
              <a:rect l="l" t="t" r="r" b="b"/>
              <a:pathLst>
                <a:path w="3364229" h="443865">
                  <a:moveTo>
                    <a:pt x="0" y="426062"/>
                  </a:moveTo>
                  <a:lnTo>
                    <a:pt x="0" y="17410"/>
                  </a:lnTo>
                  <a:lnTo>
                    <a:pt x="0" y="16267"/>
                  </a:lnTo>
                  <a:lnTo>
                    <a:pt x="111" y="15133"/>
                  </a:lnTo>
                  <a:lnTo>
                    <a:pt x="335" y="14013"/>
                  </a:lnTo>
                  <a:lnTo>
                    <a:pt x="558" y="12890"/>
                  </a:lnTo>
                  <a:lnTo>
                    <a:pt x="886" y="11802"/>
                  </a:lnTo>
                  <a:lnTo>
                    <a:pt x="5098" y="5098"/>
                  </a:lnTo>
                  <a:lnTo>
                    <a:pt x="5906" y="4290"/>
                  </a:lnTo>
                  <a:lnTo>
                    <a:pt x="10748" y="1323"/>
                  </a:lnTo>
                  <a:lnTo>
                    <a:pt x="11802" y="886"/>
                  </a:lnTo>
                  <a:lnTo>
                    <a:pt x="12893" y="558"/>
                  </a:lnTo>
                  <a:lnTo>
                    <a:pt x="14013" y="335"/>
                  </a:lnTo>
                  <a:lnTo>
                    <a:pt x="15133" y="111"/>
                  </a:lnTo>
                  <a:lnTo>
                    <a:pt x="16267" y="0"/>
                  </a:lnTo>
                  <a:lnTo>
                    <a:pt x="17410" y="0"/>
                  </a:lnTo>
                  <a:lnTo>
                    <a:pt x="3346412" y="0"/>
                  </a:lnTo>
                  <a:lnTo>
                    <a:pt x="3347556" y="0"/>
                  </a:lnTo>
                  <a:lnTo>
                    <a:pt x="3348689" y="111"/>
                  </a:lnTo>
                  <a:lnTo>
                    <a:pt x="3349809" y="335"/>
                  </a:lnTo>
                  <a:lnTo>
                    <a:pt x="3350929" y="558"/>
                  </a:lnTo>
                  <a:lnTo>
                    <a:pt x="3352020" y="886"/>
                  </a:lnTo>
                  <a:lnTo>
                    <a:pt x="3353074" y="1323"/>
                  </a:lnTo>
                  <a:lnTo>
                    <a:pt x="3354132" y="1760"/>
                  </a:lnTo>
                  <a:lnTo>
                    <a:pt x="3362496" y="10748"/>
                  </a:lnTo>
                  <a:lnTo>
                    <a:pt x="3362936" y="11802"/>
                  </a:lnTo>
                  <a:lnTo>
                    <a:pt x="3363264" y="12890"/>
                  </a:lnTo>
                  <a:lnTo>
                    <a:pt x="3363488" y="14013"/>
                  </a:lnTo>
                  <a:lnTo>
                    <a:pt x="3363711" y="15133"/>
                  </a:lnTo>
                  <a:lnTo>
                    <a:pt x="3363823" y="16267"/>
                  </a:lnTo>
                  <a:lnTo>
                    <a:pt x="3363823" y="17410"/>
                  </a:lnTo>
                  <a:lnTo>
                    <a:pt x="3363823" y="426062"/>
                  </a:lnTo>
                  <a:lnTo>
                    <a:pt x="3363823" y="427205"/>
                  </a:lnTo>
                  <a:lnTo>
                    <a:pt x="3363711" y="428338"/>
                  </a:lnTo>
                  <a:lnTo>
                    <a:pt x="3363488" y="429459"/>
                  </a:lnTo>
                  <a:lnTo>
                    <a:pt x="3363264" y="430579"/>
                  </a:lnTo>
                  <a:lnTo>
                    <a:pt x="3362936" y="431669"/>
                  </a:lnTo>
                  <a:lnTo>
                    <a:pt x="3362496" y="432724"/>
                  </a:lnTo>
                  <a:lnTo>
                    <a:pt x="3362059" y="433782"/>
                  </a:lnTo>
                  <a:lnTo>
                    <a:pt x="3356083" y="440536"/>
                  </a:lnTo>
                  <a:lnTo>
                    <a:pt x="3355134" y="441173"/>
                  </a:lnTo>
                  <a:lnTo>
                    <a:pt x="3354132" y="441708"/>
                  </a:lnTo>
                  <a:lnTo>
                    <a:pt x="3353074" y="442145"/>
                  </a:lnTo>
                  <a:lnTo>
                    <a:pt x="3352020" y="442585"/>
                  </a:lnTo>
                  <a:lnTo>
                    <a:pt x="3350929" y="442914"/>
                  </a:lnTo>
                  <a:lnTo>
                    <a:pt x="3349809" y="443137"/>
                  </a:lnTo>
                  <a:lnTo>
                    <a:pt x="3348689" y="443361"/>
                  </a:lnTo>
                  <a:lnTo>
                    <a:pt x="3347556" y="443472"/>
                  </a:lnTo>
                  <a:lnTo>
                    <a:pt x="3346412" y="443472"/>
                  </a:lnTo>
                  <a:lnTo>
                    <a:pt x="17410" y="443472"/>
                  </a:lnTo>
                  <a:lnTo>
                    <a:pt x="16267" y="443472"/>
                  </a:lnTo>
                  <a:lnTo>
                    <a:pt x="15133" y="443361"/>
                  </a:lnTo>
                  <a:lnTo>
                    <a:pt x="14013" y="443137"/>
                  </a:lnTo>
                  <a:lnTo>
                    <a:pt x="12893" y="442914"/>
                  </a:lnTo>
                  <a:lnTo>
                    <a:pt x="11802" y="442585"/>
                  </a:lnTo>
                  <a:lnTo>
                    <a:pt x="10748" y="442145"/>
                  </a:lnTo>
                  <a:lnTo>
                    <a:pt x="9690" y="441708"/>
                  </a:lnTo>
                  <a:lnTo>
                    <a:pt x="8688" y="441173"/>
                  </a:lnTo>
                  <a:lnTo>
                    <a:pt x="7736" y="440536"/>
                  </a:lnTo>
                  <a:lnTo>
                    <a:pt x="6786" y="439902"/>
                  </a:lnTo>
                  <a:lnTo>
                    <a:pt x="0" y="427205"/>
                  </a:lnTo>
                  <a:lnTo>
                    <a:pt x="0" y="426062"/>
                  </a:lnTo>
                  <a:close/>
                </a:path>
              </a:pathLst>
            </a:custGeom>
            <a:ln w="6569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92363" y="10607212"/>
              <a:ext cx="234950" cy="437515"/>
            </a:xfrm>
            <a:custGeom>
              <a:avLst/>
              <a:gdLst/>
              <a:ahLst/>
              <a:cxnLst/>
              <a:rect l="l" t="t" r="r" b="b"/>
              <a:pathLst>
                <a:path w="234950" h="437515">
                  <a:moveTo>
                    <a:pt x="234876" y="436902"/>
                  </a:moveTo>
                  <a:lnTo>
                    <a:pt x="12252" y="436902"/>
                  </a:lnTo>
                  <a:lnTo>
                    <a:pt x="10449" y="436544"/>
                  </a:lnTo>
                  <a:lnTo>
                    <a:pt x="0" y="424649"/>
                  </a:lnTo>
                  <a:lnTo>
                    <a:pt x="0" y="422777"/>
                  </a:lnTo>
                  <a:lnTo>
                    <a:pt x="0" y="12252"/>
                  </a:lnTo>
                  <a:lnTo>
                    <a:pt x="12252" y="0"/>
                  </a:lnTo>
                  <a:lnTo>
                    <a:pt x="234876" y="0"/>
                  </a:lnTo>
                  <a:lnTo>
                    <a:pt x="234876" y="436902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25597" y="10607212"/>
              <a:ext cx="3810" cy="437515"/>
            </a:xfrm>
            <a:custGeom>
              <a:avLst/>
              <a:gdLst/>
              <a:ahLst/>
              <a:cxnLst/>
              <a:rect l="l" t="t" r="r" b="b"/>
              <a:pathLst>
                <a:path w="3809" h="437515">
                  <a:moveTo>
                    <a:pt x="3284" y="436902"/>
                  </a:moveTo>
                  <a:lnTo>
                    <a:pt x="0" y="436902"/>
                  </a:lnTo>
                  <a:lnTo>
                    <a:pt x="0" y="0"/>
                  </a:lnTo>
                  <a:lnTo>
                    <a:pt x="3284" y="0"/>
                  </a:lnTo>
                  <a:lnTo>
                    <a:pt x="3284" y="436902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372515" y="10755476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3B3838"/>
                </a:solidFill>
                <a:latin typeface="Trebuchet MS"/>
                <a:cs typeface="Trebuchet MS"/>
              </a:rPr>
              <a:t>7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75310" y="10652000"/>
            <a:ext cx="3009265" cy="3282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>
                <a:solidFill>
                  <a:srgbClr val="3B3838"/>
                </a:solidFill>
                <a:latin typeface="Trebuchet MS"/>
                <a:cs typeface="Trebuchet MS"/>
              </a:rPr>
              <a:t>Final</a:t>
            </a:r>
            <a:r>
              <a:rPr dirty="0" sz="550" spc="2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Verification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8900"/>
              </a:lnSpc>
              <a:spcBef>
                <a:spcPts val="18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finance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team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retrieз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original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₹50,000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poзting.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tranзaction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completeз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зucceззfully.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created,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correзponding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document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зhowз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expenзe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aззigned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correct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production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centre.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85793" y="11109815"/>
            <a:ext cx="3370579" cy="447040"/>
            <a:chOff x="285793" y="11109815"/>
            <a:chExt cx="3370579" cy="447040"/>
          </a:xfrm>
        </p:grpSpPr>
        <p:sp>
          <p:nvSpPr>
            <p:cNvPr id="58" name="object 58"/>
            <p:cNvSpPr/>
            <p:nvPr/>
          </p:nvSpPr>
          <p:spPr>
            <a:xfrm>
              <a:off x="289078" y="11113100"/>
              <a:ext cx="3364229" cy="440690"/>
            </a:xfrm>
            <a:custGeom>
              <a:avLst/>
              <a:gdLst/>
              <a:ahLst/>
              <a:cxnLst/>
              <a:rect l="l" t="t" r="r" b="b"/>
              <a:pathLst>
                <a:path w="3364229" h="440690">
                  <a:moveTo>
                    <a:pt x="0" y="422777"/>
                  </a:moveTo>
                  <a:lnTo>
                    <a:pt x="0" y="17410"/>
                  </a:lnTo>
                  <a:lnTo>
                    <a:pt x="0" y="16267"/>
                  </a:lnTo>
                  <a:lnTo>
                    <a:pt x="111" y="15133"/>
                  </a:lnTo>
                  <a:lnTo>
                    <a:pt x="335" y="14013"/>
                  </a:lnTo>
                  <a:lnTo>
                    <a:pt x="558" y="12890"/>
                  </a:lnTo>
                  <a:lnTo>
                    <a:pt x="886" y="11802"/>
                  </a:lnTo>
                  <a:lnTo>
                    <a:pt x="5098" y="5098"/>
                  </a:lnTo>
                  <a:lnTo>
                    <a:pt x="5906" y="4290"/>
                  </a:lnTo>
                  <a:lnTo>
                    <a:pt x="10748" y="1323"/>
                  </a:lnTo>
                  <a:lnTo>
                    <a:pt x="11802" y="886"/>
                  </a:lnTo>
                  <a:lnTo>
                    <a:pt x="12893" y="558"/>
                  </a:lnTo>
                  <a:lnTo>
                    <a:pt x="14013" y="335"/>
                  </a:lnTo>
                  <a:lnTo>
                    <a:pt x="15133" y="111"/>
                  </a:lnTo>
                  <a:lnTo>
                    <a:pt x="16267" y="0"/>
                  </a:lnTo>
                  <a:lnTo>
                    <a:pt x="17410" y="0"/>
                  </a:lnTo>
                  <a:lnTo>
                    <a:pt x="3346412" y="0"/>
                  </a:lnTo>
                  <a:lnTo>
                    <a:pt x="3347556" y="0"/>
                  </a:lnTo>
                  <a:lnTo>
                    <a:pt x="3348689" y="111"/>
                  </a:lnTo>
                  <a:lnTo>
                    <a:pt x="3349809" y="335"/>
                  </a:lnTo>
                  <a:lnTo>
                    <a:pt x="3350929" y="555"/>
                  </a:lnTo>
                  <a:lnTo>
                    <a:pt x="3352020" y="886"/>
                  </a:lnTo>
                  <a:lnTo>
                    <a:pt x="3353074" y="1323"/>
                  </a:lnTo>
                  <a:lnTo>
                    <a:pt x="3354132" y="1760"/>
                  </a:lnTo>
                  <a:lnTo>
                    <a:pt x="3355134" y="2296"/>
                  </a:lnTo>
                  <a:lnTo>
                    <a:pt x="3356087" y="2933"/>
                  </a:lnTo>
                  <a:lnTo>
                    <a:pt x="3357036" y="3567"/>
                  </a:lnTo>
                  <a:lnTo>
                    <a:pt x="3362496" y="10748"/>
                  </a:lnTo>
                  <a:lnTo>
                    <a:pt x="3362936" y="11802"/>
                  </a:lnTo>
                  <a:lnTo>
                    <a:pt x="3363264" y="12890"/>
                  </a:lnTo>
                  <a:lnTo>
                    <a:pt x="3363488" y="14013"/>
                  </a:lnTo>
                  <a:lnTo>
                    <a:pt x="3363711" y="15133"/>
                  </a:lnTo>
                  <a:lnTo>
                    <a:pt x="3363823" y="16267"/>
                  </a:lnTo>
                  <a:lnTo>
                    <a:pt x="3363823" y="17410"/>
                  </a:lnTo>
                  <a:lnTo>
                    <a:pt x="3363823" y="422777"/>
                  </a:lnTo>
                  <a:lnTo>
                    <a:pt x="3363823" y="423920"/>
                  </a:lnTo>
                  <a:lnTo>
                    <a:pt x="3363711" y="425053"/>
                  </a:lnTo>
                  <a:lnTo>
                    <a:pt x="3363488" y="426174"/>
                  </a:lnTo>
                  <a:lnTo>
                    <a:pt x="3363264" y="427294"/>
                  </a:lnTo>
                  <a:lnTo>
                    <a:pt x="3362936" y="428381"/>
                  </a:lnTo>
                  <a:lnTo>
                    <a:pt x="3362496" y="429439"/>
                  </a:lnTo>
                  <a:lnTo>
                    <a:pt x="3362059" y="430493"/>
                  </a:lnTo>
                  <a:lnTo>
                    <a:pt x="3353074" y="438860"/>
                  </a:lnTo>
                  <a:lnTo>
                    <a:pt x="3352020" y="439297"/>
                  </a:lnTo>
                  <a:lnTo>
                    <a:pt x="3350929" y="439629"/>
                  </a:lnTo>
                  <a:lnTo>
                    <a:pt x="3349809" y="439852"/>
                  </a:lnTo>
                  <a:lnTo>
                    <a:pt x="3348689" y="440076"/>
                  </a:lnTo>
                  <a:lnTo>
                    <a:pt x="3347556" y="440187"/>
                  </a:lnTo>
                  <a:lnTo>
                    <a:pt x="3346412" y="440187"/>
                  </a:lnTo>
                  <a:lnTo>
                    <a:pt x="17410" y="440187"/>
                  </a:lnTo>
                  <a:lnTo>
                    <a:pt x="16267" y="440187"/>
                  </a:lnTo>
                  <a:lnTo>
                    <a:pt x="15133" y="440076"/>
                  </a:lnTo>
                  <a:lnTo>
                    <a:pt x="14013" y="439852"/>
                  </a:lnTo>
                  <a:lnTo>
                    <a:pt x="12893" y="439629"/>
                  </a:lnTo>
                  <a:lnTo>
                    <a:pt x="11802" y="439297"/>
                  </a:lnTo>
                  <a:lnTo>
                    <a:pt x="10748" y="438860"/>
                  </a:lnTo>
                  <a:lnTo>
                    <a:pt x="9690" y="438423"/>
                  </a:lnTo>
                  <a:lnTo>
                    <a:pt x="8688" y="437888"/>
                  </a:lnTo>
                  <a:lnTo>
                    <a:pt x="7736" y="437251"/>
                  </a:lnTo>
                  <a:lnTo>
                    <a:pt x="6786" y="436617"/>
                  </a:lnTo>
                  <a:lnTo>
                    <a:pt x="0" y="423920"/>
                  </a:lnTo>
                  <a:lnTo>
                    <a:pt x="0" y="422777"/>
                  </a:lnTo>
                  <a:close/>
                </a:path>
              </a:pathLst>
            </a:custGeom>
            <a:ln w="6569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92363" y="11116385"/>
              <a:ext cx="234950" cy="433705"/>
            </a:xfrm>
            <a:custGeom>
              <a:avLst/>
              <a:gdLst/>
              <a:ahLst/>
              <a:cxnLst/>
              <a:rect l="l" t="t" r="r" b="b"/>
              <a:pathLst>
                <a:path w="234950" h="433704">
                  <a:moveTo>
                    <a:pt x="234876" y="433617"/>
                  </a:moveTo>
                  <a:lnTo>
                    <a:pt x="12252" y="433617"/>
                  </a:lnTo>
                  <a:lnTo>
                    <a:pt x="10449" y="433259"/>
                  </a:lnTo>
                  <a:lnTo>
                    <a:pt x="0" y="421364"/>
                  </a:lnTo>
                  <a:lnTo>
                    <a:pt x="0" y="419492"/>
                  </a:lnTo>
                  <a:lnTo>
                    <a:pt x="0" y="12252"/>
                  </a:lnTo>
                  <a:lnTo>
                    <a:pt x="12252" y="0"/>
                  </a:lnTo>
                  <a:lnTo>
                    <a:pt x="234876" y="0"/>
                  </a:lnTo>
                  <a:lnTo>
                    <a:pt x="234876" y="433617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25597" y="11116385"/>
              <a:ext cx="3810" cy="433705"/>
            </a:xfrm>
            <a:custGeom>
              <a:avLst/>
              <a:gdLst/>
              <a:ahLst/>
              <a:cxnLst/>
              <a:rect l="l" t="t" r="r" b="b"/>
              <a:pathLst>
                <a:path w="3809" h="433704">
                  <a:moveTo>
                    <a:pt x="3284" y="433617"/>
                  </a:moveTo>
                  <a:lnTo>
                    <a:pt x="0" y="433617"/>
                  </a:lnTo>
                  <a:lnTo>
                    <a:pt x="0" y="0"/>
                  </a:lnTo>
                  <a:lnTo>
                    <a:pt x="3284" y="0"/>
                  </a:lnTo>
                  <a:lnTo>
                    <a:pt x="3284" y="433617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369949" y="11261363"/>
            <a:ext cx="781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3B3838"/>
                </a:solidFill>
                <a:latin typeface="Trebuchet MS"/>
                <a:cs typeface="Trebuchet MS"/>
              </a:rPr>
              <a:t>8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75313" y="11161172"/>
            <a:ext cx="2886710" cy="325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Prevention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4100"/>
              </a:lnSpc>
              <a:spcBef>
                <a:spcPts val="21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validity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dateз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reviewed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quarterly.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зtatuз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groupз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audited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enзure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all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required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aззignmentз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mandatory.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Uзerз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reminded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verify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detailз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poзting.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269245" y="12012033"/>
            <a:ext cx="1433195" cy="845185"/>
            <a:chOff x="1269245" y="12012033"/>
            <a:chExt cx="1433195" cy="845185"/>
          </a:xfrm>
        </p:grpSpPr>
        <p:sp>
          <p:nvSpPr>
            <p:cNvPr id="64" name="object 64"/>
            <p:cNvSpPr/>
            <p:nvPr/>
          </p:nvSpPr>
          <p:spPr>
            <a:xfrm>
              <a:off x="1271091" y="1201389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40">
                  <a:moveTo>
                    <a:pt x="274024" y="548041"/>
                  </a:moveTo>
                  <a:lnTo>
                    <a:pt x="0" y="274020"/>
                  </a:lnTo>
                  <a:lnTo>
                    <a:pt x="274024" y="0"/>
                  </a:lnTo>
                  <a:lnTo>
                    <a:pt x="548044" y="274020"/>
                  </a:lnTo>
                  <a:lnTo>
                    <a:pt x="274024" y="548041"/>
                  </a:lnTo>
                  <a:close/>
                </a:path>
              </a:pathLst>
            </a:custGeom>
            <a:solidFill>
              <a:srgbClr val="343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271093" y="1201389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40">
                  <a:moveTo>
                    <a:pt x="548043" y="274020"/>
                  </a:moveTo>
                  <a:lnTo>
                    <a:pt x="274023" y="0"/>
                  </a:lnTo>
                  <a:lnTo>
                    <a:pt x="0" y="274020"/>
                  </a:lnTo>
                  <a:lnTo>
                    <a:pt x="274023" y="548040"/>
                  </a:lnTo>
                </a:path>
              </a:pathLst>
            </a:custGeom>
            <a:ln w="369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565617" y="12307095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40">
                  <a:moveTo>
                    <a:pt x="274024" y="548041"/>
                  </a:moveTo>
                  <a:lnTo>
                    <a:pt x="0" y="274020"/>
                  </a:lnTo>
                  <a:lnTo>
                    <a:pt x="274024" y="0"/>
                  </a:lnTo>
                  <a:lnTo>
                    <a:pt x="548044" y="274020"/>
                  </a:lnTo>
                  <a:lnTo>
                    <a:pt x="274024" y="548041"/>
                  </a:lnTo>
                  <a:close/>
                </a:path>
              </a:pathLst>
            </a:custGeom>
            <a:solidFill>
              <a:srgbClr val="4747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565618" y="12307095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40">
                  <a:moveTo>
                    <a:pt x="548043" y="274020"/>
                  </a:moveTo>
                  <a:lnTo>
                    <a:pt x="274020" y="0"/>
                  </a:lnTo>
                  <a:lnTo>
                    <a:pt x="0" y="274020"/>
                  </a:lnTo>
                  <a:lnTo>
                    <a:pt x="274020" y="548040"/>
                  </a:lnTo>
                </a:path>
              </a:pathLst>
            </a:custGeom>
            <a:ln w="369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152046" y="12307095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40">
                  <a:moveTo>
                    <a:pt x="274024" y="548041"/>
                  </a:moveTo>
                  <a:lnTo>
                    <a:pt x="0" y="274020"/>
                  </a:lnTo>
                  <a:lnTo>
                    <a:pt x="274024" y="0"/>
                  </a:lnTo>
                  <a:lnTo>
                    <a:pt x="548044" y="274020"/>
                  </a:lnTo>
                  <a:lnTo>
                    <a:pt x="274024" y="548041"/>
                  </a:lnTo>
                  <a:close/>
                </a:path>
              </a:pathLst>
            </a:custGeom>
            <a:solidFill>
              <a:srgbClr val="5B5B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152047" y="12307095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40">
                  <a:moveTo>
                    <a:pt x="548043" y="274020"/>
                  </a:moveTo>
                  <a:lnTo>
                    <a:pt x="274023" y="0"/>
                  </a:lnTo>
                  <a:lnTo>
                    <a:pt x="0" y="274020"/>
                  </a:lnTo>
                  <a:lnTo>
                    <a:pt x="274023" y="548040"/>
                  </a:lnTo>
                </a:path>
              </a:pathLst>
            </a:custGeom>
            <a:ln w="369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858838" y="1201388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40">
                  <a:moveTo>
                    <a:pt x="274024" y="548041"/>
                  </a:moveTo>
                  <a:lnTo>
                    <a:pt x="0" y="274020"/>
                  </a:lnTo>
                  <a:lnTo>
                    <a:pt x="274024" y="0"/>
                  </a:lnTo>
                  <a:lnTo>
                    <a:pt x="548044" y="274020"/>
                  </a:lnTo>
                  <a:lnTo>
                    <a:pt x="274024" y="548041"/>
                  </a:lnTo>
                  <a:close/>
                </a:path>
              </a:pathLst>
            </a:custGeom>
            <a:solidFill>
              <a:srgbClr val="7070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858839" y="1201388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40">
                  <a:moveTo>
                    <a:pt x="548043" y="274020"/>
                  </a:moveTo>
                  <a:lnTo>
                    <a:pt x="274023" y="0"/>
                  </a:lnTo>
                  <a:lnTo>
                    <a:pt x="0" y="274020"/>
                  </a:lnTo>
                  <a:lnTo>
                    <a:pt x="274023" y="548040"/>
                  </a:lnTo>
                </a:path>
              </a:pathLst>
            </a:custGeom>
            <a:ln w="3695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959555" y="12732925"/>
            <a:ext cx="673100" cy="33147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600">
                <a:solidFill>
                  <a:srgbClr val="1B1B27"/>
                </a:solidFill>
                <a:latin typeface="Trebuchet MS"/>
                <a:cs typeface="Trebuchet MS"/>
              </a:rPr>
              <a:t>Problem</a:t>
            </a:r>
            <a:r>
              <a:rPr dirty="0" sz="600" spc="8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1B1B27"/>
                </a:solidFill>
                <a:latin typeface="Trebuchet MS"/>
                <a:cs typeface="Trebuchet MS"/>
              </a:rPr>
              <a:t>Identified</a:t>
            </a:r>
            <a:endParaRPr sz="6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250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45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blocked</a:t>
            </a:r>
            <a:r>
              <a:rPr dirty="0" sz="450" spc="8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during</a:t>
            </a:r>
            <a:endParaRPr sz="45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70"/>
              </a:spcBef>
            </a:pP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tranзaction.</a:t>
            </a:r>
            <a:endParaRPr sz="450">
              <a:latin typeface="Roboto"/>
              <a:cs typeface="Roboto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03092" y="11762251"/>
            <a:ext cx="633095" cy="33147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57480">
              <a:lnSpc>
                <a:spcPct val="100000"/>
              </a:lnSpc>
              <a:spcBef>
                <a:spcPts val="380"/>
              </a:spcBef>
            </a:pPr>
            <a:r>
              <a:rPr dirty="0" sz="600" spc="10">
                <a:solidFill>
                  <a:srgbClr val="1B1B27"/>
                </a:solidFill>
                <a:latin typeface="Trebuchet MS"/>
                <a:cs typeface="Trebuchet MS"/>
              </a:rPr>
              <a:t>Cause</a:t>
            </a:r>
            <a:r>
              <a:rPr dirty="0" sz="600" spc="7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1B1B27"/>
                </a:solidFill>
                <a:latin typeface="Trebuchet MS"/>
                <a:cs typeface="Trebuchet MS"/>
              </a:rPr>
              <a:t>Found</a:t>
            </a:r>
            <a:endParaRPr sz="6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250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</a:t>
            </a:r>
            <a:r>
              <a:rPr dirty="0" sz="45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flagged</a:t>
            </a:r>
            <a:r>
              <a:rPr dirty="0" sz="450" spc="7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aз</a:t>
            </a:r>
            <a:endParaRPr sz="45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70"/>
              </a:spcBef>
            </a:pP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invalid.</a:t>
            </a:r>
            <a:endParaRPr sz="450">
              <a:latin typeface="Roboto"/>
              <a:cs typeface="Roboto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318353" y="11762251"/>
            <a:ext cx="832485" cy="33147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600">
                <a:solidFill>
                  <a:srgbClr val="1B1B27"/>
                </a:solidFill>
                <a:latin typeface="Trebuchet MS"/>
                <a:cs typeface="Trebuchet MS"/>
              </a:rPr>
              <a:t>Correction</a:t>
            </a:r>
            <a:r>
              <a:rPr dirty="0" sz="600" spc="-3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1B1B27"/>
                </a:solidFill>
                <a:latin typeface="Trebuchet MS"/>
                <a:cs typeface="Trebuchet MS"/>
              </a:rPr>
              <a:t>Applied</a:t>
            </a:r>
            <a:endParaRPr sz="600">
              <a:latin typeface="Trebuchet MS"/>
              <a:cs typeface="Trebuchet MS"/>
            </a:endParaRPr>
          </a:p>
          <a:p>
            <a:pPr marL="12700" marR="5080">
              <a:lnSpc>
                <a:spcPct val="112999"/>
              </a:lnSpc>
              <a:spcBef>
                <a:spcPts val="180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Extended</a:t>
            </a:r>
            <a:r>
              <a:rPr dirty="0" sz="45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validity</a:t>
            </a:r>
            <a:r>
              <a:rPr dirty="0" sz="45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6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updated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45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зtatuз.</a:t>
            </a:r>
            <a:endParaRPr sz="450">
              <a:latin typeface="Roboto"/>
              <a:cs typeface="Roboto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604836" y="12732925"/>
            <a:ext cx="655955" cy="33147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600">
                <a:solidFill>
                  <a:srgbClr val="1B1B27"/>
                </a:solidFill>
                <a:latin typeface="Trebuchet MS"/>
                <a:cs typeface="Trebuchet MS"/>
              </a:rPr>
              <a:t>Result</a:t>
            </a:r>
            <a:r>
              <a:rPr dirty="0" sz="600" spc="3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1B1B27"/>
                </a:solidFill>
                <a:latin typeface="Trebuchet MS"/>
                <a:cs typeface="Trebuchet MS"/>
              </a:rPr>
              <a:t>Verified</a:t>
            </a:r>
            <a:endParaRPr sz="600">
              <a:latin typeface="Trebuchet MS"/>
              <a:cs typeface="Trebuchet MS"/>
            </a:endParaRPr>
          </a:p>
          <a:p>
            <a:pPr marL="12700" marR="5080">
              <a:lnSpc>
                <a:spcPct val="112999"/>
              </a:lnSpc>
              <a:spcBef>
                <a:spcPts val="180"/>
              </a:spcBef>
            </a:pP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зucceeded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documented.</a:t>
            </a:r>
            <a:endParaRPr sz="450">
              <a:latin typeface="Roboto"/>
              <a:cs typeface="Roboto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73093" y="13321048"/>
            <a:ext cx="3355340" cy="4381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>
                <a:solidFill>
                  <a:srgbClr val="1B1B27"/>
                </a:solidFill>
                <a:latin typeface="Trebuchet MS"/>
                <a:cs typeface="Trebuchet MS"/>
              </a:rPr>
              <a:t>Best</a:t>
            </a:r>
            <a:r>
              <a:rPr dirty="0" sz="900" spc="5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1B1B27"/>
                </a:solidFill>
                <a:latin typeface="Trebuchet MS"/>
                <a:cs typeface="Trebuchet MS"/>
              </a:rPr>
              <a:t>Practices</a:t>
            </a:r>
            <a:r>
              <a:rPr dirty="0" sz="900" spc="5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1B1B27"/>
                </a:solidFill>
                <a:latin typeface="Trebuchet MS"/>
                <a:cs typeface="Trebuchet MS"/>
              </a:rPr>
              <a:t>for</a:t>
            </a:r>
            <a:r>
              <a:rPr dirty="0" sz="900" spc="2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900" spc="95">
                <a:solidFill>
                  <a:srgbClr val="1B1B27"/>
                </a:solidFill>
                <a:latin typeface="Trebuchet MS"/>
                <a:cs typeface="Trebuchet MS"/>
              </a:rPr>
              <a:t>SAP</a:t>
            </a:r>
            <a:r>
              <a:rPr dirty="0" sz="900" spc="2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900" spc="55">
                <a:solidFill>
                  <a:srgbClr val="1B1B27"/>
                </a:solidFill>
                <a:latin typeface="Trebuchet MS"/>
                <a:cs typeface="Trebuchet MS"/>
              </a:rPr>
              <a:t>FICO</a:t>
            </a:r>
            <a:r>
              <a:rPr dirty="0" sz="900" spc="15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1B1B27"/>
                </a:solidFill>
                <a:latin typeface="Trebuchet MS"/>
                <a:cs typeface="Trebuchet MS"/>
              </a:rPr>
              <a:t>Troubleshooting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38900"/>
              </a:lnSpc>
              <a:spcBef>
                <a:spcPts val="63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following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beзt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practiceз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were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identified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through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reзearch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зtudy.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repreзent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diзciplined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handling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iззueз.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85793" y="13829782"/>
            <a:ext cx="1656080" cy="535940"/>
            <a:chOff x="285793" y="13829782"/>
            <a:chExt cx="1656080" cy="535940"/>
          </a:xfrm>
        </p:grpSpPr>
        <p:sp>
          <p:nvSpPr>
            <p:cNvPr id="78" name="object 78"/>
            <p:cNvSpPr/>
            <p:nvPr/>
          </p:nvSpPr>
          <p:spPr>
            <a:xfrm>
              <a:off x="287436" y="13831424"/>
              <a:ext cx="1652905" cy="532765"/>
            </a:xfrm>
            <a:custGeom>
              <a:avLst/>
              <a:gdLst/>
              <a:ahLst/>
              <a:cxnLst/>
              <a:rect l="l" t="t" r="r" b="b"/>
              <a:pathLst>
                <a:path w="1652905" h="532765">
                  <a:moveTo>
                    <a:pt x="1634545" y="532167"/>
                  </a:moveTo>
                  <a:lnTo>
                    <a:pt x="17801" y="532167"/>
                  </a:lnTo>
                  <a:lnTo>
                    <a:pt x="16562" y="532045"/>
                  </a:lnTo>
                  <a:lnTo>
                    <a:pt x="0" y="514366"/>
                  </a:lnTo>
                  <a:lnTo>
                    <a:pt x="0" y="513114"/>
                  </a:lnTo>
                  <a:lnTo>
                    <a:pt x="0" y="17801"/>
                  </a:lnTo>
                  <a:lnTo>
                    <a:pt x="17801" y="0"/>
                  </a:lnTo>
                  <a:lnTo>
                    <a:pt x="1634545" y="0"/>
                  </a:lnTo>
                  <a:lnTo>
                    <a:pt x="1652346" y="17801"/>
                  </a:lnTo>
                  <a:lnTo>
                    <a:pt x="1652346" y="514366"/>
                  </a:lnTo>
                  <a:lnTo>
                    <a:pt x="1635783" y="532045"/>
                  </a:lnTo>
                  <a:lnTo>
                    <a:pt x="1634545" y="532167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87436" y="13831424"/>
              <a:ext cx="1652905" cy="532765"/>
            </a:xfrm>
            <a:custGeom>
              <a:avLst/>
              <a:gdLst/>
              <a:ahLst/>
              <a:cxnLst/>
              <a:rect l="l" t="t" r="r" b="b"/>
              <a:pathLst>
                <a:path w="1652905" h="532765">
                  <a:moveTo>
                    <a:pt x="0" y="513114"/>
                  </a:moveTo>
                  <a:lnTo>
                    <a:pt x="0" y="19052"/>
                  </a:lnTo>
                  <a:lnTo>
                    <a:pt x="0" y="17801"/>
                  </a:lnTo>
                  <a:lnTo>
                    <a:pt x="121" y="16559"/>
                  </a:lnTo>
                  <a:lnTo>
                    <a:pt x="5581" y="5577"/>
                  </a:lnTo>
                  <a:lnTo>
                    <a:pt x="6464" y="4694"/>
                  </a:lnTo>
                  <a:lnTo>
                    <a:pt x="11760" y="1448"/>
                  </a:lnTo>
                  <a:lnTo>
                    <a:pt x="12916" y="969"/>
                  </a:lnTo>
                  <a:lnTo>
                    <a:pt x="14109" y="607"/>
                  </a:lnTo>
                  <a:lnTo>
                    <a:pt x="15334" y="364"/>
                  </a:lnTo>
                  <a:lnTo>
                    <a:pt x="16562" y="121"/>
                  </a:lnTo>
                  <a:lnTo>
                    <a:pt x="17801" y="0"/>
                  </a:lnTo>
                  <a:lnTo>
                    <a:pt x="19052" y="0"/>
                  </a:lnTo>
                  <a:lnTo>
                    <a:pt x="1633293" y="0"/>
                  </a:lnTo>
                  <a:lnTo>
                    <a:pt x="1634545" y="0"/>
                  </a:lnTo>
                  <a:lnTo>
                    <a:pt x="1635783" y="121"/>
                  </a:lnTo>
                  <a:lnTo>
                    <a:pt x="1646765" y="5577"/>
                  </a:lnTo>
                  <a:lnTo>
                    <a:pt x="1647649" y="6461"/>
                  </a:lnTo>
                  <a:lnTo>
                    <a:pt x="1648440" y="7424"/>
                  </a:lnTo>
                  <a:lnTo>
                    <a:pt x="1649134" y="8465"/>
                  </a:lnTo>
                  <a:lnTo>
                    <a:pt x="1649830" y="9503"/>
                  </a:lnTo>
                  <a:lnTo>
                    <a:pt x="1650418" y="10600"/>
                  </a:lnTo>
                  <a:lnTo>
                    <a:pt x="1650894" y="11756"/>
                  </a:lnTo>
                  <a:lnTo>
                    <a:pt x="1651374" y="12913"/>
                  </a:lnTo>
                  <a:lnTo>
                    <a:pt x="1651735" y="14105"/>
                  </a:lnTo>
                  <a:lnTo>
                    <a:pt x="1651978" y="15331"/>
                  </a:lnTo>
                  <a:lnTo>
                    <a:pt x="1652225" y="16559"/>
                  </a:lnTo>
                  <a:lnTo>
                    <a:pt x="1652346" y="17801"/>
                  </a:lnTo>
                  <a:lnTo>
                    <a:pt x="1652346" y="19052"/>
                  </a:lnTo>
                  <a:lnTo>
                    <a:pt x="1652346" y="513114"/>
                  </a:lnTo>
                  <a:lnTo>
                    <a:pt x="1652346" y="514366"/>
                  </a:lnTo>
                  <a:lnTo>
                    <a:pt x="1652225" y="515604"/>
                  </a:lnTo>
                  <a:lnTo>
                    <a:pt x="1651978" y="516829"/>
                  </a:lnTo>
                  <a:lnTo>
                    <a:pt x="1651735" y="518058"/>
                  </a:lnTo>
                  <a:lnTo>
                    <a:pt x="1651374" y="519247"/>
                  </a:lnTo>
                  <a:lnTo>
                    <a:pt x="1650894" y="520403"/>
                  </a:lnTo>
                  <a:lnTo>
                    <a:pt x="1650418" y="521560"/>
                  </a:lnTo>
                  <a:lnTo>
                    <a:pt x="1643878" y="528954"/>
                  </a:lnTo>
                  <a:lnTo>
                    <a:pt x="1642840" y="529651"/>
                  </a:lnTo>
                  <a:lnTo>
                    <a:pt x="1637009" y="531799"/>
                  </a:lnTo>
                  <a:lnTo>
                    <a:pt x="1635783" y="532045"/>
                  </a:lnTo>
                  <a:lnTo>
                    <a:pt x="1634545" y="532167"/>
                  </a:lnTo>
                  <a:lnTo>
                    <a:pt x="1633293" y="532167"/>
                  </a:lnTo>
                  <a:lnTo>
                    <a:pt x="19052" y="532167"/>
                  </a:lnTo>
                  <a:lnTo>
                    <a:pt x="17801" y="532167"/>
                  </a:lnTo>
                  <a:lnTo>
                    <a:pt x="16562" y="532045"/>
                  </a:lnTo>
                  <a:lnTo>
                    <a:pt x="8468" y="528954"/>
                  </a:lnTo>
                  <a:lnTo>
                    <a:pt x="7427" y="528258"/>
                  </a:lnTo>
                  <a:lnTo>
                    <a:pt x="6464" y="527469"/>
                  </a:lnTo>
                  <a:lnTo>
                    <a:pt x="5581" y="526586"/>
                  </a:lnTo>
                  <a:lnTo>
                    <a:pt x="4694" y="525702"/>
                  </a:lnTo>
                  <a:lnTo>
                    <a:pt x="0" y="514366"/>
                  </a:lnTo>
                  <a:lnTo>
                    <a:pt x="0" y="513114"/>
                  </a:lnTo>
                  <a:close/>
                </a:path>
              </a:pathLst>
            </a:custGeom>
            <a:ln w="3284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335508" y="13877853"/>
            <a:ext cx="1511935" cy="4203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20">
                <a:solidFill>
                  <a:srgbClr val="3B3838"/>
                </a:solidFill>
                <a:latin typeface="Trebuchet MS"/>
                <a:cs typeface="Trebuchet MS"/>
              </a:rPr>
              <a:t>Understand</a:t>
            </a:r>
            <a:r>
              <a:rPr dirty="0" sz="550" spc="12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First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6500"/>
              </a:lnSpc>
              <a:spcBef>
                <a:spcPts val="200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Alwayз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underзtand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problem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fully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making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changeз.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Ruзhing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fix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without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underзtanding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can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0">
                <a:solidFill>
                  <a:srgbClr val="3B3838"/>
                </a:solidFill>
                <a:latin typeface="Roboto"/>
                <a:cs typeface="Roboto"/>
              </a:rPr>
              <a:t>make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thingз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worзe.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2000555" y="13829782"/>
            <a:ext cx="1656080" cy="535940"/>
            <a:chOff x="2000555" y="13829782"/>
            <a:chExt cx="1656080" cy="535940"/>
          </a:xfrm>
        </p:grpSpPr>
        <p:sp>
          <p:nvSpPr>
            <p:cNvPr id="82" name="object 82"/>
            <p:cNvSpPr/>
            <p:nvPr/>
          </p:nvSpPr>
          <p:spPr>
            <a:xfrm>
              <a:off x="2002197" y="13831424"/>
              <a:ext cx="1652905" cy="532765"/>
            </a:xfrm>
            <a:custGeom>
              <a:avLst/>
              <a:gdLst/>
              <a:ahLst/>
              <a:cxnLst/>
              <a:rect l="l" t="t" r="r" b="b"/>
              <a:pathLst>
                <a:path w="1652904" h="532765">
                  <a:moveTo>
                    <a:pt x="1634545" y="532167"/>
                  </a:moveTo>
                  <a:lnTo>
                    <a:pt x="17801" y="532167"/>
                  </a:lnTo>
                  <a:lnTo>
                    <a:pt x="16562" y="532045"/>
                  </a:lnTo>
                  <a:lnTo>
                    <a:pt x="0" y="514366"/>
                  </a:lnTo>
                  <a:lnTo>
                    <a:pt x="0" y="513114"/>
                  </a:lnTo>
                  <a:lnTo>
                    <a:pt x="0" y="17801"/>
                  </a:lnTo>
                  <a:lnTo>
                    <a:pt x="17801" y="0"/>
                  </a:lnTo>
                  <a:lnTo>
                    <a:pt x="1634545" y="0"/>
                  </a:lnTo>
                  <a:lnTo>
                    <a:pt x="1652346" y="17801"/>
                  </a:lnTo>
                  <a:lnTo>
                    <a:pt x="1652346" y="514366"/>
                  </a:lnTo>
                  <a:lnTo>
                    <a:pt x="1635783" y="532045"/>
                  </a:lnTo>
                  <a:lnTo>
                    <a:pt x="1634545" y="532167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002197" y="13831424"/>
              <a:ext cx="1652905" cy="532765"/>
            </a:xfrm>
            <a:custGeom>
              <a:avLst/>
              <a:gdLst/>
              <a:ahLst/>
              <a:cxnLst/>
              <a:rect l="l" t="t" r="r" b="b"/>
              <a:pathLst>
                <a:path w="1652904" h="532765">
                  <a:moveTo>
                    <a:pt x="0" y="513114"/>
                  </a:moveTo>
                  <a:lnTo>
                    <a:pt x="0" y="19052"/>
                  </a:lnTo>
                  <a:lnTo>
                    <a:pt x="0" y="17801"/>
                  </a:lnTo>
                  <a:lnTo>
                    <a:pt x="121" y="16559"/>
                  </a:lnTo>
                  <a:lnTo>
                    <a:pt x="5581" y="5577"/>
                  </a:lnTo>
                  <a:lnTo>
                    <a:pt x="6464" y="4694"/>
                  </a:lnTo>
                  <a:lnTo>
                    <a:pt x="11760" y="1448"/>
                  </a:lnTo>
                  <a:lnTo>
                    <a:pt x="12916" y="969"/>
                  </a:lnTo>
                  <a:lnTo>
                    <a:pt x="14109" y="607"/>
                  </a:lnTo>
                  <a:lnTo>
                    <a:pt x="15334" y="364"/>
                  </a:lnTo>
                  <a:lnTo>
                    <a:pt x="16562" y="121"/>
                  </a:lnTo>
                  <a:lnTo>
                    <a:pt x="17801" y="0"/>
                  </a:lnTo>
                  <a:lnTo>
                    <a:pt x="19052" y="0"/>
                  </a:lnTo>
                  <a:lnTo>
                    <a:pt x="1633293" y="0"/>
                  </a:lnTo>
                  <a:lnTo>
                    <a:pt x="1634545" y="0"/>
                  </a:lnTo>
                  <a:lnTo>
                    <a:pt x="1635783" y="121"/>
                  </a:lnTo>
                  <a:lnTo>
                    <a:pt x="1637009" y="364"/>
                  </a:lnTo>
                  <a:lnTo>
                    <a:pt x="1638237" y="607"/>
                  </a:lnTo>
                  <a:lnTo>
                    <a:pt x="1639430" y="969"/>
                  </a:lnTo>
                  <a:lnTo>
                    <a:pt x="1640583" y="1448"/>
                  </a:lnTo>
                  <a:lnTo>
                    <a:pt x="1641739" y="1928"/>
                  </a:lnTo>
                  <a:lnTo>
                    <a:pt x="1646765" y="5577"/>
                  </a:lnTo>
                  <a:lnTo>
                    <a:pt x="1647649" y="6461"/>
                  </a:lnTo>
                  <a:lnTo>
                    <a:pt x="1650894" y="11756"/>
                  </a:lnTo>
                  <a:lnTo>
                    <a:pt x="1651374" y="12913"/>
                  </a:lnTo>
                  <a:lnTo>
                    <a:pt x="1651735" y="14105"/>
                  </a:lnTo>
                  <a:lnTo>
                    <a:pt x="1651982" y="15331"/>
                  </a:lnTo>
                  <a:lnTo>
                    <a:pt x="1652225" y="16559"/>
                  </a:lnTo>
                  <a:lnTo>
                    <a:pt x="1652346" y="17801"/>
                  </a:lnTo>
                  <a:lnTo>
                    <a:pt x="1652346" y="19052"/>
                  </a:lnTo>
                  <a:lnTo>
                    <a:pt x="1652346" y="513114"/>
                  </a:lnTo>
                  <a:lnTo>
                    <a:pt x="1652346" y="514366"/>
                  </a:lnTo>
                  <a:lnTo>
                    <a:pt x="1652225" y="515604"/>
                  </a:lnTo>
                  <a:lnTo>
                    <a:pt x="1651982" y="516829"/>
                  </a:lnTo>
                  <a:lnTo>
                    <a:pt x="1651735" y="518058"/>
                  </a:lnTo>
                  <a:lnTo>
                    <a:pt x="1651374" y="519247"/>
                  </a:lnTo>
                  <a:lnTo>
                    <a:pt x="1650894" y="520403"/>
                  </a:lnTo>
                  <a:lnTo>
                    <a:pt x="1650418" y="521560"/>
                  </a:lnTo>
                  <a:lnTo>
                    <a:pt x="1649830" y="522657"/>
                  </a:lnTo>
                  <a:lnTo>
                    <a:pt x="1649134" y="523698"/>
                  </a:lnTo>
                  <a:lnTo>
                    <a:pt x="1648440" y="524740"/>
                  </a:lnTo>
                  <a:lnTo>
                    <a:pt x="1643878" y="528954"/>
                  </a:lnTo>
                  <a:lnTo>
                    <a:pt x="1642836" y="529651"/>
                  </a:lnTo>
                  <a:lnTo>
                    <a:pt x="1637009" y="531799"/>
                  </a:lnTo>
                  <a:lnTo>
                    <a:pt x="1635783" y="532045"/>
                  </a:lnTo>
                  <a:lnTo>
                    <a:pt x="1634545" y="532167"/>
                  </a:lnTo>
                  <a:lnTo>
                    <a:pt x="1633293" y="532167"/>
                  </a:lnTo>
                  <a:lnTo>
                    <a:pt x="19052" y="532167"/>
                  </a:lnTo>
                  <a:lnTo>
                    <a:pt x="17801" y="532167"/>
                  </a:lnTo>
                  <a:lnTo>
                    <a:pt x="16562" y="532045"/>
                  </a:lnTo>
                  <a:lnTo>
                    <a:pt x="8468" y="528954"/>
                  </a:lnTo>
                  <a:lnTo>
                    <a:pt x="7427" y="528258"/>
                  </a:lnTo>
                  <a:lnTo>
                    <a:pt x="6464" y="527469"/>
                  </a:lnTo>
                  <a:lnTo>
                    <a:pt x="5581" y="526586"/>
                  </a:lnTo>
                  <a:lnTo>
                    <a:pt x="4694" y="525702"/>
                  </a:lnTo>
                  <a:lnTo>
                    <a:pt x="0" y="514366"/>
                  </a:lnTo>
                  <a:lnTo>
                    <a:pt x="0" y="513114"/>
                  </a:lnTo>
                  <a:close/>
                </a:path>
              </a:pathLst>
            </a:custGeom>
            <a:ln w="3284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2050269" y="13877853"/>
            <a:ext cx="1460500" cy="3282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0">
                <a:solidFill>
                  <a:srgbClr val="3B3838"/>
                </a:solidFill>
                <a:latin typeface="Trebuchet MS"/>
                <a:cs typeface="Trebuchet MS"/>
              </a:rPr>
              <a:t>Read</a:t>
            </a:r>
            <a:r>
              <a:rPr dirty="0" sz="550" spc="4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10">
                <a:solidFill>
                  <a:srgbClr val="3B3838"/>
                </a:solidFill>
                <a:latin typeface="Trebuchet MS"/>
                <a:cs typeface="Trebuchet MS"/>
              </a:rPr>
              <a:t>Error</a:t>
            </a:r>
            <a:r>
              <a:rPr dirty="0" sz="550" spc="2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45">
                <a:solidFill>
                  <a:srgbClr val="3B3838"/>
                </a:solidFill>
                <a:latin typeface="Trebuchet MS"/>
                <a:cs typeface="Trebuchet MS"/>
              </a:rPr>
              <a:t>Messages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8900"/>
              </a:lnSpc>
              <a:spcBef>
                <a:spcPts val="18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Error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meззageз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your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firзt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clue.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Read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them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carefully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note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meззage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number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reference.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285793" y="14424364"/>
            <a:ext cx="1656080" cy="443865"/>
            <a:chOff x="285793" y="14424364"/>
            <a:chExt cx="1656080" cy="443865"/>
          </a:xfrm>
        </p:grpSpPr>
        <p:sp>
          <p:nvSpPr>
            <p:cNvPr id="86" name="object 86"/>
            <p:cNvSpPr/>
            <p:nvPr/>
          </p:nvSpPr>
          <p:spPr>
            <a:xfrm>
              <a:off x="287436" y="14426007"/>
              <a:ext cx="1652905" cy="440690"/>
            </a:xfrm>
            <a:custGeom>
              <a:avLst/>
              <a:gdLst/>
              <a:ahLst/>
              <a:cxnLst/>
              <a:rect l="l" t="t" r="r" b="b"/>
              <a:pathLst>
                <a:path w="1652905" h="440690">
                  <a:moveTo>
                    <a:pt x="1634545" y="440184"/>
                  </a:moveTo>
                  <a:lnTo>
                    <a:pt x="17801" y="440184"/>
                  </a:lnTo>
                  <a:lnTo>
                    <a:pt x="16562" y="440062"/>
                  </a:lnTo>
                  <a:lnTo>
                    <a:pt x="0" y="422386"/>
                  </a:lnTo>
                  <a:lnTo>
                    <a:pt x="0" y="421134"/>
                  </a:lnTo>
                  <a:lnTo>
                    <a:pt x="0" y="17798"/>
                  </a:lnTo>
                  <a:lnTo>
                    <a:pt x="17801" y="0"/>
                  </a:lnTo>
                  <a:lnTo>
                    <a:pt x="1634545" y="0"/>
                  </a:lnTo>
                  <a:lnTo>
                    <a:pt x="1652346" y="17798"/>
                  </a:lnTo>
                  <a:lnTo>
                    <a:pt x="1652346" y="422386"/>
                  </a:lnTo>
                  <a:lnTo>
                    <a:pt x="1635783" y="440062"/>
                  </a:lnTo>
                  <a:lnTo>
                    <a:pt x="1634545" y="44018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87436" y="14426007"/>
              <a:ext cx="1652905" cy="440690"/>
            </a:xfrm>
            <a:custGeom>
              <a:avLst/>
              <a:gdLst/>
              <a:ahLst/>
              <a:cxnLst/>
              <a:rect l="l" t="t" r="r" b="b"/>
              <a:pathLst>
                <a:path w="1652905" h="440690">
                  <a:moveTo>
                    <a:pt x="0" y="421134"/>
                  </a:moveTo>
                  <a:lnTo>
                    <a:pt x="0" y="19052"/>
                  </a:lnTo>
                  <a:lnTo>
                    <a:pt x="0" y="17798"/>
                  </a:lnTo>
                  <a:lnTo>
                    <a:pt x="121" y="16559"/>
                  </a:lnTo>
                  <a:lnTo>
                    <a:pt x="5581" y="5577"/>
                  </a:lnTo>
                  <a:lnTo>
                    <a:pt x="6464" y="4694"/>
                  </a:lnTo>
                  <a:lnTo>
                    <a:pt x="7427" y="3902"/>
                  </a:lnTo>
                  <a:lnTo>
                    <a:pt x="8468" y="3209"/>
                  </a:lnTo>
                  <a:lnTo>
                    <a:pt x="9506" y="2513"/>
                  </a:lnTo>
                  <a:lnTo>
                    <a:pt x="10607" y="1925"/>
                  </a:lnTo>
                  <a:lnTo>
                    <a:pt x="11760" y="1448"/>
                  </a:lnTo>
                  <a:lnTo>
                    <a:pt x="12916" y="969"/>
                  </a:lnTo>
                  <a:lnTo>
                    <a:pt x="14109" y="607"/>
                  </a:lnTo>
                  <a:lnTo>
                    <a:pt x="15334" y="364"/>
                  </a:lnTo>
                  <a:lnTo>
                    <a:pt x="16562" y="121"/>
                  </a:lnTo>
                  <a:lnTo>
                    <a:pt x="17801" y="0"/>
                  </a:lnTo>
                  <a:lnTo>
                    <a:pt x="19052" y="0"/>
                  </a:lnTo>
                  <a:lnTo>
                    <a:pt x="1633293" y="0"/>
                  </a:lnTo>
                  <a:lnTo>
                    <a:pt x="1634545" y="0"/>
                  </a:lnTo>
                  <a:lnTo>
                    <a:pt x="1635783" y="121"/>
                  </a:lnTo>
                  <a:lnTo>
                    <a:pt x="1637012" y="364"/>
                  </a:lnTo>
                  <a:lnTo>
                    <a:pt x="1638237" y="607"/>
                  </a:lnTo>
                  <a:lnTo>
                    <a:pt x="1639430" y="969"/>
                  </a:lnTo>
                  <a:lnTo>
                    <a:pt x="1640586" y="1448"/>
                  </a:lnTo>
                  <a:lnTo>
                    <a:pt x="1641739" y="1925"/>
                  </a:lnTo>
                  <a:lnTo>
                    <a:pt x="1646765" y="5577"/>
                  </a:lnTo>
                  <a:lnTo>
                    <a:pt x="1647649" y="6461"/>
                  </a:lnTo>
                  <a:lnTo>
                    <a:pt x="1648440" y="7424"/>
                  </a:lnTo>
                  <a:lnTo>
                    <a:pt x="1649134" y="8462"/>
                  </a:lnTo>
                  <a:lnTo>
                    <a:pt x="1649830" y="9503"/>
                  </a:lnTo>
                  <a:lnTo>
                    <a:pt x="1650418" y="10600"/>
                  </a:lnTo>
                  <a:lnTo>
                    <a:pt x="1650894" y="11756"/>
                  </a:lnTo>
                  <a:lnTo>
                    <a:pt x="1651374" y="12913"/>
                  </a:lnTo>
                  <a:lnTo>
                    <a:pt x="1651735" y="14105"/>
                  </a:lnTo>
                  <a:lnTo>
                    <a:pt x="1651978" y="15334"/>
                  </a:lnTo>
                  <a:lnTo>
                    <a:pt x="1652225" y="16559"/>
                  </a:lnTo>
                  <a:lnTo>
                    <a:pt x="1652346" y="17798"/>
                  </a:lnTo>
                  <a:lnTo>
                    <a:pt x="1652346" y="19052"/>
                  </a:lnTo>
                  <a:lnTo>
                    <a:pt x="1652346" y="421134"/>
                  </a:lnTo>
                  <a:lnTo>
                    <a:pt x="1652346" y="422386"/>
                  </a:lnTo>
                  <a:lnTo>
                    <a:pt x="1652225" y="423624"/>
                  </a:lnTo>
                  <a:lnTo>
                    <a:pt x="1651978" y="424850"/>
                  </a:lnTo>
                  <a:lnTo>
                    <a:pt x="1651735" y="426078"/>
                  </a:lnTo>
                  <a:lnTo>
                    <a:pt x="1651374" y="427267"/>
                  </a:lnTo>
                  <a:lnTo>
                    <a:pt x="1650894" y="428424"/>
                  </a:lnTo>
                  <a:lnTo>
                    <a:pt x="1650418" y="429580"/>
                  </a:lnTo>
                  <a:lnTo>
                    <a:pt x="1640583" y="438735"/>
                  </a:lnTo>
                  <a:lnTo>
                    <a:pt x="1639430" y="439215"/>
                  </a:lnTo>
                  <a:lnTo>
                    <a:pt x="1638237" y="439576"/>
                  </a:lnTo>
                  <a:lnTo>
                    <a:pt x="1637009" y="439819"/>
                  </a:lnTo>
                  <a:lnTo>
                    <a:pt x="1635783" y="440062"/>
                  </a:lnTo>
                  <a:lnTo>
                    <a:pt x="1634545" y="440184"/>
                  </a:lnTo>
                  <a:lnTo>
                    <a:pt x="1633293" y="440187"/>
                  </a:lnTo>
                  <a:lnTo>
                    <a:pt x="19052" y="440187"/>
                  </a:lnTo>
                  <a:lnTo>
                    <a:pt x="0" y="422386"/>
                  </a:lnTo>
                  <a:lnTo>
                    <a:pt x="0" y="421134"/>
                  </a:lnTo>
                  <a:close/>
                </a:path>
              </a:pathLst>
            </a:custGeom>
            <a:ln w="3284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335508" y="14472435"/>
            <a:ext cx="1482090" cy="3282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30">
                <a:solidFill>
                  <a:srgbClr val="3B3838"/>
                </a:solidFill>
                <a:latin typeface="Trebuchet MS"/>
                <a:cs typeface="Trebuchet MS"/>
              </a:rPr>
              <a:t>Check</a:t>
            </a:r>
            <a:r>
              <a:rPr dirty="0" sz="550" spc="5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30">
                <a:solidFill>
                  <a:srgbClr val="3B3838"/>
                </a:solidFill>
                <a:latin typeface="Trebuchet MS"/>
                <a:cs typeface="Trebuchet MS"/>
              </a:rPr>
              <a:t>Simple</a:t>
            </a:r>
            <a:r>
              <a:rPr dirty="0" sz="550" spc="5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30">
                <a:solidFill>
                  <a:srgbClr val="3B3838"/>
                </a:solidFill>
                <a:latin typeface="Trebuchet MS"/>
                <a:cs typeface="Trebuchet MS"/>
              </a:rPr>
              <a:t>Causes</a:t>
            </a:r>
            <a:r>
              <a:rPr dirty="0" sz="550" spc="5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First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8900"/>
              </a:lnSpc>
              <a:spcBef>
                <a:spcPts val="18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45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diving</a:t>
            </a:r>
            <a:r>
              <a:rPr dirty="0" sz="45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into</a:t>
            </a:r>
            <a:r>
              <a:rPr dirty="0" sz="45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complex</a:t>
            </a:r>
            <a:r>
              <a:rPr dirty="0" sz="45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configuration,</a:t>
            </a:r>
            <a:r>
              <a:rPr dirty="0" sz="45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check</a:t>
            </a:r>
            <a:r>
              <a:rPr dirty="0" sz="45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dateз,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periodз,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data,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field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entrieз.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000555" y="14424364"/>
            <a:ext cx="1656080" cy="443865"/>
            <a:chOff x="2000555" y="14424364"/>
            <a:chExt cx="1656080" cy="443865"/>
          </a:xfrm>
        </p:grpSpPr>
        <p:sp>
          <p:nvSpPr>
            <p:cNvPr id="90" name="object 90"/>
            <p:cNvSpPr/>
            <p:nvPr/>
          </p:nvSpPr>
          <p:spPr>
            <a:xfrm>
              <a:off x="2002197" y="14426007"/>
              <a:ext cx="1652905" cy="440690"/>
            </a:xfrm>
            <a:custGeom>
              <a:avLst/>
              <a:gdLst/>
              <a:ahLst/>
              <a:cxnLst/>
              <a:rect l="l" t="t" r="r" b="b"/>
              <a:pathLst>
                <a:path w="1652904" h="440690">
                  <a:moveTo>
                    <a:pt x="1634545" y="440184"/>
                  </a:moveTo>
                  <a:lnTo>
                    <a:pt x="17801" y="440184"/>
                  </a:lnTo>
                  <a:lnTo>
                    <a:pt x="16562" y="440062"/>
                  </a:lnTo>
                  <a:lnTo>
                    <a:pt x="0" y="422386"/>
                  </a:lnTo>
                  <a:lnTo>
                    <a:pt x="0" y="421134"/>
                  </a:lnTo>
                  <a:lnTo>
                    <a:pt x="0" y="17798"/>
                  </a:lnTo>
                  <a:lnTo>
                    <a:pt x="17801" y="0"/>
                  </a:lnTo>
                  <a:lnTo>
                    <a:pt x="1634545" y="0"/>
                  </a:lnTo>
                  <a:lnTo>
                    <a:pt x="1652346" y="17798"/>
                  </a:lnTo>
                  <a:lnTo>
                    <a:pt x="1652346" y="422386"/>
                  </a:lnTo>
                  <a:lnTo>
                    <a:pt x="1635783" y="440062"/>
                  </a:lnTo>
                  <a:lnTo>
                    <a:pt x="1634545" y="44018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002197" y="14426007"/>
              <a:ext cx="1652905" cy="440690"/>
            </a:xfrm>
            <a:custGeom>
              <a:avLst/>
              <a:gdLst/>
              <a:ahLst/>
              <a:cxnLst/>
              <a:rect l="l" t="t" r="r" b="b"/>
              <a:pathLst>
                <a:path w="1652904" h="440690">
                  <a:moveTo>
                    <a:pt x="0" y="421134"/>
                  </a:moveTo>
                  <a:lnTo>
                    <a:pt x="0" y="19052"/>
                  </a:lnTo>
                  <a:lnTo>
                    <a:pt x="0" y="17798"/>
                  </a:lnTo>
                  <a:lnTo>
                    <a:pt x="121" y="16559"/>
                  </a:lnTo>
                  <a:lnTo>
                    <a:pt x="5581" y="5577"/>
                  </a:lnTo>
                  <a:lnTo>
                    <a:pt x="6464" y="4694"/>
                  </a:lnTo>
                  <a:lnTo>
                    <a:pt x="7427" y="3902"/>
                  </a:lnTo>
                  <a:lnTo>
                    <a:pt x="8468" y="3209"/>
                  </a:lnTo>
                  <a:lnTo>
                    <a:pt x="9506" y="2513"/>
                  </a:lnTo>
                  <a:lnTo>
                    <a:pt x="10603" y="1925"/>
                  </a:lnTo>
                  <a:lnTo>
                    <a:pt x="11760" y="1448"/>
                  </a:lnTo>
                  <a:lnTo>
                    <a:pt x="12916" y="969"/>
                  </a:lnTo>
                  <a:lnTo>
                    <a:pt x="14109" y="607"/>
                  </a:lnTo>
                  <a:lnTo>
                    <a:pt x="15334" y="364"/>
                  </a:lnTo>
                  <a:lnTo>
                    <a:pt x="16562" y="121"/>
                  </a:lnTo>
                  <a:lnTo>
                    <a:pt x="17801" y="0"/>
                  </a:lnTo>
                  <a:lnTo>
                    <a:pt x="19052" y="0"/>
                  </a:lnTo>
                  <a:lnTo>
                    <a:pt x="1633293" y="0"/>
                  </a:lnTo>
                  <a:lnTo>
                    <a:pt x="1634545" y="0"/>
                  </a:lnTo>
                  <a:lnTo>
                    <a:pt x="1635783" y="121"/>
                  </a:lnTo>
                  <a:lnTo>
                    <a:pt x="1637009" y="364"/>
                  </a:lnTo>
                  <a:lnTo>
                    <a:pt x="1638237" y="607"/>
                  </a:lnTo>
                  <a:lnTo>
                    <a:pt x="1639430" y="969"/>
                  </a:lnTo>
                  <a:lnTo>
                    <a:pt x="1640583" y="1448"/>
                  </a:lnTo>
                  <a:lnTo>
                    <a:pt x="1641739" y="1925"/>
                  </a:lnTo>
                  <a:lnTo>
                    <a:pt x="1646765" y="5577"/>
                  </a:lnTo>
                  <a:lnTo>
                    <a:pt x="1647649" y="6461"/>
                  </a:lnTo>
                  <a:lnTo>
                    <a:pt x="1650894" y="11756"/>
                  </a:lnTo>
                  <a:lnTo>
                    <a:pt x="1651374" y="12913"/>
                  </a:lnTo>
                  <a:lnTo>
                    <a:pt x="1651735" y="14105"/>
                  </a:lnTo>
                  <a:lnTo>
                    <a:pt x="1651982" y="15334"/>
                  </a:lnTo>
                  <a:lnTo>
                    <a:pt x="1652225" y="16559"/>
                  </a:lnTo>
                  <a:lnTo>
                    <a:pt x="1652346" y="17798"/>
                  </a:lnTo>
                  <a:lnTo>
                    <a:pt x="1652346" y="19052"/>
                  </a:lnTo>
                  <a:lnTo>
                    <a:pt x="1652346" y="421134"/>
                  </a:lnTo>
                  <a:lnTo>
                    <a:pt x="1652346" y="422386"/>
                  </a:lnTo>
                  <a:lnTo>
                    <a:pt x="1652225" y="423624"/>
                  </a:lnTo>
                  <a:lnTo>
                    <a:pt x="1651982" y="424850"/>
                  </a:lnTo>
                  <a:lnTo>
                    <a:pt x="1651735" y="426078"/>
                  </a:lnTo>
                  <a:lnTo>
                    <a:pt x="1651374" y="427267"/>
                  </a:lnTo>
                  <a:lnTo>
                    <a:pt x="1650894" y="428424"/>
                  </a:lnTo>
                  <a:lnTo>
                    <a:pt x="1650418" y="429580"/>
                  </a:lnTo>
                  <a:lnTo>
                    <a:pt x="1649830" y="430677"/>
                  </a:lnTo>
                  <a:lnTo>
                    <a:pt x="1649134" y="431715"/>
                  </a:lnTo>
                  <a:lnTo>
                    <a:pt x="1648440" y="432757"/>
                  </a:lnTo>
                  <a:lnTo>
                    <a:pt x="1637009" y="439819"/>
                  </a:lnTo>
                  <a:lnTo>
                    <a:pt x="1635783" y="440062"/>
                  </a:lnTo>
                  <a:lnTo>
                    <a:pt x="1634545" y="440184"/>
                  </a:lnTo>
                  <a:lnTo>
                    <a:pt x="1633293" y="440187"/>
                  </a:lnTo>
                  <a:lnTo>
                    <a:pt x="19052" y="440187"/>
                  </a:lnTo>
                  <a:lnTo>
                    <a:pt x="11760" y="438735"/>
                  </a:lnTo>
                  <a:lnTo>
                    <a:pt x="10603" y="438256"/>
                  </a:lnTo>
                  <a:lnTo>
                    <a:pt x="0" y="422386"/>
                  </a:lnTo>
                  <a:lnTo>
                    <a:pt x="0" y="421134"/>
                  </a:lnTo>
                  <a:close/>
                </a:path>
              </a:pathLst>
            </a:custGeom>
            <a:ln w="3284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2050269" y="14472435"/>
            <a:ext cx="1470660" cy="3282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0">
                <a:solidFill>
                  <a:srgbClr val="3B3838"/>
                </a:solidFill>
                <a:latin typeface="Trebuchet MS"/>
                <a:cs typeface="Trebuchet MS"/>
              </a:rPr>
              <a:t>Test</a:t>
            </a:r>
            <a:r>
              <a:rPr dirty="0" sz="550" spc="2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10">
                <a:solidFill>
                  <a:srgbClr val="3B3838"/>
                </a:solidFill>
                <a:latin typeface="Trebuchet MS"/>
                <a:cs typeface="Trebuchet MS"/>
              </a:rPr>
              <a:t>Before</a:t>
            </a:r>
            <a:r>
              <a:rPr dirty="0" sz="550" spc="2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Production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8900"/>
              </a:lnSpc>
              <a:spcBef>
                <a:spcPts val="18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Never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apply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changeз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directly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live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зyзtem.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Alwayз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teзt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development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quality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environment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firзt.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285793" y="14926966"/>
            <a:ext cx="1656080" cy="535940"/>
            <a:chOff x="285793" y="14926966"/>
            <a:chExt cx="1656080" cy="535940"/>
          </a:xfrm>
        </p:grpSpPr>
        <p:sp>
          <p:nvSpPr>
            <p:cNvPr id="94" name="object 94"/>
            <p:cNvSpPr/>
            <p:nvPr/>
          </p:nvSpPr>
          <p:spPr>
            <a:xfrm>
              <a:off x="287436" y="14928608"/>
              <a:ext cx="1652905" cy="532765"/>
            </a:xfrm>
            <a:custGeom>
              <a:avLst/>
              <a:gdLst/>
              <a:ahLst/>
              <a:cxnLst/>
              <a:rect l="l" t="t" r="r" b="b"/>
              <a:pathLst>
                <a:path w="1652905" h="532765">
                  <a:moveTo>
                    <a:pt x="1634545" y="532164"/>
                  </a:moveTo>
                  <a:lnTo>
                    <a:pt x="17801" y="532164"/>
                  </a:lnTo>
                  <a:lnTo>
                    <a:pt x="16562" y="532042"/>
                  </a:lnTo>
                  <a:lnTo>
                    <a:pt x="0" y="514362"/>
                  </a:lnTo>
                  <a:lnTo>
                    <a:pt x="0" y="513114"/>
                  </a:lnTo>
                  <a:lnTo>
                    <a:pt x="0" y="17801"/>
                  </a:lnTo>
                  <a:lnTo>
                    <a:pt x="17801" y="0"/>
                  </a:lnTo>
                  <a:lnTo>
                    <a:pt x="1634545" y="0"/>
                  </a:lnTo>
                  <a:lnTo>
                    <a:pt x="1652346" y="17801"/>
                  </a:lnTo>
                  <a:lnTo>
                    <a:pt x="1652346" y="514362"/>
                  </a:lnTo>
                  <a:lnTo>
                    <a:pt x="1635783" y="532042"/>
                  </a:lnTo>
                  <a:lnTo>
                    <a:pt x="1634545" y="53216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287436" y="14928608"/>
              <a:ext cx="1652905" cy="532765"/>
            </a:xfrm>
            <a:custGeom>
              <a:avLst/>
              <a:gdLst/>
              <a:ahLst/>
              <a:cxnLst/>
              <a:rect l="l" t="t" r="r" b="b"/>
              <a:pathLst>
                <a:path w="1652905" h="532765">
                  <a:moveTo>
                    <a:pt x="0" y="513114"/>
                  </a:moveTo>
                  <a:lnTo>
                    <a:pt x="0" y="19052"/>
                  </a:lnTo>
                  <a:lnTo>
                    <a:pt x="0" y="17801"/>
                  </a:lnTo>
                  <a:lnTo>
                    <a:pt x="121" y="16559"/>
                  </a:lnTo>
                  <a:lnTo>
                    <a:pt x="5581" y="5577"/>
                  </a:lnTo>
                  <a:lnTo>
                    <a:pt x="6464" y="4694"/>
                  </a:lnTo>
                  <a:lnTo>
                    <a:pt x="7427" y="3902"/>
                  </a:lnTo>
                  <a:lnTo>
                    <a:pt x="8468" y="3209"/>
                  </a:lnTo>
                  <a:lnTo>
                    <a:pt x="9506" y="2513"/>
                  </a:lnTo>
                  <a:lnTo>
                    <a:pt x="17801" y="0"/>
                  </a:lnTo>
                  <a:lnTo>
                    <a:pt x="19052" y="0"/>
                  </a:lnTo>
                  <a:lnTo>
                    <a:pt x="1633293" y="0"/>
                  </a:lnTo>
                  <a:lnTo>
                    <a:pt x="1634545" y="0"/>
                  </a:lnTo>
                  <a:lnTo>
                    <a:pt x="1635783" y="121"/>
                  </a:lnTo>
                  <a:lnTo>
                    <a:pt x="1646765" y="5577"/>
                  </a:lnTo>
                  <a:lnTo>
                    <a:pt x="1647649" y="6461"/>
                  </a:lnTo>
                  <a:lnTo>
                    <a:pt x="1648440" y="7424"/>
                  </a:lnTo>
                  <a:lnTo>
                    <a:pt x="1649134" y="8465"/>
                  </a:lnTo>
                  <a:lnTo>
                    <a:pt x="1649830" y="9503"/>
                  </a:lnTo>
                  <a:lnTo>
                    <a:pt x="1650418" y="10600"/>
                  </a:lnTo>
                  <a:lnTo>
                    <a:pt x="1650894" y="11756"/>
                  </a:lnTo>
                  <a:lnTo>
                    <a:pt x="1651374" y="12913"/>
                  </a:lnTo>
                  <a:lnTo>
                    <a:pt x="1651735" y="14105"/>
                  </a:lnTo>
                  <a:lnTo>
                    <a:pt x="1651978" y="15331"/>
                  </a:lnTo>
                  <a:lnTo>
                    <a:pt x="1652225" y="16559"/>
                  </a:lnTo>
                  <a:lnTo>
                    <a:pt x="1652346" y="17801"/>
                  </a:lnTo>
                  <a:lnTo>
                    <a:pt x="1652346" y="19052"/>
                  </a:lnTo>
                  <a:lnTo>
                    <a:pt x="1652346" y="513114"/>
                  </a:lnTo>
                  <a:lnTo>
                    <a:pt x="1652346" y="514362"/>
                  </a:lnTo>
                  <a:lnTo>
                    <a:pt x="1652225" y="515601"/>
                  </a:lnTo>
                  <a:lnTo>
                    <a:pt x="1651978" y="516829"/>
                  </a:lnTo>
                  <a:lnTo>
                    <a:pt x="1651735" y="518055"/>
                  </a:lnTo>
                  <a:lnTo>
                    <a:pt x="1651374" y="519247"/>
                  </a:lnTo>
                  <a:lnTo>
                    <a:pt x="1650894" y="520403"/>
                  </a:lnTo>
                  <a:lnTo>
                    <a:pt x="1650418" y="521556"/>
                  </a:lnTo>
                  <a:lnTo>
                    <a:pt x="1640583" y="530712"/>
                  </a:lnTo>
                  <a:lnTo>
                    <a:pt x="1639430" y="531191"/>
                  </a:lnTo>
                  <a:lnTo>
                    <a:pt x="1638237" y="531553"/>
                  </a:lnTo>
                  <a:lnTo>
                    <a:pt x="1637009" y="531796"/>
                  </a:lnTo>
                  <a:lnTo>
                    <a:pt x="1635783" y="532042"/>
                  </a:lnTo>
                  <a:lnTo>
                    <a:pt x="1634545" y="532164"/>
                  </a:lnTo>
                  <a:lnTo>
                    <a:pt x="1633293" y="532167"/>
                  </a:lnTo>
                  <a:lnTo>
                    <a:pt x="19052" y="532167"/>
                  </a:lnTo>
                  <a:lnTo>
                    <a:pt x="17801" y="532164"/>
                  </a:lnTo>
                  <a:lnTo>
                    <a:pt x="16562" y="532042"/>
                  </a:lnTo>
                  <a:lnTo>
                    <a:pt x="15334" y="531796"/>
                  </a:lnTo>
                  <a:lnTo>
                    <a:pt x="14109" y="531553"/>
                  </a:lnTo>
                  <a:lnTo>
                    <a:pt x="0" y="514362"/>
                  </a:lnTo>
                  <a:lnTo>
                    <a:pt x="0" y="513114"/>
                  </a:lnTo>
                  <a:close/>
                </a:path>
              </a:pathLst>
            </a:custGeom>
            <a:ln w="3284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335508" y="14975037"/>
            <a:ext cx="1315085" cy="325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30">
                <a:solidFill>
                  <a:srgbClr val="3B3838"/>
                </a:solidFill>
                <a:latin typeface="Trebuchet MS"/>
                <a:cs typeface="Trebuchet MS"/>
              </a:rPr>
              <a:t>Document</a:t>
            </a:r>
            <a:r>
              <a:rPr dirty="0" sz="550" spc="7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-10">
                <a:solidFill>
                  <a:srgbClr val="3B3838"/>
                </a:solidFill>
                <a:latin typeface="Trebuchet MS"/>
                <a:cs typeface="Trebuchet MS"/>
              </a:rPr>
              <a:t>Everything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4100"/>
              </a:lnSpc>
              <a:spcBef>
                <a:spcPts val="21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Record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problem,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root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cauзe,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зolution,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preventive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зtepз.</a:t>
            </a:r>
            <a:r>
              <a:rPr dirty="0" sz="450" spc="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helpз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if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recurз.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2000555" y="14926966"/>
            <a:ext cx="1656080" cy="535940"/>
            <a:chOff x="2000555" y="14926966"/>
            <a:chExt cx="1656080" cy="535940"/>
          </a:xfrm>
        </p:grpSpPr>
        <p:sp>
          <p:nvSpPr>
            <p:cNvPr id="98" name="object 98"/>
            <p:cNvSpPr/>
            <p:nvPr/>
          </p:nvSpPr>
          <p:spPr>
            <a:xfrm>
              <a:off x="2002197" y="14928608"/>
              <a:ext cx="1652905" cy="532765"/>
            </a:xfrm>
            <a:custGeom>
              <a:avLst/>
              <a:gdLst/>
              <a:ahLst/>
              <a:cxnLst/>
              <a:rect l="l" t="t" r="r" b="b"/>
              <a:pathLst>
                <a:path w="1652904" h="532765">
                  <a:moveTo>
                    <a:pt x="1634545" y="532164"/>
                  </a:moveTo>
                  <a:lnTo>
                    <a:pt x="17801" y="532164"/>
                  </a:lnTo>
                  <a:lnTo>
                    <a:pt x="16562" y="532042"/>
                  </a:lnTo>
                  <a:lnTo>
                    <a:pt x="0" y="514362"/>
                  </a:lnTo>
                  <a:lnTo>
                    <a:pt x="0" y="513114"/>
                  </a:lnTo>
                  <a:lnTo>
                    <a:pt x="0" y="17801"/>
                  </a:lnTo>
                  <a:lnTo>
                    <a:pt x="17801" y="0"/>
                  </a:lnTo>
                  <a:lnTo>
                    <a:pt x="1634545" y="0"/>
                  </a:lnTo>
                  <a:lnTo>
                    <a:pt x="1652346" y="17801"/>
                  </a:lnTo>
                  <a:lnTo>
                    <a:pt x="1652346" y="514362"/>
                  </a:lnTo>
                  <a:lnTo>
                    <a:pt x="1635783" y="532042"/>
                  </a:lnTo>
                  <a:lnTo>
                    <a:pt x="1634545" y="532164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2002197" y="14928608"/>
              <a:ext cx="1652905" cy="532765"/>
            </a:xfrm>
            <a:custGeom>
              <a:avLst/>
              <a:gdLst/>
              <a:ahLst/>
              <a:cxnLst/>
              <a:rect l="l" t="t" r="r" b="b"/>
              <a:pathLst>
                <a:path w="1652904" h="532765">
                  <a:moveTo>
                    <a:pt x="0" y="513114"/>
                  </a:moveTo>
                  <a:lnTo>
                    <a:pt x="0" y="19052"/>
                  </a:lnTo>
                  <a:lnTo>
                    <a:pt x="0" y="17801"/>
                  </a:lnTo>
                  <a:lnTo>
                    <a:pt x="121" y="16559"/>
                  </a:lnTo>
                  <a:lnTo>
                    <a:pt x="5581" y="5577"/>
                  </a:lnTo>
                  <a:lnTo>
                    <a:pt x="6464" y="4694"/>
                  </a:lnTo>
                  <a:lnTo>
                    <a:pt x="7427" y="3902"/>
                  </a:lnTo>
                  <a:lnTo>
                    <a:pt x="8468" y="3209"/>
                  </a:lnTo>
                  <a:lnTo>
                    <a:pt x="9506" y="2513"/>
                  </a:lnTo>
                  <a:lnTo>
                    <a:pt x="10603" y="1928"/>
                  </a:lnTo>
                  <a:lnTo>
                    <a:pt x="11760" y="1448"/>
                  </a:lnTo>
                  <a:lnTo>
                    <a:pt x="12916" y="969"/>
                  </a:lnTo>
                  <a:lnTo>
                    <a:pt x="14109" y="607"/>
                  </a:lnTo>
                  <a:lnTo>
                    <a:pt x="15334" y="364"/>
                  </a:lnTo>
                  <a:lnTo>
                    <a:pt x="16562" y="121"/>
                  </a:lnTo>
                  <a:lnTo>
                    <a:pt x="17801" y="0"/>
                  </a:lnTo>
                  <a:lnTo>
                    <a:pt x="19052" y="0"/>
                  </a:lnTo>
                  <a:lnTo>
                    <a:pt x="1633293" y="0"/>
                  </a:lnTo>
                  <a:lnTo>
                    <a:pt x="1634545" y="0"/>
                  </a:lnTo>
                  <a:lnTo>
                    <a:pt x="1635783" y="121"/>
                  </a:lnTo>
                  <a:lnTo>
                    <a:pt x="1637009" y="364"/>
                  </a:lnTo>
                  <a:lnTo>
                    <a:pt x="1638237" y="607"/>
                  </a:lnTo>
                  <a:lnTo>
                    <a:pt x="1639430" y="969"/>
                  </a:lnTo>
                  <a:lnTo>
                    <a:pt x="1640583" y="1448"/>
                  </a:lnTo>
                  <a:lnTo>
                    <a:pt x="1641739" y="1928"/>
                  </a:lnTo>
                  <a:lnTo>
                    <a:pt x="1646765" y="5577"/>
                  </a:lnTo>
                  <a:lnTo>
                    <a:pt x="1647649" y="6461"/>
                  </a:lnTo>
                  <a:lnTo>
                    <a:pt x="1650894" y="11756"/>
                  </a:lnTo>
                  <a:lnTo>
                    <a:pt x="1651374" y="12913"/>
                  </a:lnTo>
                  <a:lnTo>
                    <a:pt x="1651735" y="14105"/>
                  </a:lnTo>
                  <a:lnTo>
                    <a:pt x="1651982" y="15331"/>
                  </a:lnTo>
                  <a:lnTo>
                    <a:pt x="1652225" y="16559"/>
                  </a:lnTo>
                  <a:lnTo>
                    <a:pt x="1652346" y="17801"/>
                  </a:lnTo>
                  <a:lnTo>
                    <a:pt x="1652346" y="19052"/>
                  </a:lnTo>
                  <a:lnTo>
                    <a:pt x="1652346" y="513114"/>
                  </a:lnTo>
                  <a:lnTo>
                    <a:pt x="1652346" y="514362"/>
                  </a:lnTo>
                  <a:lnTo>
                    <a:pt x="1652225" y="515601"/>
                  </a:lnTo>
                  <a:lnTo>
                    <a:pt x="1651982" y="516829"/>
                  </a:lnTo>
                  <a:lnTo>
                    <a:pt x="1651735" y="518055"/>
                  </a:lnTo>
                  <a:lnTo>
                    <a:pt x="1651374" y="519247"/>
                  </a:lnTo>
                  <a:lnTo>
                    <a:pt x="1650894" y="520403"/>
                  </a:lnTo>
                  <a:lnTo>
                    <a:pt x="1650418" y="521556"/>
                  </a:lnTo>
                  <a:lnTo>
                    <a:pt x="1649830" y="522657"/>
                  </a:lnTo>
                  <a:lnTo>
                    <a:pt x="1649134" y="523698"/>
                  </a:lnTo>
                  <a:lnTo>
                    <a:pt x="1648440" y="524736"/>
                  </a:lnTo>
                  <a:lnTo>
                    <a:pt x="1637009" y="531796"/>
                  </a:lnTo>
                  <a:lnTo>
                    <a:pt x="1635783" y="532042"/>
                  </a:lnTo>
                  <a:lnTo>
                    <a:pt x="1634545" y="532164"/>
                  </a:lnTo>
                  <a:lnTo>
                    <a:pt x="1633293" y="532167"/>
                  </a:lnTo>
                  <a:lnTo>
                    <a:pt x="19052" y="532167"/>
                  </a:lnTo>
                  <a:lnTo>
                    <a:pt x="17801" y="532164"/>
                  </a:lnTo>
                  <a:lnTo>
                    <a:pt x="16562" y="532042"/>
                  </a:lnTo>
                  <a:lnTo>
                    <a:pt x="15334" y="531796"/>
                  </a:lnTo>
                  <a:lnTo>
                    <a:pt x="14109" y="531553"/>
                  </a:lnTo>
                  <a:lnTo>
                    <a:pt x="12916" y="531191"/>
                  </a:lnTo>
                  <a:lnTo>
                    <a:pt x="11760" y="530712"/>
                  </a:lnTo>
                  <a:lnTo>
                    <a:pt x="10603" y="530232"/>
                  </a:lnTo>
                  <a:lnTo>
                    <a:pt x="0" y="514362"/>
                  </a:lnTo>
                  <a:lnTo>
                    <a:pt x="0" y="513114"/>
                  </a:lnTo>
                  <a:close/>
                </a:path>
              </a:pathLst>
            </a:custGeom>
            <a:ln w="3284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>
            <a:off x="2050269" y="14975037"/>
            <a:ext cx="1497330" cy="4203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>
                <a:solidFill>
                  <a:srgbClr val="3B3838"/>
                </a:solidFill>
                <a:latin typeface="Trebuchet MS"/>
                <a:cs typeface="Trebuchet MS"/>
              </a:rPr>
              <a:t>Involve</a:t>
            </a:r>
            <a:r>
              <a:rPr dirty="0" sz="550" spc="7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>
                <a:solidFill>
                  <a:srgbClr val="3B3838"/>
                </a:solidFill>
                <a:latin typeface="Trebuchet MS"/>
                <a:cs typeface="Trebuchet MS"/>
              </a:rPr>
              <a:t>the</a:t>
            </a:r>
            <a:r>
              <a:rPr dirty="0" sz="550" spc="80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>
                <a:solidFill>
                  <a:srgbClr val="3B3838"/>
                </a:solidFill>
                <a:latin typeface="Trebuchet MS"/>
                <a:cs typeface="Trebuchet MS"/>
              </a:rPr>
              <a:t>Right</a:t>
            </a:r>
            <a:r>
              <a:rPr dirty="0" sz="550" spc="55">
                <a:solidFill>
                  <a:srgbClr val="3B3838"/>
                </a:solidFill>
                <a:latin typeface="Trebuchet MS"/>
                <a:cs typeface="Trebuchet MS"/>
              </a:rPr>
              <a:t> </a:t>
            </a:r>
            <a:r>
              <a:rPr dirty="0" sz="550" spc="-20">
                <a:solidFill>
                  <a:srgbClr val="3B3838"/>
                </a:solidFill>
                <a:latin typeface="Trebuchet MS"/>
                <a:cs typeface="Trebuchet MS"/>
              </a:rPr>
              <a:t>Team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ct val="136500"/>
              </a:lnSpc>
              <a:spcBef>
                <a:spcPts val="200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Configuration</a:t>
            </a:r>
            <a:r>
              <a:rPr dirty="0" sz="45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authoriзation</a:t>
            </a:r>
            <a:r>
              <a:rPr dirty="0" sz="45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changeз</a:t>
            </a:r>
            <a:r>
              <a:rPr dirty="0" sz="45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зhould</a:t>
            </a:r>
            <a:r>
              <a:rPr dirty="0" sz="45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be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handled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by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authoriзed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functional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technical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teamз,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by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end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uзerз.</a:t>
            </a:r>
            <a:endParaRPr sz="450">
              <a:latin typeface="Roboto"/>
              <a:cs typeface="Roboto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298933" y="16083280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59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59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98933" y="16293520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59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59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98933" y="1650375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59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59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98933" y="1671071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62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62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298933" y="1692095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60"/>
                </a:lnTo>
                <a:lnTo>
                  <a:pt x="0" y="11159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59"/>
                </a:lnTo>
                <a:lnTo>
                  <a:pt x="12417" y="19460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98933" y="1713118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59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59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98933" y="17246164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59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59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98933" y="17456404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62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62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9" name="object 109"/>
          <p:cNvGrpSpPr/>
          <p:nvPr/>
        </p:nvGrpSpPr>
        <p:grpSpPr>
          <a:xfrm>
            <a:off x="285793" y="17673214"/>
            <a:ext cx="3370579" cy="332105"/>
            <a:chOff x="285793" y="17673214"/>
            <a:chExt cx="3370579" cy="332105"/>
          </a:xfrm>
        </p:grpSpPr>
        <p:sp>
          <p:nvSpPr>
            <p:cNvPr id="110" name="object 110"/>
            <p:cNvSpPr/>
            <p:nvPr/>
          </p:nvSpPr>
          <p:spPr>
            <a:xfrm>
              <a:off x="285793" y="17673214"/>
              <a:ext cx="3370579" cy="332105"/>
            </a:xfrm>
            <a:custGeom>
              <a:avLst/>
              <a:gdLst/>
              <a:ahLst/>
              <a:cxnLst/>
              <a:rect l="l" t="t" r="r" b="b"/>
              <a:pathLst>
                <a:path w="3370579" h="332105">
                  <a:moveTo>
                    <a:pt x="3351057" y="331780"/>
                  </a:moveTo>
                  <a:lnTo>
                    <a:pt x="19335" y="331780"/>
                  </a:lnTo>
                  <a:lnTo>
                    <a:pt x="17991" y="331648"/>
                  </a:lnTo>
                  <a:lnTo>
                    <a:pt x="0" y="312444"/>
                  </a:lnTo>
                  <a:lnTo>
                    <a:pt x="0" y="311087"/>
                  </a:lnTo>
                  <a:lnTo>
                    <a:pt x="0" y="19335"/>
                  </a:lnTo>
                  <a:lnTo>
                    <a:pt x="19335" y="0"/>
                  </a:lnTo>
                  <a:lnTo>
                    <a:pt x="3351057" y="0"/>
                  </a:lnTo>
                  <a:lnTo>
                    <a:pt x="3370393" y="19335"/>
                  </a:lnTo>
                  <a:lnTo>
                    <a:pt x="3370393" y="312444"/>
                  </a:lnTo>
                  <a:lnTo>
                    <a:pt x="3352401" y="331648"/>
                  </a:lnTo>
                  <a:lnTo>
                    <a:pt x="3351057" y="33178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356010" y="17759033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70" h="52069">
                  <a:moveTo>
                    <a:pt x="35858" y="51738"/>
                  </a:moveTo>
                  <a:lnTo>
                    <a:pt x="3314" y="51738"/>
                  </a:lnTo>
                  <a:lnTo>
                    <a:pt x="0" y="48424"/>
                  </a:lnTo>
                  <a:lnTo>
                    <a:pt x="0" y="3314"/>
                  </a:lnTo>
                  <a:lnTo>
                    <a:pt x="3314" y="0"/>
                  </a:lnTo>
                  <a:lnTo>
                    <a:pt x="48424" y="0"/>
                  </a:lnTo>
                  <a:lnTo>
                    <a:pt x="51738" y="3314"/>
                  </a:lnTo>
                  <a:lnTo>
                    <a:pt x="51738" y="5543"/>
                  </a:lnTo>
                  <a:lnTo>
                    <a:pt x="6374" y="5543"/>
                  </a:lnTo>
                  <a:lnTo>
                    <a:pt x="5543" y="6374"/>
                  </a:lnTo>
                  <a:lnTo>
                    <a:pt x="5543" y="45363"/>
                  </a:lnTo>
                  <a:lnTo>
                    <a:pt x="6374" y="46195"/>
                  </a:lnTo>
                  <a:lnTo>
                    <a:pt x="42511" y="46195"/>
                  </a:lnTo>
                  <a:lnTo>
                    <a:pt x="37741" y="50964"/>
                  </a:lnTo>
                  <a:lnTo>
                    <a:pt x="35858" y="51738"/>
                  </a:lnTo>
                  <a:close/>
                </a:path>
                <a:path w="52070" h="52069">
                  <a:moveTo>
                    <a:pt x="42511" y="46195"/>
                  </a:moveTo>
                  <a:lnTo>
                    <a:pt x="33260" y="46195"/>
                  </a:lnTo>
                  <a:lnTo>
                    <a:pt x="33260" y="34911"/>
                  </a:lnTo>
                  <a:lnTo>
                    <a:pt x="34911" y="33260"/>
                  </a:lnTo>
                  <a:lnTo>
                    <a:pt x="46195" y="33260"/>
                  </a:lnTo>
                  <a:lnTo>
                    <a:pt x="46195" y="6374"/>
                  </a:lnTo>
                  <a:lnTo>
                    <a:pt x="45363" y="5543"/>
                  </a:lnTo>
                  <a:lnTo>
                    <a:pt x="51738" y="5543"/>
                  </a:lnTo>
                  <a:lnTo>
                    <a:pt x="51738" y="35858"/>
                  </a:lnTo>
                  <a:lnTo>
                    <a:pt x="50964" y="37741"/>
                  </a:lnTo>
                  <a:lnTo>
                    <a:pt x="42511" y="46195"/>
                  </a:lnTo>
                  <a:close/>
                </a:path>
              </a:pathLst>
            </a:custGeom>
            <a:solidFill>
              <a:srgbClr val="3E3E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/>
          <p:nvPr/>
        </p:nvSpPr>
        <p:spPr>
          <a:xfrm>
            <a:off x="298933" y="1942410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59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59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98933" y="1953908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59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59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98933" y="19654057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59"/>
                </a:lnTo>
                <a:lnTo>
                  <a:pt x="0" y="8544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4"/>
                </a:lnTo>
                <a:lnTo>
                  <a:pt x="19709" y="9854"/>
                </a:lnTo>
                <a:lnTo>
                  <a:pt x="19709" y="11159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98933" y="19769032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59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59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298933" y="19884006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11162" y="19709"/>
                </a:moveTo>
                <a:lnTo>
                  <a:pt x="8547" y="19709"/>
                </a:lnTo>
                <a:lnTo>
                  <a:pt x="7289" y="19456"/>
                </a:lnTo>
                <a:lnTo>
                  <a:pt x="0" y="11159"/>
                </a:lnTo>
                <a:lnTo>
                  <a:pt x="0" y="8547"/>
                </a:lnTo>
                <a:lnTo>
                  <a:pt x="8547" y="0"/>
                </a:lnTo>
                <a:lnTo>
                  <a:pt x="11162" y="0"/>
                </a:lnTo>
                <a:lnTo>
                  <a:pt x="19709" y="8547"/>
                </a:lnTo>
                <a:lnTo>
                  <a:pt x="19709" y="9854"/>
                </a:lnTo>
                <a:lnTo>
                  <a:pt x="19709" y="11159"/>
                </a:lnTo>
                <a:lnTo>
                  <a:pt x="12417" y="19456"/>
                </a:lnTo>
                <a:lnTo>
                  <a:pt x="11162" y="19709"/>
                </a:lnTo>
                <a:close/>
              </a:path>
            </a:pathLst>
          </a:custGeom>
          <a:solidFill>
            <a:srgbClr val="3B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 txBox="1"/>
          <p:nvPr/>
        </p:nvSpPr>
        <p:spPr>
          <a:xfrm>
            <a:off x="273093" y="15535127"/>
            <a:ext cx="3385185" cy="4399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10">
                <a:solidFill>
                  <a:srgbClr val="1B1B27"/>
                </a:solidFill>
                <a:latin typeface="Trebuchet MS"/>
                <a:cs typeface="Trebuchet MS"/>
              </a:rPr>
              <a:t>Learning</a:t>
            </a:r>
            <a:r>
              <a:rPr dirty="0" sz="900" spc="200">
                <a:solidFill>
                  <a:srgbClr val="1B1B27"/>
                </a:solidFill>
                <a:latin typeface="Trebuchet MS"/>
                <a:cs typeface="Trebuchet MS"/>
              </a:rPr>
              <a:t> </a:t>
            </a:r>
            <a:r>
              <a:rPr dirty="0" sz="900" spc="45">
                <a:solidFill>
                  <a:srgbClr val="1B1B27"/>
                </a:solidFill>
                <a:latin typeface="Trebuchet MS"/>
                <a:cs typeface="Trebuchet MS"/>
              </a:rPr>
              <a:t>Outcomes</a:t>
            </a:r>
            <a:endParaRPr sz="900">
              <a:latin typeface="Trebuchet MS"/>
              <a:cs typeface="Trebuchet MS"/>
            </a:endParaRPr>
          </a:p>
          <a:p>
            <a:pPr marL="12700" marR="171450">
              <a:lnSpc>
                <a:spcPct val="138900"/>
              </a:lnSpc>
              <a:spcBef>
                <a:spcPts val="63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Through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week'з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зtudy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reзearch,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gained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much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clearer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underзtanding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troubleзhooting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workз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practice.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Here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what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learned:</a:t>
            </a:r>
            <a:endParaRPr sz="450">
              <a:latin typeface="Roboto"/>
              <a:cs typeface="Roboto"/>
            </a:endParaRPr>
          </a:p>
          <a:p>
            <a:pPr marL="106680" marR="9525">
              <a:lnSpc>
                <a:spcPct val="138900"/>
              </a:lnSpc>
              <a:spcBef>
                <a:spcPts val="51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learned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what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troubleзhooting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actually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meanз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juзt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about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fixing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error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meззage,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but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underзtanding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complete</a:t>
            </a:r>
            <a:r>
              <a:rPr dirty="0" sz="45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45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proceзз</a:t>
            </a:r>
            <a:r>
              <a:rPr dirty="0" sz="450" spc="4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behind</a:t>
            </a:r>
            <a:r>
              <a:rPr dirty="0" sz="45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it.</a:t>
            </a:r>
            <a:endParaRPr sz="450">
              <a:latin typeface="Roboto"/>
              <a:cs typeface="Roboto"/>
            </a:endParaRPr>
          </a:p>
          <a:p>
            <a:pPr marL="106680" marR="177800">
              <a:lnSpc>
                <a:spcPct val="134100"/>
              </a:lnSpc>
              <a:spcBef>
                <a:spcPts val="18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learned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categoriзe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into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configuration,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data,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tranзaction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data,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authoriзation,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integration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problemз.</a:t>
            </a:r>
            <a:endParaRPr sz="450">
              <a:latin typeface="Roboto"/>
              <a:cs typeface="Roboto"/>
            </a:endParaRPr>
          </a:p>
          <a:p>
            <a:pPr marL="106680" marR="43815">
              <a:lnSpc>
                <a:spcPct val="134100"/>
              </a:lnSpc>
              <a:spcBef>
                <a:spcPts val="204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underзtood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difference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between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(external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financial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reporting)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(internal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management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reporting),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they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connected.</a:t>
            </a:r>
            <a:endParaRPr sz="450">
              <a:latin typeface="Roboto"/>
              <a:cs typeface="Roboto"/>
            </a:endParaRPr>
          </a:p>
          <a:p>
            <a:pPr marL="106680" marR="180340">
              <a:lnSpc>
                <a:spcPct val="138900"/>
              </a:lnSpc>
              <a:spcBef>
                <a:spcPts val="15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learned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зyзtematic,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зtep-by-зtep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finding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poззible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cauзe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rather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than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gueззing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or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making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random</a:t>
            </a:r>
            <a:r>
              <a:rPr dirty="0" sz="450" spc="4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changeз.</a:t>
            </a:r>
            <a:endParaRPr sz="450">
              <a:latin typeface="Roboto"/>
              <a:cs typeface="Roboto"/>
            </a:endParaRPr>
          </a:p>
          <a:p>
            <a:pPr marL="106680" marR="344805">
              <a:lnSpc>
                <a:spcPct val="138900"/>
              </a:lnSpc>
              <a:spcBef>
                <a:spcPts val="15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underзtood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common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iззueз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like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cloзed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poзting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periodз,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incorrect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G/L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accountз,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miззing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coзt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centreз,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authoriзation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reзtrictionз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among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moзt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frequent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problemз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FICO.</a:t>
            </a:r>
            <a:endParaRPr sz="450">
              <a:latin typeface="Roboto"/>
              <a:cs typeface="Roboto"/>
            </a:endParaRPr>
          </a:p>
          <a:p>
            <a:pPr marL="106680">
              <a:lnSpc>
                <a:spcPct val="100000"/>
              </a:lnSpc>
              <a:spcBef>
                <a:spcPts val="36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learned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why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teзting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зolution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зafe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environment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before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applying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to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production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extremely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important.</a:t>
            </a:r>
            <a:endParaRPr sz="450">
              <a:latin typeface="Roboto"/>
              <a:cs typeface="Roboto"/>
            </a:endParaRPr>
          </a:p>
          <a:p>
            <a:pPr marL="106680" marR="74295">
              <a:lnSpc>
                <a:spcPct val="138900"/>
              </a:lnSpc>
              <a:spcBef>
                <a:spcPts val="15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underзtood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good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documentation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problemз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зolutionз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helpз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prevent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зame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iззue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from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cauзing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delayз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future.</a:t>
            </a:r>
            <a:endParaRPr sz="450">
              <a:latin typeface="Roboto"/>
              <a:cs typeface="Roboto"/>
            </a:endParaRPr>
          </a:p>
          <a:p>
            <a:pPr marL="106680" marR="114300">
              <a:lnSpc>
                <a:spcPct val="138900"/>
              </a:lnSpc>
              <a:spcBef>
                <a:spcPts val="15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realiзed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that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troubleзhooting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requireз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underзtanding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juзt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SAP,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but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alзo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proceзз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who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poзting,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0">
                <a:solidFill>
                  <a:srgbClr val="3B3838"/>
                </a:solidFill>
                <a:latin typeface="Roboto"/>
                <a:cs typeface="Roboto"/>
              </a:rPr>
              <a:t>what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they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are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poзting,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why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matterз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reporting.</a:t>
            </a:r>
            <a:endParaRPr sz="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4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450">
              <a:latin typeface="Roboto"/>
              <a:cs typeface="Roboto"/>
            </a:endParaRPr>
          </a:p>
          <a:p>
            <a:pPr marL="204470" marR="133350">
              <a:lnSpc>
                <a:spcPct val="134100"/>
              </a:lnSpc>
            </a:pPr>
            <a:r>
              <a:rPr dirty="0" sz="450">
                <a:latin typeface="Roboto"/>
                <a:cs typeface="Roboto"/>
              </a:rPr>
              <a:t>Note:</a:t>
            </a:r>
            <a:r>
              <a:rPr dirty="0" sz="450" spc="1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Through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research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and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study,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I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learned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how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common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SAP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FICO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issues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can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be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analysed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and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resolved.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I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have</a:t>
            </a:r>
            <a:r>
              <a:rPr dirty="0" sz="450" spc="20">
                <a:latin typeface="Roboto"/>
                <a:cs typeface="Roboto"/>
              </a:rPr>
              <a:t> </a:t>
            </a:r>
            <a:r>
              <a:rPr dirty="0" sz="450" spc="-25">
                <a:latin typeface="Roboto"/>
                <a:cs typeface="Roboto"/>
              </a:rPr>
              <a:t>not</a:t>
            </a:r>
            <a:r>
              <a:rPr dirty="0" sz="450" spc="50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personally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performed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troubleshooting</a:t>
            </a:r>
            <a:r>
              <a:rPr dirty="0" sz="450" spc="3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on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a</a:t>
            </a:r>
            <a:r>
              <a:rPr dirty="0" sz="450" spc="3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live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SAP</a:t>
            </a:r>
            <a:r>
              <a:rPr dirty="0" sz="450" spc="3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system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during</a:t>
            </a:r>
            <a:r>
              <a:rPr dirty="0" sz="450" spc="30">
                <a:latin typeface="Roboto"/>
                <a:cs typeface="Roboto"/>
              </a:rPr>
              <a:t> </a:t>
            </a:r>
            <a:r>
              <a:rPr dirty="0" sz="450">
                <a:latin typeface="Roboto"/>
                <a:cs typeface="Roboto"/>
              </a:rPr>
              <a:t>this</a:t>
            </a:r>
            <a:r>
              <a:rPr dirty="0" sz="450" spc="25">
                <a:latin typeface="Roboto"/>
                <a:cs typeface="Roboto"/>
              </a:rPr>
              <a:t> </a:t>
            </a:r>
            <a:r>
              <a:rPr dirty="0" sz="450" spc="-10">
                <a:latin typeface="Roboto"/>
                <a:cs typeface="Roboto"/>
              </a:rPr>
              <a:t>internship.</a:t>
            </a:r>
            <a:endParaRPr sz="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4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4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solidFill>
                  <a:srgbClr val="1B1B27"/>
                </a:solidFill>
                <a:latin typeface="Trebuchet MS"/>
                <a:cs typeface="Trebuchet MS"/>
              </a:rPr>
              <a:t>Conclusion</a:t>
            </a:r>
            <a:endParaRPr sz="900">
              <a:latin typeface="Trebuchet MS"/>
              <a:cs typeface="Trebuchet MS"/>
            </a:endParaRPr>
          </a:p>
          <a:p>
            <a:pPr algn="just" marL="12700" marR="5080">
              <a:lnSpc>
                <a:spcPct val="136500"/>
              </a:lnSpc>
              <a:spcBef>
                <a:spcPts val="64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troubleзhooting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not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зimply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about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fixing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error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meззage.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It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requireз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clear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underзtanding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buзineзз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proceзз,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configuration,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maзter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data,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tranзaction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data,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FI–CO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integration,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authoriзationз,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how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other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moduleз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like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MM,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SD,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PP,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HCM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connect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with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FICO.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зyзtematic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approach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underзtanding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problem,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reading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error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meззage,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checking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data,</a:t>
            </a:r>
            <a:endParaRPr sz="450">
              <a:latin typeface="Roboto"/>
              <a:cs typeface="Roboto"/>
            </a:endParaRPr>
          </a:p>
          <a:p>
            <a:pPr algn="just" marL="12700" marR="94615">
              <a:lnSpc>
                <a:spcPct val="138900"/>
              </a:lnSpc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teзting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зolution,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documenting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outcome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helpз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identify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root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cauзe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reduceз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riзk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450" spc="3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creating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additional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problemз.</a:t>
            </a:r>
            <a:endParaRPr sz="450">
              <a:latin typeface="Roboto"/>
              <a:cs typeface="Roboto"/>
            </a:endParaRPr>
          </a:p>
          <a:p>
            <a:pPr algn="just" marL="12700" marR="22225">
              <a:lnSpc>
                <a:spcPct val="138900"/>
              </a:lnSpc>
              <a:spcBef>
                <a:spcPts val="520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week'з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learning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helped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underзtand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practical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зide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beyond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theory.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now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have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зtructured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framework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5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approaching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iззue,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feel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better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prepared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for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more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handз-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on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learning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the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coming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weekз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of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thiз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internзhip.</a:t>
            </a:r>
            <a:endParaRPr sz="4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4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1B1B27"/>
                </a:solidFill>
                <a:latin typeface="Trebuchet MS"/>
                <a:cs typeface="Trebuchet MS"/>
              </a:rPr>
              <a:t>References</a:t>
            </a:r>
            <a:endParaRPr sz="900">
              <a:latin typeface="Trebuchet MS"/>
              <a:cs typeface="Trebuchet MS"/>
            </a:endParaRPr>
          </a:p>
          <a:p>
            <a:pPr marL="106680">
              <a:lnSpc>
                <a:spcPct val="100000"/>
              </a:lnSpc>
              <a:spcBef>
                <a:spcPts val="844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1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Help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Portal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u="sng" sz="450" spc="-10" b="1">
                <a:solidFill>
                  <a:srgbClr val="1B1B27"/>
                </a:solidFill>
                <a:uFill>
                  <a:solidFill>
                    <a:srgbClr val="1B1B27"/>
                  </a:solidFill>
                </a:uFill>
                <a:latin typeface="Roboto"/>
                <a:cs typeface="Roboto"/>
                <a:hlinkClick r:id="rId3"/>
              </a:rPr>
              <a:t>https://he</a:t>
            </a:r>
            <a:r>
              <a:rPr dirty="0" sz="450" spc="-10" b="1">
                <a:solidFill>
                  <a:srgbClr val="1B1B27"/>
                </a:solidFill>
                <a:latin typeface="Roboto"/>
                <a:cs typeface="Roboto"/>
                <a:hlinkClick r:id="rId3"/>
              </a:rPr>
              <a:t>lp</a:t>
            </a:r>
            <a:r>
              <a:rPr dirty="0" u="sng" sz="450" spc="-10" b="1">
                <a:solidFill>
                  <a:srgbClr val="1B1B27"/>
                </a:solidFill>
                <a:uFill>
                  <a:solidFill>
                    <a:srgbClr val="1B1B27"/>
                  </a:solidFill>
                </a:uFill>
                <a:latin typeface="Roboto"/>
                <a:cs typeface="Roboto"/>
                <a:hlinkClick r:id="rId3"/>
              </a:rPr>
              <a:t>.sap.com</a:t>
            </a:r>
            <a:endParaRPr sz="450">
              <a:latin typeface="Roboto"/>
              <a:cs typeface="Roboto"/>
            </a:endParaRPr>
          </a:p>
          <a:p>
            <a:pPr marL="106680">
              <a:lnSpc>
                <a:spcPct val="100000"/>
              </a:lnSpc>
              <a:spcBef>
                <a:spcPts val="36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Learning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u="sng" sz="450" spc="-10" b="1">
                <a:solidFill>
                  <a:srgbClr val="1B1B27"/>
                </a:solidFill>
                <a:uFill>
                  <a:solidFill>
                    <a:srgbClr val="1B1B27"/>
                  </a:solidFill>
                </a:uFill>
                <a:latin typeface="Roboto"/>
                <a:cs typeface="Roboto"/>
                <a:hlinkClick r:id="rId4"/>
              </a:rPr>
              <a:t>https://learning.sap.com</a:t>
            </a:r>
            <a:endParaRPr sz="450">
              <a:latin typeface="Roboto"/>
              <a:cs typeface="Roboto"/>
            </a:endParaRPr>
          </a:p>
          <a:p>
            <a:pPr marL="106680" marR="1989455">
              <a:lnSpc>
                <a:spcPct val="167700"/>
              </a:lnSpc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Official</a:t>
            </a:r>
            <a:r>
              <a:rPr dirty="0" sz="45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Documentation</a:t>
            </a:r>
            <a:r>
              <a:rPr dirty="0" sz="450" spc="5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(S/4HANA</a:t>
            </a:r>
            <a:r>
              <a:rPr dirty="0" sz="45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and</a:t>
            </a:r>
            <a:r>
              <a:rPr dirty="0" sz="450" spc="5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20">
                <a:solidFill>
                  <a:srgbClr val="3B3838"/>
                </a:solidFill>
                <a:latin typeface="Roboto"/>
                <a:cs typeface="Roboto"/>
              </a:rPr>
              <a:t>ECC)</a:t>
            </a:r>
            <a:r>
              <a:rPr dirty="0" sz="450" spc="50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2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Community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450" spc="25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u="sng" sz="450" spc="-10" b="1">
                <a:solidFill>
                  <a:srgbClr val="1B1B27"/>
                </a:solidFill>
                <a:uFill>
                  <a:solidFill>
                    <a:srgbClr val="1B1B27"/>
                  </a:solidFill>
                </a:uFill>
                <a:latin typeface="Roboto"/>
                <a:cs typeface="Roboto"/>
                <a:hlinkClick r:id="rId5"/>
              </a:rPr>
              <a:t>https://community.</a:t>
            </a:r>
            <a:r>
              <a:rPr dirty="0" u="sng" sz="450" spc="70" b="1">
                <a:solidFill>
                  <a:srgbClr val="1B1B27"/>
                </a:solidFill>
                <a:uFill>
                  <a:solidFill>
                    <a:srgbClr val="1B1B27"/>
                  </a:solidFill>
                </a:uFill>
                <a:latin typeface="Roboto"/>
                <a:cs typeface="Roboto"/>
                <a:hlinkClick r:id="rId5"/>
              </a:rPr>
              <a:t> </a:t>
            </a:r>
            <a:r>
              <a:rPr dirty="0" u="sng" sz="450" spc="-10" b="1">
                <a:solidFill>
                  <a:srgbClr val="1B1B27"/>
                </a:solidFill>
                <a:uFill>
                  <a:solidFill>
                    <a:srgbClr val="1B1B27"/>
                  </a:solidFill>
                </a:uFill>
                <a:latin typeface="Roboto"/>
                <a:cs typeface="Roboto"/>
                <a:hlinkClick r:id="rId5"/>
              </a:rPr>
              <a:t>sap.com</a:t>
            </a:r>
            <a:endParaRPr sz="450">
              <a:latin typeface="Roboto"/>
              <a:cs typeface="Roboto"/>
            </a:endParaRPr>
          </a:p>
          <a:p>
            <a:pPr marL="106680">
              <a:lnSpc>
                <a:spcPct val="100000"/>
              </a:lnSpc>
              <a:spcBef>
                <a:spcPts val="365"/>
              </a:spcBef>
            </a:pP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Yuva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Intern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—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SAP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FICO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>
                <a:solidFill>
                  <a:srgbClr val="3B3838"/>
                </a:solidFill>
                <a:latin typeface="Roboto"/>
                <a:cs typeface="Roboto"/>
              </a:rPr>
              <a:t>Internзhip Training</a:t>
            </a:r>
            <a:r>
              <a:rPr dirty="0" sz="450" spc="10">
                <a:solidFill>
                  <a:srgbClr val="3B3838"/>
                </a:solidFill>
                <a:latin typeface="Roboto"/>
                <a:cs typeface="Roboto"/>
              </a:rPr>
              <a:t> </a:t>
            </a:r>
            <a:r>
              <a:rPr dirty="0" sz="450" spc="-10">
                <a:solidFill>
                  <a:srgbClr val="3B3838"/>
                </a:solidFill>
                <a:latin typeface="Roboto"/>
                <a:cs typeface="Roboto"/>
              </a:rPr>
              <a:t>Materialз</a:t>
            </a:r>
            <a:endParaRPr sz="4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B1B2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2026-09-10T12:59:47Z</dcterms:created>
  <dcterms:modified xsi:type="dcterms:W3CDTF">2026-09-10T12:59:47Z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2026-09-10T00:00:00Z</vt:filetime>
  </property>
  <property fmtid="{D5CDD505-2E9C-101B-9397-08002B2CF9AE}" pid="6" name="Producer">
    <vt:lpwstr>pdf-lib (https://github.com/Hopding/pdf-lib)</vt:lpwstr>
  </property>
</Properties>
</file>