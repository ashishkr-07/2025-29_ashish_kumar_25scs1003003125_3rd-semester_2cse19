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20104100"/>
  <p:notesSz cx="114300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5975" y="461168"/>
            <a:ext cx="9518650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0926" y="2543620"/>
            <a:ext cx="4652009" cy="2628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help.sap.com/" TargetMode="External"/><Relationship Id="rId3" Type="http://schemas.openxmlformats.org/officeDocument/2006/relationships/hyperlink" Target="https://learning.sap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1108868"/>
            <a:ext cx="5126355" cy="565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60"/>
              <a:t>Week</a:t>
            </a:r>
            <a:r>
              <a:rPr dirty="0" spc="-135"/>
              <a:t> </a:t>
            </a:r>
            <a:r>
              <a:rPr dirty="0"/>
              <a:t>2</a:t>
            </a:r>
            <a:r>
              <a:rPr dirty="0" spc="-135"/>
              <a:t> </a:t>
            </a:r>
            <a:r>
              <a:rPr dirty="0"/>
              <a:t>Internship</a:t>
            </a:r>
            <a:r>
              <a:rPr dirty="0" spc="-135"/>
              <a:t> </a:t>
            </a:r>
            <a:r>
              <a:rPr dirty="0" spc="-10"/>
              <a:t>Report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928494"/>
            <a:ext cx="9400540" cy="33477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ts val="6080"/>
              </a:lnSpc>
              <a:spcBef>
                <a:spcPts val="125"/>
              </a:spcBef>
            </a:pPr>
            <a:r>
              <a:rPr dirty="0" sz="490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4900" spc="-6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4900" spc="-125">
                <a:solidFill>
                  <a:srgbClr val="020202"/>
                </a:solidFill>
                <a:latin typeface="Georgia"/>
                <a:cs typeface="Georgia"/>
              </a:rPr>
              <a:t>FICO </a:t>
            </a:r>
            <a:r>
              <a:rPr dirty="0" sz="4900">
                <a:solidFill>
                  <a:srgbClr val="020202"/>
                </a:solidFill>
                <a:latin typeface="Georgia"/>
                <a:cs typeface="Georgia"/>
              </a:rPr>
              <a:t>Configuration</a:t>
            </a:r>
            <a:r>
              <a:rPr dirty="0" sz="4900" spc="-2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4900" spc="-100">
                <a:solidFill>
                  <a:srgbClr val="020202"/>
                </a:solidFill>
                <a:latin typeface="Georgia"/>
                <a:cs typeface="Georgia"/>
              </a:rPr>
              <a:t>–</a:t>
            </a:r>
            <a:r>
              <a:rPr dirty="0" sz="4900" spc="-28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4900">
                <a:solidFill>
                  <a:srgbClr val="020202"/>
                </a:solidFill>
                <a:latin typeface="Georgia"/>
                <a:cs typeface="Georgia"/>
              </a:rPr>
              <a:t>A</a:t>
            </a:r>
            <a:r>
              <a:rPr dirty="0" sz="4900" spc="-1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4900" spc="-10">
                <a:solidFill>
                  <a:srgbClr val="020202"/>
                </a:solidFill>
                <a:latin typeface="Georgia"/>
                <a:cs typeface="Georgia"/>
              </a:rPr>
              <a:t>Step-</a:t>
            </a:r>
            <a:r>
              <a:rPr dirty="0" sz="4900" spc="-75">
                <a:solidFill>
                  <a:srgbClr val="020202"/>
                </a:solidFill>
                <a:latin typeface="Georgia"/>
                <a:cs typeface="Georgia"/>
              </a:rPr>
              <a:t>by-</a:t>
            </a:r>
            <a:r>
              <a:rPr dirty="0" sz="4900">
                <a:solidFill>
                  <a:srgbClr val="020202"/>
                </a:solidFill>
                <a:latin typeface="Georgia"/>
                <a:cs typeface="Georgia"/>
              </a:rPr>
              <a:t>Step</a:t>
            </a:r>
            <a:r>
              <a:rPr dirty="0" sz="4900" spc="2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4900" spc="-20">
                <a:solidFill>
                  <a:srgbClr val="020202"/>
                </a:solidFill>
                <a:latin typeface="Georgia"/>
                <a:cs typeface="Georgia"/>
              </a:rPr>
              <a:t>Guide</a:t>
            </a:r>
            <a:endParaRPr sz="4900">
              <a:latin typeface="Georgia"/>
              <a:cs typeface="Georgia"/>
            </a:endParaRPr>
          </a:p>
          <a:p>
            <a:pPr marL="12700" marR="4171950">
              <a:lnSpc>
                <a:spcPct val="226900"/>
              </a:lnSpc>
              <a:spcBef>
                <a:spcPts val="17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Prepared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part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Yuva</a:t>
            </a:r>
            <a:r>
              <a:rPr dirty="0" sz="1350" spc="2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383838"/>
                </a:solidFill>
                <a:latin typeface="Trebuchet MS"/>
                <a:cs typeface="Trebuchet MS"/>
              </a:rPr>
              <a:t>Intern </a:t>
            </a:r>
            <a:r>
              <a:rPr dirty="0" sz="1350" spc="55" b="1">
                <a:solidFill>
                  <a:srgbClr val="383838"/>
                </a:solidFill>
                <a:latin typeface="Trebuchet MS"/>
                <a:cs typeface="Trebuchet MS"/>
              </a:rPr>
              <a:t>Student</a:t>
            </a:r>
            <a:r>
              <a:rPr dirty="0" sz="1350" spc="-5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Name:</a:t>
            </a:r>
            <a:r>
              <a:rPr dirty="0" sz="1350" spc="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Ashish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Kumar</a:t>
            </a:r>
            <a:r>
              <a:rPr dirty="0" sz="1350" spc="3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|</a:t>
            </a:r>
            <a:r>
              <a:rPr dirty="0" sz="1350" spc="3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383838"/>
                </a:solidFill>
                <a:latin typeface="Trebuchet MS"/>
                <a:cs typeface="Trebuchet MS"/>
              </a:rPr>
              <a:t>Roll</a:t>
            </a:r>
            <a:r>
              <a:rPr dirty="0" sz="1350" spc="-4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Number: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25SCS1003003125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60" b="1">
                <a:solidFill>
                  <a:srgbClr val="383838"/>
                </a:solidFill>
                <a:latin typeface="Trebuchet MS"/>
                <a:cs typeface="Trebuchet MS"/>
              </a:rPr>
              <a:t>Course</a:t>
            </a:r>
            <a:r>
              <a:rPr dirty="0" sz="1350" spc="-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/ Department:</a:t>
            </a:r>
            <a:r>
              <a:rPr dirty="0" sz="1350" spc="5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B.Tech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(CSE)</a:t>
            </a:r>
            <a:r>
              <a:rPr dirty="0" sz="1350" spc="4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|</a:t>
            </a:r>
            <a:r>
              <a:rPr dirty="0" sz="1350" spc="4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College /</a:t>
            </a:r>
            <a:r>
              <a:rPr dirty="0" sz="1350" spc="-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University:</a:t>
            </a:r>
            <a:r>
              <a:rPr dirty="0" sz="1350" spc="5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-70">
                <a:solidFill>
                  <a:srgbClr val="383838"/>
                </a:solidFill>
                <a:latin typeface="Tahoma"/>
                <a:cs typeface="Tahoma"/>
              </a:rPr>
              <a:t>IILM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University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Greater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Noida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Internship</a:t>
            </a:r>
            <a:r>
              <a:rPr dirty="0" sz="1350" spc="-1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Organisation:</a:t>
            </a:r>
            <a:r>
              <a:rPr dirty="0" sz="1350" spc="3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Yuva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</a:t>
            </a:r>
            <a:r>
              <a:rPr dirty="0" sz="1350" spc="4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|</a:t>
            </a:r>
            <a:r>
              <a:rPr dirty="0" sz="1350" spc="4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Internship</a:t>
            </a:r>
            <a:r>
              <a:rPr dirty="0" sz="1350" spc="-1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-25" b="1">
                <a:solidFill>
                  <a:srgbClr val="383838"/>
                </a:solidFill>
                <a:latin typeface="Trebuchet MS"/>
                <a:cs typeface="Trebuchet MS"/>
              </a:rPr>
              <a:t>Title:</a:t>
            </a:r>
            <a:r>
              <a:rPr dirty="0" sz="1350" spc="3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Week:</a:t>
            </a:r>
            <a:r>
              <a:rPr dirty="0" sz="1350" spc="-6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2</a:t>
            </a:r>
            <a:r>
              <a:rPr dirty="0" sz="1350" spc="2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|</a:t>
            </a:r>
            <a:r>
              <a:rPr dirty="0" sz="1350" spc="2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 b="1">
                <a:solidFill>
                  <a:srgbClr val="383838"/>
                </a:solidFill>
                <a:latin typeface="Trebuchet MS"/>
                <a:cs typeface="Trebuchet MS"/>
              </a:rPr>
              <a:t>Submission</a:t>
            </a:r>
            <a:r>
              <a:rPr dirty="0" sz="1350" spc="-10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Date:</a:t>
            </a:r>
            <a:r>
              <a:rPr dirty="0" sz="1350" spc="-5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06/09/2026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Table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1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26514"/>
            <a:ext cx="9563735" cy="12827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covers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key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concepts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8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studied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during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Week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2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my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internship.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organised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build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understanding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progressively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basic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definitions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different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parts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together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real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business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scenario.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326765" algn="l"/>
                <a:tab pos="6641465" algn="l"/>
              </a:tabLst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01</a:t>
            </a:r>
            <a:r>
              <a:rPr dirty="0" sz="1350">
                <a:solidFill>
                  <a:srgbClr val="383838"/>
                </a:solidFill>
                <a:latin typeface="Georgia"/>
                <a:cs typeface="Georgia"/>
              </a:rPr>
              <a:t>	</a:t>
            </a: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02</a:t>
            </a:r>
            <a:r>
              <a:rPr dirty="0" sz="1350">
                <a:solidFill>
                  <a:srgbClr val="383838"/>
                </a:solidFill>
                <a:latin typeface="Georgia"/>
                <a:cs typeface="Georgia"/>
              </a:rPr>
              <a:t>	</a:t>
            </a: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03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8675" y="2667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5975" y="2772219"/>
            <a:ext cx="2826385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Introduction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is,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means,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why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matters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43375" y="2667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0675" y="2772219"/>
            <a:ext cx="312293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94995">
              <a:lnSpc>
                <a:spcPct val="103600"/>
              </a:lnSpc>
              <a:spcBef>
                <a:spcPts val="4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Understanding</a:t>
            </a:r>
            <a:r>
              <a:rPr dirty="0" sz="1750" spc="-1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45">
                <a:solidFill>
                  <a:srgbClr val="383838"/>
                </a:solidFill>
                <a:latin typeface="Georgia"/>
                <a:cs typeface="Georgia"/>
              </a:rPr>
              <a:t>FICO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Configuration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29600"/>
              </a:lnSpc>
              <a:spcBef>
                <a:spcPts val="67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1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vs</a:t>
            </a:r>
            <a:r>
              <a:rPr dirty="0" sz="1350" spc="1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customisation,</a:t>
            </a:r>
            <a:r>
              <a:rPr dirty="0" sz="1350" spc="1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master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data,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transaction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8075" y="2667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445375" y="2772219"/>
            <a:ext cx="247396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256540">
              <a:lnSpc>
                <a:spcPct val="103600"/>
              </a:lnSpc>
              <a:spcBef>
                <a:spcPts val="4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Basic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Concepts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Before Configuration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29600"/>
              </a:lnSpc>
              <a:spcBef>
                <a:spcPts val="67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Client,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code,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chart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of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accounts,</a:t>
            </a:r>
            <a:r>
              <a:rPr dirty="0" sz="1350" spc="1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fiscal</a:t>
            </a:r>
            <a:r>
              <a:rPr dirty="0" sz="1350" spc="1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year,</a:t>
            </a:r>
            <a:r>
              <a:rPr dirty="0" sz="1350" spc="1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975" y="4292599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>
                <a:solidFill>
                  <a:srgbClr val="383838"/>
                </a:solidFill>
                <a:latin typeface="Georgia"/>
                <a:cs typeface="Georgia"/>
              </a:rPr>
              <a:t>04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8675" y="4572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5975" y="4677219"/>
            <a:ext cx="3081655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35">
                <a:solidFill>
                  <a:srgbClr val="383838"/>
                </a:solidFill>
                <a:latin typeface="Georgia"/>
                <a:cs typeface="Georgia"/>
              </a:rPr>
              <a:t>FICO</a:t>
            </a:r>
            <a:r>
              <a:rPr dirty="0" sz="1750" spc="-2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Enterprise</a:t>
            </a: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Structure</a:t>
            </a:r>
            <a:endParaRPr sz="1750">
              <a:latin typeface="Georgia"/>
              <a:cs typeface="Georgia"/>
            </a:endParaRPr>
          </a:p>
          <a:p>
            <a:pPr marL="12700" marR="101600">
              <a:lnSpc>
                <a:spcPct val="129600"/>
              </a:lnSpc>
              <a:spcBef>
                <a:spcPts val="67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Defining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companies,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codes,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350" spc="1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areas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30675" y="4292599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05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43375" y="4572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130675" y="4661445"/>
            <a:ext cx="2747645" cy="1491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14045">
              <a:lnSpc>
                <a:spcPct val="107100"/>
              </a:lnSpc>
              <a:spcBef>
                <a:spcPts val="9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Financial</a:t>
            </a: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Accounting Configuration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General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Ledger,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payable,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receivable,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asset accounting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5375" y="4292599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>
                <a:solidFill>
                  <a:srgbClr val="383838"/>
                </a:solidFill>
                <a:latin typeface="Georgia"/>
                <a:cs typeface="Georgia"/>
              </a:rPr>
              <a:t>06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58075" y="4572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45375" y="4677219"/>
            <a:ext cx="2626360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Controlling</a:t>
            </a:r>
            <a:r>
              <a:rPr dirty="0" sz="1750" spc="20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Configuration</a:t>
            </a:r>
            <a:endParaRPr sz="1750">
              <a:latin typeface="Georgia"/>
              <a:cs typeface="Georgia"/>
            </a:endParaRPr>
          </a:p>
          <a:p>
            <a:pPr marL="12700" marR="41910">
              <a:lnSpc>
                <a:spcPct val="129600"/>
              </a:lnSpc>
              <a:spcBef>
                <a:spcPts val="670"/>
              </a:spcBef>
            </a:pP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centres,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centres,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orders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5975" y="6473824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07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8675" y="67627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15975" y="6867969"/>
            <a:ext cx="292481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5"/>
              </a:spcBef>
            </a:pPr>
            <a:r>
              <a:rPr dirty="0" sz="1750" spc="-45">
                <a:solidFill>
                  <a:srgbClr val="383838"/>
                </a:solidFill>
                <a:latin typeface="Georgia"/>
                <a:cs typeface="Georgia"/>
              </a:rPr>
              <a:t>FI–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CO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Integration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295">
                <a:solidFill>
                  <a:srgbClr val="383838"/>
                </a:solidFill>
                <a:latin typeface="Georgia"/>
                <a:cs typeface="Georgia"/>
              </a:rPr>
              <a:t>&amp;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Module Integration</a:t>
            </a:r>
            <a:endParaRPr sz="1750">
              <a:latin typeface="Georgia"/>
              <a:cs typeface="Georgia"/>
            </a:endParaRPr>
          </a:p>
          <a:p>
            <a:pPr marL="12700" marR="243204">
              <a:lnSpc>
                <a:spcPct val="129600"/>
              </a:lnSpc>
              <a:spcBef>
                <a:spcPts val="67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together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connect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other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modules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30675" y="6473824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5">
                <a:solidFill>
                  <a:srgbClr val="383838"/>
                </a:solidFill>
                <a:latin typeface="Georgia"/>
                <a:cs typeface="Georgia"/>
              </a:rPr>
              <a:t>08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43375" y="67627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130675" y="6867969"/>
            <a:ext cx="298069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165100">
              <a:lnSpc>
                <a:spcPct val="103600"/>
              </a:lnSpc>
              <a:spcBef>
                <a:spcPts val="4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End-to-End</a:t>
            </a:r>
            <a:r>
              <a:rPr dirty="0" sz="1750" spc="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Scenario,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Challenges</a:t>
            </a:r>
            <a:r>
              <a:rPr dirty="0" sz="1750" spc="10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295">
                <a:solidFill>
                  <a:srgbClr val="383838"/>
                </a:solidFill>
                <a:latin typeface="Georgia"/>
                <a:cs typeface="Georgia"/>
              </a:rPr>
              <a:t>&amp;</a:t>
            </a:r>
            <a:r>
              <a:rPr dirty="0" sz="1750" spc="10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Best</a:t>
            </a:r>
            <a:r>
              <a:rPr dirty="0" sz="1750" spc="10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Practices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29600"/>
              </a:lnSpc>
              <a:spcBef>
                <a:spcPts val="670"/>
              </a:spcBef>
            </a:pP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ABC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Electronics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case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study,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common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problems,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practical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guidance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45375" y="6473824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>
                <a:solidFill>
                  <a:srgbClr val="383838"/>
                </a:solidFill>
                <a:latin typeface="Georgia"/>
                <a:cs typeface="Georgia"/>
              </a:rPr>
              <a:t>09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58075" y="67627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445375" y="6867969"/>
            <a:ext cx="312674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416559">
              <a:lnSpc>
                <a:spcPct val="103600"/>
              </a:lnSpc>
              <a:spcBef>
                <a:spcPts val="45"/>
              </a:spcBef>
            </a:pPr>
            <a:r>
              <a:rPr dirty="0" sz="1750" spc="-20">
                <a:solidFill>
                  <a:srgbClr val="383838"/>
                </a:solidFill>
                <a:latin typeface="Georgia"/>
                <a:cs typeface="Georgia"/>
              </a:rPr>
              <a:t>ECC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vs</a:t>
            </a:r>
            <a:r>
              <a:rPr dirty="0" sz="1750" spc="-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55">
                <a:solidFill>
                  <a:srgbClr val="383838"/>
                </a:solidFill>
                <a:latin typeface="Georgia"/>
                <a:cs typeface="Georgia"/>
              </a:rPr>
              <a:t>S/4HANA,</a:t>
            </a:r>
            <a:r>
              <a:rPr dirty="0" sz="1750" spc="-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Learning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Outcomes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295">
                <a:solidFill>
                  <a:srgbClr val="383838"/>
                </a:solidFill>
                <a:latin typeface="Georgia"/>
                <a:cs typeface="Georgia"/>
              </a:rPr>
              <a:t>&amp;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Conclusion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29600"/>
              </a:lnSpc>
              <a:spcBef>
                <a:spcPts val="67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Version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differences,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8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learned,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next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steps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26514"/>
            <a:ext cx="9690100" cy="36925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1100"/>
              </a:lnSpc>
              <a:spcBef>
                <a:spcPts val="7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most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widely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used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enterprise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software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systems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world.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helps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organisations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manage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their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business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processes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human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resources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supply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chain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single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system.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stands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400" spc="-30" i="1">
                <a:solidFill>
                  <a:srgbClr val="383838"/>
                </a:solidFill>
                <a:latin typeface="Arial"/>
                <a:cs typeface="Arial"/>
              </a:rPr>
              <a:t>Systems,</a:t>
            </a:r>
            <a:r>
              <a:rPr dirty="0" sz="1400" spc="10" i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383838"/>
                </a:solidFill>
                <a:latin typeface="Arial"/>
                <a:cs typeface="Arial"/>
              </a:rPr>
              <a:t>Applications,</a:t>
            </a:r>
            <a:r>
              <a:rPr dirty="0" sz="1400" spc="5" i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383838"/>
                </a:solidFill>
                <a:latin typeface="Arial"/>
                <a:cs typeface="Arial"/>
              </a:rPr>
              <a:t>and</a:t>
            </a:r>
            <a:r>
              <a:rPr dirty="0" sz="1400" spc="10" i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383838"/>
                </a:solidFill>
                <a:latin typeface="Arial"/>
                <a:cs typeface="Arial"/>
              </a:rPr>
              <a:t>Products</a:t>
            </a:r>
            <a:r>
              <a:rPr dirty="0" sz="1400" spc="5" i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383838"/>
                </a:solidFill>
                <a:latin typeface="Arial"/>
                <a:cs typeface="Arial"/>
              </a:rPr>
              <a:t>in</a:t>
            </a:r>
            <a:r>
              <a:rPr dirty="0" sz="1400" spc="10" i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383838"/>
                </a:solidFill>
                <a:latin typeface="Arial"/>
                <a:cs typeface="Arial"/>
              </a:rPr>
              <a:t>Data</a:t>
            </a:r>
            <a:r>
              <a:rPr dirty="0" sz="1400" spc="5" i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400" spc="-35" i="1">
                <a:solidFill>
                  <a:srgbClr val="383838"/>
                </a:solidFill>
                <a:latin typeface="Arial"/>
                <a:cs typeface="Arial"/>
              </a:rPr>
              <a:t>Processing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,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used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by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large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companies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across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industries globally.</a:t>
            </a:r>
            <a:endParaRPr sz="1350">
              <a:latin typeface="Tahoma"/>
              <a:cs typeface="Tahoma"/>
            </a:endParaRPr>
          </a:p>
          <a:p>
            <a:pPr marL="12700" marR="83820">
              <a:lnSpc>
                <a:spcPct val="132700"/>
              </a:lnSpc>
              <a:spcBef>
                <a:spcPts val="1525"/>
              </a:spcBef>
            </a:pPr>
            <a:r>
              <a:rPr dirty="0" sz="1350" spc="85" b="1">
                <a:solidFill>
                  <a:srgbClr val="383838"/>
                </a:solidFill>
                <a:latin typeface="Trebuchet MS"/>
                <a:cs typeface="Trebuchet MS"/>
              </a:rPr>
              <a:t>SAP</a:t>
            </a:r>
            <a:r>
              <a:rPr dirty="0" sz="1350" spc="-3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55" b="1">
                <a:solidFill>
                  <a:srgbClr val="383838"/>
                </a:solidFill>
                <a:latin typeface="Trebuchet MS"/>
                <a:cs typeface="Trebuchet MS"/>
              </a:rPr>
              <a:t>FICO</a:t>
            </a:r>
            <a:r>
              <a:rPr dirty="0" sz="1350" spc="2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one of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core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modules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SAP.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FICO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stands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Financial</a:t>
            </a:r>
            <a:r>
              <a:rPr dirty="0" sz="1350" spc="-3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60" b="1">
                <a:solidFill>
                  <a:srgbClr val="383838"/>
                </a:solidFill>
                <a:latin typeface="Trebuchet MS"/>
                <a:cs typeface="Trebuchet MS"/>
              </a:rPr>
              <a:t>Accounting</a:t>
            </a:r>
            <a:r>
              <a:rPr dirty="0" sz="1350" spc="-2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(FI)</a:t>
            </a:r>
            <a:r>
              <a:rPr dirty="0" sz="1350" spc="2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Controlling</a:t>
            </a:r>
            <a:r>
              <a:rPr dirty="0" sz="1350" spc="-2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(CO)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.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handles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external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things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like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balance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sheets,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loss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statements,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managing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with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customers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suppliers.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CO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handles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tracking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costs,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budgets,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profitability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within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organisation.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Together,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form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backbone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any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implementation.</a:t>
            </a:r>
            <a:endParaRPr sz="1350">
              <a:latin typeface="Tahoma"/>
              <a:cs typeface="Tahoma"/>
            </a:endParaRPr>
          </a:p>
          <a:p>
            <a:pPr marL="12700" marR="271780">
              <a:lnSpc>
                <a:spcPct val="134300"/>
              </a:lnSpc>
              <a:spcBef>
                <a:spcPts val="1500"/>
              </a:spcBef>
            </a:pPr>
            <a:r>
              <a:rPr dirty="0" sz="1350" spc="85" b="1">
                <a:solidFill>
                  <a:srgbClr val="383838"/>
                </a:solidFill>
                <a:latin typeface="Trebuchet MS"/>
                <a:cs typeface="Trebuchet MS"/>
              </a:rPr>
              <a:t>SAP</a:t>
            </a:r>
            <a:r>
              <a:rPr dirty="0" sz="1350" spc="-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10" b="1">
                <a:solidFill>
                  <a:srgbClr val="383838"/>
                </a:solidFill>
                <a:latin typeface="Trebuchet MS"/>
                <a:cs typeface="Trebuchet MS"/>
              </a:rPr>
              <a:t>configuration</a:t>
            </a:r>
            <a:r>
              <a:rPr dirty="0" sz="1350" spc="4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means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setting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up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system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match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specific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organisation's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requirements.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Every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different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have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different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departments,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currencies,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tax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rules,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payment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methods,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needs.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tell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way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particular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needs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work.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same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writing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changing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software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itself.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uses the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tools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settings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already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provides.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012" y="5430191"/>
            <a:ext cx="9095789" cy="19252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74775" y="7750443"/>
            <a:ext cx="1126490" cy="612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2545">
              <a:lnSpc>
                <a:spcPct val="106900"/>
              </a:lnSpc>
              <a:spcBef>
                <a:spcPts val="95"/>
              </a:spcBef>
            </a:pPr>
            <a:r>
              <a:rPr dirty="0" sz="1800" spc="-50">
                <a:solidFill>
                  <a:srgbClr val="383838"/>
                </a:solidFill>
                <a:latin typeface="Georgia"/>
                <a:cs typeface="Georgia"/>
              </a:rPr>
              <a:t>FI</a:t>
            </a:r>
            <a:r>
              <a:rPr dirty="0" sz="1800" spc="-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and</a:t>
            </a:r>
            <a:r>
              <a:rPr dirty="0" sz="1800" spc="-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25">
                <a:solidFill>
                  <a:srgbClr val="383838"/>
                </a:solidFill>
                <a:latin typeface="Georgia"/>
                <a:cs typeface="Georgia"/>
              </a:rPr>
              <a:t>CO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Processing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6218" y="7750443"/>
            <a:ext cx="1347470" cy="612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12090">
              <a:lnSpc>
                <a:spcPct val="106900"/>
              </a:lnSpc>
              <a:spcBef>
                <a:spcPts val="95"/>
              </a:spcBef>
            </a:pP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Business Transactions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6155" y="7913216"/>
            <a:ext cx="1271270" cy="302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Master</a:t>
            </a:r>
            <a:r>
              <a:rPr dirty="0" sz="1800" spc="-5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20">
                <a:solidFill>
                  <a:srgbClr val="383838"/>
                </a:solidFill>
                <a:latin typeface="Georgia"/>
                <a:cs typeface="Georgia"/>
              </a:rPr>
              <a:t>Data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1351" y="7603855"/>
            <a:ext cx="1323975" cy="89535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dirty="0" sz="1800" spc="-25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endParaRPr sz="1800">
              <a:latin typeface="Georgia"/>
              <a:cs typeface="Georgia"/>
            </a:endParaRPr>
          </a:p>
          <a:p>
            <a:pPr algn="ctr" marL="12700" marR="5080">
              <a:lnSpc>
                <a:spcPct val="103299"/>
              </a:lnSpc>
              <a:spcBef>
                <a:spcPts val="75"/>
              </a:spcBef>
            </a:pP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Configuratio </a:t>
            </a:r>
            <a:r>
              <a:rPr dirty="0" sz="1800" spc="-50">
                <a:solidFill>
                  <a:srgbClr val="383838"/>
                </a:solidFill>
                <a:latin typeface="Georgia"/>
                <a:cs typeface="Georgia"/>
              </a:rPr>
              <a:t>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7845" y="7603855"/>
            <a:ext cx="1355725" cy="895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>
              <a:lnSpc>
                <a:spcPct val="105100"/>
              </a:lnSpc>
              <a:spcBef>
                <a:spcPts val="135"/>
              </a:spcBef>
            </a:pP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Business Requirement </a:t>
            </a:r>
            <a:r>
              <a:rPr dirty="0" sz="1800" spc="-50">
                <a:solidFill>
                  <a:srgbClr val="383838"/>
                </a:solidFill>
                <a:latin typeface="Georgia"/>
                <a:cs typeface="Georgia"/>
              </a:rPr>
              <a:t>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975" y="8927465"/>
            <a:ext cx="9752965" cy="1120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2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Understanding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someone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because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foundation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transactions and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reports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built.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Without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proper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configuration,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system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cannot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transactions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correctly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or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produce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accurate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reports.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During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week,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8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focused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building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conceptual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understanding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how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configured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why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step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matters.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Understanding</a:t>
            </a:r>
            <a:r>
              <a:rPr dirty="0" spc="-135"/>
              <a:t> </a:t>
            </a:r>
            <a:r>
              <a:rPr dirty="0"/>
              <a:t>SAP</a:t>
            </a:r>
            <a:r>
              <a:rPr dirty="0" spc="-135"/>
              <a:t> </a:t>
            </a:r>
            <a:r>
              <a:rPr dirty="0" spc="-85"/>
              <a:t>FICO</a:t>
            </a:r>
            <a:r>
              <a:rPr dirty="0" spc="-130"/>
              <a:t> </a:t>
            </a:r>
            <a:r>
              <a:rPr dirty="0" spc="-10"/>
              <a:t>Configuration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16989"/>
            <a:ext cx="965962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Before diving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into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specific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steps,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understand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configuration actually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means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context,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differs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other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concepts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often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confused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it.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4850" y="2124075"/>
            <a:ext cx="4924425" cy="4962525"/>
          </a:xfrm>
          <a:custGeom>
            <a:avLst/>
            <a:gdLst/>
            <a:ahLst/>
            <a:cxnLst/>
            <a:rect l="l" t="t" r="r" b="b"/>
            <a:pathLst>
              <a:path w="4924425" h="4962525">
                <a:moveTo>
                  <a:pt x="4905832" y="4962525"/>
                </a:moveTo>
                <a:lnTo>
                  <a:pt x="18592" y="4962525"/>
                </a:lnTo>
                <a:lnTo>
                  <a:pt x="15859" y="4961982"/>
                </a:lnTo>
                <a:lnTo>
                  <a:pt x="0" y="4943932"/>
                </a:lnTo>
                <a:lnTo>
                  <a:pt x="0" y="4941093"/>
                </a:lnTo>
                <a:lnTo>
                  <a:pt x="0" y="18592"/>
                </a:lnTo>
                <a:lnTo>
                  <a:pt x="18592" y="0"/>
                </a:lnTo>
                <a:lnTo>
                  <a:pt x="4905832" y="0"/>
                </a:lnTo>
                <a:lnTo>
                  <a:pt x="4924425" y="18592"/>
                </a:lnTo>
                <a:lnTo>
                  <a:pt x="4924425" y="4943932"/>
                </a:lnTo>
                <a:lnTo>
                  <a:pt x="4908565" y="4961982"/>
                </a:lnTo>
                <a:lnTo>
                  <a:pt x="4905832" y="4962525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4047" y="2276919"/>
            <a:ext cx="4529455" cy="179958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What</a:t>
            </a:r>
            <a:r>
              <a:rPr dirty="0" sz="1750" spc="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is</a:t>
            </a:r>
            <a:r>
              <a:rPr dirty="0" sz="1750" spc="2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Configuration?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1065"/>
              </a:spcBef>
            </a:pPr>
            <a:r>
              <a:rPr dirty="0" sz="1350" spc="10">
                <a:latin typeface="Tahoma"/>
                <a:cs typeface="Tahoma"/>
              </a:rPr>
              <a:t>Configuration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is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the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65">
                <a:latin typeface="Tahoma"/>
                <a:cs typeface="Tahoma"/>
              </a:rPr>
              <a:t>process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of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setting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up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SAP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using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25">
                <a:latin typeface="Tahoma"/>
                <a:cs typeface="Tahoma"/>
              </a:rPr>
              <a:t>its </a:t>
            </a:r>
            <a:r>
              <a:rPr dirty="0" sz="1350" spc="55">
                <a:latin typeface="Tahoma"/>
                <a:cs typeface="Tahoma"/>
              </a:rPr>
              <a:t>built-in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settings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to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match</a:t>
            </a:r>
            <a:r>
              <a:rPr dirty="0" sz="1350" spc="4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a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business's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60">
                <a:latin typeface="Tahoma"/>
                <a:cs typeface="Tahoma"/>
              </a:rPr>
              <a:t>specific </a:t>
            </a:r>
            <a:r>
              <a:rPr dirty="0" sz="1350">
                <a:latin typeface="Tahoma"/>
                <a:cs typeface="Tahoma"/>
              </a:rPr>
              <a:t>requirements.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-60">
                <a:latin typeface="Tahoma"/>
                <a:cs typeface="Tahoma"/>
              </a:rPr>
              <a:t>It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is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done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through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the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SAP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Implementation </a:t>
            </a:r>
            <a:r>
              <a:rPr dirty="0" sz="1350" spc="60">
                <a:latin typeface="Tahoma"/>
                <a:cs typeface="Tahoma"/>
              </a:rPr>
              <a:t>Guide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(IMG),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which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is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SAP's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official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framework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for </a:t>
            </a:r>
            <a:r>
              <a:rPr dirty="0" sz="1350" spc="10">
                <a:latin typeface="Tahoma"/>
                <a:cs typeface="Tahoma"/>
              </a:rPr>
              <a:t>configuration</a:t>
            </a:r>
            <a:r>
              <a:rPr dirty="0" sz="1350" spc="27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activities.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4047" y="4203065"/>
            <a:ext cx="4528185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latin typeface="Tahoma"/>
                <a:cs typeface="Tahoma"/>
              </a:rPr>
              <a:t>For example, when we create a </a:t>
            </a:r>
            <a:r>
              <a:rPr dirty="0" sz="1350" spc="60">
                <a:latin typeface="Tahoma"/>
                <a:cs typeface="Tahoma"/>
              </a:rPr>
              <a:t>company</a:t>
            </a:r>
            <a:r>
              <a:rPr dirty="0" sz="1350">
                <a:latin typeface="Tahoma"/>
                <a:cs typeface="Tahoma"/>
              </a:rPr>
              <a:t> </a:t>
            </a:r>
            <a:r>
              <a:rPr dirty="0" sz="1350" spc="80">
                <a:latin typeface="Tahoma"/>
                <a:cs typeface="Tahoma"/>
              </a:rPr>
              <a:t>code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in </a:t>
            </a:r>
            <a:r>
              <a:rPr dirty="0" sz="1350" spc="-35">
                <a:latin typeface="Tahoma"/>
                <a:cs typeface="Tahoma"/>
              </a:rPr>
              <a:t>SAP,</a:t>
            </a:r>
            <a:r>
              <a:rPr dirty="0" sz="135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we </a:t>
            </a:r>
            <a:r>
              <a:rPr dirty="0" sz="1350">
                <a:latin typeface="Tahoma"/>
                <a:cs typeface="Tahoma"/>
              </a:rPr>
              <a:t>are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configuring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the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system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—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we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are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telling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SAP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that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this </a:t>
            </a:r>
            <a:r>
              <a:rPr dirty="0" sz="1350">
                <a:latin typeface="Tahoma"/>
                <a:cs typeface="Tahoma"/>
              </a:rPr>
              <a:t>organisation</a:t>
            </a:r>
            <a:r>
              <a:rPr dirty="0" sz="1350" spc="13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exists</a:t>
            </a:r>
            <a:r>
              <a:rPr dirty="0" sz="1350" spc="13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and</a:t>
            </a:r>
            <a:r>
              <a:rPr dirty="0" sz="1350" spc="13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defining</a:t>
            </a:r>
            <a:r>
              <a:rPr dirty="0" sz="1350" spc="13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its</a:t>
            </a:r>
            <a:r>
              <a:rPr dirty="0" sz="1350" spc="13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financial</a:t>
            </a:r>
            <a:r>
              <a:rPr dirty="0" sz="1350" spc="13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reporting structure.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0926" y="2276919"/>
            <a:ext cx="4491990" cy="23520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Configuration</a:t>
            </a:r>
            <a:r>
              <a:rPr dirty="0" sz="1750" spc="10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vs</a:t>
            </a:r>
            <a:r>
              <a:rPr dirty="0" sz="1750" spc="10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Customisation</a:t>
            </a:r>
            <a:endParaRPr sz="1750">
              <a:latin typeface="Georgia"/>
              <a:cs typeface="Georgia"/>
            </a:endParaRPr>
          </a:p>
          <a:p>
            <a:pPr marL="12700" marR="447040">
              <a:lnSpc>
                <a:spcPct val="134300"/>
              </a:lnSpc>
              <a:spcBef>
                <a:spcPts val="1045"/>
              </a:spcBef>
            </a:pP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Configuration</a:t>
            </a:r>
            <a:r>
              <a:rPr dirty="0" sz="1350" spc="18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uses</a:t>
            </a:r>
            <a:r>
              <a:rPr dirty="0" sz="1350" spc="1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standard</a:t>
            </a:r>
            <a:r>
              <a:rPr dirty="0" sz="1350" spc="1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1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settings</a:t>
            </a:r>
            <a:r>
              <a:rPr dirty="0" sz="1350" spc="1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1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no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programming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required.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 b="1">
                <a:solidFill>
                  <a:srgbClr val="383838"/>
                </a:solidFill>
                <a:latin typeface="Trebuchet MS"/>
                <a:cs typeface="Trebuchet MS"/>
              </a:rPr>
              <a:t>Customisation</a:t>
            </a:r>
            <a:r>
              <a:rPr dirty="0" sz="1350" spc="8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involves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changing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extending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SAP's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standard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functionality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through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development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work (ABAP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programming).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ts val="2180"/>
              </a:lnSpc>
              <a:spcBef>
                <a:spcPts val="1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should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always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be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tried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first;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customisation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should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only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used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standard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cannot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meet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a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specific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requirement.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0925" y="4820094"/>
            <a:ext cx="4453890" cy="20758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Configuration</a:t>
            </a:r>
            <a:r>
              <a:rPr dirty="0" sz="1750" spc="6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vs</a:t>
            </a:r>
            <a:r>
              <a:rPr dirty="0" sz="1750" spc="7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Master</a:t>
            </a:r>
            <a:r>
              <a:rPr dirty="0" sz="1750" spc="7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020202"/>
                </a:solidFill>
                <a:latin typeface="Georgia"/>
                <a:cs typeface="Georgia"/>
              </a:rPr>
              <a:t>Data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1100"/>
              </a:lnSpc>
              <a:spcBef>
                <a:spcPts val="103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sets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up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400" spc="10" i="1">
                <a:solidFill>
                  <a:srgbClr val="383838"/>
                </a:solidFill>
                <a:latin typeface="Arial"/>
                <a:cs typeface="Arial"/>
              </a:rPr>
              <a:t>structure</a:t>
            </a:r>
            <a:r>
              <a:rPr dirty="0" sz="1400" spc="75" i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system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(e.g.,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defining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account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groups).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Master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400" spc="-10" i="1">
                <a:solidFill>
                  <a:srgbClr val="383838"/>
                </a:solidFill>
                <a:latin typeface="Arial"/>
                <a:cs typeface="Arial"/>
              </a:rPr>
              <a:t>business </a:t>
            </a:r>
            <a:r>
              <a:rPr dirty="0" sz="1400" i="1">
                <a:solidFill>
                  <a:srgbClr val="383838"/>
                </a:solidFill>
                <a:latin typeface="Arial"/>
                <a:cs typeface="Arial"/>
              </a:rPr>
              <a:t>information</a:t>
            </a:r>
            <a:r>
              <a:rPr dirty="0" sz="1400" spc="175" i="1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stored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within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structure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80">
                <a:solidFill>
                  <a:srgbClr val="383838"/>
                </a:solidFill>
                <a:latin typeface="Tahoma"/>
                <a:cs typeface="Tahoma"/>
              </a:rPr>
              <a:t>(e.g.,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customer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records,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vendor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records).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done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once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during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implementation;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master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created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maintained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continuously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during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day-to-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day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operations.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3437" y="7281863"/>
            <a:ext cx="9763125" cy="3371850"/>
          </a:xfrm>
          <a:custGeom>
            <a:avLst/>
            <a:gdLst/>
            <a:ahLst/>
            <a:cxnLst/>
            <a:rect l="l" t="t" r="r" b="b"/>
            <a:pathLst>
              <a:path w="9763125" h="3371850">
                <a:moveTo>
                  <a:pt x="0" y="3355181"/>
                </a:moveTo>
                <a:lnTo>
                  <a:pt x="0" y="16668"/>
                </a:lnTo>
                <a:lnTo>
                  <a:pt x="0" y="14458"/>
                </a:lnTo>
                <a:lnTo>
                  <a:pt x="419" y="12334"/>
                </a:lnTo>
                <a:lnTo>
                  <a:pt x="1266" y="10287"/>
                </a:lnTo>
                <a:lnTo>
                  <a:pt x="2114" y="8248"/>
                </a:lnTo>
                <a:lnTo>
                  <a:pt x="3314" y="6448"/>
                </a:lnTo>
                <a:lnTo>
                  <a:pt x="4886" y="4886"/>
                </a:lnTo>
                <a:lnTo>
                  <a:pt x="6448" y="3314"/>
                </a:lnTo>
                <a:lnTo>
                  <a:pt x="8248" y="2114"/>
                </a:lnTo>
                <a:lnTo>
                  <a:pt x="10287" y="1266"/>
                </a:lnTo>
                <a:lnTo>
                  <a:pt x="12334" y="419"/>
                </a:lnTo>
                <a:lnTo>
                  <a:pt x="14458" y="0"/>
                </a:lnTo>
                <a:lnTo>
                  <a:pt x="16668" y="0"/>
                </a:lnTo>
                <a:lnTo>
                  <a:pt x="9746456" y="0"/>
                </a:lnTo>
                <a:lnTo>
                  <a:pt x="9748666" y="0"/>
                </a:lnTo>
                <a:lnTo>
                  <a:pt x="9750790" y="419"/>
                </a:lnTo>
                <a:lnTo>
                  <a:pt x="9752828" y="1266"/>
                </a:lnTo>
                <a:lnTo>
                  <a:pt x="9754876" y="2114"/>
                </a:lnTo>
                <a:lnTo>
                  <a:pt x="9756676" y="3314"/>
                </a:lnTo>
                <a:lnTo>
                  <a:pt x="9758238" y="4886"/>
                </a:lnTo>
                <a:lnTo>
                  <a:pt x="9759800" y="6448"/>
                </a:lnTo>
                <a:lnTo>
                  <a:pt x="9761010" y="8248"/>
                </a:lnTo>
                <a:lnTo>
                  <a:pt x="9761858" y="10287"/>
                </a:lnTo>
                <a:lnTo>
                  <a:pt x="9762696" y="12334"/>
                </a:lnTo>
                <a:lnTo>
                  <a:pt x="9763125" y="14458"/>
                </a:lnTo>
                <a:lnTo>
                  <a:pt x="9763125" y="16668"/>
                </a:lnTo>
                <a:lnTo>
                  <a:pt x="9763125" y="3355181"/>
                </a:lnTo>
                <a:lnTo>
                  <a:pt x="9763125" y="3357391"/>
                </a:lnTo>
                <a:lnTo>
                  <a:pt x="9762696" y="3359515"/>
                </a:lnTo>
                <a:lnTo>
                  <a:pt x="9761858" y="3361563"/>
                </a:lnTo>
                <a:lnTo>
                  <a:pt x="9761010" y="3363601"/>
                </a:lnTo>
                <a:lnTo>
                  <a:pt x="9759800" y="3365401"/>
                </a:lnTo>
                <a:lnTo>
                  <a:pt x="9758238" y="3366963"/>
                </a:lnTo>
                <a:lnTo>
                  <a:pt x="9756676" y="3368525"/>
                </a:lnTo>
                <a:lnTo>
                  <a:pt x="9754876" y="3369735"/>
                </a:lnTo>
                <a:lnTo>
                  <a:pt x="9752828" y="3370583"/>
                </a:lnTo>
                <a:lnTo>
                  <a:pt x="9750790" y="3371421"/>
                </a:lnTo>
                <a:lnTo>
                  <a:pt x="9748666" y="3371850"/>
                </a:lnTo>
                <a:lnTo>
                  <a:pt x="9746456" y="3371850"/>
                </a:lnTo>
                <a:lnTo>
                  <a:pt x="16668" y="3371850"/>
                </a:lnTo>
                <a:lnTo>
                  <a:pt x="14458" y="3371850"/>
                </a:lnTo>
                <a:lnTo>
                  <a:pt x="12334" y="3371421"/>
                </a:lnTo>
                <a:lnTo>
                  <a:pt x="10287" y="3370583"/>
                </a:lnTo>
                <a:lnTo>
                  <a:pt x="8248" y="3369735"/>
                </a:lnTo>
                <a:lnTo>
                  <a:pt x="6448" y="3368525"/>
                </a:lnTo>
                <a:lnTo>
                  <a:pt x="4886" y="3366963"/>
                </a:lnTo>
                <a:lnTo>
                  <a:pt x="3314" y="3365401"/>
                </a:lnTo>
                <a:lnTo>
                  <a:pt x="2114" y="3363601"/>
                </a:lnTo>
                <a:lnTo>
                  <a:pt x="1266" y="3361563"/>
                </a:lnTo>
                <a:lnTo>
                  <a:pt x="419" y="3359515"/>
                </a:lnTo>
                <a:lnTo>
                  <a:pt x="0" y="3357391"/>
                </a:lnTo>
                <a:lnTo>
                  <a:pt x="0" y="3355181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33437" y="7281863"/>
          <a:ext cx="9839325" cy="337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0"/>
                <a:gridCol w="3248025"/>
                <a:gridCol w="3257550"/>
              </a:tblGrid>
              <a:tr h="513715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6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Concept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4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Meaning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Example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Configuration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840105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Setting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up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according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business</a:t>
                      </a:r>
                      <a:r>
                        <a:rPr dirty="0" sz="1350" spc="-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requirements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Creating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code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Master</a:t>
                      </a:r>
                      <a:r>
                        <a:rPr dirty="0" sz="1350" spc="20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Long-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term</a:t>
                      </a:r>
                      <a:r>
                        <a:rPr dirty="0" sz="1350" spc="1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business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information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Customer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vendor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record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Transaction</a:t>
                      </a:r>
                      <a:r>
                        <a:rPr dirty="0" sz="1350" spc="229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73723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created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during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business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activities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invoice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Customisation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4625" marR="59309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Adapting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beyond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standard settings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 marR="67691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Configuring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unique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payment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procedure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15971" y="10784840"/>
            <a:ext cx="9591675" cy="1120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2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Functional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consultants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play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role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teams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understand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requirements,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then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translate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those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requirements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into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settings.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After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configuration,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thorough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testing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is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essential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error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lead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incorrect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affects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decision-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making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at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every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level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of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organisation.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975" y="461168"/>
            <a:ext cx="9726930" cy="1700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Basic</a:t>
            </a:r>
            <a:r>
              <a:rPr dirty="0" sz="3550" spc="-7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Concepts</a:t>
            </a:r>
            <a:r>
              <a:rPr dirty="0" sz="3550" spc="-7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Before</a:t>
            </a:r>
            <a:r>
              <a:rPr dirty="0" sz="3550" spc="-7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 spc="-10">
                <a:solidFill>
                  <a:srgbClr val="020202"/>
                </a:solidFill>
                <a:latin typeface="Georgia"/>
                <a:cs typeface="Georgia"/>
              </a:rPr>
              <a:t>Configuration</a:t>
            </a:r>
            <a:endParaRPr sz="3550">
              <a:latin typeface="Georgia"/>
              <a:cs typeface="Georgia"/>
            </a:endParaRPr>
          </a:p>
          <a:p>
            <a:pPr algn="just" marL="12700" marR="5080">
              <a:lnSpc>
                <a:spcPct val="131900"/>
              </a:lnSpc>
              <a:spcBef>
                <a:spcPts val="252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Before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starting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there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several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fundamental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concepts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every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beginner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must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understand.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concepts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form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organisational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structural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foundation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entire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system.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Without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clear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understanding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these,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difficult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make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sense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steps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understand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why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required.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2400300"/>
            <a:ext cx="9753600" cy="1571625"/>
          </a:xfrm>
          <a:custGeom>
            <a:avLst/>
            <a:gdLst/>
            <a:ahLst/>
            <a:cxnLst/>
            <a:rect l="l" t="t" r="r" b="b"/>
            <a:pathLst>
              <a:path w="9753600" h="1571625">
                <a:moveTo>
                  <a:pt x="0" y="1559718"/>
                </a:moveTo>
                <a:lnTo>
                  <a:pt x="0" y="11906"/>
                </a:lnTo>
                <a:lnTo>
                  <a:pt x="0" y="8620"/>
                </a:lnTo>
                <a:lnTo>
                  <a:pt x="1162" y="5810"/>
                </a:lnTo>
                <a:lnTo>
                  <a:pt x="3486" y="3486"/>
                </a:lnTo>
                <a:lnTo>
                  <a:pt x="5810" y="1162"/>
                </a:lnTo>
                <a:lnTo>
                  <a:pt x="8620" y="0"/>
                </a:lnTo>
                <a:lnTo>
                  <a:pt x="11906" y="0"/>
                </a:lnTo>
                <a:lnTo>
                  <a:pt x="9741693" y="0"/>
                </a:lnTo>
                <a:lnTo>
                  <a:pt x="9744979" y="0"/>
                </a:lnTo>
                <a:lnTo>
                  <a:pt x="9747789" y="1162"/>
                </a:lnTo>
                <a:lnTo>
                  <a:pt x="9750113" y="3486"/>
                </a:lnTo>
                <a:lnTo>
                  <a:pt x="9752437" y="5810"/>
                </a:lnTo>
                <a:lnTo>
                  <a:pt x="9753600" y="8620"/>
                </a:lnTo>
                <a:lnTo>
                  <a:pt x="9753600" y="11906"/>
                </a:lnTo>
                <a:lnTo>
                  <a:pt x="9753600" y="1559718"/>
                </a:lnTo>
                <a:lnTo>
                  <a:pt x="9753600" y="1563004"/>
                </a:lnTo>
                <a:lnTo>
                  <a:pt x="9752437" y="1565814"/>
                </a:lnTo>
                <a:lnTo>
                  <a:pt x="9750113" y="1568138"/>
                </a:lnTo>
                <a:lnTo>
                  <a:pt x="9747789" y="1570462"/>
                </a:lnTo>
                <a:lnTo>
                  <a:pt x="9744979" y="1571625"/>
                </a:lnTo>
                <a:lnTo>
                  <a:pt x="9741693" y="1571625"/>
                </a:lnTo>
                <a:lnTo>
                  <a:pt x="11906" y="1571625"/>
                </a:lnTo>
                <a:lnTo>
                  <a:pt x="8620" y="1571625"/>
                </a:lnTo>
                <a:lnTo>
                  <a:pt x="5810" y="1570462"/>
                </a:lnTo>
                <a:lnTo>
                  <a:pt x="3486" y="1568138"/>
                </a:lnTo>
                <a:lnTo>
                  <a:pt x="1162" y="1565814"/>
                </a:lnTo>
                <a:lnTo>
                  <a:pt x="0" y="1563004"/>
                </a:lnTo>
                <a:lnTo>
                  <a:pt x="0" y="1559718"/>
                </a:lnTo>
                <a:close/>
              </a:path>
            </a:pathLst>
          </a:custGeom>
          <a:ln w="1905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8200" y="2400300"/>
          <a:ext cx="9829800" cy="157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/>
                <a:gridCol w="9058275"/>
              </a:tblGrid>
              <a:tr h="157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</a:pPr>
                      <a:r>
                        <a:rPr dirty="0" sz="2000" spc="165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solidFill>
                      <a:srgbClr val="F1EDED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750" spc="-1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Client</a:t>
                      </a:r>
                      <a:endParaRPr sz="1750">
                        <a:latin typeface="Georgia"/>
                        <a:cs typeface="Georgia"/>
                      </a:endParaRPr>
                    </a:p>
                    <a:p>
                      <a:pPr marL="170815" marR="202565">
                        <a:lnSpc>
                          <a:spcPct val="131900"/>
                        </a:lnSpc>
                        <a:spcBef>
                          <a:spcPts val="63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highest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level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hierarchy.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client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self-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contained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its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own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master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configuration.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Large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organisations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may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have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multiple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clients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different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purposes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(e.g.,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development,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testing, production).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77800"/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838200" y="4162425"/>
            <a:ext cx="9753600" cy="1295400"/>
          </a:xfrm>
          <a:custGeom>
            <a:avLst/>
            <a:gdLst/>
            <a:ahLst/>
            <a:cxnLst/>
            <a:rect l="l" t="t" r="r" b="b"/>
            <a:pathLst>
              <a:path w="9753600" h="1295400">
                <a:moveTo>
                  <a:pt x="0" y="1283493"/>
                </a:moveTo>
                <a:lnTo>
                  <a:pt x="0" y="11906"/>
                </a:lnTo>
                <a:lnTo>
                  <a:pt x="0" y="8620"/>
                </a:lnTo>
                <a:lnTo>
                  <a:pt x="1162" y="5810"/>
                </a:lnTo>
                <a:lnTo>
                  <a:pt x="3486" y="3486"/>
                </a:lnTo>
                <a:lnTo>
                  <a:pt x="5810" y="1162"/>
                </a:lnTo>
                <a:lnTo>
                  <a:pt x="8620" y="0"/>
                </a:lnTo>
                <a:lnTo>
                  <a:pt x="11906" y="0"/>
                </a:lnTo>
                <a:lnTo>
                  <a:pt x="9741693" y="0"/>
                </a:lnTo>
                <a:lnTo>
                  <a:pt x="9744979" y="0"/>
                </a:lnTo>
                <a:lnTo>
                  <a:pt x="9747789" y="1162"/>
                </a:lnTo>
                <a:lnTo>
                  <a:pt x="9750113" y="3486"/>
                </a:lnTo>
                <a:lnTo>
                  <a:pt x="9752437" y="5810"/>
                </a:lnTo>
                <a:lnTo>
                  <a:pt x="9753600" y="8620"/>
                </a:lnTo>
                <a:lnTo>
                  <a:pt x="9753600" y="11906"/>
                </a:lnTo>
                <a:lnTo>
                  <a:pt x="9753600" y="1283493"/>
                </a:lnTo>
                <a:lnTo>
                  <a:pt x="9753600" y="1286779"/>
                </a:lnTo>
                <a:lnTo>
                  <a:pt x="9752437" y="1289589"/>
                </a:lnTo>
                <a:lnTo>
                  <a:pt x="9750113" y="1291913"/>
                </a:lnTo>
                <a:lnTo>
                  <a:pt x="9747789" y="1294237"/>
                </a:lnTo>
                <a:lnTo>
                  <a:pt x="9744979" y="1295400"/>
                </a:lnTo>
                <a:lnTo>
                  <a:pt x="9741693" y="1295400"/>
                </a:lnTo>
                <a:lnTo>
                  <a:pt x="11906" y="1295400"/>
                </a:lnTo>
                <a:lnTo>
                  <a:pt x="8620" y="1295400"/>
                </a:lnTo>
                <a:lnTo>
                  <a:pt x="5810" y="1294237"/>
                </a:lnTo>
                <a:lnTo>
                  <a:pt x="3486" y="1291913"/>
                </a:lnTo>
                <a:lnTo>
                  <a:pt x="1162" y="1289589"/>
                </a:lnTo>
                <a:lnTo>
                  <a:pt x="0" y="1286779"/>
                </a:lnTo>
                <a:lnTo>
                  <a:pt x="0" y="1283493"/>
                </a:lnTo>
                <a:close/>
              </a:path>
            </a:pathLst>
          </a:custGeom>
          <a:ln w="1905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38200" y="4162425"/>
          <a:ext cx="98298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/>
                <a:gridCol w="9058275"/>
              </a:tblGrid>
              <a:tr h="129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</a:pPr>
                      <a:r>
                        <a:rPr dirty="0" sz="2000" spc="-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B="0" marT="187325">
                    <a:solidFill>
                      <a:srgbClr val="F1EDED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750" spc="-1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Company</a:t>
                      </a:r>
                      <a:endParaRPr sz="1750">
                        <a:latin typeface="Georgia"/>
                        <a:cs typeface="Georgia"/>
                      </a:endParaRPr>
                    </a:p>
                    <a:p>
                      <a:pPr marL="170815" marR="781685">
                        <a:lnSpc>
                          <a:spcPct val="134300"/>
                        </a:lnSpc>
                        <a:spcBef>
                          <a:spcPts val="520"/>
                        </a:spcBef>
                      </a:pP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legal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entity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group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companies.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SAP,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organisational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used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consolidated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across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multiple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codes.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7780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838200" y="5648325"/>
            <a:ext cx="9753600" cy="1571625"/>
          </a:xfrm>
          <a:custGeom>
            <a:avLst/>
            <a:gdLst/>
            <a:ahLst/>
            <a:cxnLst/>
            <a:rect l="l" t="t" r="r" b="b"/>
            <a:pathLst>
              <a:path w="9753600" h="1571625">
                <a:moveTo>
                  <a:pt x="0" y="1559718"/>
                </a:moveTo>
                <a:lnTo>
                  <a:pt x="0" y="11906"/>
                </a:lnTo>
                <a:lnTo>
                  <a:pt x="0" y="8620"/>
                </a:lnTo>
                <a:lnTo>
                  <a:pt x="1162" y="5810"/>
                </a:lnTo>
                <a:lnTo>
                  <a:pt x="3486" y="3486"/>
                </a:lnTo>
                <a:lnTo>
                  <a:pt x="5810" y="1162"/>
                </a:lnTo>
                <a:lnTo>
                  <a:pt x="8620" y="0"/>
                </a:lnTo>
                <a:lnTo>
                  <a:pt x="11906" y="0"/>
                </a:lnTo>
                <a:lnTo>
                  <a:pt x="9741693" y="0"/>
                </a:lnTo>
                <a:lnTo>
                  <a:pt x="9744979" y="0"/>
                </a:lnTo>
                <a:lnTo>
                  <a:pt x="9747789" y="1162"/>
                </a:lnTo>
                <a:lnTo>
                  <a:pt x="9750113" y="3486"/>
                </a:lnTo>
                <a:lnTo>
                  <a:pt x="9752437" y="5810"/>
                </a:lnTo>
                <a:lnTo>
                  <a:pt x="9753600" y="8620"/>
                </a:lnTo>
                <a:lnTo>
                  <a:pt x="9753600" y="11906"/>
                </a:lnTo>
                <a:lnTo>
                  <a:pt x="9753600" y="1559718"/>
                </a:lnTo>
                <a:lnTo>
                  <a:pt x="9753600" y="1563004"/>
                </a:lnTo>
                <a:lnTo>
                  <a:pt x="9752437" y="1565814"/>
                </a:lnTo>
                <a:lnTo>
                  <a:pt x="9750113" y="1568138"/>
                </a:lnTo>
                <a:lnTo>
                  <a:pt x="9747789" y="1570462"/>
                </a:lnTo>
                <a:lnTo>
                  <a:pt x="9744979" y="1571625"/>
                </a:lnTo>
                <a:lnTo>
                  <a:pt x="9741693" y="1571625"/>
                </a:lnTo>
                <a:lnTo>
                  <a:pt x="11906" y="1571625"/>
                </a:lnTo>
                <a:lnTo>
                  <a:pt x="8620" y="1571625"/>
                </a:lnTo>
                <a:lnTo>
                  <a:pt x="5810" y="1570462"/>
                </a:lnTo>
                <a:lnTo>
                  <a:pt x="3486" y="1568138"/>
                </a:lnTo>
                <a:lnTo>
                  <a:pt x="1162" y="1565814"/>
                </a:lnTo>
                <a:lnTo>
                  <a:pt x="0" y="1563004"/>
                </a:lnTo>
                <a:lnTo>
                  <a:pt x="0" y="1559718"/>
                </a:lnTo>
                <a:close/>
              </a:path>
            </a:pathLst>
          </a:custGeom>
          <a:ln w="1905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38200" y="5648325"/>
          <a:ext cx="9829800" cy="157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/>
                <a:gridCol w="9058275"/>
              </a:tblGrid>
              <a:tr h="157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</a:pPr>
                      <a:r>
                        <a:rPr dirty="0" sz="2000" spc="-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solidFill>
                      <a:srgbClr val="F1EDED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7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Company</a:t>
                      </a:r>
                      <a:r>
                        <a:rPr dirty="0" sz="1750" spc="3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750" spc="-2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Code</a:t>
                      </a:r>
                      <a:endParaRPr sz="1750">
                        <a:latin typeface="Georgia"/>
                        <a:cs typeface="Georgia"/>
                      </a:endParaRPr>
                    </a:p>
                    <a:p>
                      <a:pPr marL="170815" marR="304800">
                        <a:lnSpc>
                          <a:spcPct val="134300"/>
                        </a:lnSpc>
                        <a:spcBef>
                          <a:spcPts val="52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central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organisational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Accounting.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represents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independent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legal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entity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which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complete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statements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(balance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sheet,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profit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loss)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are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prepared.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Every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business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transaction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350" spc="-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recorded</a:t>
                      </a:r>
                      <a:r>
                        <a:rPr dirty="0" sz="1350" spc="-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dirty="0" sz="1350" spc="-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-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</a:t>
                      </a:r>
                      <a:r>
                        <a:rPr dirty="0" sz="1350" spc="-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code</a:t>
                      </a:r>
                      <a:r>
                        <a:rPr dirty="0" sz="1350" spc="-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level.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7780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838200" y="7410450"/>
            <a:ext cx="9753600" cy="1285875"/>
          </a:xfrm>
          <a:custGeom>
            <a:avLst/>
            <a:gdLst/>
            <a:ahLst/>
            <a:cxnLst/>
            <a:rect l="l" t="t" r="r" b="b"/>
            <a:pathLst>
              <a:path w="9753600" h="1285875">
                <a:moveTo>
                  <a:pt x="0" y="1273968"/>
                </a:moveTo>
                <a:lnTo>
                  <a:pt x="0" y="11906"/>
                </a:lnTo>
                <a:lnTo>
                  <a:pt x="0" y="8620"/>
                </a:lnTo>
                <a:lnTo>
                  <a:pt x="1162" y="5810"/>
                </a:lnTo>
                <a:lnTo>
                  <a:pt x="3486" y="3486"/>
                </a:lnTo>
                <a:lnTo>
                  <a:pt x="5810" y="1162"/>
                </a:lnTo>
                <a:lnTo>
                  <a:pt x="8620" y="0"/>
                </a:lnTo>
                <a:lnTo>
                  <a:pt x="11906" y="0"/>
                </a:lnTo>
                <a:lnTo>
                  <a:pt x="9741693" y="0"/>
                </a:lnTo>
                <a:lnTo>
                  <a:pt x="9744979" y="0"/>
                </a:lnTo>
                <a:lnTo>
                  <a:pt x="9747789" y="1162"/>
                </a:lnTo>
                <a:lnTo>
                  <a:pt x="9750113" y="3486"/>
                </a:lnTo>
                <a:lnTo>
                  <a:pt x="9752437" y="5810"/>
                </a:lnTo>
                <a:lnTo>
                  <a:pt x="9753600" y="8620"/>
                </a:lnTo>
                <a:lnTo>
                  <a:pt x="9753600" y="11906"/>
                </a:lnTo>
                <a:lnTo>
                  <a:pt x="9753600" y="1273968"/>
                </a:lnTo>
                <a:lnTo>
                  <a:pt x="9753600" y="1277254"/>
                </a:lnTo>
                <a:lnTo>
                  <a:pt x="9752437" y="1280064"/>
                </a:lnTo>
                <a:lnTo>
                  <a:pt x="9750113" y="1282388"/>
                </a:lnTo>
                <a:lnTo>
                  <a:pt x="9747789" y="1284712"/>
                </a:lnTo>
                <a:lnTo>
                  <a:pt x="9744979" y="1285875"/>
                </a:lnTo>
                <a:lnTo>
                  <a:pt x="9741693" y="1285875"/>
                </a:lnTo>
                <a:lnTo>
                  <a:pt x="11906" y="1285875"/>
                </a:lnTo>
                <a:lnTo>
                  <a:pt x="8620" y="1285875"/>
                </a:lnTo>
                <a:lnTo>
                  <a:pt x="5810" y="1284712"/>
                </a:lnTo>
                <a:lnTo>
                  <a:pt x="3486" y="1282388"/>
                </a:lnTo>
                <a:lnTo>
                  <a:pt x="1162" y="1280064"/>
                </a:lnTo>
                <a:lnTo>
                  <a:pt x="0" y="1277254"/>
                </a:lnTo>
                <a:lnTo>
                  <a:pt x="0" y="1273968"/>
                </a:lnTo>
                <a:close/>
              </a:path>
            </a:pathLst>
          </a:custGeom>
          <a:ln w="1905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38200" y="7410450"/>
          <a:ext cx="9829800" cy="1285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/>
                <a:gridCol w="9058275"/>
              </a:tblGrid>
              <a:tr h="1285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</a:pPr>
                      <a:r>
                        <a:rPr dirty="0" sz="2000" spc="-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B="0" marT="187325">
                    <a:solidFill>
                      <a:srgbClr val="F1EDED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7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Controlling</a:t>
                      </a:r>
                      <a:r>
                        <a:rPr dirty="0" sz="1750" spc="165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750" spc="-2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Area</a:t>
                      </a:r>
                      <a:endParaRPr sz="1750">
                        <a:latin typeface="Georgia"/>
                        <a:cs typeface="Georgia"/>
                      </a:endParaRPr>
                    </a:p>
                    <a:p>
                      <a:pPr marL="170815" marR="387985">
                        <a:lnSpc>
                          <a:spcPct val="134300"/>
                        </a:lnSpc>
                        <a:spcBef>
                          <a:spcPts val="52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central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organisational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unit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Controlling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(CO).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used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internal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cost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profitability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reporting.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One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controlling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area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can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serve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one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more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codes,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allowing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cross-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analysis.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77800"/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38200" y="8886825"/>
            <a:ext cx="9753600" cy="1295400"/>
          </a:xfrm>
          <a:custGeom>
            <a:avLst/>
            <a:gdLst/>
            <a:ahLst/>
            <a:cxnLst/>
            <a:rect l="l" t="t" r="r" b="b"/>
            <a:pathLst>
              <a:path w="9753600" h="1295400">
                <a:moveTo>
                  <a:pt x="0" y="1283493"/>
                </a:moveTo>
                <a:lnTo>
                  <a:pt x="0" y="11906"/>
                </a:lnTo>
                <a:lnTo>
                  <a:pt x="0" y="8620"/>
                </a:lnTo>
                <a:lnTo>
                  <a:pt x="1162" y="5810"/>
                </a:lnTo>
                <a:lnTo>
                  <a:pt x="3486" y="3486"/>
                </a:lnTo>
                <a:lnTo>
                  <a:pt x="5810" y="1162"/>
                </a:lnTo>
                <a:lnTo>
                  <a:pt x="8620" y="0"/>
                </a:lnTo>
                <a:lnTo>
                  <a:pt x="11906" y="0"/>
                </a:lnTo>
                <a:lnTo>
                  <a:pt x="9741693" y="0"/>
                </a:lnTo>
                <a:lnTo>
                  <a:pt x="9744979" y="0"/>
                </a:lnTo>
                <a:lnTo>
                  <a:pt x="9747789" y="1162"/>
                </a:lnTo>
                <a:lnTo>
                  <a:pt x="9750113" y="3486"/>
                </a:lnTo>
                <a:lnTo>
                  <a:pt x="9752437" y="5810"/>
                </a:lnTo>
                <a:lnTo>
                  <a:pt x="9753600" y="8620"/>
                </a:lnTo>
                <a:lnTo>
                  <a:pt x="9753600" y="11906"/>
                </a:lnTo>
                <a:lnTo>
                  <a:pt x="9753600" y="1283493"/>
                </a:lnTo>
                <a:lnTo>
                  <a:pt x="9753600" y="1286779"/>
                </a:lnTo>
                <a:lnTo>
                  <a:pt x="9752437" y="1289589"/>
                </a:lnTo>
                <a:lnTo>
                  <a:pt x="9750113" y="1291913"/>
                </a:lnTo>
                <a:lnTo>
                  <a:pt x="9747789" y="1294237"/>
                </a:lnTo>
                <a:lnTo>
                  <a:pt x="9744979" y="1295400"/>
                </a:lnTo>
                <a:lnTo>
                  <a:pt x="9741693" y="1295400"/>
                </a:lnTo>
                <a:lnTo>
                  <a:pt x="11906" y="1295400"/>
                </a:lnTo>
                <a:lnTo>
                  <a:pt x="8620" y="1295400"/>
                </a:lnTo>
                <a:lnTo>
                  <a:pt x="5810" y="1294237"/>
                </a:lnTo>
                <a:lnTo>
                  <a:pt x="3486" y="1291913"/>
                </a:lnTo>
                <a:lnTo>
                  <a:pt x="1162" y="1289589"/>
                </a:lnTo>
                <a:lnTo>
                  <a:pt x="0" y="1286779"/>
                </a:lnTo>
                <a:lnTo>
                  <a:pt x="0" y="1283493"/>
                </a:lnTo>
                <a:close/>
              </a:path>
            </a:pathLst>
          </a:custGeom>
          <a:ln w="1905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38200" y="8886825"/>
          <a:ext cx="98298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/>
                <a:gridCol w="9058275"/>
              </a:tblGrid>
              <a:tr h="129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</a:pPr>
                      <a:r>
                        <a:rPr dirty="0" sz="2000" spc="-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B="0" marT="196850">
                    <a:solidFill>
                      <a:srgbClr val="F1EDED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7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Chart</a:t>
                      </a:r>
                      <a:r>
                        <a:rPr dirty="0" sz="1750" spc="55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7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of</a:t>
                      </a:r>
                      <a:r>
                        <a:rPr dirty="0" sz="1750" spc="2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750" spc="-1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Accounts</a:t>
                      </a:r>
                      <a:endParaRPr sz="1750">
                        <a:latin typeface="Georgia"/>
                        <a:cs typeface="Georgia"/>
                      </a:endParaRPr>
                    </a:p>
                    <a:p>
                      <a:pPr marL="170815" marR="284480">
                        <a:lnSpc>
                          <a:spcPct val="134300"/>
                        </a:lnSpc>
                        <a:spcBef>
                          <a:spcPts val="595"/>
                        </a:spcBef>
                      </a:pP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complete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list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General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Ledger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used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by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company.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defines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structure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numbering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accounts.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Every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code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must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be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assigned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chart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accounts.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77800"/>
                </a:tc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838200" y="10372725"/>
            <a:ext cx="9753600" cy="1571625"/>
          </a:xfrm>
          <a:custGeom>
            <a:avLst/>
            <a:gdLst/>
            <a:ahLst/>
            <a:cxnLst/>
            <a:rect l="l" t="t" r="r" b="b"/>
            <a:pathLst>
              <a:path w="9753600" h="1571625">
                <a:moveTo>
                  <a:pt x="0" y="1559718"/>
                </a:moveTo>
                <a:lnTo>
                  <a:pt x="0" y="11906"/>
                </a:lnTo>
                <a:lnTo>
                  <a:pt x="0" y="8620"/>
                </a:lnTo>
                <a:lnTo>
                  <a:pt x="1162" y="5810"/>
                </a:lnTo>
                <a:lnTo>
                  <a:pt x="3486" y="3486"/>
                </a:lnTo>
                <a:lnTo>
                  <a:pt x="5810" y="1162"/>
                </a:lnTo>
                <a:lnTo>
                  <a:pt x="8620" y="0"/>
                </a:lnTo>
                <a:lnTo>
                  <a:pt x="11906" y="0"/>
                </a:lnTo>
                <a:lnTo>
                  <a:pt x="9741693" y="0"/>
                </a:lnTo>
                <a:lnTo>
                  <a:pt x="9744979" y="0"/>
                </a:lnTo>
                <a:lnTo>
                  <a:pt x="9747789" y="1162"/>
                </a:lnTo>
                <a:lnTo>
                  <a:pt x="9750113" y="3486"/>
                </a:lnTo>
                <a:lnTo>
                  <a:pt x="9752437" y="5810"/>
                </a:lnTo>
                <a:lnTo>
                  <a:pt x="9753600" y="8620"/>
                </a:lnTo>
                <a:lnTo>
                  <a:pt x="9753600" y="11906"/>
                </a:lnTo>
                <a:lnTo>
                  <a:pt x="9753600" y="1559718"/>
                </a:lnTo>
                <a:lnTo>
                  <a:pt x="9753600" y="1563004"/>
                </a:lnTo>
                <a:lnTo>
                  <a:pt x="9752437" y="1565814"/>
                </a:lnTo>
                <a:lnTo>
                  <a:pt x="9750113" y="1568138"/>
                </a:lnTo>
                <a:lnTo>
                  <a:pt x="9747789" y="1570462"/>
                </a:lnTo>
                <a:lnTo>
                  <a:pt x="9744979" y="1571625"/>
                </a:lnTo>
                <a:lnTo>
                  <a:pt x="9741693" y="1571625"/>
                </a:lnTo>
                <a:lnTo>
                  <a:pt x="11906" y="1571625"/>
                </a:lnTo>
                <a:lnTo>
                  <a:pt x="8620" y="1571625"/>
                </a:lnTo>
                <a:lnTo>
                  <a:pt x="5810" y="1570462"/>
                </a:lnTo>
                <a:lnTo>
                  <a:pt x="3486" y="1568138"/>
                </a:lnTo>
                <a:lnTo>
                  <a:pt x="1162" y="1565814"/>
                </a:lnTo>
                <a:lnTo>
                  <a:pt x="0" y="1563004"/>
                </a:lnTo>
                <a:lnTo>
                  <a:pt x="0" y="1559718"/>
                </a:lnTo>
                <a:close/>
              </a:path>
            </a:pathLst>
          </a:custGeom>
          <a:ln w="19050">
            <a:solidFill>
              <a:srgbClr val="D7D3D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38200" y="10372725"/>
          <a:ext cx="9829800" cy="157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/>
                <a:gridCol w="9058275"/>
              </a:tblGrid>
              <a:tr h="157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</a:pPr>
                      <a:r>
                        <a:rPr dirty="0" sz="2000" spc="-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6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solidFill>
                      <a:srgbClr val="F1EDED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7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Fiscal</a:t>
                      </a:r>
                      <a:r>
                        <a:rPr dirty="0" sz="1750" spc="1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7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Year</a:t>
                      </a:r>
                      <a:r>
                        <a:rPr dirty="0" sz="1750" spc="1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750" spc="295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&amp;</a:t>
                      </a:r>
                      <a:r>
                        <a:rPr dirty="0" sz="1750" spc="15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75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Posting</a:t>
                      </a:r>
                      <a:r>
                        <a:rPr dirty="0" sz="1750" spc="1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750" spc="-10">
                          <a:solidFill>
                            <a:srgbClr val="383838"/>
                          </a:solidFill>
                          <a:latin typeface="Georgia"/>
                          <a:cs typeface="Georgia"/>
                        </a:rPr>
                        <a:t>Period</a:t>
                      </a:r>
                      <a:endParaRPr sz="1750">
                        <a:latin typeface="Georgia"/>
                        <a:cs typeface="Georgia"/>
                      </a:endParaRPr>
                    </a:p>
                    <a:p>
                      <a:pPr marL="170815" marR="214629">
                        <a:lnSpc>
                          <a:spcPct val="131900"/>
                        </a:lnSpc>
                        <a:spcBef>
                          <a:spcPts val="63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fiscal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year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defines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12-month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(or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other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period)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year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company.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Posting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periods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are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individual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months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periods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within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fiscal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year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during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which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transactions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can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be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recorded.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allows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you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which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periods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are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open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posting.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77800"/>
                </a:tc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3883615" y="12332310"/>
            <a:ext cx="3745865" cy="4213860"/>
            <a:chOff x="3883615" y="12332310"/>
            <a:chExt cx="3745865" cy="4213860"/>
          </a:xfrm>
        </p:grpSpPr>
        <p:sp>
          <p:nvSpPr>
            <p:cNvPr id="16" name="object 16"/>
            <p:cNvSpPr/>
            <p:nvPr/>
          </p:nvSpPr>
          <p:spPr>
            <a:xfrm>
              <a:off x="4552048" y="15196641"/>
              <a:ext cx="2388235" cy="1349375"/>
            </a:xfrm>
            <a:custGeom>
              <a:avLst/>
              <a:gdLst/>
              <a:ahLst/>
              <a:cxnLst/>
              <a:rect l="l" t="t" r="r" b="b"/>
              <a:pathLst>
                <a:path w="2388234" h="1349375">
                  <a:moveTo>
                    <a:pt x="2382012" y="596696"/>
                  </a:moveTo>
                  <a:lnTo>
                    <a:pt x="1190764" y="1066"/>
                  </a:lnTo>
                  <a:lnTo>
                    <a:pt x="1188631" y="0"/>
                  </a:lnTo>
                  <a:lnTo>
                    <a:pt x="0" y="596696"/>
                  </a:lnTo>
                  <a:lnTo>
                    <a:pt x="4279" y="605231"/>
                  </a:lnTo>
                  <a:lnTo>
                    <a:pt x="1188631" y="10655"/>
                  </a:lnTo>
                  <a:lnTo>
                    <a:pt x="2377757" y="605231"/>
                  </a:lnTo>
                  <a:lnTo>
                    <a:pt x="2382012" y="596696"/>
                  </a:lnTo>
                  <a:close/>
                </a:path>
                <a:path w="2388234" h="1349375">
                  <a:moveTo>
                    <a:pt x="2387854" y="773049"/>
                  </a:moveTo>
                  <a:lnTo>
                    <a:pt x="2387346" y="605751"/>
                  </a:lnTo>
                  <a:lnTo>
                    <a:pt x="1195565" y="1176947"/>
                  </a:lnTo>
                  <a:lnTo>
                    <a:pt x="1195641" y="1177112"/>
                  </a:lnTo>
                  <a:lnTo>
                    <a:pt x="1194777" y="1177531"/>
                  </a:lnTo>
                  <a:lnTo>
                    <a:pt x="1194752" y="1349070"/>
                  </a:lnTo>
                  <a:lnTo>
                    <a:pt x="1262443" y="1312672"/>
                  </a:lnTo>
                  <a:lnTo>
                    <a:pt x="1276642" y="1305864"/>
                  </a:lnTo>
                  <a:lnTo>
                    <a:pt x="1276527" y="1305687"/>
                  </a:lnTo>
                  <a:lnTo>
                    <a:pt x="2387854" y="773049"/>
                  </a:lnTo>
                  <a:close/>
                </a:path>
              </a:pathLst>
            </a:custGeom>
            <a:solidFill>
              <a:srgbClr val="802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54195" y="15802461"/>
              <a:ext cx="1193165" cy="743585"/>
            </a:xfrm>
            <a:custGeom>
              <a:avLst/>
              <a:gdLst/>
              <a:ahLst/>
              <a:cxnLst/>
              <a:rect l="l" t="t" r="r" b="b"/>
              <a:pathLst>
                <a:path w="1193164" h="743584">
                  <a:moveTo>
                    <a:pt x="1192596" y="743227"/>
                  </a:moveTo>
                  <a:lnTo>
                    <a:pt x="1126105" y="707489"/>
                  </a:lnTo>
                  <a:lnTo>
                    <a:pt x="1125609" y="707527"/>
                  </a:lnTo>
                  <a:lnTo>
                    <a:pt x="514" y="168290"/>
                  </a:lnTo>
                  <a:lnTo>
                    <a:pt x="0" y="0"/>
                  </a:lnTo>
                  <a:lnTo>
                    <a:pt x="1191100" y="570876"/>
                  </a:lnTo>
                  <a:lnTo>
                    <a:pt x="1192596" y="571629"/>
                  </a:lnTo>
                  <a:lnTo>
                    <a:pt x="1192596" y="743227"/>
                  </a:lnTo>
                  <a:close/>
                </a:path>
              </a:pathLst>
            </a:custGeom>
            <a:solidFill>
              <a:srgbClr val="662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959893" y="15821416"/>
              <a:ext cx="1268095" cy="9525"/>
            </a:xfrm>
            <a:custGeom>
              <a:avLst/>
              <a:gdLst/>
              <a:ahLst/>
              <a:cxnLst/>
              <a:rect l="l" t="t" r="r" b="b"/>
              <a:pathLst>
                <a:path w="1268095" h="9525">
                  <a:moveTo>
                    <a:pt x="1267492" y="9530"/>
                  </a:moveTo>
                  <a:lnTo>
                    <a:pt x="0" y="9530"/>
                  </a:lnTo>
                  <a:lnTo>
                    <a:pt x="0" y="0"/>
                  </a:lnTo>
                  <a:lnTo>
                    <a:pt x="1267492" y="0"/>
                  </a:lnTo>
                  <a:lnTo>
                    <a:pt x="1267492" y="9530"/>
                  </a:lnTo>
                  <a:close/>
                </a:path>
              </a:pathLst>
            </a:custGeom>
            <a:solidFill>
              <a:srgbClr val="802C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3653" y="15783296"/>
              <a:ext cx="76240" cy="7624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52074" y="14486101"/>
              <a:ext cx="2388235" cy="1873250"/>
            </a:xfrm>
            <a:custGeom>
              <a:avLst/>
              <a:gdLst/>
              <a:ahLst/>
              <a:cxnLst/>
              <a:rect l="l" t="t" r="r" b="b"/>
              <a:pathLst>
                <a:path w="2388234" h="1873250">
                  <a:moveTo>
                    <a:pt x="17691" y="1249781"/>
                  </a:moveTo>
                  <a:lnTo>
                    <a:pt x="8166" y="1249781"/>
                  </a:lnTo>
                  <a:lnTo>
                    <a:pt x="8166" y="1291869"/>
                  </a:lnTo>
                  <a:lnTo>
                    <a:pt x="17691" y="1291869"/>
                  </a:lnTo>
                  <a:lnTo>
                    <a:pt x="17691" y="1249781"/>
                  </a:lnTo>
                  <a:close/>
                </a:path>
                <a:path w="2388234" h="1873250">
                  <a:moveTo>
                    <a:pt x="17691" y="1081417"/>
                  </a:moveTo>
                  <a:lnTo>
                    <a:pt x="8166" y="1081417"/>
                  </a:lnTo>
                  <a:lnTo>
                    <a:pt x="8166" y="1165606"/>
                  </a:lnTo>
                  <a:lnTo>
                    <a:pt x="17691" y="1165606"/>
                  </a:lnTo>
                  <a:lnTo>
                    <a:pt x="17691" y="1081417"/>
                  </a:lnTo>
                  <a:close/>
                </a:path>
                <a:path w="2388234" h="1873250">
                  <a:moveTo>
                    <a:pt x="17691" y="913053"/>
                  </a:moveTo>
                  <a:lnTo>
                    <a:pt x="8166" y="913053"/>
                  </a:lnTo>
                  <a:lnTo>
                    <a:pt x="8166" y="997229"/>
                  </a:lnTo>
                  <a:lnTo>
                    <a:pt x="17691" y="997229"/>
                  </a:lnTo>
                  <a:lnTo>
                    <a:pt x="17691" y="913053"/>
                  </a:lnTo>
                  <a:close/>
                </a:path>
                <a:path w="2388234" h="1873250">
                  <a:moveTo>
                    <a:pt x="17691" y="786777"/>
                  </a:moveTo>
                  <a:lnTo>
                    <a:pt x="8166" y="786777"/>
                  </a:lnTo>
                  <a:lnTo>
                    <a:pt x="8166" y="828878"/>
                  </a:lnTo>
                  <a:lnTo>
                    <a:pt x="17691" y="828878"/>
                  </a:lnTo>
                  <a:lnTo>
                    <a:pt x="17691" y="786777"/>
                  </a:lnTo>
                  <a:close/>
                </a:path>
                <a:path w="2388234" h="1873250">
                  <a:moveTo>
                    <a:pt x="1199426" y="1831111"/>
                  </a:moveTo>
                  <a:lnTo>
                    <a:pt x="1189888" y="1831111"/>
                  </a:lnTo>
                  <a:lnTo>
                    <a:pt x="1189888" y="1873199"/>
                  </a:lnTo>
                  <a:lnTo>
                    <a:pt x="1199426" y="1873199"/>
                  </a:lnTo>
                  <a:lnTo>
                    <a:pt x="1199426" y="1831111"/>
                  </a:lnTo>
                  <a:close/>
                </a:path>
                <a:path w="2388234" h="1873250">
                  <a:moveTo>
                    <a:pt x="1199426" y="1662760"/>
                  </a:moveTo>
                  <a:lnTo>
                    <a:pt x="1189888" y="1662760"/>
                  </a:lnTo>
                  <a:lnTo>
                    <a:pt x="1189888" y="1746935"/>
                  </a:lnTo>
                  <a:lnTo>
                    <a:pt x="1199426" y="1746935"/>
                  </a:lnTo>
                  <a:lnTo>
                    <a:pt x="1199426" y="1662760"/>
                  </a:lnTo>
                  <a:close/>
                </a:path>
                <a:path w="2388234" h="1873250">
                  <a:moveTo>
                    <a:pt x="1199426" y="1494383"/>
                  </a:moveTo>
                  <a:lnTo>
                    <a:pt x="1189888" y="1494383"/>
                  </a:lnTo>
                  <a:lnTo>
                    <a:pt x="1189888" y="1578571"/>
                  </a:lnTo>
                  <a:lnTo>
                    <a:pt x="1199426" y="1578571"/>
                  </a:lnTo>
                  <a:lnTo>
                    <a:pt x="1199426" y="1494383"/>
                  </a:lnTo>
                  <a:close/>
                </a:path>
                <a:path w="2388234" h="1873250">
                  <a:moveTo>
                    <a:pt x="1199426" y="1368120"/>
                  </a:moveTo>
                  <a:lnTo>
                    <a:pt x="1189888" y="1368120"/>
                  </a:lnTo>
                  <a:lnTo>
                    <a:pt x="1189888" y="1410208"/>
                  </a:lnTo>
                  <a:lnTo>
                    <a:pt x="1199426" y="1410208"/>
                  </a:lnTo>
                  <a:lnTo>
                    <a:pt x="1199426" y="1368120"/>
                  </a:lnTo>
                  <a:close/>
                </a:path>
                <a:path w="2388234" h="1873250">
                  <a:moveTo>
                    <a:pt x="1199426" y="677189"/>
                  </a:moveTo>
                  <a:lnTo>
                    <a:pt x="1189888" y="677189"/>
                  </a:lnTo>
                  <a:lnTo>
                    <a:pt x="1189888" y="691476"/>
                  </a:lnTo>
                  <a:lnTo>
                    <a:pt x="1199426" y="691476"/>
                  </a:lnTo>
                  <a:lnTo>
                    <a:pt x="1199426" y="677189"/>
                  </a:lnTo>
                  <a:close/>
                </a:path>
                <a:path w="2388234" h="1873250">
                  <a:moveTo>
                    <a:pt x="1199426" y="634301"/>
                  </a:moveTo>
                  <a:lnTo>
                    <a:pt x="1189888" y="634301"/>
                  </a:lnTo>
                  <a:lnTo>
                    <a:pt x="1189888" y="648601"/>
                  </a:lnTo>
                  <a:lnTo>
                    <a:pt x="1199426" y="648601"/>
                  </a:lnTo>
                  <a:lnTo>
                    <a:pt x="1199426" y="634301"/>
                  </a:lnTo>
                  <a:close/>
                </a:path>
                <a:path w="2388234" h="1873250">
                  <a:moveTo>
                    <a:pt x="2381148" y="1249781"/>
                  </a:moveTo>
                  <a:lnTo>
                    <a:pt x="2371610" y="1249781"/>
                  </a:lnTo>
                  <a:lnTo>
                    <a:pt x="2371610" y="1291869"/>
                  </a:lnTo>
                  <a:lnTo>
                    <a:pt x="2381148" y="1291869"/>
                  </a:lnTo>
                  <a:lnTo>
                    <a:pt x="2381148" y="1249781"/>
                  </a:lnTo>
                  <a:close/>
                </a:path>
                <a:path w="2388234" h="1873250">
                  <a:moveTo>
                    <a:pt x="2381148" y="1081417"/>
                  </a:moveTo>
                  <a:lnTo>
                    <a:pt x="2371610" y="1081417"/>
                  </a:lnTo>
                  <a:lnTo>
                    <a:pt x="2371610" y="1165606"/>
                  </a:lnTo>
                  <a:lnTo>
                    <a:pt x="2381148" y="1165606"/>
                  </a:lnTo>
                  <a:lnTo>
                    <a:pt x="2381148" y="1081417"/>
                  </a:lnTo>
                  <a:close/>
                </a:path>
                <a:path w="2388234" h="1873250">
                  <a:moveTo>
                    <a:pt x="2381148" y="913053"/>
                  </a:moveTo>
                  <a:lnTo>
                    <a:pt x="2371610" y="913053"/>
                  </a:lnTo>
                  <a:lnTo>
                    <a:pt x="2371610" y="997229"/>
                  </a:lnTo>
                  <a:lnTo>
                    <a:pt x="2381148" y="997229"/>
                  </a:lnTo>
                  <a:lnTo>
                    <a:pt x="2381148" y="913053"/>
                  </a:lnTo>
                  <a:close/>
                </a:path>
                <a:path w="2388234" h="1873250">
                  <a:moveTo>
                    <a:pt x="2381148" y="786777"/>
                  </a:moveTo>
                  <a:lnTo>
                    <a:pt x="2371610" y="786777"/>
                  </a:lnTo>
                  <a:lnTo>
                    <a:pt x="2371610" y="828878"/>
                  </a:lnTo>
                  <a:lnTo>
                    <a:pt x="2381148" y="828878"/>
                  </a:lnTo>
                  <a:lnTo>
                    <a:pt x="2381148" y="786777"/>
                  </a:lnTo>
                  <a:close/>
                </a:path>
                <a:path w="2388234" h="1873250">
                  <a:moveTo>
                    <a:pt x="2382012" y="596696"/>
                  </a:moveTo>
                  <a:lnTo>
                    <a:pt x="1190752" y="1066"/>
                  </a:lnTo>
                  <a:lnTo>
                    <a:pt x="1188618" y="0"/>
                  </a:lnTo>
                  <a:lnTo>
                    <a:pt x="0" y="596696"/>
                  </a:lnTo>
                  <a:lnTo>
                    <a:pt x="4279" y="605218"/>
                  </a:lnTo>
                  <a:lnTo>
                    <a:pt x="1188618" y="10655"/>
                  </a:lnTo>
                  <a:lnTo>
                    <a:pt x="2377744" y="605218"/>
                  </a:lnTo>
                  <a:lnTo>
                    <a:pt x="2382012" y="596696"/>
                  </a:lnTo>
                  <a:close/>
                </a:path>
                <a:path w="2388234" h="1873250">
                  <a:moveTo>
                    <a:pt x="2387790" y="773049"/>
                  </a:moveTo>
                  <a:lnTo>
                    <a:pt x="2387282" y="605751"/>
                  </a:lnTo>
                  <a:lnTo>
                    <a:pt x="1195501" y="1176947"/>
                  </a:lnTo>
                  <a:lnTo>
                    <a:pt x="1195578" y="1177099"/>
                  </a:lnTo>
                  <a:lnTo>
                    <a:pt x="1194714" y="1177518"/>
                  </a:lnTo>
                  <a:lnTo>
                    <a:pt x="1194689" y="1349057"/>
                  </a:lnTo>
                  <a:lnTo>
                    <a:pt x="1262380" y="1312672"/>
                  </a:lnTo>
                  <a:lnTo>
                    <a:pt x="1276578" y="1305864"/>
                  </a:lnTo>
                  <a:lnTo>
                    <a:pt x="1276464" y="1305687"/>
                  </a:lnTo>
                  <a:lnTo>
                    <a:pt x="2387790" y="773049"/>
                  </a:lnTo>
                  <a:close/>
                </a:path>
              </a:pathLst>
            </a:custGeom>
            <a:solidFill>
              <a:srgbClr val="A73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54157" y="15091922"/>
              <a:ext cx="1193165" cy="743585"/>
            </a:xfrm>
            <a:custGeom>
              <a:avLst/>
              <a:gdLst/>
              <a:ahLst/>
              <a:cxnLst/>
              <a:rect l="l" t="t" r="r" b="b"/>
              <a:pathLst>
                <a:path w="1193164" h="743584">
                  <a:moveTo>
                    <a:pt x="1192596" y="743217"/>
                  </a:moveTo>
                  <a:lnTo>
                    <a:pt x="1126105" y="707480"/>
                  </a:lnTo>
                  <a:lnTo>
                    <a:pt x="1125609" y="707518"/>
                  </a:lnTo>
                  <a:lnTo>
                    <a:pt x="514" y="168290"/>
                  </a:lnTo>
                  <a:lnTo>
                    <a:pt x="0" y="0"/>
                  </a:lnTo>
                  <a:lnTo>
                    <a:pt x="1191100" y="570867"/>
                  </a:lnTo>
                  <a:lnTo>
                    <a:pt x="1192596" y="571620"/>
                  </a:lnTo>
                  <a:lnTo>
                    <a:pt x="1192596" y="743217"/>
                  </a:lnTo>
                  <a:close/>
                </a:path>
              </a:pathLst>
            </a:custGeom>
            <a:solidFill>
              <a:srgbClr val="8D31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323301" y="15101337"/>
              <a:ext cx="1229995" cy="9525"/>
            </a:xfrm>
            <a:custGeom>
              <a:avLst/>
              <a:gdLst/>
              <a:ahLst/>
              <a:cxnLst/>
              <a:rect l="l" t="t" r="r" b="b"/>
              <a:pathLst>
                <a:path w="1229995" h="9525">
                  <a:moveTo>
                    <a:pt x="1229372" y="9530"/>
                  </a:moveTo>
                  <a:lnTo>
                    <a:pt x="0" y="9530"/>
                  </a:lnTo>
                  <a:lnTo>
                    <a:pt x="0" y="0"/>
                  </a:lnTo>
                  <a:lnTo>
                    <a:pt x="1229372" y="0"/>
                  </a:lnTo>
                  <a:lnTo>
                    <a:pt x="1229372" y="9530"/>
                  </a:lnTo>
                  <a:close/>
                </a:path>
              </a:pathLst>
            </a:custGeom>
            <a:solidFill>
              <a:srgbClr val="A73A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2674" y="15072747"/>
              <a:ext cx="76240" cy="762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741962" y="14520010"/>
              <a:ext cx="10160" cy="410209"/>
            </a:xfrm>
            <a:custGeom>
              <a:avLst/>
              <a:gdLst/>
              <a:ahLst/>
              <a:cxnLst/>
              <a:rect l="l" t="t" r="r" b="b"/>
              <a:pathLst>
                <a:path w="10160" h="410209">
                  <a:moveTo>
                    <a:pt x="9537" y="375653"/>
                  </a:moveTo>
                  <a:lnTo>
                    <a:pt x="0" y="375653"/>
                  </a:lnTo>
                  <a:lnTo>
                    <a:pt x="0" y="409790"/>
                  </a:lnTo>
                  <a:lnTo>
                    <a:pt x="9537" y="409790"/>
                  </a:lnTo>
                  <a:lnTo>
                    <a:pt x="9537" y="375653"/>
                  </a:lnTo>
                  <a:close/>
                </a:path>
                <a:path w="10160" h="410209">
                  <a:moveTo>
                    <a:pt x="9537" y="239039"/>
                  </a:moveTo>
                  <a:lnTo>
                    <a:pt x="0" y="239039"/>
                  </a:lnTo>
                  <a:lnTo>
                    <a:pt x="0" y="307340"/>
                  </a:lnTo>
                  <a:lnTo>
                    <a:pt x="9537" y="307340"/>
                  </a:lnTo>
                  <a:lnTo>
                    <a:pt x="9537" y="239039"/>
                  </a:lnTo>
                  <a:close/>
                </a:path>
                <a:path w="10160" h="410209">
                  <a:moveTo>
                    <a:pt x="9537" y="102450"/>
                  </a:moveTo>
                  <a:lnTo>
                    <a:pt x="0" y="102450"/>
                  </a:lnTo>
                  <a:lnTo>
                    <a:pt x="0" y="170751"/>
                  </a:lnTo>
                  <a:lnTo>
                    <a:pt x="9537" y="170751"/>
                  </a:lnTo>
                  <a:lnTo>
                    <a:pt x="9537" y="102450"/>
                  </a:lnTo>
                  <a:close/>
                </a:path>
                <a:path w="10160" h="410209">
                  <a:moveTo>
                    <a:pt x="9537" y="0"/>
                  </a:moveTo>
                  <a:lnTo>
                    <a:pt x="0" y="0"/>
                  </a:lnTo>
                  <a:lnTo>
                    <a:pt x="0" y="34150"/>
                  </a:lnTo>
                  <a:lnTo>
                    <a:pt x="9537" y="34150"/>
                  </a:lnTo>
                  <a:lnTo>
                    <a:pt x="9537" y="0"/>
                  </a:lnTo>
                  <a:close/>
                </a:path>
              </a:pathLst>
            </a:custGeom>
            <a:solidFill>
              <a:srgbClr val="A73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52010" y="13761807"/>
              <a:ext cx="2388235" cy="1349375"/>
            </a:xfrm>
            <a:custGeom>
              <a:avLst/>
              <a:gdLst/>
              <a:ahLst/>
              <a:cxnLst/>
              <a:rect l="l" t="t" r="r" b="b"/>
              <a:pathLst>
                <a:path w="2388234" h="1349375">
                  <a:moveTo>
                    <a:pt x="17780" y="1249794"/>
                  </a:moveTo>
                  <a:lnTo>
                    <a:pt x="8255" y="1249794"/>
                  </a:lnTo>
                  <a:lnTo>
                    <a:pt x="8255" y="1291882"/>
                  </a:lnTo>
                  <a:lnTo>
                    <a:pt x="17780" y="1291882"/>
                  </a:lnTo>
                  <a:lnTo>
                    <a:pt x="17780" y="1249794"/>
                  </a:lnTo>
                  <a:close/>
                </a:path>
                <a:path w="2388234" h="1349375">
                  <a:moveTo>
                    <a:pt x="17780" y="1081430"/>
                  </a:moveTo>
                  <a:lnTo>
                    <a:pt x="8255" y="1081430"/>
                  </a:lnTo>
                  <a:lnTo>
                    <a:pt x="8255" y="1165618"/>
                  </a:lnTo>
                  <a:lnTo>
                    <a:pt x="17780" y="1165618"/>
                  </a:lnTo>
                  <a:lnTo>
                    <a:pt x="17780" y="1081430"/>
                  </a:lnTo>
                  <a:close/>
                </a:path>
                <a:path w="2388234" h="1349375">
                  <a:moveTo>
                    <a:pt x="17780" y="913066"/>
                  </a:moveTo>
                  <a:lnTo>
                    <a:pt x="8255" y="913066"/>
                  </a:lnTo>
                  <a:lnTo>
                    <a:pt x="8255" y="997242"/>
                  </a:lnTo>
                  <a:lnTo>
                    <a:pt x="17780" y="997242"/>
                  </a:lnTo>
                  <a:lnTo>
                    <a:pt x="17780" y="913066"/>
                  </a:lnTo>
                  <a:close/>
                </a:path>
                <a:path w="2388234" h="1349375">
                  <a:moveTo>
                    <a:pt x="17780" y="786790"/>
                  </a:moveTo>
                  <a:lnTo>
                    <a:pt x="8255" y="786790"/>
                  </a:lnTo>
                  <a:lnTo>
                    <a:pt x="8255" y="828890"/>
                  </a:lnTo>
                  <a:lnTo>
                    <a:pt x="17780" y="828890"/>
                  </a:lnTo>
                  <a:lnTo>
                    <a:pt x="17780" y="786790"/>
                  </a:lnTo>
                  <a:close/>
                </a:path>
                <a:path w="2388234" h="1349375">
                  <a:moveTo>
                    <a:pt x="2381224" y="1249794"/>
                  </a:moveTo>
                  <a:lnTo>
                    <a:pt x="2371699" y="1249794"/>
                  </a:lnTo>
                  <a:lnTo>
                    <a:pt x="2371699" y="1291882"/>
                  </a:lnTo>
                  <a:lnTo>
                    <a:pt x="2381224" y="1291882"/>
                  </a:lnTo>
                  <a:lnTo>
                    <a:pt x="2381224" y="1249794"/>
                  </a:lnTo>
                  <a:close/>
                </a:path>
                <a:path w="2388234" h="1349375">
                  <a:moveTo>
                    <a:pt x="2381224" y="1081430"/>
                  </a:moveTo>
                  <a:lnTo>
                    <a:pt x="2371699" y="1081430"/>
                  </a:lnTo>
                  <a:lnTo>
                    <a:pt x="2371699" y="1165618"/>
                  </a:lnTo>
                  <a:lnTo>
                    <a:pt x="2381224" y="1165618"/>
                  </a:lnTo>
                  <a:lnTo>
                    <a:pt x="2381224" y="1081430"/>
                  </a:lnTo>
                  <a:close/>
                </a:path>
                <a:path w="2388234" h="1349375">
                  <a:moveTo>
                    <a:pt x="2381224" y="913066"/>
                  </a:moveTo>
                  <a:lnTo>
                    <a:pt x="2371699" y="913066"/>
                  </a:lnTo>
                  <a:lnTo>
                    <a:pt x="2371699" y="997242"/>
                  </a:lnTo>
                  <a:lnTo>
                    <a:pt x="2381224" y="997242"/>
                  </a:lnTo>
                  <a:lnTo>
                    <a:pt x="2381224" y="913066"/>
                  </a:lnTo>
                  <a:close/>
                </a:path>
                <a:path w="2388234" h="1349375">
                  <a:moveTo>
                    <a:pt x="2381224" y="786790"/>
                  </a:moveTo>
                  <a:lnTo>
                    <a:pt x="2371699" y="786790"/>
                  </a:lnTo>
                  <a:lnTo>
                    <a:pt x="2371699" y="828890"/>
                  </a:lnTo>
                  <a:lnTo>
                    <a:pt x="2381224" y="828890"/>
                  </a:lnTo>
                  <a:lnTo>
                    <a:pt x="2381224" y="786790"/>
                  </a:lnTo>
                  <a:close/>
                </a:path>
                <a:path w="2388234" h="1349375">
                  <a:moveTo>
                    <a:pt x="2382012" y="596709"/>
                  </a:moveTo>
                  <a:lnTo>
                    <a:pt x="1190764" y="1079"/>
                  </a:lnTo>
                  <a:lnTo>
                    <a:pt x="1188631" y="0"/>
                  </a:lnTo>
                  <a:lnTo>
                    <a:pt x="0" y="596709"/>
                  </a:lnTo>
                  <a:lnTo>
                    <a:pt x="4279" y="605231"/>
                  </a:lnTo>
                  <a:lnTo>
                    <a:pt x="1188631" y="10668"/>
                  </a:lnTo>
                  <a:lnTo>
                    <a:pt x="2377757" y="605231"/>
                  </a:lnTo>
                  <a:lnTo>
                    <a:pt x="2382012" y="596709"/>
                  </a:lnTo>
                  <a:close/>
                </a:path>
                <a:path w="2388234" h="1349375">
                  <a:moveTo>
                    <a:pt x="2387854" y="773061"/>
                  </a:moveTo>
                  <a:lnTo>
                    <a:pt x="2387346" y="605764"/>
                  </a:lnTo>
                  <a:lnTo>
                    <a:pt x="1195565" y="1176959"/>
                  </a:lnTo>
                  <a:lnTo>
                    <a:pt x="1195641" y="1177112"/>
                  </a:lnTo>
                  <a:lnTo>
                    <a:pt x="1194777" y="1177531"/>
                  </a:lnTo>
                  <a:lnTo>
                    <a:pt x="1194752" y="1349070"/>
                  </a:lnTo>
                  <a:lnTo>
                    <a:pt x="1262443" y="1312684"/>
                  </a:lnTo>
                  <a:lnTo>
                    <a:pt x="1276642" y="1305877"/>
                  </a:lnTo>
                  <a:lnTo>
                    <a:pt x="1276527" y="1305699"/>
                  </a:lnTo>
                  <a:lnTo>
                    <a:pt x="2387854" y="773061"/>
                  </a:lnTo>
                  <a:close/>
                </a:path>
              </a:pathLst>
            </a:custGeom>
            <a:solidFill>
              <a:srgbClr val="CF4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554157" y="14367640"/>
              <a:ext cx="1193165" cy="743585"/>
            </a:xfrm>
            <a:custGeom>
              <a:avLst/>
              <a:gdLst/>
              <a:ahLst/>
              <a:cxnLst/>
              <a:rect l="l" t="t" r="r" b="b"/>
              <a:pathLst>
                <a:path w="1193164" h="743584">
                  <a:moveTo>
                    <a:pt x="1192596" y="743217"/>
                  </a:moveTo>
                  <a:lnTo>
                    <a:pt x="1126105" y="707480"/>
                  </a:lnTo>
                  <a:lnTo>
                    <a:pt x="1125609" y="707518"/>
                  </a:lnTo>
                  <a:lnTo>
                    <a:pt x="514" y="168290"/>
                  </a:lnTo>
                  <a:lnTo>
                    <a:pt x="0" y="0"/>
                  </a:lnTo>
                  <a:lnTo>
                    <a:pt x="1191100" y="570867"/>
                  </a:lnTo>
                  <a:lnTo>
                    <a:pt x="1192596" y="571620"/>
                  </a:lnTo>
                  <a:lnTo>
                    <a:pt x="1192596" y="743217"/>
                  </a:lnTo>
                  <a:close/>
                </a:path>
              </a:pathLst>
            </a:custGeom>
            <a:solidFill>
              <a:srgbClr val="B54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59855" y="14367526"/>
              <a:ext cx="1268095" cy="9525"/>
            </a:xfrm>
            <a:custGeom>
              <a:avLst/>
              <a:gdLst/>
              <a:ahLst/>
              <a:cxnLst/>
              <a:rect l="l" t="t" r="r" b="b"/>
              <a:pathLst>
                <a:path w="1268095" h="9525">
                  <a:moveTo>
                    <a:pt x="1267492" y="9530"/>
                  </a:moveTo>
                  <a:lnTo>
                    <a:pt x="0" y="9530"/>
                  </a:lnTo>
                  <a:lnTo>
                    <a:pt x="0" y="0"/>
                  </a:lnTo>
                  <a:lnTo>
                    <a:pt x="1267492" y="0"/>
                  </a:lnTo>
                  <a:lnTo>
                    <a:pt x="1267492" y="9530"/>
                  </a:lnTo>
                  <a:close/>
                </a:path>
              </a:pathLst>
            </a:custGeom>
            <a:solidFill>
              <a:srgbClr val="CF48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3615" y="14329405"/>
              <a:ext cx="76240" cy="7624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741987" y="13786204"/>
              <a:ext cx="9525" cy="667385"/>
            </a:xfrm>
            <a:custGeom>
              <a:avLst/>
              <a:gdLst/>
              <a:ahLst/>
              <a:cxnLst/>
              <a:rect l="l" t="t" r="r" b="b"/>
              <a:pathLst>
                <a:path w="9525" h="667384">
                  <a:moveTo>
                    <a:pt x="9525" y="652805"/>
                  </a:moveTo>
                  <a:lnTo>
                    <a:pt x="0" y="652805"/>
                  </a:lnTo>
                  <a:lnTo>
                    <a:pt x="0" y="667092"/>
                  </a:lnTo>
                  <a:lnTo>
                    <a:pt x="9525" y="667092"/>
                  </a:lnTo>
                  <a:lnTo>
                    <a:pt x="9525" y="652805"/>
                  </a:lnTo>
                  <a:close/>
                </a:path>
                <a:path w="9525" h="667384">
                  <a:moveTo>
                    <a:pt x="9525" y="609917"/>
                  </a:moveTo>
                  <a:lnTo>
                    <a:pt x="0" y="609917"/>
                  </a:lnTo>
                  <a:lnTo>
                    <a:pt x="0" y="624217"/>
                  </a:lnTo>
                  <a:lnTo>
                    <a:pt x="9525" y="624217"/>
                  </a:lnTo>
                  <a:lnTo>
                    <a:pt x="9525" y="609917"/>
                  </a:lnTo>
                  <a:close/>
                </a:path>
                <a:path w="9525" h="667384">
                  <a:moveTo>
                    <a:pt x="9525" y="375640"/>
                  </a:moveTo>
                  <a:lnTo>
                    <a:pt x="0" y="375640"/>
                  </a:lnTo>
                  <a:lnTo>
                    <a:pt x="0" y="409790"/>
                  </a:lnTo>
                  <a:lnTo>
                    <a:pt x="9525" y="409790"/>
                  </a:lnTo>
                  <a:lnTo>
                    <a:pt x="9525" y="375640"/>
                  </a:lnTo>
                  <a:close/>
                </a:path>
                <a:path w="9525" h="667384">
                  <a:moveTo>
                    <a:pt x="9525" y="239039"/>
                  </a:moveTo>
                  <a:lnTo>
                    <a:pt x="0" y="239039"/>
                  </a:lnTo>
                  <a:lnTo>
                    <a:pt x="0" y="307340"/>
                  </a:lnTo>
                  <a:lnTo>
                    <a:pt x="9525" y="307340"/>
                  </a:lnTo>
                  <a:lnTo>
                    <a:pt x="9525" y="239039"/>
                  </a:lnTo>
                  <a:close/>
                </a:path>
                <a:path w="9525" h="667384">
                  <a:moveTo>
                    <a:pt x="9525" y="102438"/>
                  </a:moveTo>
                  <a:lnTo>
                    <a:pt x="0" y="102438"/>
                  </a:lnTo>
                  <a:lnTo>
                    <a:pt x="0" y="170751"/>
                  </a:lnTo>
                  <a:lnTo>
                    <a:pt x="9525" y="170751"/>
                  </a:lnTo>
                  <a:lnTo>
                    <a:pt x="9525" y="102438"/>
                  </a:lnTo>
                  <a:close/>
                </a:path>
                <a:path w="9525" h="667384">
                  <a:moveTo>
                    <a:pt x="9525" y="0"/>
                  </a:moveTo>
                  <a:lnTo>
                    <a:pt x="0" y="0"/>
                  </a:lnTo>
                  <a:lnTo>
                    <a:pt x="0" y="34137"/>
                  </a:lnTo>
                  <a:lnTo>
                    <a:pt x="9525" y="34137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CF4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565012" y="13805254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w="0" h="543559">
                  <a:moveTo>
                    <a:pt x="0" y="0"/>
                  </a:moveTo>
                  <a:lnTo>
                    <a:pt x="0" y="543211"/>
                  </a:lnTo>
                </a:path>
              </a:pathLst>
            </a:custGeom>
            <a:ln w="9530">
              <a:solidFill>
                <a:srgbClr val="F756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552074" y="13037526"/>
              <a:ext cx="2388235" cy="1349375"/>
            </a:xfrm>
            <a:custGeom>
              <a:avLst/>
              <a:gdLst/>
              <a:ahLst/>
              <a:cxnLst/>
              <a:rect l="l" t="t" r="r" b="b"/>
              <a:pathLst>
                <a:path w="2388234" h="1349375">
                  <a:moveTo>
                    <a:pt x="1199426" y="686727"/>
                  </a:moveTo>
                  <a:lnTo>
                    <a:pt x="1189888" y="686727"/>
                  </a:lnTo>
                  <a:lnTo>
                    <a:pt x="1189888" y="701027"/>
                  </a:lnTo>
                  <a:lnTo>
                    <a:pt x="1199426" y="701027"/>
                  </a:lnTo>
                  <a:lnTo>
                    <a:pt x="1199426" y="686727"/>
                  </a:lnTo>
                  <a:close/>
                </a:path>
                <a:path w="2388234" h="1349375">
                  <a:moveTo>
                    <a:pt x="1199426" y="643839"/>
                  </a:moveTo>
                  <a:lnTo>
                    <a:pt x="1189888" y="643839"/>
                  </a:lnTo>
                  <a:lnTo>
                    <a:pt x="1189888" y="658139"/>
                  </a:lnTo>
                  <a:lnTo>
                    <a:pt x="1199426" y="658139"/>
                  </a:lnTo>
                  <a:lnTo>
                    <a:pt x="1199426" y="643839"/>
                  </a:lnTo>
                  <a:close/>
                </a:path>
                <a:path w="2388234" h="1349375">
                  <a:moveTo>
                    <a:pt x="1199426" y="409562"/>
                  </a:moveTo>
                  <a:lnTo>
                    <a:pt x="1189888" y="409562"/>
                  </a:lnTo>
                  <a:lnTo>
                    <a:pt x="1189888" y="443712"/>
                  </a:lnTo>
                  <a:lnTo>
                    <a:pt x="1199426" y="443712"/>
                  </a:lnTo>
                  <a:lnTo>
                    <a:pt x="1199426" y="409562"/>
                  </a:lnTo>
                  <a:close/>
                </a:path>
                <a:path w="2388234" h="1349375">
                  <a:moveTo>
                    <a:pt x="1199426" y="272961"/>
                  </a:moveTo>
                  <a:lnTo>
                    <a:pt x="1189888" y="272961"/>
                  </a:lnTo>
                  <a:lnTo>
                    <a:pt x="1189888" y="341261"/>
                  </a:lnTo>
                  <a:lnTo>
                    <a:pt x="1199426" y="341261"/>
                  </a:lnTo>
                  <a:lnTo>
                    <a:pt x="1199426" y="272961"/>
                  </a:lnTo>
                  <a:close/>
                </a:path>
                <a:path w="2388234" h="1349375">
                  <a:moveTo>
                    <a:pt x="1199426" y="136372"/>
                  </a:moveTo>
                  <a:lnTo>
                    <a:pt x="1189888" y="136372"/>
                  </a:lnTo>
                  <a:lnTo>
                    <a:pt x="1189888" y="204673"/>
                  </a:lnTo>
                  <a:lnTo>
                    <a:pt x="1199426" y="204673"/>
                  </a:lnTo>
                  <a:lnTo>
                    <a:pt x="1199426" y="136372"/>
                  </a:lnTo>
                  <a:close/>
                </a:path>
                <a:path w="2388234" h="1349375">
                  <a:moveTo>
                    <a:pt x="1199426" y="33921"/>
                  </a:moveTo>
                  <a:lnTo>
                    <a:pt x="1189888" y="33921"/>
                  </a:lnTo>
                  <a:lnTo>
                    <a:pt x="1189888" y="68072"/>
                  </a:lnTo>
                  <a:lnTo>
                    <a:pt x="1199426" y="68072"/>
                  </a:lnTo>
                  <a:lnTo>
                    <a:pt x="1199426" y="33921"/>
                  </a:lnTo>
                  <a:close/>
                </a:path>
                <a:path w="2388234" h="1349375">
                  <a:moveTo>
                    <a:pt x="2381148" y="1249794"/>
                  </a:moveTo>
                  <a:lnTo>
                    <a:pt x="2371610" y="1249794"/>
                  </a:lnTo>
                  <a:lnTo>
                    <a:pt x="2371610" y="1291882"/>
                  </a:lnTo>
                  <a:lnTo>
                    <a:pt x="2381148" y="1291882"/>
                  </a:lnTo>
                  <a:lnTo>
                    <a:pt x="2381148" y="1249794"/>
                  </a:lnTo>
                  <a:close/>
                </a:path>
                <a:path w="2388234" h="1349375">
                  <a:moveTo>
                    <a:pt x="2381148" y="1081430"/>
                  </a:moveTo>
                  <a:lnTo>
                    <a:pt x="2371610" y="1081430"/>
                  </a:lnTo>
                  <a:lnTo>
                    <a:pt x="2371610" y="1165618"/>
                  </a:lnTo>
                  <a:lnTo>
                    <a:pt x="2381148" y="1165618"/>
                  </a:lnTo>
                  <a:lnTo>
                    <a:pt x="2381148" y="1081430"/>
                  </a:lnTo>
                  <a:close/>
                </a:path>
                <a:path w="2388234" h="1349375">
                  <a:moveTo>
                    <a:pt x="2381148" y="913066"/>
                  </a:moveTo>
                  <a:lnTo>
                    <a:pt x="2371610" y="913066"/>
                  </a:lnTo>
                  <a:lnTo>
                    <a:pt x="2371610" y="997242"/>
                  </a:lnTo>
                  <a:lnTo>
                    <a:pt x="2381148" y="997242"/>
                  </a:lnTo>
                  <a:lnTo>
                    <a:pt x="2381148" y="913066"/>
                  </a:lnTo>
                  <a:close/>
                </a:path>
                <a:path w="2388234" h="1349375">
                  <a:moveTo>
                    <a:pt x="2381148" y="786790"/>
                  </a:moveTo>
                  <a:lnTo>
                    <a:pt x="2371610" y="786790"/>
                  </a:lnTo>
                  <a:lnTo>
                    <a:pt x="2371610" y="828890"/>
                  </a:lnTo>
                  <a:lnTo>
                    <a:pt x="2381148" y="828890"/>
                  </a:lnTo>
                  <a:lnTo>
                    <a:pt x="2381148" y="786790"/>
                  </a:lnTo>
                  <a:close/>
                </a:path>
                <a:path w="2388234" h="1349375">
                  <a:moveTo>
                    <a:pt x="2382012" y="596709"/>
                  </a:moveTo>
                  <a:lnTo>
                    <a:pt x="1190752" y="1079"/>
                  </a:lnTo>
                  <a:lnTo>
                    <a:pt x="1188618" y="0"/>
                  </a:lnTo>
                  <a:lnTo>
                    <a:pt x="0" y="596709"/>
                  </a:lnTo>
                  <a:lnTo>
                    <a:pt x="4279" y="605231"/>
                  </a:lnTo>
                  <a:lnTo>
                    <a:pt x="1188618" y="10668"/>
                  </a:lnTo>
                  <a:lnTo>
                    <a:pt x="2377744" y="605231"/>
                  </a:lnTo>
                  <a:lnTo>
                    <a:pt x="2382012" y="596709"/>
                  </a:lnTo>
                  <a:close/>
                </a:path>
                <a:path w="2388234" h="1349375">
                  <a:moveTo>
                    <a:pt x="2387790" y="773023"/>
                  </a:moveTo>
                  <a:lnTo>
                    <a:pt x="2387282" y="605726"/>
                  </a:lnTo>
                  <a:lnTo>
                    <a:pt x="1195501" y="1176921"/>
                  </a:lnTo>
                  <a:lnTo>
                    <a:pt x="1195578" y="1177074"/>
                  </a:lnTo>
                  <a:lnTo>
                    <a:pt x="1194714" y="1177493"/>
                  </a:lnTo>
                  <a:lnTo>
                    <a:pt x="1194689" y="1349032"/>
                  </a:lnTo>
                  <a:lnTo>
                    <a:pt x="1262380" y="1312646"/>
                  </a:lnTo>
                  <a:lnTo>
                    <a:pt x="1276578" y="1305839"/>
                  </a:lnTo>
                  <a:lnTo>
                    <a:pt x="1276464" y="1305661"/>
                  </a:lnTo>
                  <a:lnTo>
                    <a:pt x="2387790" y="773023"/>
                  </a:lnTo>
                  <a:close/>
                </a:path>
              </a:pathLst>
            </a:custGeom>
            <a:solidFill>
              <a:srgbClr val="F75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554157" y="13643358"/>
              <a:ext cx="1193165" cy="743585"/>
            </a:xfrm>
            <a:custGeom>
              <a:avLst/>
              <a:gdLst/>
              <a:ahLst/>
              <a:cxnLst/>
              <a:rect l="l" t="t" r="r" b="b"/>
              <a:pathLst>
                <a:path w="1193164" h="743584">
                  <a:moveTo>
                    <a:pt x="1192596" y="743217"/>
                  </a:moveTo>
                  <a:lnTo>
                    <a:pt x="1126105" y="707480"/>
                  </a:lnTo>
                  <a:lnTo>
                    <a:pt x="1125609" y="707518"/>
                  </a:lnTo>
                  <a:lnTo>
                    <a:pt x="514" y="168290"/>
                  </a:lnTo>
                  <a:lnTo>
                    <a:pt x="0" y="0"/>
                  </a:lnTo>
                  <a:lnTo>
                    <a:pt x="1191100" y="570867"/>
                  </a:lnTo>
                  <a:lnTo>
                    <a:pt x="1192596" y="571620"/>
                  </a:lnTo>
                  <a:lnTo>
                    <a:pt x="1192596" y="743217"/>
                  </a:lnTo>
                  <a:close/>
                </a:path>
              </a:pathLst>
            </a:custGeom>
            <a:solidFill>
              <a:srgbClr val="DD4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323396" y="13624184"/>
              <a:ext cx="1229995" cy="9525"/>
            </a:xfrm>
            <a:custGeom>
              <a:avLst/>
              <a:gdLst/>
              <a:ahLst/>
              <a:cxnLst/>
              <a:rect l="l" t="t" r="r" b="b"/>
              <a:pathLst>
                <a:path w="1229995" h="9525">
                  <a:moveTo>
                    <a:pt x="1229372" y="9530"/>
                  </a:moveTo>
                  <a:lnTo>
                    <a:pt x="0" y="9530"/>
                  </a:lnTo>
                  <a:lnTo>
                    <a:pt x="0" y="0"/>
                  </a:lnTo>
                  <a:lnTo>
                    <a:pt x="1229372" y="0"/>
                  </a:lnTo>
                  <a:lnTo>
                    <a:pt x="1229372" y="9530"/>
                  </a:lnTo>
                  <a:close/>
                </a:path>
              </a:pathLst>
            </a:custGeom>
            <a:solidFill>
              <a:srgbClr val="F75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52769" y="13595594"/>
              <a:ext cx="76240" cy="7624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60303" y="12928497"/>
              <a:ext cx="2379980" cy="743585"/>
            </a:xfrm>
            <a:custGeom>
              <a:avLst/>
              <a:gdLst/>
              <a:ahLst/>
              <a:cxnLst/>
              <a:rect l="l" t="t" r="r" b="b"/>
              <a:pathLst>
                <a:path w="2379979" h="743584">
                  <a:moveTo>
                    <a:pt x="9525" y="644067"/>
                  </a:moveTo>
                  <a:lnTo>
                    <a:pt x="0" y="644067"/>
                  </a:lnTo>
                  <a:lnTo>
                    <a:pt x="0" y="686168"/>
                  </a:lnTo>
                  <a:lnTo>
                    <a:pt x="9525" y="686168"/>
                  </a:lnTo>
                  <a:lnTo>
                    <a:pt x="9525" y="644067"/>
                  </a:lnTo>
                  <a:close/>
                </a:path>
                <a:path w="2379979" h="743584">
                  <a:moveTo>
                    <a:pt x="9525" y="475716"/>
                  </a:moveTo>
                  <a:lnTo>
                    <a:pt x="0" y="475716"/>
                  </a:lnTo>
                  <a:lnTo>
                    <a:pt x="0" y="559892"/>
                  </a:lnTo>
                  <a:lnTo>
                    <a:pt x="9525" y="559892"/>
                  </a:lnTo>
                  <a:lnTo>
                    <a:pt x="9525" y="475716"/>
                  </a:lnTo>
                  <a:close/>
                </a:path>
                <a:path w="2379979" h="743584">
                  <a:moveTo>
                    <a:pt x="9525" y="307340"/>
                  </a:moveTo>
                  <a:lnTo>
                    <a:pt x="0" y="307340"/>
                  </a:lnTo>
                  <a:lnTo>
                    <a:pt x="0" y="391528"/>
                  </a:lnTo>
                  <a:lnTo>
                    <a:pt x="9525" y="391528"/>
                  </a:lnTo>
                  <a:lnTo>
                    <a:pt x="9525" y="307340"/>
                  </a:lnTo>
                  <a:close/>
                </a:path>
                <a:path w="2379979" h="743584">
                  <a:moveTo>
                    <a:pt x="9525" y="181076"/>
                  </a:moveTo>
                  <a:lnTo>
                    <a:pt x="0" y="181076"/>
                  </a:lnTo>
                  <a:lnTo>
                    <a:pt x="0" y="223164"/>
                  </a:lnTo>
                  <a:lnTo>
                    <a:pt x="9525" y="223164"/>
                  </a:lnTo>
                  <a:lnTo>
                    <a:pt x="9525" y="181076"/>
                  </a:lnTo>
                  <a:close/>
                </a:path>
                <a:path w="2379979" h="743584">
                  <a:moveTo>
                    <a:pt x="2372969" y="644067"/>
                  </a:moveTo>
                  <a:lnTo>
                    <a:pt x="2363444" y="644067"/>
                  </a:lnTo>
                  <a:lnTo>
                    <a:pt x="2363444" y="686168"/>
                  </a:lnTo>
                  <a:lnTo>
                    <a:pt x="2372969" y="686168"/>
                  </a:lnTo>
                  <a:lnTo>
                    <a:pt x="2372969" y="644067"/>
                  </a:lnTo>
                  <a:close/>
                </a:path>
                <a:path w="2379979" h="743584">
                  <a:moveTo>
                    <a:pt x="2372969" y="475716"/>
                  </a:moveTo>
                  <a:lnTo>
                    <a:pt x="2363444" y="475716"/>
                  </a:lnTo>
                  <a:lnTo>
                    <a:pt x="2363444" y="559892"/>
                  </a:lnTo>
                  <a:lnTo>
                    <a:pt x="2372969" y="559892"/>
                  </a:lnTo>
                  <a:lnTo>
                    <a:pt x="2372969" y="475716"/>
                  </a:lnTo>
                  <a:close/>
                </a:path>
                <a:path w="2379979" h="743584">
                  <a:moveTo>
                    <a:pt x="2372969" y="307340"/>
                  </a:moveTo>
                  <a:lnTo>
                    <a:pt x="2363444" y="307340"/>
                  </a:lnTo>
                  <a:lnTo>
                    <a:pt x="2363444" y="391528"/>
                  </a:lnTo>
                  <a:lnTo>
                    <a:pt x="2372969" y="391528"/>
                  </a:lnTo>
                  <a:lnTo>
                    <a:pt x="2372969" y="307340"/>
                  </a:lnTo>
                  <a:close/>
                </a:path>
                <a:path w="2379979" h="743584">
                  <a:moveTo>
                    <a:pt x="2372969" y="181076"/>
                  </a:moveTo>
                  <a:lnTo>
                    <a:pt x="2363444" y="181076"/>
                  </a:lnTo>
                  <a:lnTo>
                    <a:pt x="2363444" y="223164"/>
                  </a:lnTo>
                  <a:lnTo>
                    <a:pt x="2372969" y="223164"/>
                  </a:lnTo>
                  <a:lnTo>
                    <a:pt x="2372969" y="181076"/>
                  </a:lnTo>
                  <a:close/>
                </a:path>
                <a:path w="2379979" h="743584">
                  <a:moveTo>
                    <a:pt x="2379599" y="167297"/>
                  </a:moveTo>
                  <a:lnTo>
                    <a:pt x="2379091" y="0"/>
                  </a:lnTo>
                  <a:lnTo>
                    <a:pt x="1187310" y="571207"/>
                  </a:lnTo>
                  <a:lnTo>
                    <a:pt x="1187386" y="571360"/>
                  </a:lnTo>
                  <a:lnTo>
                    <a:pt x="1186522" y="571779"/>
                  </a:lnTo>
                  <a:lnTo>
                    <a:pt x="1186497" y="743318"/>
                  </a:lnTo>
                  <a:lnTo>
                    <a:pt x="1254188" y="706920"/>
                  </a:lnTo>
                  <a:lnTo>
                    <a:pt x="1268387" y="700112"/>
                  </a:lnTo>
                  <a:lnTo>
                    <a:pt x="1268272" y="699935"/>
                  </a:lnTo>
                  <a:lnTo>
                    <a:pt x="2379599" y="167297"/>
                  </a:lnTo>
                  <a:close/>
                </a:path>
              </a:pathLst>
            </a:custGeom>
            <a:solidFill>
              <a:srgbClr val="FF6D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54195" y="12928607"/>
              <a:ext cx="1193165" cy="743585"/>
            </a:xfrm>
            <a:custGeom>
              <a:avLst/>
              <a:gdLst/>
              <a:ahLst/>
              <a:cxnLst/>
              <a:rect l="l" t="t" r="r" b="b"/>
              <a:pathLst>
                <a:path w="1193164" h="743584">
                  <a:moveTo>
                    <a:pt x="1192596" y="743217"/>
                  </a:moveTo>
                  <a:lnTo>
                    <a:pt x="1126105" y="707480"/>
                  </a:lnTo>
                  <a:lnTo>
                    <a:pt x="1125609" y="707518"/>
                  </a:lnTo>
                  <a:lnTo>
                    <a:pt x="514" y="168290"/>
                  </a:lnTo>
                  <a:lnTo>
                    <a:pt x="0" y="0"/>
                  </a:lnTo>
                  <a:lnTo>
                    <a:pt x="1191100" y="570867"/>
                  </a:lnTo>
                  <a:lnTo>
                    <a:pt x="1192596" y="571620"/>
                  </a:lnTo>
                  <a:lnTo>
                    <a:pt x="1192596" y="743217"/>
                  </a:lnTo>
                  <a:close/>
                </a:path>
              </a:pathLst>
            </a:custGeom>
            <a:solidFill>
              <a:srgbClr val="FF5D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959911" y="12332321"/>
              <a:ext cx="2980690" cy="605790"/>
            </a:xfrm>
            <a:custGeom>
              <a:avLst/>
              <a:gdLst/>
              <a:ahLst/>
              <a:cxnLst/>
              <a:rect l="l" t="t" r="r" b="b"/>
              <a:pathLst>
                <a:path w="2980690" h="605790">
                  <a:moveTo>
                    <a:pt x="2980296" y="596684"/>
                  </a:moveTo>
                  <a:lnTo>
                    <a:pt x="1789036" y="1066"/>
                  </a:lnTo>
                  <a:lnTo>
                    <a:pt x="1786915" y="0"/>
                  </a:lnTo>
                  <a:lnTo>
                    <a:pt x="599287" y="596176"/>
                  </a:lnTo>
                  <a:lnTo>
                    <a:pt x="0" y="596176"/>
                  </a:lnTo>
                  <a:lnTo>
                    <a:pt x="0" y="605713"/>
                  </a:lnTo>
                  <a:lnTo>
                    <a:pt x="1267485" y="605713"/>
                  </a:lnTo>
                  <a:lnTo>
                    <a:pt x="1267485" y="596176"/>
                  </a:lnTo>
                  <a:lnTo>
                    <a:pt x="620547" y="596176"/>
                  </a:lnTo>
                  <a:lnTo>
                    <a:pt x="1786915" y="10655"/>
                  </a:lnTo>
                  <a:lnTo>
                    <a:pt x="2976029" y="605205"/>
                  </a:lnTo>
                  <a:lnTo>
                    <a:pt x="2980296" y="596684"/>
                  </a:lnTo>
                  <a:close/>
                </a:path>
              </a:pathLst>
            </a:custGeom>
            <a:solidFill>
              <a:srgbClr val="FF6D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3672" y="12890372"/>
              <a:ext cx="76240" cy="7624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746830" y="12347165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59">
                  <a:moveTo>
                    <a:pt x="0" y="0"/>
                  </a:moveTo>
                  <a:lnTo>
                    <a:pt x="0" y="695691"/>
                  </a:lnTo>
                </a:path>
              </a:pathLst>
            </a:custGeom>
            <a:ln w="9530">
              <a:solidFill>
                <a:srgbClr val="FF6D1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276673" y="15455732"/>
            <a:ext cx="2426970" cy="68389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339215">
              <a:lnSpc>
                <a:spcPct val="100000"/>
              </a:lnSpc>
              <a:spcBef>
                <a:spcPts val="935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1750" spc="-3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Client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Top-level</a:t>
            </a:r>
            <a:r>
              <a:rPr dirty="0" sz="1350" spc="2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system</a:t>
            </a:r>
            <a:r>
              <a:rPr dirty="0" sz="1350" spc="2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environment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94056" y="14690351"/>
            <a:ext cx="2007235" cy="70612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Company</a:t>
            </a:r>
            <a:r>
              <a:rPr dirty="0" sz="1750" spc="3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020202"/>
                </a:solidFill>
                <a:latin typeface="Georgia"/>
                <a:cs typeface="Georgia"/>
              </a:rPr>
              <a:t>Code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Legal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entity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34826" y="14026221"/>
            <a:ext cx="2468245" cy="68389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672465">
              <a:lnSpc>
                <a:spcPct val="100000"/>
              </a:lnSpc>
              <a:spcBef>
                <a:spcPts val="935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Chart</a:t>
            </a:r>
            <a:r>
              <a:rPr dirty="0" sz="1750" spc="5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of</a:t>
            </a:r>
            <a:r>
              <a:rPr dirty="0" sz="1750" spc="2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Accounts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List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general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ledger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794056" y="13203657"/>
            <a:ext cx="2085339" cy="70612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General</a:t>
            </a:r>
            <a:r>
              <a:rPr dirty="0" sz="175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Ledger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Central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ledger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08903" y="12596708"/>
            <a:ext cx="2294890" cy="68389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Financial</a:t>
            </a:r>
            <a:r>
              <a:rPr dirty="0" sz="175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Transactions</a:t>
            </a:r>
            <a:endParaRPr sz="1750">
              <a:latin typeface="Georgia"/>
              <a:cs typeface="Georgia"/>
            </a:endParaRPr>
          </a:p>
          <a:p>
            <a:pPr marL="90805">
              <a:lnSpc>
                <a:spcPct val="100000"/>
              </a:lnSpc>
              <a:spcBef>
                <a:spcPts val="62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Postings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journal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entries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5975" y="16861789"/>
            <a:ext cx="9725660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also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understand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relationship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between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structures.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 b="1">
                <a:solidFill>
                  <a:srgbClr val="383838"/>
                </a:solidFill>
                <a:latin typeface="Trebuchet MS"/>
                <a:cs typeface="Trebuchet MS"/>
              </a:rPr>
              <a:t>Company</a:t>
            </a:r>
            <a:r>
              <a:rPr dirty="0" sz="1350" spc="2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85" b="1">
                <a:solidFill>
                  <a:srgbClr val="383838"/>
                </a:solidFill>
                <a:latin typeface="Trebuchet MS"/>
                <a:cs typeface="Trebuchet MS"/>
              </a:rPr>
              <a:t>Code</a:t>
            </a:r>
            <a:r>
              <a:rPr dirty="0" sz="1350" spc="8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primary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unit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383838"/>
                </a:solidFill>
                <a:latin typeface="Tahoma"/>
                <a:cs typeface="Tahoma"/>
              </a:rPr>
              <a:t>(FI),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while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Controlling</a:t>
            </a:r>
            <a:r>
              <a:rPr dirty="0" sz="1350" spc="4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Area</a:t>
            </a:r>
            <a:r>
              <a:rPr dirty="0" sz="1350" spc="10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primary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(CO).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two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structures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must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properly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assigned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other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FI–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integration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correctly.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only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assigned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one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area,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but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area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can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serve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multiple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company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codes.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SAP</a:t>
            </a:r>
            <a:r>
              <a:rPr dirty="0" spc="-130"/>
              <a:t> </a:t>
            </a:r>
            <a:r>
              <a:rPr dirty="0" spc="-85"/>
              <a:t>FICO</a:t>
            </a:r>
            <a:r>
              <a:rPr dirty="0" spc="-125"/>
              <a:t> </a:t>
            </a:r>
            <a:r>
              <a:rPr dirty="0" spc="-20"/>
              <a:t>Enterprise</a:t>
            </a:r>
            <a:r>
              <a:rPr dirty="0" spc="-130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/>
          <p:cNvSpPr/>
          <p:nvPr/>
        </p:nvSpPr>
        <p:spPr>
          <a:xfrm>
            <a:off x="828675" y="2400312"/>
            <a:ext cx="9772650" cy="685800"/>
          </a:xfrm>
          <a:custGeom>
            <a:avLst/>
            <a:gdLst/>
            <a:ahLst/>
            <a:cxnLst/>
            <a:rect l="l" t="t" r="r" b="b"/>
            <a:pathLst>
              <a:path w="9772650" h="685800">
                <a:moveTo>
                  <a:pt x="4886325" y="342900"/>
                </a:moveTo>
                <a:lnTo>
                  <a:pt x="4714875" y="0"/>
                </a:lnTo>
                <a:lnTo>
                  <a:pt x="0" y="0"/>
                </a:lnTo>
                <a:lnTo>
                  <a:pt x="171450" y="342900"/>
                </a:lnTo>
                <a:lnTo>
                  <a:pt x="0" y="685800"/>
                </a:lnTo>
                <a:lnTo>
                  <a:pt x="4714875" y="685800"/>
                </a:lnTo>
                <a:lnTo>
                  <a:pt x="4886325" y="342900"/>
                </a:lnTo>
                <a:close/>
              </a:path>
              <a:path w="9772650" h="685800">
                <a:moveTo>
                  <a:pt x="9772650" y="342900"/>
                </a:moveTo>
                <a:lnTo>
                  <a:pt x="9601200" y="0"/>
                </a:lnTo>
                <a:lnTo>
                  <a:pt x="4886325" y="0"/>
                </a:lnTo>
                <a:lnTo>
                  <a:pt x="5057775" y="342900"/>
                </a:lnTo>
                <a:lnTo>
                  <a:pt x="4886325" y="685800"/>
                </a:lnTo>
                <a:lnTo>
                  <a:pt x="9601200" y="685800"/>
                </a:lnTo>
                <a:lnTo>
                  <a:pt x="9772650" y="34290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15975" y="1316989"/>
            <a:ext cx="9726295" cy="157607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enterprise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structure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organisational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framework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within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SAP.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defines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represented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system</a:t>
            </a:r>
            <a:endParaRPr sz="1350">
              <a:latin typeface="Tahoma"/>
              <a:cs typeface="Tahoma"/>
            </a:endParaRPr>
          </a:p>
          <a:p>
            <a:pPr marL="12700" marR="23495">
              <a:lnSpc>
                <a:spcPct val="134300"/>
              </a:lnSpc>
            </a:pP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legal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entities,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units,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operational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divisions.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Configuring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enterprise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structure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always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first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step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in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any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implementation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because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other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depends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it.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ahoma"/>
              <a:cs typeface="Tahoma"/>
            </a:endParaRPr>
          </a:p>
          <a:p>
            <a:pPr marL="2386965">
              <a:lnSpc>
                <a:spcPct val="100000"/>
              </a:lnSpc>
              <a:tabLst>
                <a:tab pos="7273290" algn="l"/>
              </a:tabLst>
            </a:pPr>
            <a:r>
              <a:rPr dirty="0" sz="2000" spc="165">
                <a:solidFill>
                  <a:srgbClr val="383838"/>
                </a:solidFill>
                <a:latin typeface="Georgia"/>
                <a:cs typeface="Georgia"/>
              </a:rPr>
              <a:t>1</a:t>
            </a:r>
            <a:r>
              <a:rPr dirty="0" sz="2000">
                <a:solidFill>
                  <a:srgbClr val="383838"/>
                </a:solidFill>
                <a:latin typeface="Georgia"/>
                <a:cs typeface="Georgia"/>
              </a:rPr>
              <a:t>	</a:t>
            </a:r>
            <a:r>
              <a:rPr dirty="0" sz="2000" spc="-50">
                <a:solidFill>
                  <a:srgbClr val="383838"/>
                </a:solidFill>
                <a:latin typeface="Georgia"/>
                <a:cs typeface="Georgia"/>
              </a:rPr>
              <a:t>2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423" y="3238944"/>
            <a:ext cx="4441190" cy="1189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Define</a:t>
            </a:r>
            <a:r>
              <a:rPr dirty="0" sz="1750" spc="5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Company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Create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legal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entity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group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will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represented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SAP.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used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consolidated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across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multiple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codes.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3748" y="3238944"/>
            <a:ext cx="4272915" cy="1189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Define</a:t>
            </a:r>
            <a:r>
              <a:rPr dirty="0" sz="1750" spc="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Company</a:t>
            </a:r>
            <a:r>
              <a:rPr dirty="0" sz="1750" spc="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Georgia"/>
                <a:cs typeface="Georgia"/>
              </a:rPr>
              <a:t>Code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Create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individual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legal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entity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statements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prepared.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its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own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currency,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fiscal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year,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chart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accounts.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8675" y="4629150"/>
            <a:ext cx="4886325" cy="685800"/>
          </a:xfrm>
          <a:custGeom>
            <a:avLst/>
            <a:gdLst/>
            <a:ahLst/>
            <a:cxnLst/>
            <a:rect l="l" t="t" r="r" b="b"/>
            <a:pathLst>
              <a:path w="4886325" h="685800">
                <a:moveTo>
                  <a:pt x="4714875" y="685800"/>
                </a:moveTo>
                <a:lnTo>
                  <a:pt x="0" y="685800"/>
                </a:lnTo>
                <a:lnTo>
                  <a:pt x="171450" y="342900"/>
                </a:lnTo>
                <a:lnTo>
                  <a:pt x="0" y="0"/>
                </a:lnTo>
                <a:lnTo>
                  <a:pt x="4714875" y="0"/>
                </a:lnTo>
                <a:lnTo>
                  <a:pt x="4886325" y="342900"/>
                </a:lnTo>
                <a:lnTo>
                  <a:pt x="4714875" y="68580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90527" y="4797425"/>
            <a:ext cx="16256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383838"/>
                </a:solidFill>
                <a:latin typeface="Georgia"/>
                <a:cs typeface="Georgia"/>
              </a:rPr>
              <a:t>3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7423" y="5467794"/>
            <a:ext cx="3968115" cy="923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Assign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Company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Code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to</a:t>
            </a:r>
            <a:r>
              <a:rPr dirty="0" sz="1750" spc="7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Company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9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Link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parent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for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consolidated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purposes.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5000" y="4629150"/>
            <a:ext cx="4886325" cy="685800"/>
          </a:xfrm>
          <a:custGeom>
            <a:avLst/>
            <a:gdLst/>
            <a:ahLst/>
            <a:cxnLst/>
            <a:rect l="l" t="t" r="r" b="b"/>
            <a:pathLst>
              <a:path w="4886325" h="685800">
                <a:moveTo>
                  <a:pt x="4714875" y="685800"/>
                </a:moveTo>
                <a:lnTo>
                  <a:pt x="0" y="685800"/>
                </a:lnTo>
                <a:lnTo>
                  <a:pt x="171450" y="342900"/>
                </a:lnTo>
                <a:lnTo>
                  <a:pt x="0" y="0"/>
                </a:lnTo>
                <a:lnTo>
                  <a:pt x="4714875" y="0"/>
                </a:lnTo>
                <a:lnTo>
                  <a:pt x="4886325" y="342900"/>
                </a:lnTo>
                <a:lnTo>
                  <a:pt x="4714875" y="685800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76851" y="4797425"/>
            <a:ext cx="16256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383838"/>
                </a:solidFill>
                <a:latin typeface="Georgia"/>
                <a:cs typeface="Georgia"/>
              </a:rPr>
              <a:t>4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73748" y="5467794"/>
            <a:ext cx="4566285" cy="923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Define</a:t>
            </a:r>
            <a:r>
              <a:rPr dirty="0" sz="1750" spc="9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295">
                <a:solidFill>
                  <a:srgbClr val="383838"/>
                </a:solidFill>
                <a:latin typeface="Georgia"/>
                <a:cs typeface="Georgia"/>
              </a:rPr>
              <a:t>&amp;</a:t>
            </a:r>
            <a:r>
              <a:rPr dirty="0" sz="1750" spc="5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Assign</a:t>
            </a:r>
            <a:r>
              <a:rPr dirty="0" sz="1750" spc="9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Controlling</a:t>
            </a:r>
            <a:r>
              <a:rPr dirty="0" sz="1750" spc="5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Georgia"/>
                <a:cs typeface="Georgia"/>
              </a:rPr>
              <a:t>Area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9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Create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area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assign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codes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FI–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integration.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973" y="6944169"/>
            <a:ext cx="4674235" cy="26282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Why</a:t>
            </a:r>
            <a:r>
              <a:rPr dirty="0" sz="1750" spc="2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Company</a:t>
            </a:r>
            <a:r>
              <a:rPr dirty="0" sz="175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Code</a:t>
            </a:r>
            <a:r>
              <a:rPr dirty="0" sz="175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is</a:t>
            </a:r>
            <a:r>
              <a:rPr dirty="0" sz="175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Critical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600"/>
              </a:lnSpc>
              <a:spcBef>
                <a:spcPts val="105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most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organisational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unit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14">
                <a:solidFill>
                  <a:srgbClr val="383838"/>
                </a:solidFill>
                <a:latin typeface="Tahoma"/>
                <a:cs typeface="Tahoma"/>
              </a:rPr>
              <a:t>FI.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transactions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invoices,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payments,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journal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entries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recorded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company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level.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statements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such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balance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sheet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loss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account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prepared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each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code.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must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have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least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one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code,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must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have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a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unique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four-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character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identifier.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10250" y="6791325"/>
            <a:ext cx="4924425" cy="2971800"/>
          </a:xfrm>
          <a:custGeom>
            <a:avLst/>
            <a:gdLst/>
            <a:ahLst/>
            <a:cxnLst/>
            <a:rect l="l" t="t" r="r" b="b"/>
            <a:pathLst>
              <a:path w="4924425" h="2971800">
                <a:moveTo>
                  <a:pt x="4905832" y="2971800"/>
                </a:moveTo>
                <a:lnTo>
                  <a:pt x="18592" y="2971800"/>
                </a:lnTo>
                <a:lnTo>
                  <a:pt x="15859" y="2971257"/>
                </a:lnTo>
                <a:lnTo>
                  <a:pt x="0" y="2953207"/>
                </a:lnTo>
                <a:lnTo>
                  <a:pt x="0" y="2950368"/>
                </a:lnTo>
                <a:lnTo>
                  <a:pt x="0" y="18592"/>
                </a:lnTo>
                <a:lnTo>
                  <a:pt x="18592" y="0"/>
                </a:lnTo>
                <a:lnTo>
                  <a:pt x="4905832" y="0"/>
                </a:lnTo>
                <a:lnTo>
                  <a:pt x="4924425" y="18592"/>
                </a:lnTo>
                <a:lnTo>
                  <a:pt x="4924425" y="2953207"/>
                </a:lnTo>
                <a:lnTo>
                  <a:pt x="4908565" y="2971257"/>
                </a:lnTo>
                <a:lnTo>
                  <a:pt x="4905832" y="297180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969000" y="6944169"/>
            <a:ext cx="4529455" cy="20758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Controlling</a:t>
            </a:r>
            <a:r>
              <a:rPr dirty="0" sz="1750" spc="8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Area</a:t>
            </a:r>
            <a:r>
              <a:rPr dirty="0" sz="1750" spc="8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Assignment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300"/>
              </a:lnSpc>
              <a:spcBef>
                <a:spcPts val="1060"/>
              </a:spcBef>
            </a:pPr>
            <a:r>
              <a:rPr dirty="0" sz="1350" spc="10">
                <a:latin typeface="Tahoma"/>
                <a:cs typeface="Tahoma"/>
              </a:rPr>
              <a:t>The</a:t>
            </a:r>
            <a:r>
              <a:rPr dirty="0" sz="1350" spc="3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controlling</a:t>
            </a:r>
            <a:r>
              <a:rPr dirty="0" sz="1350" spc="3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area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is</a:t>
            </a:r>
            <a:r>
              <a:rPr dirty="0" sz="1350" spc="3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assigned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to</a:t>
            </a:r>
            <a:r>
              <a:rPr dirty="0" sz="1350" spc="3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one</a:t>
            </a:r>
            <a:r>
              <a:rPr dirty="0" sz="1350" spc="3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or</a:t>
            </a:r>
            <a:r>
              <a:rPr dirty="0" sz="1350" spc="3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more</a:t>
            </a:r>
            <a:r>
              <a:rPr dirty="0" sz="1350" spc="30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company </a:t>
            </a:r>
            <a:r>
              <a:rPr dirty="0" sz="1350" spc="10">
                <a:latin typeface="Tahoma"/>
                <a:cs typeface="Tahoma"/>
              </a:rPr>
              <a:t>codes.</a:t>
            </a:r>
            <a:r>
              <a:rPr dirty="0" sz="1350" spc="6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This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assignment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is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required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65">
                <a:latin typeface="Tahoma"/>
                <a:cs typeface="Tahoma"/>
              </a:rPr>
              <a:t>so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that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65">
                <a:latin typeface="Tahoma"/>
                <a:cs typeface="Tahoma"/>
              </a:rPr>
              <a:t>costs </a:t>
            </a:r>
            <a:r>
              <a:rPr dirty="0" sz="1350" spc="55">
                <a:latin typeface="Tahoma"/>
                <a:cs typeface="Tahoma"/>
              </a:rPr>
              <a:t>recorded</a:t>
            </a:r>
            <a:r>
              <a:rPr dirty="0" sz="1350">
                <a:latin typeface="Tahoma"/>
                <a:cs typeface="Tahoma"/>
              </a:rPr>
              <a:t> in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-90">
                <a:latin typeface="Tahoma"/>
                <a:cs typeface="Tahoma"/>
              </a:rPr>
              <a:t>FI</a:t>
            </a:r>
            <a:r>
              <a:rPr dirty="0" sz="1350">
                <a:latin typeface="Tahoma"/>
                <a:cs typeface="Tahoma"/>
              </a:rPr>
              <a:t> </a:t>
            </a:r>
            <a:r>
              <a:rPr dirty="0" sz="1350" spc="60">
                <a:latin typeface="Tahoma"/>
                <a:cs typeface="Tahoma"/>
              </a:rPr>
              <a:t>can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70">
                <a:latin typeface="Tahoma"/>
                <a:cs typeface="Tahoma"/>
              </a:rPr>
              <a:t>be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automatically </a:t>
            </a:r>
            <a:r>
              <a:rPr dirty="0" sz="1350" spc="65">
                <a:latin typeface="Tahoma"/>
                <a:cs typeface="Tahoma"/>
              </a:rPr>
              <a:t>passed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to</a:t>
            </a:r>
            <a:r>
              <a:rPr dirty="0" sz="1350">
                <a:latin typeface="Tahoma"/>
                <a:cs typeface="Tahoma"/>
              </a:rPr>
              <a:t> </a:t>
            </a:r>
            <a:r>
              <a:rPr dirty="0" sz="1350" spc="120">
                <a:latin typeface="Tahoma"/>
                <a:cs typeface="Tahoma"/>
              </a:rPr>
              <a:t>CO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for </a:t>
            </a:r>
            <a:r>
              <a:rPr dirty="0" sz="1350">
                <a:latin typeface="Tahoma"/>
                <a:cs typeface="Tahoma"/>
              </a:rPr>
              <a:t>internal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reporting.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The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controlling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area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must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share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 spc="25">
                <a:latin typeface="Tahoma"/>
                <a:cs typeface="Tahoma"/>
              </a:rPr>
              <a:t>the </a:t>
            </a:r>
            <a:r>
              <a:rPr dirty="0" sz="1350">
                <a:latin typeface="Tahoma"/>
                <a:cs typeface="Tahoma"/>
              </a:rPr>
              <a:t>same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fiscal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year</a:t>
            </a:r>
            <a:r>
              <a:rPr dirty="0" sz="1350" spc="6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variant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and</a:t>
            </a:r>
            <a:r>
              <a:rPr dirty="0" sz="1350" spc="60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currency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as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the</a:t>
            </a:r>
            <a:r>
              <a:rPr dirty="0" sz="1350" spc="60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company </a:t>
            </a:r>
            <a:r>
              <a:rPr dirty="0" sz="1350" spc="80">
                <a:latin typeface="Tahoma"/>
                <a:cs typeface="Tahoma"/>
              </a:rPr>
              <a:t>codes</a:t>
            </a:r>
            <a:r>
              <a:rPr dirty="0" sz="135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assigned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to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it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(or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use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currency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translation).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9953625"/>
            <a:ext cx="9772649" cy="5495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Financial</a:t>
            </a:r>
            <a:r>
              <a:rPr dirty="0" spc="-165"/>
              <a:t> </a:t>
            </a:r>
            <a:r>
              <a:rPr dirty="0"/>
              <a:t>Accounting</a:t>
            </a:r>
            <a:r>
              <a:rPr dirty="0" spc="-95"/>
              <a:t> </a:t>
            </a:r>
            <a:r>
              <a:rPr dirty="0" spc="-135"/>
              <a:t>(FI)</a:t>
            </a:r>
            <a:r>
              <a:rPr dirty="0" spc="-80"/>
              <a:t> </a:t>
            </a:r>
            <a:r>
              <a:rPr dirty="0" spc="-10"/>
              <a:t>Configuration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16989"/>
            <a:ext cx="973518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Accounting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sets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up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areas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within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14">
                <a:solidFill>
                  <a:srgbClr val="383838"/>
                </a:solidFill>
                <a:latin typeface="Tahoma"/>
                <a:cs typeface="Tahoma"/>
              </a:rPr>
              <a:t>FI.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includes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General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Ledger,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Payable,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Receivable,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Asset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Accounting.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area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has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own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requirements,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but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share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same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foundational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enterprise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structure.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Below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summary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key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areas.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3437" y="2405062"/>
            <a:ext cx="9763125" cy="5248275"/>
          </a:xfrm>
          <a:custGeom>
            <a:avLst/>
            <a:gdLst/>
            <a:ahLst/>
            <a:cxnLst/>
            <a:rect l="l" t="t" r="r" b="b"/>
            <a:pathLst>
              <a:path w="9763125" h="5248275">
                <a:moveTo>
                  <a:pt x="0" y="5231606"/>
                </a:moveTo>
                <a:lnTo>
                  <a:pt x="0" y="16668"/>
                </a:lnTo>
                <a:lnTo>
                  <a:pt x="0" y="14458"/>
                </a:lnTo>
                <a:lnTo>
                  <a:pt x="419" y="12334"/>
                </a:lnTo>
                <a:lnTo>
                  <a:pt x="1266" y="10287"/>
                </a:lnTo>
                <a:lnTo>
                  <a:pt x="2114" y="8248"/>
                </a:lnTo>
                <a:lnTo>
                  <a:pt x="3314" y="6448"/>
                </a:lnTo>
                <a:lnTo>
                  <a:pt x="4886" y="4886"/>
                </a:lnTo>
                <a:lnTo>
                  <a:pt x="6448" y="3314"/>
                </a:lnTo>
                <a:lnTo>
                  <a:pt x="8248" y="2114"/>
                </a:lnTo>
                <a:lnTo>
                  <a:pt x="10287" y="1266"/>
                </a:lnTo>
                <a:lnTo>
                  <a:pt x="12334" y="419"/>
                </a:lnTo>
                <a:lnTo>
                  <a:pt x="14458" y="0"/>
                </a:lnTo>
                <a:lnTo>
                  <a:pt x="16668" y="0"/>
                </a:lnTo>
                <a:lnTo>
                  <a:pt x="9746456" y="0"/>
                </a:lnTo>
                <a:lnTo>
                  <a:pt x="9748666" y="0"/>
                </a:lnTo>
                <a:lnTo>
                  <a:pt x="9750790" y="419"/>
                </a:lnTo>
                <a:lnTo>
                  <a:pt x="9752828" y="1266"/>
                </a:lnTo>
                <a:lnTo>
                  <a:pt x="9754876" y="2114"/>
                </a:lnTo>
                <a:lnTo>
                  <a:pt x="9756676" y="3314"/>
                </a:lnTo>
                <a:lnTo>
                  <a:pt x="9758238" y="4886"/>
                </a:lnTo>
                <a:lnTo>
                  <a:pt x="9759800" y="6448"/>
                </a:lnTo>
                <a:lnTo>
                  <a:pt x="9761010" y="8248"/>
                </a:lnTo>
                <a:lnTo>
                  <a:pt x="9761858" y="10287"/>
                </a:lnTo>
                <a:lnTo>
                  <a:pt x="9762696" y="12334"/>
                </a:lnTo>
                <a:lnTo>
                  <a:pt x="9763125" y="14458"/>
                </a:lnTo>
                <a:lnTo>
                  <a:pt x="9763125" y="16668"/>
                </a:lnTo>
                <a:lnTo>
                  <a:pt x="9763125" y="5231606"/>
                </a:lnTo>
                <a:lnTo>
                  <a:pt x="9763125" y="5233816"/>
                </a:lnTo>
                <a:lnTo>
                  <a:pt x="9762696" y="5235940"/>
                </a:lnTo>
                <a:lnTo>
                  <a:pt x="9761858" y="5237988"/>
                </a:lnTo>
                <a:lnTo>
                  <a:pt x="9761010" y="5240026"/>
                </a:lnTo>
                <a:lnTo>
                  <a:pt x="9759800" y="5241826"/>
                </a:lnTo>
                <a:lnTo>
                  <a:pt x="9758238" y="5243388"/>
                </a:lnTo>
                <a:lnTo>
                  <a:pt x="9756676" y="5244950"/>
                </a:lnTo>
                <a:lnTo>
                  <a:pt x="9754876" y="5246160"/>
                </a:lnTo>
                <a:lnTo>
                  <a:pt x="9752828" y="5247008"/>
                </a:lnTo>
                <a:lnTo>
                  <a:pt x="9750790" y="5247846"/>
                </a:lnTo>
                <a:lnTo>
                  <a:pt x="9748666" y="5248275"/>
                </a:lnTo>
                <a:lnTo>
                  <a:pt x="9746456" y="5248275"/>
                </a:lnTo>
                <a:lnTo>
                  <a:pt x="16668" y="5248275"/>
                </a:lnTo>
                <a:lnTo>
                  <a:pt x="14458" y="5248275"/>
                </a:lnTo>
                <a:lnTo>
                  <a:pt x="12334" y="5247846"/>
                </a:lnTo>
                <a:lnTo>
                  <a:pt x="10287" y="5247008"/>
                </a:lnTo>
                <a:lnTo>
                  <a:pt x="8248" y="5246160"/>
                </a:lnTo>
                <a:lnTo>
                  <a:pt x="6448" y="5244950"/>
                </a:lnTo>
                <a:lnTo>
                  <a:pt x="4886" y="5243388"/>
                </a:lnTo>
                <a:lnTo>
                  <a:pt x="3314" y="5241826"/>
                </a:lnTo>
                <a:lnTo>
                  <a:pt x="2114" y="5240026"/>
                </a:lnTo>
                <a:lnTo>
                  <a:pt x="1266" y="5237988"/>
                </a:lnTo>
                <a:lnTo>
                  <a:pt x="419" y="5235940"/>
                </a:lnTo>
                <a:lnTo>
                  <a:pt x="0" y="5233816"/>
                </a:lnTo>
                <a:lnTo>
                  <a:pt x="0" y="5231606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3437" y="2405062"/>
          <a:ext cx="9839325" cy="524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4480"/>
                <a:gridCol w="3663950"/>
                <a:gridCol w="3274060"/>
              </a:tblGrid>
              <a:tr h="499745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2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FI</a:t>
                      </a:r>
                      <a:r>
                        <a:rPr dirty="0" sz="1350" spc="-9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Area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28270"/>
                </a:tc>
                <a:tc>
                  <a:txBody>
                    <a:bodyPr/>
                    <a:lstStyle/>
                    <a:p>
                      <a:pPr marL="6076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2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dirty="0" sz="1350" spc="3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2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Configuration</a:t>
                      </a:r>
                      <a:r>
                        <a:rPr dirty="0" sz="1350" spc="4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Elements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28270"/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4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Purpose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28270"/>
                </a:tc>
              </a:tr>
              <a:tr h="160020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General</a:t>
                      </a:r>
                      <a:r>
                        <a:rPr dirty="0" sz="1350" spc="1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Ledger</a:t>
                      </a:r>
                      <a:r>
                        <a:rPr dirty="0" sz="1350" spc="1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(G/L)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07695" marR="186690">
                        <a:lnSpc>
                          <a:spcPct val="133100"/>
                        </a:lnSpc>
                        <a:spcBef>
                          <a:spcPts val="509"/>
                        </a:spcBef>
                      </a:pP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Chart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Accounts,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Groups, </a:t>
                      </a:r>
                      <a:r>
                        <a:rPr dirty="0" sz="13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G/L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Accounts,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Document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Types,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Number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Ranges,</a:t>
                      </a:r>
                      <a:r>
                        <a:rPr dirty="0" sz="13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Posting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Periods,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Field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Status,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Statement Structure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4769"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4310" marR="20701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Record</a:t>
                      </a:r>
                      <a:r>
                        <a:rPr dirty="0" sz="1350" spc="1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1350" spc="1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1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transactions</a:t>
                      </a:r>
                      <a:r>
                        <a:rPr dirty="0" sz="1350" spc="1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produce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external</a:t>
                      </a:r>
                      <a:r>
                        <a:rPr dirty="0" sz="13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reports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2865"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13144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Payable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(AP)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3825"/>
                </a:tc>
                <a:tc>
                  <a:txBody>
                    <a:bodyPr/>
                    <a:lstStyle/>
                    <a:p>
                      <a:pPr marL="607695" marR="202565">
                        <a:lnSpc>
                          <a:spcPct val="134300"/>
                        </a:lnSpc>
                        <a:spcBef>
                          <a:spcPts val="42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Vendor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Account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Groups,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Reconciliation</a:t>
                      </a:r>
                      <a:r>
                        <a:rPr dirty="0" sz="1350" spc="1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Accounts,</a:t>
                      </a:r>
                      <a:r>
                        <a:rPr dirty="0" sz="1350" spc="1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Payment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Terms,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Payment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Methods,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Tolerance Settings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194310" marR="406400">
                        <a:lnSpc>
                          <a:spcPct val="134300"/>
                        </a:lnSpc>
                        <a:spcBef>
                          <a:spcPts val="42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Manage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money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owed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suppliers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process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outgoing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3340"/>
                </a:tc>
              </a:tr>
              <a:tr h="10477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Receivable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(AR)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07695" marR="36131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Customer</a:t>
                      </a:r>
                      <a:r>
                        <a:rPr dirty="0" sz="1350" spc="-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</a:t>
                      </a:r>
                      <a:r>
                        <a:rPr dirty="0" sz="1350" spc="-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Groups,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Reconciliation</a:t>
                      </a:r>
                      <a:r>
                        <a:rPr dirty="0" sz="1350" spc="1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Accounts,</a:t>
                      </a:r>
                      <a:r>
                        <a:rPr dirty="0" sz="1350" spc="1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Payment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Terms,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Dunning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Procedures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2865"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4310" marR="25717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Manage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money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owed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by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customers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process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incoming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2865"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785495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Asset</a:t>
                      </a:r>
                      <a:r>
                        <a:rPr dirty="0" sz="1350" spc="-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Accounting</a:t>
                      </a:r>
                      <a:r>
                        <a:rPr dirty="0" sz="1350" spc="-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(AA)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/>
                </a:tc>
                <a:tc>
                  <a:txBody>
                    <a:bodyPr/>
                    <a:lstStyle/>
                    <a:p>
                      <a:pPr marL="607695" marR="32131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Asset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Classes,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Depreciation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Areas,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Depreciation</a:t>
                      </a:r>
                      <a:r>
                        <a:rPr dirty="0" sz="1350" spc="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Keys,</a:t>
                      </a:r>
                      <a:r>
                        <a:rPr dirty="0" sz="1350" spc="1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Useful</a:t>
                      </a:r>
                      <a:r>
                        <a:rPr dirty="0" sz="1350" spc="1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Life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2865"/>
                </a:tc>
                <a:tc>
                  <a:txBody>
                    <a:bodyPr/>
                    <a:lstStyle/>
                    <a:p>
                      <a:pPr marL="194310" marR="29210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Track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manage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fixed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assets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their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depreciation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over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time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2865"/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681" y="7994745"/>
            <a:ext cx="7307296" cy="19251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779374" y="10314961"/>
            <a:ext cx="1336040" cy="612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3820" marR="5080" indent="-71755">
              <a:lnSpc>
                <a:spcPct val="106900"/>
              </a:lnSpc>
              <a:spcBef>
                <a:spcPts val="95"/>
              </a:spcBef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Enable</a:t>
            </a:r>
            <a:r>
              <a:rPr dirty="0" sz="1800" spc="-9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Asset Accounting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37267" y="10477731"/>
            <a:ext cx="1424305" cy="302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Set</a:t>
            </a:r>
            <a:r>
              <a:rPr dirty="0" sz="1800" spc="2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65">
                <a:solidFill>
                  <a:srgbClr val="383838"/>
                </a:solidFill>
                <a:latin typeface="Georgia"/>
                <a:cs typeface="Georgia"/>
              </a:rPr>
              <a:t>Up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55">
                <a:solidFill>
                  <a:srgbClr val="383838"/>
                </a:solidFill>
                <a:latin typeface="Georgia"/>
                <a:cs typeface="Georgia"/>
              </a:rPr>
              <a:t>AP/AR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40538" y="10314961"/>
            <a:ext cx="1040765" cy="612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7185" marR="5080" indent="-325120">
              <a:lnSpc>
                <a:spcPct val="106900"/>
              </a:lnSpc>
              <a:spcBef>
                <a:spcPts val="95"/>
              </a:spcBef>
            </a:pP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Configure </a:t>
            </a:r>
            <a:r>
              <a:rPr dirty="0" sz="1800" spc="-25">
                <a:solidFill>
                  <a:srgbClr val="383838"/>
                </a:solidFill>
                <a:latin typeface="Georgia"/>
                <a:cs typeface="Georgia"/>
              </a:rPr>
              <a:t>G/L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0961" y="10314961"/>
            <a:ext cx="964565" cy="612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0165">
              <a:lnSpc>
                <a:spcPct val="106900"/>
              </a:lnSpc>
              <a:spcBef>
                <a:spcPts val="95"/>
              </a:spcBef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Chart</a:t>
            </a:r>
            <a:r>
              <a:rPr dirty="0" sz="1800" spc="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25">
                <a:solidFill>
                  <a:srgbClr val="383838"/>
                </a:solidFill>
                <a:latin typeface="Georgia"/>
                <a:cs typeface="Georgia"/>
              </a:rPr>
              <a:t>of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Accounts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5975" y="11668569"/>
            <a:ext cx="4702810" cy="290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General</a:t>
            </a:r>
            <a:r>
              <a:rPr dirty="0" sz="175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Ledger</a:t>
            </a:r>
            <a:r>
              <a:rPr dirty="0" sz="175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Configuration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114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General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Ledger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central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record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transactions.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includes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defining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chart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of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(the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list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accounts),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creating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account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groups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(which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number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range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field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status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of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accounts),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setting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up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document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types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number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ranges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different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types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transactions.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Posting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periods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configured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control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transactions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be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recorded,</a:t>
            </a:r>
            <a:r>
              <a:rPr dirty="0" sz="1350" spc="1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field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status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settings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determine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fields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required,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optional,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hidden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during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entry.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20927" y="11668569"/>
            <a:ext cx="4610100" cy="290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Accounts</a:t>
            </a:r>
            <a:r>
              <a:rPr dirty="0" sz="1750" spc="5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Payable</a:t>
            </a:r>
            <a:r>
              <a:rPr dirty="0" sz="1750" spc="5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295">
                <a:solidFill>
                  <a:srgbClr val="020202"/>
                </a:solidFill>
                <a:latin typeface="Georgia"/>
                <a:cs typeface="Georgia"/>
              </a:rPr>
              <a:t>&amp;</a:t>
            </a:r>
            <a:r>
              <a:rPr dirty="0" sz="1750" spc="5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Receivable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1140"/>
              </a:spcBef>
            </a:pP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AP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involves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setting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up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vendor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account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groups,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defining reconciliation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(G/L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accounts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summarise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vendor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balances),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configuring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payment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terms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methods.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AR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similar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but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customers.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Both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areas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use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reconciliation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accounts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ensure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subsidiary ledger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balances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(individual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customer/vendor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accounts)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always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match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corresponding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G/L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balances.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key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control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mechanism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SAP.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461167"/>
            <a:ext cx="9495155" cy="1127760"/>
          </a:xfrm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dirty="0"/>
              <a:t>Accounts</a:t>
            </a:r>
            <a:r>
              <a:rPr dirty="0" spc="-105"/>
              <a:t> </a:t>
            </a:r>
            <a:r>
              <a:rPr dirty="0"/>
              <a:t>Payable,</a:t>
            </a:r>
            <a:r>
              <a:rPr dirty="0" spc="-215"/>
              <a:t> </a:t>
            </a:r>
            <a:r>
              <a:rPr dirty="0"/>
              <a:t>Accounts</a:t>
            </a:r>
            <a:r>
              <a:rPr dirty="0" spc="-65"/>
              <a:t> </a:t>
            </a:r>
            <a:r>
              <a:rPr dirty="0"/>
              <a:t>Receivable</a:t>
            </a:r>
            <a:r>
              <a:rPr dirty="0" spc="-65"/>
              <a:t> </a:t>
            </a:r>
            <a:r>
              <a:rPr dirty="0" spc="530"/>
              <a:t>&amp;</a:t>
            </a:r>
            <a:r>
              <a:rPr dirty="0" spc="-125"/>
              <a:t> </a:t>
            </a:r>
            <a:r>
              <a:rPr dirty="0" spc="-10"/>
              <a:t>Asset Accounting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878964"/>
            <a:ext cx="945705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three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areas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handle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day-to-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day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relationships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has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suppliers,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customers,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fixed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assets.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Understanding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configured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helps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explain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tracks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money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flowing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out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business.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2686049"/>
            <a:ext cx="1371599" cy="8477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5975" y="3724719"/>
            <a:ext cx="3088005" cy="4209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Accounts</a:t>
            </a:r>
            <a:r>
              <a:rPr dirty="0" sz="1750" spc="8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Payable</a:t>
            </a:r>
            <a:r>
              <a:rPr dirty="0" sz="1750" spc="8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Process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300"/>
              </a:lnSpc>
              <a:spcBef>
                <a:spcPts val="53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receives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goods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or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services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 supplier,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vendor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invoice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recorded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SAP.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system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posts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expense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appropriate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G/L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account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updates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vendor's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balance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AP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subsidiary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ledger.</a:t>
            </a:r>
            <a:endParaRPr sz="1350">
              <a:latin typeface="Tahoma"/>
              <a:cs typeface="Tahoma"/>
            </a:endParaRPr>
          </a:p>
          <a:p>
            <a:pPr marL="12700" marR="12700">
              <a:lnSpc>
                <a:spcPct val="133600"/>
              </a:lnSpc>
              <a:spcBef>
                <a:spcPts val="1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Payment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terms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determine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payment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due.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automatic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payment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programme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run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multiple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payments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once.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impact: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expenses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increase,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liability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supplier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recorded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until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payment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is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made.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2425" y="2686049"/>
            <a:ext cx="1362074" cy="847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44962" y="3724719"/>
            <a:ext cx="3093720" cy="36569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Accounts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Receivable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Process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400"/>
              </a:lnSpc>
              <a:spcBef>
                <a:spcPts val="53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sells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products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or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services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customer, a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customer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invoice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created.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records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revenue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G/L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updates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customer's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balance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AR</a:t>
            </a:r>
            <a:r>
              <a:rPr dirty="0" sz="135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subsidiary</a:t>
            </a:r>
            <a:r>
              <a:rPr dirty="0" sz="1350" spc="1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ledger.</a:t>
            </a:r>
            <a:r>
              <a:rPr dirty="0" sz="1350" spc="2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Payment</a:t>
            </a:r>
            <a:r>
              <a:rPr dirty="0" sz="1350" spc="1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terms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specify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when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customer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must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pay. </a:t>
            </a:r>
            <a:r>
              <a:rPr dirty="0" sz="1350" spc="-85">
                <a:solidFill>
                  <a:srgbClr val="383838"/>
                </a:solidFill>
                <a:latin typeface="Tahoma"/>
                <a:cs typeface="Tahoma"/>
              </a:rPr>
              <a:t>If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customer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pays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late,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dunning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used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send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reminder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notices.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Incoming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payments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are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matched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against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open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invoices,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clearing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customer's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balance.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86650" y="2686049"/>
            <a:ext cx="1371599" cy="847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73950" y="3724719"/>
            <a:ext cx="3115310" cy="36569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Asset</a:t>
            </a:r>
            <a:r>
              <a:rPr dirty="0" sz="1750" spc="10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Accounting</a:t>
            </a:r>
            <a:r>
              <a:rPr dirty="0" sz="1750" spc="15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Process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400"/>
              </a:lnSpc>
              <a:spcBef>
                <a:spcPts val="53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purchases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fixed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asset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(like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machinery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vehicle),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asset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master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record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created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SAP.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asset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assigned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asset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class,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determines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depreciation</a:t>
            </a:r>
            <a:r>
              <a:rPr dirty="0" sz="135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rules.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Depreciation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calculated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automatically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based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depreciation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key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useful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life.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Over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time,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asset's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book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value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decreases.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asset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retired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sold,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records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disposal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any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gain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or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loss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transaction.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58932" y="8269054"/>
            <a:ext cx="5306695" cy="4994275"/>
            <a:chOff x="3058932" y="8269054"/>
            <a:chExt cx="5306695" cy="4994275"/>
          </a:xfrm>
        </p:grpSpPr>
        <p:sp>
          <p:nvSpPr>
            <p:cNvPr id="11" name="object 11"/>
            <p:cNvSpPr/>
            <p:nvPr/>
          </p:nvSpPr>
          <p:spPr>
            <a:xfrm>
              <a:off x="3058932" y="10673040"/>
              <a:ext cx="2590165" cy="2590165"/>
            </a:xfrm>
            <a:custGeom>
              <a:avLst/>
              <a:gdLst/>
              <a:ahLst/>
              <a:cxnLst/>
              <a:rect l="l" t="t" r="r" b="b"/>
              <a:pathLst>
                <a:path w="2590165" h="2590165">
                  <a:moveTo>
                    <a:pt x="1294881" y="2589763"/>
                  </a:moveTo>
                  <a:lnTo>
                    <a:pt x="1247219" y="2588885"/>
                  </a:lnTo>
                  <a:lnTo>
                    <a:pt x="1183782" y="2584987"/>
                  </a:lnTo>
                  <a:lnTo>
                    <a:pt x="1136374" y="2580024"/>
                  </a:lnTo>
                  <a:lnTo>
                    <a:pt x="1089173" y="2573322"/>
                  </a:lnTo>
                  <a:lnTo>
                    <a:pt x="1042267" y="2564883"/>
                  </a:lnTo>
                  <a:lnTo>
                    <a:pt x="995689" y="2554725"/>
                  </a:lnTo>
                  <a:lnTo>
                    <a:pt x="949519" y="2542857"/>
                  </a:lnTo>
                  <a:lnTo>
                    <a:pt x="903820" y="2529299"/>
                  </a:lnTo>
                  <a:lnTo>
                    <a:pt x="843719" y="2508625"/>
                  </a:lnTo>
                  <a:lnTo>
                    <a:pt x="799346" y="2491200"/>
                  </a:lnTo>
                  <a:lnTo>
                    <a:pt x="741250" y="2465440"/>
                  </a:lnTo>
                  <a:lnTo>
                    <a:pt x="684482" y="2436865"/>
                  </a:lnTo>
                  <a:lnTo>
                    <a:pt x="629181" y="2405535"/>
                  </a:lnTo>
                  <a:lnTo>
                    <a:pt x="588750" y="2380285"/>
                  </a:lnTo>
                  <a:lnTo>
                    <a:pt x="549279" y="2353558"/>
                  </a:lnTo>
                  <a:lnTo>
                    <a:pt x="498229" y="2315695"/>
                  </a:lnTo>
                  <a:lnTo>
                    <a:pt x="461194" y="2285683"/>
                  </a:lnTo>
                  <a:lnTo>
                    <a:pt x="425291" y="2254328"/>
                  </a:lnTo>
                  <a:lnTo>
                    <a:pt x="390567" y="2221670"/>
                  </a:lnTo>
                  <a:lnTo>
                    <a:pt x="357067" y="2187757"/>
                  </a:lnTo>
                  <a:lnTo>
                    <a:pt x="314385" y="2140664"/>
                  </a:lnTo>
                  <a:lnTo>
                    <a:pt x="283915" y="2103999"/>
                  </a:lnTo>
                  <a:lnTo>
                    <a:pt x="254823" y="2066240"/>
                  </a:lnTo>
                  <a:lnTo>
                    <a:pt x="218225" y="2014281"/>
                  </a:lnTo>
                  <a:lnTo>
                    <a:pt x="192480" y="1974163"/>
                  </a:lnTo>
                  <a:lnTo>
                    <a:pt x="168222" y="1933125"/>
                  </a:lnTo>
                  <a:lnTo>
                    <a:pt x="145493" y="1891221"/>
                  </a:lnTo>
                  <a:lnTo>
                    <a:pt x="117617" y="1834107"/>
                  </a:lnTo>
                  <a:lnTo>
                    <a:pt x="92572" y="1775690"/>
                  </a:lnTo>
                  <a:lnTo>
                    <a:pt x="75696" y="1731118"/>
                  </a:lnTo>
                  <a:lnTo>
                    <a:pt x="60464" y="1685943"/>
                  </a:lnTo>
                  <a:lnTo>
                    <a:pt x="46905" y="1640244"/>
                  </a:lnTo>
                  <a:lnTo>
                    <a:pt x="31461" y="1578588"/>
                  </a:lnTo>
                  <a:lnTo>
                    <a:pt x="19062" y="1516260"/>
                  </a:lnTo>
                  <a:lnTo>
                    <a:pt x="9739" y="1453388"/>
                  </a:lnTo>
                  <a:lnTo>
                    <a:pt x="4772" y="1405981"/>
                  </a:lnTo>
                  <a:lnTo>
                    <a:pt x="878" y="1342544"/>
                  </a:lnTo>
                  <a:lnTo>
                    <a:pt x="0" y="1294881"/>
                  </a:lnTo>
                  <a:lnTo>
                    <a:pt x="389" y="1263101"/>
                  </a:lnTo>
                  <a:lnTo>
                    <a:pt x="2437" y="1215474"/>
                  </a:lnTo>
                  <a:lnTo>
                    <a:pt x="7891" y="1152154"/>
                  </a:lnTo>
                  <a:lnTo>
                    <a:pt x="14013" y="1104878"/>
                  </a:lnTo>
                  <a:lnTo>
                    <a:pt x="24880" y="1042267"/>
                  </a:lnTo>
                  <a:lnTo>
                    <a:pt x="35038" y="995689"/>
                  </a:lnTo>
                  <a:lnTo>
                    <a:pt x="46905" y="949519"/>
                  </a:lnTo>
                  <a:lnTo>
                    <a:pt x="60464" y="903820"/>
                  </a:lnTo>
                  <a:lnTo>
                    <a:pt x="81138" y="843719"/>
                  </a:lnTo>
                  <a:lnTo>
                    <a:pt x="98563" y="799346"/>
                  </a:lnTo>
                  <a:lnTo>
                    <a:pt x="124323" y="741250"/>
                  </a:lnTo>
                  <a:lnTo>
                    <a:pt x="152897" y="684482"/>
                  </a:lnTo>
                  <a:lnTo>
                    <a:pt x="184227" y="629181"/>
                  </a:lnTo>
                  <a:lnTo>
                    <a:pt x="209478" y="588750"/>
                  </a:lnTo>
                  <a:lnTo>
                    <a:pt x="236205" y="549279"/>
                  </a:lnTo>
                  <a:lnTo>
                    <a:pt x="274064" y="498229"/>
                  </a:lnTo>
                  <a:lnTo>
                    <a:pt x="304080" y="461194"/>
                  </a:lnTo>
                  <a:lnTo>
                    <a:pt x="335435" y="425291"/>
                  </a:lnTo>
                  <a:lnTo>
                    <a:pt x="368093" y="390567"/>
                  </a:lnTo>
                  <a:lnTo>
                    <a:pt x="402006" y="357067"/>
                  </a:lnTo>
                  <a:lnTo>
                    <a:pt x="449099" y="314385"/>
                  </a:lnTo>
                  <a:lnTo>
                    <a:pt x="498229" y="274068"/>
                  </a:lnTo>
                  <a:lnTo>
                    <a:pt x="549279" y="236205"/>
                  </a:lnTo>
                  <a:lnTo>
                    <a:pt x="588750" y="209476"/>
                  </a:lnTo>
                  <a:lnTo>
                    <a:pt x="642861" y="176140"/>
                  </a:lnTo>
                  <a:lnTo>
                    <a:pt x="698540" y="145493"/>
                  </a:lnTo>
                  <a:lnTo>
                    <a:pt x="755656" y="117617"/>
                  </a:lnTo>
                  <a:lnTo>
                    <a:pt x="814073" y="92572"/>
                  </a:lnTo>
                  <a:lnTo>
                    <a:pt x="858645" y="75696"/>
                  </a:lnTo>
                  <a:lnTo>
                    <a:pt x="903820" y="60464"/>
                  </a:lnTo>
                  <a:lnTo>
                    <a:pt x="949519" y="46905"/>
                  </a:lnTo>
                  <a:lnTo>
                    <a:pt x="995689" y="35038"/>
                  </a:lnTo>
                  <a:lnTo>
                    <a:pt x="1042267" y="24880"/>
                  </a:lnTo>
                  <a:lnTo>
                    <a:pt x="1089173" y="16441"/>
                  </a:lnTo>
                  <a:lnTo>
                    <a:pt x="1136374" y="9739"/>
                  </a:lnTo>
                  <a:lnTo>
                    <a:pt x="1199621" y="3510"/>
                  </a:lnTo>
                  <a:lnTo>
                    <a:pt x="1247219" y="878"/>
                  </a:lnTo>
                  <a:lnTo>
                    <a:pt x="1294881" y="0"/>
                  </a:lnTo>
                  <a:lnTo>
                    <a:pt x="1326662" y="389"/>
                  </a:lnTo>
                  <a:lnTo>
                    <a:pt x="1374289" y="2439"/>
                  </a:lnTo>
                  <a:lnTo>
                    <a:pt x="1421804" y="6234"/>
                  </a:lnTo>
                  <a:lnTo>
                    <a:pt x="1484875" y="14013"/>
                  </a:lnTo>
                  <a:lnTo>
                    <a:pt x="1547496" y="24880"/>
                  </a:lnTo>
                  <a:lnTo>
                    <a:pt x="1609511" y="38805"/>
                  </a:lnTo>
                  <a:lnTo>
                    <a:pt x="1655530" y="51238"/>
                  </a:lnTo>
                  <a:lnTo>
                    <a:pt x="1701061" y="65354"/>
                  </a:lnTo>
                  <a:lnTo>
                    <a:pt x="1746040" y="81138"/>
                  </a:lnTo>
                  <a:lnTo>
                    <a:pt x="1805054" y="104736"/>
                  </a:lnTo>
                  <a:lnTo>
                    <a:pt x="1862836" y="131205"/>
                  </a:lnTo>
                  <a:lnTo>
                    <a:pt x="1919252" y="160474"/>
                  </a:lnTo>
                  <a:lnTo>
                    <a:pt x="1960582" y="184227"/>
                  </a:lnTo>
                  <a:lnTo>
                    <a:pt x="2001013" y="209476"/>
                  </a:lnTo>
                  <a:lnTo>
                    <a:pt x="2053418" y="245434"/>
                  </a:lnTo>
                  <a:lnTo>
                    <a:pt x="2103999" y="283919"/>
                  </a:lnTo>
                  <a:lnTo>
                    <a:pt x="2152631" y="324836"/>
                  </a:lnTo>
                  <a:lnTo>
                    <a:pt x="2187757" y="357067"/>
                  </a:lnTo>
                  <a:lnTo>
                    <a:pt x="2221670" y="390567"/>
                  </a:lnTo>
                  <a:lnTo>
                    <a:pt x="2254328" y="425291"/>
                  </a:lnTo>
                  <a:lnTo>
                    <a:pt x="2285683" y="461194"/>
                  </a:lnTo>
                  <a:lnTo>
                    <a:pt x="2315695" y="498229"/>
                  </a:lnTo>
                  <a:lnTo>
                    <a:pt x="2353558" y="549279"/>
                  </a:lnTo>
                  <a:lnTo>
                    <a:pt x="2380285" y="588750"/>
                  </a:lnTo>
                  <a:lnTo>
                    <a:pt x="2413623" y="642861"/>
                  </a:lnTo>
                  <a:lnTo>
                    <a:pt x="2444270" y="698540"/>
                  </a:lnTo>
                  <a:lnTo>
                    <a:pt x="2472146" y="755655"/>
                  </a:lnTo>
                  <a:lnTo>
                    <a:pt x="2491200" y="799346"/>
                  </a:lnTo>
                  <a:lnTo>
                    <a:pt x="2508624" y="843719"/>
                  </a:lnTo>
                  <a:lnTo>
                    <a:pt x="2524408" y="888701"/>
                  </a:lnTo>
                  <a:lnTo>
                    <a:pt x="2538525" y="934233"/>
                  </a:lnTo>
                  <a:lnTo>
                    <a:pt x="2550957" y="980252"/>
                  </a:lnTo>
                  <a:lnTo>
                    <a:pt x="2564883" y="1042267"/>
                  </a:lnTo>
                  <a:lnTo>
                    <a:pt x="2573322" y="1089173"/>
                  </a:lnTo>
                  <a:lnTo>
                    <a:pt x="2580024" y="1136374"/>
                  </a:lnTo>
                  <a:lnTo>
                    <a:pt x="2586253" y="1199621"/>
                  </a:lnTo>
                  <a:lnTo>
                    <a:pt x="2588885" y="1247219"/>
                  </a:lnTo>
                  <a:lnTo>
                    <a:pt x="2589763" y="1294881"/>
                  </a:lnTo>
                  <a:lnTo>
                    <a:pt x="2589374" y="1326662"/>
                  </a:lnTo>
                  <a:lnTo>
                    <a:pt x="2587326" y="1374289"/>
                  </a:lnTo>
                  <a:lnTo>
                    <a:pt x="2581872" y="1437608"/>
                  </a:lnTo>
                  <a:lnTo>
                    <a:pt x="2575750" y="1484885"/>
                  </a:lnTo>
                  <a:lnTo>
                    <a:pt x="2564883" y="1547496"/>
                  </a:lnTo>
                  <a:lnTo>
                    <a:pt x="2550957" y="1609511"/>
                  </a:lnTo>
                  <a:lnTo>
                    <a:pt x="2538525" y="1655530"/>
                  </a:lnTo>
                  <a:lnTo>
                    <a:pt x="2524408" y="1701062"/>
                  </a:lnTo>
                  <a:lnTo>
                    <a:pt x="2508624" y="1746044"/>
                  </a:lnTo>
                  <a:lnTo>
                    <a:pt x="2491200" y="1790407"/>
                  </a:lnTo>
                  <a:lnTo>
                    <a:pt x="2472146" y="1834107"/>
                  </a:lnTo>
                  <a:lnTo>
                    <a:pt x="2444270" y="1891221"/>
                  </a:lnTo>
                  <a:lnTo>
                    <a:pt x="2421541" y="1933125"/>
                  </a:lnTo>
                  <a:lnTo>
                    <a:pt x="2388866" y="1987640"/>
                  </a:lnTo>
                  <a:lnTo>
                    <a:pt x="2353558" y="2040484"/>
                  </a:lnTo>
                  <a:lnTo>
                    <a:pt x="2315695" y="2091534"/>
                  </a:lnTo>
                  <a:lnTo>
                    <a:pt x="2285683" y="2128568"/>
                  </a:lnTo>
                  <a:lnTo>
                    <a:pt x="2254328" y="2164472"/>
                  </a:lnTo>
                  <a:lnTo>
                    <a:pt x="2221670" y="2199196"/>
                  </a:lnTo>
                  <a:lnTo>
                    <a:pt x="2187757" y="2232696"/>
                  </a:lnTo>
                  <a:lnTo>
                    <a:pt x="2140664" y="2275378"/>
                  </a:lnTo>
                  <a:lnTo>
                    <a:pt x="2091534" y="2315695"/>
                  </a:lnTo>
                  <a:lnTo>
                    <a:pt x="2040484" y="2353558"/>
                  </a:lnTo>
                  <a:lnTo>
                    <a:pt x="2001013" y="2380285"/>
                  </a:lnTo>
                  <a:lnTo>
                    <a:pt x="1946902" y="2413623"/>
                  </a:lnTo>
                  <a:lnTo>
                    <a:pt x="1891221" y="2444270"/>
                  </a:lnTo>
                  <a:lnTo>
                    <a:pt x="1834107" y="2472146"/>
                  </a:lnTo>
                  <a:lnTo>
                    <a:pt x="1775690" y="2497191"/>
                  </a:lnTo>
                  <a:lnTo>
                    <a:pt x="1731118" y="2514067"/>
                  </a:lnTo>
                  <a:lnTo>
                    <a:pt x="1685943" y="2529299"/>
                  </a:lnTo>
                  <a:lnTo>
                    <a:pt x="1640244" y="2542857"/>
                  </a:lnTo>
                  <a:lnTo>
                    <a:pt x="1578588" y="2558301"/>
                  </a:lnTo>
                  <a:lnTo>
                    <a:pt x="1516259" y="2570701"/>
                  </a:lnTo>
                  <a:lnTo>
                    <a:pt x="1469143" y="2577983"/>
                  </a:lnTo>
                  <a:lnTo>
                    <a:pt x="1421804" y="2583529"/>
                  </a:lnTo>
                  <a:lnTo>
                    <a:pt x="1374289" y="2587324"/>
                  </a:lnTo>
                  <a:lnTo>
                    <a:pt x="1326662" y="2589374"/>
                  </a:lnTo>
                  <a:lnTo>
                    <a:pt x="1294881" y="2589763"/>
                  </a:lnTo>
                  <a:close/>
                </a:path>
              </a:pathLst>
            </a:custGeom>
            <a:solidFill>
              <a:srgbClr val="802C00">
                <a:alpha val="8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78206" y="8269054"/>
              <a:ext cx="2590165" cy="2590165"/>
            </a:xfrm>
            <a:custGeom>
              <a:avLst/>
              <a:gdLst/>
              <a:ahLst/>
              <a:cxnLst/>
              <a:rect l="l" t="t" r="r" b="b"/>
              <a:pathLst>
                <a:path w="2590165" h="2590165">
                  <a:moveTo>
                    <a:pt x="1294881" y="2589744"/>
                  </a:moveTo>
                  <a:lnTo>
                    <a:pt x="1246337" y="2588851"/>
                  </a:lnTo>
                  <a:lnTo>
                    <a:pt x="1198243" y="2586192"/>
                  </a:lnTo>
                  <a:lnTo>
                    <a:pt x="1150632" y="2581799"/>
                  </a:lnTo>
                  <a:lnTo>
                    <a:pt x="1103534" y="2575704"/>
                  </a:lnTo>
                  <a:lnTo>
                    <a:pt x="1056981" y="2567937"/>
                  </a:lnTo>
                  <a:lnTo>
                    <a:pt x="1011004" y="2558530"/>
                  </a:lnTo>
                  <a:lnTo>
                    <a:pt x="965635" y="2547514"/>
                  </a:lnTo>
                  <a:lnTo>
                    <a:pt x="920904" y="2534920"/>
                  </a:lnTo>
                  <a:lnTo>
                    <a:pt x="876843" y="2520780"/>
                  </a:lnTo>
                  <a:lnTo>
                    <a:pt x="833484" y="2505125"/>
                  </a:lnTo>
                  <a:lnTo>
                    <a:pt x="790857" y="2487986"/>
                  </a:lnTo>
                  <a:lnTo>
                    <a:pt x="748994" y="2469395"/>
                  </a:lnTo>
                  <a:lnTo>
                    <a:pt x="707926" y="2449383"/>
                  </a:lnTo>
                  <a:lnTo>
                    <a:pt x="667685" y="2427981"/>
                  </a:lnTo>
                  <a:lnTo>
                    <a:pt x="628301" y="2405220"/>
                  </a:lnTo>
                  <a:lnTo>
                    <a:pt x="589807" y="2381132"/>
                  </a:lnTo>
                  <a:lnTo>
                    <a:pt x="552233" y="2355748"/>
                  </a:lnTo>
                  <a:lnTo>
                    <a:pt x="515610" y="2329100"/>
                  </a:lnTo>
                  <a:lnTo>
                    <a:pt x="479971" y="2301218"/>
                  </a:lnTo>
                  <a:lnTo>
                    <a:pt x="445346" y="2272134"/>
                  </a:lnTo>
                  <a:lnTo>
                    <a:pt x="411766" y="2241879"/>
                  </a:lnTo>
                  <a:lnTo>
                    <a:pt x="379263" y="2210485"/>
                  </a:lnTo>
                  <a:lnTo>
                    <a:pt x="347869" y="2177982"/>
                  </a:lnTo>
                  <a:lnTo>
                    <a:pt x="317614" y="2144403"/>
                  </a:lnTo>
                  <a:lnTo>
                    <a:pt x="288530" y="2109778"/>
                  </a:lnTo>
                  <a:lnTo>
                    <a:pt x="260647" y="2074139"/>
                  </a:lnTo>
                  <a:lnTo>
                    <a:pt x="233998" y="2037517"/>
                  </a:lnTo>
                  <a:lnTo>
                    <a:pt x="208614" y="1999943"/>
                  </a:lnTo>
                  <a:lnTo>
                    <a:pt x="184526" y="1961449"/>
                  </a:lnTo>
                  <a:lnTo>
                    <a:pt x="161765" y="1922066"/>
                  </a:lnTo>
                  <a:lnTo>
                    <a:pt x="140362" y="1881825"/>
                  </a:lnTo>
                  <a:lnTo>
                    <a:pt x="120350" y="1840757"/>
                  </a:lnTo>
                  <a:lnTo>
                    <a:pt x="101758" y="1798895"/>
                  </a:lnTo>
                  <a:lnTo>
                    <a:pt x="84619" y="1756268"/>
                  </a:lnTo>
                  <a:lnTo>
                    <a:pt x="68964" y="1712909"/>
                  </a:lnTo>
                  <a:lnTo>
                    <a:pt x="54824" y="1668848"/>
                  </a:lnTo>
                  <a:lnTo>
                    <a:pt x="42230" y="1624117"/>
                  </a:lnTo>
                  <a:lnTo>
                    <a:pt x="31214" y="1578748"/>
                  </a:lnTo>
                  <a:lnTo>
                    <a:pt x="21807" y="1532771"/>
                  </a:lnTo>
                  <a:lnTo>
                    <a:pt x="14039" y="1486218"/>
                  </a:lnTo>
                  <a:lnTo>
                    <a:pt x="7944" y="1439121"/>
                  </a:lnTo>
                  <a:lnTo>
                    <a:pt x="3551" y="1391510"/>
                  </a:lnTo>
                  <a:lnTo>
                    <a:pt x="893" y="1343416"/>
                  </a:lnTo>
                  <a:lnTo>
                    <a:pt x="0" y="1294872"/>
                  </a:lnTo>
                  <a:lnTo>
                    <a:pt x="893" y="1246327"/>
                  </a:lnTo>
                  <a:lnTo>
                    <a:pt x="3551" y="1198234"/>
                  </a:lnTo>
                  <a:lnTo>
                    <a:pt x="7944" y="1150622"/>
                  </a:lnTo>
                  <a:lnTo>
                    <a:pt x="14039" y="1103525"/>
                  </a:lnTo>
                  <a:lnTo>
                    <a:pt x="21806" y="1056972"/>
                  </a:lnTo>
                  <a:lnTo>
                    <a:pt x="31213" y="1010995"/>
                  </a:lnTo>
                  <a:lnTo>
                    <a:pt x="42229" y="965626"/>
                  </a:lnTo>
                  <a:lnTo>
                    <a:pt x="54823" y="920895"/>
                  </a:lnTo>
                  <a:lnTo>
                    <a:pt x="68963" y="876835"/>
                  </a:lnTo>
                  <a:lnTo>
                    <a:pt x="84618" y="833475"/>
                  </a:lnTo>
                  <a:lnTo>
                    <a:pt x="101757" y="790849"/>
                  </a:lnTo>
                  <a:lnTo>
                    <a:pt x="120348" y="748986"/>
                  </a:lnTo>
                  <a:lnTo>
                    <a:pt x="140361" y="707918"/>
                  </a:lnTo>
                  <a:lnTo>
                    <a:pt x="161763" y="667677"/>
                  </a:lnTo>
                  <a:lnTo>
                    <a:pt x="184524" y="628294"/>
                  </a:lnTo>
                  <a:lnTo>
                    <a:pt x="208612" y="589800"/>
                  </a:lnTo>
                  <a:lnTo>
                    <a:pt x="233996" y="552226"/>
                  </a:lnTo>
                  <a:lnTo>
                    <a:pt x="260644" y="515604"/>
                  </a:lnTo>
                  <a:lnTo>
                    <a:pt x="288526" y="479965"/>
                  </a:lnTo>
                  <a:lnTo>
                    <a:pt x="317611" y="445340"/>
                  </a:lnTo>
                  <a:lnTo>
                    <a:pt x="347865" y="411761"/>
                  </a:lnTo>
                  <a:lnTo>
                    <a:pt x="379260" y="379259"/>
                  </a:lnTo>
                  <a:lnTo>
                    <a:pt x="411762" y="347864"/>
                  </a:lnTo>
                  <a:lnTo>
                    <a:pt x="445342" y="317610"/>
                  </a:lnTo>
                  <a:lnTo>
                    <a:pt x="479967" y="288526"/>
                  </a:lnTo>
                  <a:lnTo>
                    <a:pt x="515606" y="260644"/>
                  </a:lnTo>
                  <a:lnTo>
                    <a:pt x="552228" y="233995"/>
                  </a:lnTo>
                  <a:lnTo>
                    <a:pt x="589802" y="208611"/>
                  </a:lnTo>
                  <a:lnTo>
                    <a:pt x="628297" y="184523"/>
                  </a:lnTo>
                  <a:lnTo>
                    <a:pt x="667680" y="161763"/>
                  </a:lnTo>
                  <a:lnTo>
                    <a:pt x="707922" y="140360"/>
                  </a:lnTo>
                  <a:lnTo>
                    <a:pt x="748990" y="120348"/>
                  </a:lnTo>
                  <a:lnTo>
                    <a:pt x="790853" y="101757"/>
                  </a:lnTo>
                  <a:lnTo>
                    <a:pt x="833480" y="84618"/>
                  </a:lnTo>
                  <a:lnTo>
                    <a:pt x="876840" y="68963"/>
                  </a:lnTo>
                  <a:lnTo>
                    <a:pt x="920901" y="54823"/>
                  </a:lnTo>
                  <a:lnTo>
                    <a:pt x="965632" y="42229"/>
                  </a:lnTo>
                  <a:lnTo>
                    <a:pt x="1011001" y="31213"/>
                  </a:lnTo>
                  <a:lnTo>
                    <a:pt x="1056979" y="21806"/>
                  </a:lnTo>
                  <a:lnTo>
                    <a:pt x="1103532" y="14039"/>
                  </a:lnTo>
                  <a:lnTo>
                    <a:pt x="1150630" y="7944"/>
                  </a:lnTo>
                  <a:lnTo>
                    <a:pt x="1198242" y="3551"/>
                  </a:lnTo>
                  <a:lnTo>
                    <a:pt x="1246336" y="893"/>
                  </a:lnTo>
                  <a:lnTo>
                    <a:pt x="1294881" y="0"/>
                  </a:lnTo>
                  <a:lnTo>
                    <a:pt x="1343426" y="893"/>
                  </a:lnTo>
                  <a:lnTo>
                    <a:pt x="1391519" y="3551"/>
                  </a:lnTo>
                  <a:lnTo>
                    <a:pt x="1439131" y="7944"/>
                  </a:lnTo>
                  <a:lnTo>
                    <a:pt x="1486228" y="14039"/>
                  </a:lnTo>
                  <a:lnTo>
                    <a:pt x="1532781" y="21806"/>
                  </a:lnTo>
                  <a:lnTo>
                    <a:pt x="1578758" y="31213"/>
                  </a:lnTo>
                  <a:lnTo>
                    <a:pt x="1624127" y="42229"/>
                  </a:lnTo>
                  <a:lnTo>
                    <a:pt x="1668858" y="54823"/>
                  </a:lnTo>
                  <a:lnTo>
                    <a:pt x="1712918" y="68963"/>
                  </a:lnTo>
                  <a:lnTo>
                    <a:pt x="1756278" y="84618"/>
                  </a:lnTo>
                  <a:lnTo>
                    <a:pt x="1798904" y="101757"/>
                  </a:lnTo>
                  <a:lnTo>
                    <a:pt x="1840767" y="120348"/>
                  </a:lnTo>
                  <a:lnTo>
                    <a:pt x="1881835" y="140360"/>
                  </a:lnTo>
                  <a:lnTo>
                    <a:pt x="1922076" y="161763"/>
                  </a:lnTo>
                  <a:lnTo>
                    <a:pt x="1961459" y="184523"/>
                  </a:lnTo>
                  <a:lnTo>
                    <a:pt x="1999953" y="208611"/>
                  </a:lnTo>
                  <a:lnTo>
                    <a:pt x="2037527" y="233995"/>
                  </a:lnTo>
                  <a:lnTo>
                    <a:pt x="2074149" y="260644"/>
                  </a:lnTo>
                  <a:lnTo>
                    <a:pt x="2109788" y="288526"/>
                  </a:lnTo>
                  <a:lnTo>
                    <a:pt x="2144413" y="317610"/>
                  </a:lnTo>
                  <a:lnTo>
                    <a:pt x="2177992" y="347864"/>
                  </a:lnTo>
                  <a:lnTo>
                    <a:pt x="2210494" y="379259"/>
                  </a:lnTo>
                  <a:lnTo>
                    <a:pt x="2241889" y="411761"/>
                  </a:lnTo>
                  <a:lnTo>
                    <a:pt x="2272143" y="445340"/>
                  </a:lnTo>
                  <a:lnTo>
                    <a:pt x="2301227" y="479965"/>
                  </a:lnTo>
                  <a:lnTo>
                    <a:pt x="2329109" y="515604"/>
                  </a:lnTo>
                  <a:lnTo>
                    <a:pt x="2355758" y="552226"/>
                  </a:lnTo>
                  <a:lnTo>
                    <a:pt x="2381142" y="589800"/>
                  </a:lnTo>
                  <a:lnTo>
                    <a:pt x="2405230" y="628294"/>
                  </a:lnTo>
                  <a:lnTo>
                    <a:pt x="2427990" y="667677"/>
                  </a:lnTo>
                  <a:lnTo>
                    <a:pt x="2449393" y="707918"/>
                  </a:lnTo>
                  <a:lnTo>
                    <a:pt x="2469405" y="748986"/>
                  </a:lnTo>
                  <a:lnTo>
                    <a:pt x="2487996" y="790849"/>
                  </a:lnTo>
                  <a:lnTo>
                    <a:pt x="2505135" y="833475"/>
                  </a:lnTo>
                  <a:lnTo>
                    <a:pt x="2520790" y="876835"/>
                  </a:lnTo>
                  <a:lnTo>
                    <a:pt x="2534930" y="920895"/>
                  </a:lnTo>
                  <a:lnTo>
                    <a:pt x="2547524" y="965626"/>
                  </a:lnTo>
                  <a:lnTo>
                    <a:pt x="2558540" y="1010995"/>
                  </a:lnTo>
                  <a:lnTo>
                    <a:pt x="2567947" y="1056972"/>
                  </a:lnTo>
                  <a:lnTo>
                    <a:pt x="2575714" y="1103525"/>
                  </a:lnTo>
                  <a:lnTo>
                    <a:pt x="2581809" y="1150622"/>
                  </a:lnTo>
                  <a:lnTo>
                    <a:pt x="2586202" y="1198234"/>
                  </a:lnTo>
                  <a:lnTo>
                    <a:pt x="2588860" y="1246327"/>
                  </a:lnTo>
                  <a:lnTo>
                    <a:pt x="2589754" y="1294872"/>
                  </a:lnTo>
                  <a:lnTo>
                    <a:pt x="2588860" y="1343415"/>
                  </a:lnTo>
                  <a:lnTo>
                    <a:pt x="2586202" y="1391508"/>
                  </a:lnTo>
                  <a:lnTo>
                    <a:pt x="2581809" y="1439119"/>
                  </a:lnTo>
                  <a:lnTo>
                    <a:pt x="2575714" y="1486216"/>
                  </a:lnTo>
                  <a:lnTo>
                    <a:pt x="2567947" y="1532768"/>
                  </a:lnTo>
                  <a:lnTo>
                    <a:pt x="2558540" y="1578745"/>
                  </a:lnTo>
                  <a:lnTo>
                    <a:pt x="2547524" y="1624113"/>
                  </a:lnTo>
                  <a:lnTo>
                    <a:pt x="2534930" y="1668844"/>
                  </a:lnTo>
                  <a:lnTo>
                    <a:pt x="2520790" y="1712904"/>
                  </a:lnTo>
                  <a:lnTo>
                    <a:pt x="2505135" y="1756263"/>
                  </a:lnTo>
                  <a:lnTo>
                    <a:pt x="2487996" y="1798889"/>
                  </a:lnTo>
                  <a:lnTo>
                    <a:pt x="2469405" y="1840751"/>
                  </a:lnTo>
                  <a:lnTo>
                    <a:pt x="2449393" y="1881819"/>
                  </a:lnTo>
                  <a:lnTo>
                    <a:pt x="2427990" y="1922060"/>
                  </a:lnTo>
                  <a:lnTo>
                    <a:pt x="2405230" y="1961443"/>
                  </a:lnTo>
                  <a:lnTo>
                    <a:pt x="2381142" y="1999937"/>
                  </a:lnTo>
                  <a:lnTo>
                    <a:pt x="2355758" y="2037510"/>
                  </a:lnTo>
                  <a:lnTo>
                    <a:pt x="2329109" y="2074132"/>
                  </a:lnTo>
                  <a:lnTo>
                    <a:pt x="2301227" y="2109771"/>
                  </a:lnTo>
                  <a:lnTo>
                    <a:pt x="2272143" y="2144396"/>
                  </a:lnTo>
                  <a:lnTo>
                    <a:pt x="2241889" y="2177975"/>
                  </a:lnTo>
                  <a:lnTo>
                    <a:pt x="2210494" y="2210477"/>
                  </a:lnTo>
                  <a:lnTo>
                    <a:pt x="2177992" y="2241872"/>
                  </a:lnTo>
                  <a:lnTo>
                    <a:pt x="2144413" y="2272126"/>
                  </a:lnTo>
                  <a:lnTo>
                    <a:pt x="2109788" y="2301210"/>
                  </a:lnTo>
                  <a:lnTo>
                    <a:pt x="2074149" y="2329092"/>
                  </a:lnTo>
                  <a:lnTo>
                    <a:pt x="2037527" y="2355741"/>
                  </a:lnTo>
                  <a:lnTo>
                    <a:pt x="1999953" y="2381125"/>
                  </a:lnTo>
                  <a:lnTo>
                    <a:pt x="1961459" y="2405213"/>
                  </a:lnTo>
                  <a:lnTo>
                    <a:pt x="1922076" y="2427974"/>
                  </a:lnTo>
                  <a:lnTo>
                    <a:pt x="1881835" y="2449377"/>
                  </a:lnTo>
                  <a:lnTo>
                    <a:pt x="1840767" y="2469389"/>
                  </a:lnTo>
                  <a:lnTo>
                    <a:pt x="1798904" y="2487981"/>
                  </a:lnTo>
                  <a:lnTo>
                    <a:pt x="1756278" y="2505120"/>
                  </a:lnTo>
                  <a:lnTo>
                    <a:pt x="1712918" y="2520775"/>
                  </a:lnTo>
                  <a:lnTo>
                    <a:pt x="1668858" y="2534916"/>
                  </a:lnTo>
                  <a:lnTo>
                    <a:pt x="1624127" y="2547510"/>
                  </a:lnTo>
                  <a:lnTo>
                    <a:pt x="1578758" y="2558526"/>
                  </a:lnTo>
                  <a:lnTo>
                    <a:pt x="1532781" y="2567934"/>
                  </a:lnTo>
                  <a:lnTo>
                    <a:pt x="1486228" y="2575702"/>
                  </a:lnTo>
                  <a:lnTo>
                    <a:pt x="1439131" y="2581798"/>
                  </a:lnTo>
                  <a:lnTo>
                    <a:pt x="1391519" y="2586191"/>
                  </a:lnTo>
                  <a:lnTo>
                    <a:pt x="1343426" y="2588850"/>
                  </a:lnTo>
                  <a:lnTo>
                    <a:pt x="1294881" y="2589744"/>
                  </a:lnTo>
                  <a:close/>
                </a:path>
              </a:pathLst>
            </a:custGeom>
            <a:solidFill>
              <a:srgbClr val="C24400">
                <a:alpha val="8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75648" y="10673049"/>
              <a:ext cx="2590165" cy="2590165"/>
            </a:xfrm>
            <a:custGeom>
              <a:avLst/>
              <a:gdLst/>
              <a:ahLst/>
              <a:cxnLst/>
              <a:rect l="l" t="t" r="r" b="b"/>
              <a:pathLst>
                <a:path w="2590165" h="2590165">
                  <a:moveTo>
                    <a:pt x="1294881" y="2589744"/>
                  </a:moveTo>
                  <a:lnTo>
                    <a:pt x="1246336" y="2588851"/>
                  </a:lnTo>
                  <a:lnTo>
                    <a:pt x="1198242" y="2586192"/>
                  </a:lnTo>
                  <a:lnTo>
                    <a:pt x="1150630" y="2581799"/>
                  </a:lnTo>
                  <a:lnTo>
                    <a:pt x="1103532" y="2575704"/>
                  </a:lnTo>
                  <a:lnTo>
                    <a:pt x="1056979" y="2567937"/>
                  </a:lnTo>
                  <a:lnTo>
                    <a:pt x="1011001" y="2558530"/>
                  </a:lnTo>
                  <a:lnTo>
                    <a:pt x="965632" y="2547514"/>
                  </a:lnTo>
                  <a:lnTo>
                    <a:pt x="920901" y="2534920"/>
                  </a:lnTo>
                  <a:lnTo>
                    <a:pt x="876840" y="2520780"/>
                  </a:lnTo>
                  <a:lnTo>
                    <a:pt x="833480" y="2505125"/>
                  </a:lnTo>
                  <a:lnTo>
                    <a:pt x="790853" y="2487986"/>
                  </a:lnTo>
                  <a:lnTo>
                    <a:pt x="748990" y="2469395"/>
                  </a:lnTo>
                  <a:lnTo>
                    <a:pt x="707922" y="2449383"/>
                  </a:lnTo>
                  <a:lnTo>
                    <a:pt x="667680" y="2427981"/>
                  </a:lnTo>
                  <a:lnTo>
                    <a:pt x="628297" y="2405220"/>
                  </a:lnTo>
                  <a:lnTo>
                    <a:pt x="589802" y="2381132"/>
                  </a:lnTo>
                  <a:lnTo>
                    <a:pt x="552228" y="2355748"/>
                  </a:lnTo>
                  <a:lnTo>
                    <a:pt x="515606" y="2329100"/>
                  </a:lnTo>
                  <a:lnTo>
                    <a:pt x="479967" y="2301218"/>
                  </a:lnTo>
                  <a:lnTo>
                    <a:pt x="445342" y="2272134"/>
                  </a:lnTo>
                  <a:lnTo>
                    <a:pt x="411762" y="2241879"/>
                  </a:lnTo>
                  <a:lnTo>
                    <a:pt x="379260" y="2210485"/>
                  </a:lnTo>
                  <a:lnTo>
                    <a:pt x="347865" y="2177982"/>
                  </a:lnTo>
                  <a:lnTo>
                    <a:pt x="317611" y="2144403"/>
                  </a:lnTo>
                  <a:lnTo>
                    <a:pt x="288526" y="2109778"/>
                  </a:lnTo>
                  <a:lnTo>
                    <a:pt x="260644" y="2074139"/>
                  </a:lnTo>
                  <a:lnTo>
                    <a:pt x="233996" y="2037517"/>
                  </a:lnTo>
                  <a:lnTo>
                    <a:pt x="208612" y="1999943"/>
                  </a:lnTo>
                  <a:lnTo>
                    <a:pt x="184524" y="1961449"/>
                  </a:lnTo>
                  <a:lnTo>
                    <a:pt x="161763" y="1922066"/>
                  </a:lnTo>
                  <a:lnTo>
                    <a:pt x="140361" y="1881825"/>
                  </a:lnTo>
                  <a:lnTo>
                    <a:pt x="120348" y="1840757"/>
                  </a:lnTo>
                  <a:lnTo>
                    <a:pt x="101757" y="1798895"/>
                  </a:lnTo>
                  <a:lnTo>
                    <a:pt x="84618" y="1756268"/>
                  </a:lnTo>
                  <a:lnTo>
                    <a:pt x="68963" y="1712909"/>
                  </a:lnTo>
                  <a:lnTo>
                    <a:pt x="54823" y="1668848"/>
                  </a:lnTo>
                  <a:lnTo>
                    <a:pt x="42229" y="1624117"/>
                  </a:lnTo>
                  <a:lnTo>
                    <a:pt x="31213" y="1578748"/>
                  </a:lnTo>
                  <a:lnTo>
                    <a:pt x="21806" y="1532771"/>
                  </a:lnTo>
                  <a:lnTo>
                    <a:pt x="14039" y="1486218"/>
                  </a:lnTo>
                  <a:lnTo>
                    <a:pt x="7944" y="1439121"/>
                  </a:lnTo>
                  <a:lnTo>
                    <a:pt x="3551" y="1391510"/>
                  </a:lnTo>
                  <a:lnTo>
                    <a:pt x="893" y="1343416"/>
                  </a:lnTo>
                  <a:lnTo>
                    <a:pt x="0" y="1294872"/>
                  </a:lnTo>
                  <a:lnTo>
                    <a:pt x="893" y="1246327"/>
                  </a:lnTo>
                  <a:lnTo>
                    <a:pt x="3551" y="1198233"/>
                  </a:lnTo>
                  <a:lnTo>
                    <a:pt x="7944" y="1150621"/>
                  </a:lnTo>
                  <a:lnTo>
                    <a:pt x="14039" y="1103523"/>
                  </a:lnTo>
                  <a:lnTo>
                    <a:pt x="21806" y="1056969"/>
                  </a:lnTo>
                  <a:lnTo>
                    <a:pt x="31213" y="1010992"/>
                  </a:lnTo>
                  <a:lnTo>
                    <a:pt x="42229" y="965623"/>
                  </a:lnTo>
                  <a:lnTo>
                    <a:pt x="54823" y="920892"/>
                  </a:lnTo>
                  <a:lnTo>
                    <a:pt x="68963" y="876831"/>
                  </a:lnTo>
                  <a:lnTo>
                    <a:pt x="84618" y="833471"/>
                  </a:lnTo>
                  <a:lnTo>
                    <a:pt x="101757" y="790845"/>
                  </a:lnTo>
                  <a:lnTo>
                    <a:pt x="120348" y="748982"/>
                  </a:lnTo>
                  <a:lnTo>
                    <a:pt x="140361" y="707914"/>
                  </a:lnTo>
                  <a:lnTo>
                    <a:pt x="161763" y="667673"/>
                  </a:lnTo>
                  <a:lnTo>
                    <a:pt x="184524" y="628290"/>
                  </a:lnTo>
                  <a:lnTo>
                    <a:pt x="208612" y="589796"/>
                  </a:lnTo>
                  <a:lnTo>
                    <a:pt x="233996" y="552222"/>
                  </a:lnTo>
                  <a:lnTo>
                    <a:pt x="260644" y="515600"/>
                  </a:lnTo>
                  <a:lnTo>
                    <a:pt x="288526" y="479961"/>
                  </a:lnTo>
                  <a:lnTo>
                    <a:pt x="317611" y="445336"/>
                  </a:lnTo>
                  <a:lnTo>
                    <a:pt x="347865" y="411757"/>
                  </a:lnTo>
                  <a:lnTo>
                    <a:pt x="379260" y="379255"/>
                  </a:lnTo>
                  <a:lnTo>
                    <a:pt x="411762" y="347861"/>
                  </a:lnTo>
                  <a:lnTo>
                    <a:pt x="445342" y="317606"/>
                  </a:lnTo>
                  <a:lnTo>
                    <a:pt x="479967" y="288523"/>
                  </a:lnTo>
                  <a:lnTo>
                    <a:pt x="515606" y="260641"/>
                  </a:lnTo>
                  <a:lnTo>
                    <a:pt x="552228" y="233992"/>
                  </a:lnTo>
                  <a:lnTo>
                    <a:pt x="589802" y="208609"/>
                  </a:lnTo>
                  <a:lnTo>
                    <a:pt x="628297" y="184521"/>
                  </a:lnTo>
                  <a:lnTo>
                    <a:pt x="667680" y="161761"/>
                  </a:lnTo>
                  <a:lnTo>
                    <a:pt x="707922" y="140359"/>
                  </a:lnTo>
                  <a:lnTo>
                    <a:pt x="748990" y="120346"/>
                  </a:lnTo>
                  <a:lnTo>
                    <a:pt x="790853" y="101756"/>
                  </a:lnTo>
                  <a:lnTo>
                    <a:pt x="833480" y="84617"/>
                  </a:lnTo>
                  <a:lnTo>
                    <a:pt x="876840" y="68962"/>
                  </a:lnTo>
                  <a:lnTo>
                    <a:pt x="920901" y="54822"/>
                  </a:lnTo>
                  <a:lnTo>
                    <a:pt x="965632" y="42229"/>
                  </a:lnTo>
                  <a:lnTo>
                    <a:pt x="1011001" y="31213"/>
                  </a:lnTo>
                  <a:lnTo>
                    <a:pt x="1056979" y="21806"/>
                  </a:lnTo>
                  <a:lnTo>
                    <a:pt x="1103532" y="14039"/>
                  </a:lnTo>
                  <a:lnTo>
                    <a:pt x="1150630" y="7944"/>
                  </a:lnTo>
                  <a:lnTo>
                    <a:pt x="1198242" y="3551"/>
                  </a:lnTo>
                  <a:lnTo>
                    <a:pt x="1246336" y="893"/>
                  </a:lnTo>
                  <a:lnTo>
                    <a:pt x="1294881" y="0"/>
                  </a:lnTo>
                  <a:lnTo>
                    <a:pt x="1343426" y="893"/>
                  </a:lnTo>
                  <a:lnTo>
                    <a:pt x="1391519" y="3551"/>
                  </a:lnTo>
                  <a:lnTo>
                    <a:pt x="1439131" y="7944"/>
                  </a:lnTo>
                  <a:lnTo>
                    <a:pt x="1486228" y="14039"/>
                  </a:lnTo>
                  <a:lnTo>
                    <a:pt x="1532781" y="21806"/>
                  </a:lnTo>
                  <a:lnTo>
                    <a:pt x="1578758" y="31213"/>
                  </a:lnTo>
                  <a:lnTo>
                    <a:pt x="1624128" y="42229"/>
                  </a:lnTo>
                  <a:lnTo>
                    <a:pt x="1668859" y="54823"/>
                  </a:lnTo>
                  <a:lnTo>
                    <a:pt x="1712919" y="68963"/>
                  </a:lnTo>
                  <a:lnTo>
                    <a:pt x="1756279" y="84618"/>
                  </a:lnTo>
                  <a:lnTo>
                    <a:pt x="1798906" y="101757"/>
                  </a:lnTo>
                  <a:lnTo>
                    <a:pt x="1840769" y="120348"/>
                  </a:lnTo>
                  <a:lnTo>
                    <a:pt x="1881837" y="140360"/>
                  </a:lnTo>
                  <a:lnTo>
                    <a:pt x="1922078" y="161763"/>
                  </a:lnTo>
                  <a:lnTo>
                    <a:pt x="1961462" y="184523"/>
                  </a:lnTo>
                  <a:lnTo>
                    <a:pt x="1999956" y="208611"/>
                  </a:lnTo>
                  <a:lnTo>
                    <a:pt x="2037530" y="233995"/>
                  </a:lnTo>
                  <a:lnTo>
                    <a:pt x="2074152" y="260644"/>
                  </a:lnTo>
                  <a:lnTo>
                    <a:pt x="2109792" y="288526"/>
                  </a:lnTo>
                  <a:lnTo>
                    <a:pt x="2144417" y="317610"/>
                  </a:lnTo>
                  <a:lnTo>
                    <a:pt x="2177997" y="347864"/>
                  </a:lnTo>
                  <a:lnTo>
                    <a:pt x="2210499" y="379259"/>
                  </a:lnTo>
                  <a:lnTo>
                    <a:pt x="2241894" y="411761"/>
                  </a:lnTo>
                  <a:lnTo>
                    <a:pt x="2272149" y="445340"/>
                  </a:lnTo>
                  <a:lnTo>
                    <a:pt x="2301233" y="479965"/>
                  </a:lnTo>
                  <a:lnTo>
                    <a:pt x="2329115" y="515604"/>
                  </a:lnTo>
                  <a:lnTo>
                    <a:pt x="2355764" y="552226"/>
                  </a:lnTo>
                  <a:lnTo>
                    <a:pt x="2381149" y="589800"/>
                  </a:lnTo>
                  <a:lnTo>
                    <a:pt x="2405237" y="628294"/>
                  </a:lnTo>
                  <a:lnTo>
                    <a:pt x="2427998" y="667677"/>
                  </a:lnTo>
                  <a:lnTo>
                    <a:pt x="2449400" y="707918"/>
                  </a:lnTo>
                  <a:lnTo>
                    <a:pt x="2469413" y="748986"/>
                  </a:lnTo>
                  <a:lnTo>
                    <a:pt x="2488004" y="790849"/>
                  </a:lnTo>
                  <a:lnTo>
                    <a:pt x="2505143" y="833475"/>
                  </a:lnTo>
                  <a:lnTo>
                    <a:pt x="2520799" y="876835"/>
                  </a:lnTo>
                  <a:lnTo>
                    <a:pt x="2534939" y="920895"/>
                  </a:lnTo>
                  <a:lnTo>
                    <a:pt x="2547533" y="965626"/>
                  </a:lnTo>
                  <a:lnTo>
                    <a:pt x="2558549" y="1010995"/>
                  </a:lnTo>
                  <a:lnTo>
                    <a:pt x="2567956" y="1056972"/>
                  </a:lnTo>
                  <a:lnTo>
                    <a:pt x="2575723" y="1103525"/>
                  </a:lnTo>
                  <a:lnTo>
                    <a:pt x="2581819" y="1150622"/>
                  </a:lnTo>
                  <a:lnTo>
                    <a:pt x="2586212" y="1198234"/>
                  </a:lnTo>
                  <a:lnTo>
                    <a:pt x="2588870" y="1246327"/>
                  </a:lnTo>
                  <a:lnTo>
                    <a:pt x="2589763" y="1294872"/>
                  </a:lnTo>
                  <a:lnTo>
                    <a:pt x="2588870" y="1343416"/>
                  </a:lnTo>
                  <a:lnTo>
                    <a:pt x="2586212" y="1391509"/>
                  </a:lnTo>
                  <a:lnTo>
                    <a:pt x="2581819" y="1439121"/>
                  </a:lnTo>
                  <a:lnTo>
                    <a:pt x="2575723" y="1486218"/>
                  </a:lnTo>
                  <a:lnTo>
                    <a:pt x="2567956" y="1532771"/>
                  </a:lnTo>
                  <a:lnTo>
                    <a:pt x="2558549" y="1578748"/>
                  </a:lnTo>
                  <a:lnTo>
                    <a:pt x="2547533" y="1624117"/>
                  </a:lnTo>
                  <a:lnTo>
                    <a:pt x="2534939" y="1668847"/>
                  </a:lnTo>
                  <a:lnTo>
                    <a:pt x="2520799" y="1712908"/>
                  </a:lnTo>
                  <a:lnTo>
                    <a:pt x="2505143" y="1756267"/>
                  </a:lnTo>
                  <a:lnTo>
                    <a:pt x="2488004" y="1798893"/>
                  </a:lnTo>
                  <a:lnTo>
                    <a:pt x="2469413" y="1840756"/>
                  </a:lnTo>
                  <a:lnTo>
                    <a:pt x="2449400" y="1881823"/>
                  </a:lnTo>
                  <a:lnTo>
                    <a:pt x="2427998" y="1922064"/>
                  </a:lnTo>
                  <a:lnTo>
                    <a:pt x="2405237" y="1961447"/>
                  </a:lnTo>
                  <a:lnTo>
                    <a:pt x="2381149" y="1999941"/>
                  </a:lnTo>
                  <a:lnTo>
                    <a:pt x="2355764" y="2037514"/>
                  </a:lnTo>
                  <a:lnTo>
                    <a:pt x="2329115" y="2074136"/>
                  </a:lnTo>
                  <a:lnTo>
                    <a:pt x="2301233" y="2109775"/>
                  </a:lnTo>
                  <a:lnTo>
                    <a:pt x="2272149" y="2144400"/>
                  </a:lnTo>
                  <a:lnTo>
                    <a:pt x="2241894" y="2177979"/>
                  </a:lnTo>
                  <a:lnTo>
                    <a:pt x="2210499" y="2210481"/>
                  </a:lnTo>
                  <a:lnTo>
                    <a:pt x="2177997" y="2241875"/>
                  </a:lnTo>
                  <a:lnTo>
                    <a:pt x="2144417" y="2272130"/>
                  </a:lnTo>
                  <a:lnTo>
                    <a:pt x="2109792" y="2301214"/>
                  </a:lnTo>
                  <a:lnTo>
                    <a:pt x="2074152" y="2329095"/>
                  </a:lnTo>
                  <a:lnTo>
                    <a:pt x="2037530" y="2355744"/>
                  </a:lnTo>
                  <a:lnTo>
                    <a:pt x="1999956" y="2381128"/>
                  </a:lnTo>
                  <a:lnTo>
                    <a:pt x="1961462" y="2405216"/>
                  </a:lnTo>
                  <a:lnTo>
                    <a:pt x="1922078" y="2427976"/>
                  </a:lnTo>
                  <a:lnTo>
                    <a:pt x="1881837" y="2449379"/>
                  </a:lnTo>
                  <a:lnTo>
                    <a:pt x="1840769" y="2469391"/>
                  </a:lnTo>
                  <a:lnTo>
                    <a:pt x="1798906" y="2487982"/>
                  </a:lnTo>
                  <a:lnTo>
                    <a:pt x="1756279" y="2505121"/>
                  </a:lnTo>
                  <a:lnTo>
                    <a:pt x="1712919" y="2520776"/>
                  </a:lnTo>
                  <a:lnTo>
                    <a:pt x="1668859" y="2534917"/>
                  </a:lnTo>
                  <a:lnTo>
                    <a:pt x="1624128" y="2547511"/>
                  </a:lnTo>
                  <a:lnTo>
                    <a:pt x="1578758" y="2558527"/>
                  </a:lnTo>
                  <a:lnTo>
                    <a:pt x="1532781" y="2567934"/>
                  </a:lnTo>
                  <a:lnTo>
                    <a:pt x="1486228" y="2575702"/>
                  </a:lnTo>
                  <a:lnTo>
                    <a:pt x="1439131" y="2581798"/>
                  </a:lnTo>
                  <a:lnTo>
                    <a:pt x="1391519" y="2586191"/>
                  </a:lnTo>
                  <a:lnTo>
                    <a:pt x="1343426" y="2588850"/>
                  </a:lnTo>
                  <a:lnTo>
                    <a:pt x="1294881" y="2589744"/>
                  </a:lnTo>
                  <a:close/>
                </a:path>
              </a:pathLst>
            </a:custGeom>
            <a:solidFill>
              <a:srgbClr val="FF5D05">
                <a:alpha val="8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527944" y="11210303"/>
            <a:ext cx="1661160" cy="137795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dirty="0" sz="1800">
                <a:solidFill>
                  <a:srgbClr val="FFFFFF"/>
                </a:solidFill>
                <a:latin typeface="Georgia"/>
                <a:cs typeface="Georgia"/>
              </a:rPr>
              <a:t>AP</a:t>
            </a:r>
            <a:r>
              <a:rPr dirty="0" sz="1800" spc="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Georgia"/>
                <a:cs typeface="Georgia"/>
              </a:rPr>
              <a:t>Process</a:t>
            </a:r>
            <a:endParaRPr sz="1800">
              <a:latin typeface="Georgia"/>
              <a:cs typeface="Georgia"/>
            </a:endParaRPr>
          </a:p>
          <a:p>
            <a:pPr algn="ctr" marL="12065" marR="5080">
              <a:lnSpc>
                <a:spcPct val="106100"/>
              </a:lnSpc>
              <a:spcBef>
                <a:spcPts val="650"/>
              </a:spcBef>
            </a:pPr>
            <a:r>
              <a:rPr dirty="0" sz="1350" spc="60">
                <a:solidFill>
                  <a:srgbClr val="FFFFFF"/>
                </a:solidFill>
                <a:latin typeface="Tahoma"/>
                <a:cs typeface="Tahoma"/>
              </a:rPr>
              <a:t>Vendor</a:t>
            </a:r>
            <a:r>
              <a:rPr dirty="0" sz="1350" spc="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FFFFFF"/>
                </a:solidFill>
                <a:latin typeface="Tahoma"/>
                <a:cs typeface="Tahoma"/>
              </a:rPr>
              <a:t>Invoice</a:t>
            </a:r>
            <a:r>
              <a:rPr dirty="0" sz="1350" spc="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32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90">
                <a:solidFill>
                  <a:srgbClr val="FFFFFF"/>
                </a:solidFill>
                <a:latin typeface="Tahoma"/>
                <a:cs typeface="Tahoma"/>
              </a:rPr>
              <a:t> Accounts</a:t>
            </a:r>
            <a:r>
              <a:rPr dirty="0" sz="1350" spc="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FFFFFF"/>
                </a:solidFill>
                <a:latin typeface="Tahoma"/>
                <a:cs typeface="Tahoma"/>
              </a:rPr>
              <a:t>Payable</a:t>
            </a:r>
            <a:r>
              <a:rPr dirty="0" sz="1350" spc="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32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55">
                <a:solidFill>
                  <a:srgbClr val="FFFFFF"/>
                </a:solidFill>
                <a:latin typeface="Tahoma"/>
                <a:cs typeface="Tahoma"/>
              </a:rPr>
              <a:t> Payment</a:t>
            </a:r>
            <a:r>
              <a:rPr dirty="0" sz="135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27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FFFFFF"/>
                </a:solidFill>
                <a:latin typeface="Tahoma"/>
                <a:cs typeface="Tahoma"/>
              </a:rPr>
              <a:t>G/L </a:t>
            </a:r>
            <a:r>
              <a:rPr dirty="0" sz="1350" spc="55">
                <a:solidFill>
                  <a:srgbClr val="FFFFFF"/>
                </a:solidFill>
                <a:latin typeface="Tahoma"/>
                <a:cs typeface="Tahoma"/>
              </a:rPr>
              <a:t>Update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0150" y="8806230"/>
            <a:ext cx="1776095" cy="137795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dirty="0" sz="1800">
                <a:solidFill>
                  <a:srgbClr val="FFFFFF"/>
                </a:solidFill>
                <a:latin typeface="Georgia"/>
                <a:cs typeface="Georgia"/>
              </a:rPr>
              <a:t>AR</a:t>
            </a:r>
            <a:r>
              <a:rPr dirty="0" sz="1800" spc="-9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Georgia"/>
                <a:cs typeface="Georgia"/>
              </a:rPr>
              <a:t>Process</a:t>
            </a:r>
            <a:endParaRPr sz="1800">
              <a:latin typeface="Georgia"/>
              <a:cs typeface="Georgia"/>
            </a:endParaRPr>
          </a:p>
          <a:p>
            <a:pPr algn="ctr" marL="38100" marR="30480" indent="-635">
              <a:lnSpc>
                <a:spcPct val="104500"/>
              </a:lnSpc>
              <a:spcBef>
                <a:spcPts val="675"/>
              </a:spcBef>
            </a:pPr>
            <a:r>
              <a:rPr dirty="0" sz="1350" spc="75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dirty="0" sz="1350" spc="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FFFFFF"/>
                </a:solidFill>
                <a:latin typeface="Tahoma"/>
                <a:cs typeface="Tahoma"/>
              </a:rPr>
              <a:t>Invoice</a:t>
            </a:r>
            <a:r>
              <a:rPr dirty="0" sz="1350" spc="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32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90">
                <a:solidFill>
                  <a:srgbClr val="FFFFFF"/>
                </a:solidFill>
                <a:latin typeface="Tahoma"/>
                <a:cs typeface="Tahoma"/>
              </a:rPr>
              <a:t> Accounts</a:t>
            </a:r>
            <a:r>
              <a:rPr dirty="0" sz="135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Tahoma"/>
                <a:cs typeface="Tahoma"/>
              </a:rPr>
              <a:t>Receivable</a:t>
            </a:r>
            <a:endParaRPr sz="13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dirty="0" sz="1350" spc="-27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dirty="0" sz="135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FFFFFF"/>
                </a:solidFill>
                <a:latin typeface="Tahoma"/>
                <a:cs typeface="Tahoma"/>
              </a:rPr>
              <a:t>Payment</a:t>
            </a:r>
            <a:endParaRPr sz="13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 sz="1350" spc="-27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FFFFFF"/>
                </a:solidFill>
                <a:latin typeface="Tahoma"/>
                <a:cs typeface="Tahoma"/>
              </a:rPr>
              <a:t>G/L</a:t>
            </a:r>
            <a:r>
              <a:rPr dirty="0" sz="135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Tahoma"/>
                <a:cs typeface="Tahoma"/>
              </a:rPr>
              <a:t>Update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94812" y="11210303"/>
            <a:ext cx="1760855" cy="137795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dirty="0" sz="1800">
                <a:solidFill>
                  <a:srgbClr val="FFFFFF"/>
                </a:solidFill>
                <a:latin typeface="Georgia"/>
                <a:cs typeface="Georgia"/>
              </a:rPr>
              <a:t>Asset</a:t>
            </a:r>
            <a:r>
              <a:rPr dirty="0" sz="18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Georgia"/>
                <a:cs typeface="Georgia"/>
              </a:rPr>
              <a:t>Process</a:t>
            </a:r>
            <a:endParaRPr sz="1800">
              <a:latin typeface="Georgia"/>
              <a:cs typeface="Georgia"/>
            </a:endParaRPr>
          </a:p>
          <a:p>
            <a:pPr algn="ctr" marL="12700" marR="5080">
              <a:lnSpc>
                <a:spcPct val="106100"/>
              </a:lnSpc>
              <a:spcBef>
                <a:spcPts val="650"/>
              </a:spcBef>
            </a:pPr>
            <a:r>
              <a:rPr dirty="0" sz="1350" spc="80">
                <a:solidFill>
                  <a:srgbClr val="FFFFFF"/>
                </a:solidFill>
                <a:latin typeface="Tahoma"/>
                <a:cs typeface="Tahoma"/>
              </a:rPr>
              <a:t>Asset</a:t>
            </a:r>
            <a:r>
              <a:rPr dirty="0" sz="135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FFFFFF"/>
                </a:solidFill>
                <a:latin typeface="Tahoma"/>
                <a:cs typeface="Tahoma"/>
              </a:rPr>
              <a:t>Purchase</a:t>
            </a:r>
            <a:r>
              <a:rPr dirty="0" sz="135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32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65">
                <a:solidFill>
                  <a:srgbClr val="FFFFFF"/>
                </a:solidFill>
                <a:latin typeface="Tahoma"/>
                <a:cs typeface="Tahoma"/>
              </a:rPr>
              <a:t> Acquisition</a:t>
            </a:r>
            <a:r>
              <a:rPr dirty="0" sz="135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32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55">
                <a:solidFill>
                  <a:srgbClr val="FFFFFF"/>
                </a:solidFill>
                <a:latin typeface="Tahoma"/>
                <a:cs typeface="Tahoma"/>
              </a:rPr>
              <a:t> Depreciation</a:t>
            </a:r>
            <a:r>
              <a:rPr dirty="0" sz="135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27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135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FFFFFF"/>
                </a:solidFill>
                <a:latin typeface="Tahoma"/>
                <a:cs typeface="Tahoma"/>
              </a:rPr>
              <a:t>Asset </a:t>
            </a:r>
            <a:r>
              <a:rPr dirty="0" sz="1350" spc="-10">
                <a:solidFill>
                  <a:srgbClr val="FFFFFF"/>
                </a:solidFill>
                <a:latin typeface="Tahoma"/>
                <a:cs typeface="Tahoma"/>
              </a:rPr>
              <a:t>Retirement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Controlling Configuration </a:t>
            </a:r>
            <a:r>
              <a:rPr dirty="0" spc="530"/>
              <a:t>&amp;</a:t>
            </a:r>
            <a:r>
              <a:rPr dirty="0"/>
              <a:t> </a:t>
            </a:r>
            <a:r>
              <a:rPr dirty="0" spc="-105"/>
              <a:t>FI–</a:t>
            </a:r>
            <a:r>
              <a:rPr dirty="0" spc="-10"/>
              <a:t>CO</a:t>
            </a:r>
            <a:r>
              <a:rPr dirty="0"/>
              <a:t> </a:t>
            </a:r>
            <a:r>
              <a:rPr dirty="0" spc="-10"/>
              <a:t>Integration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26514"/>
            <a:ext cx="9712960" cy="8350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(CO)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module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handles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accounting.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While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focuses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external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reporting,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CO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focuses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tracking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profitability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analysis.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Both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modules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tightly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transaction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posted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20">
                <a:solidFill>
                  <a:srgbClr val="383838"/>
                </a:solidFill>
                <a:latin typeface="Tahoma"/>
                <a:cs typeface="Tahoma"/>
              </a:rPr>
              <a:t>FI,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relevant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information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automatically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passed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real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time.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4850" y="2390775"/>
            <a:ext cx="4924425" cy="2971800"/>
          </a:xfrm>
          <a:custGeom>
            <a:avLst/>
            <a:gdLst/>
            <a:ahLst/>
            <a:cxnLst/>
            <a:rect l="l" t="t" r="r" b="b"/>
            <a:pathLst>
              <a:path w="4924425" h="2971800">
                <a:moveTo>
                  <a:pt x="4905832" y="2971800"/>
                </a:moveTo>
                <a:lnTo>
                  <a:pt x="18592" y="2971800"/>
                </a:lnTo>
                <a:lnTo>
                  <a:pt x="15859" y="2971257"/>
                </a:lnTo>
                <a:lnTo>
                  <a:pt x="0" y="2953207"/>
                </a:lnTo>
                <a:lnTo>
                  <a:pt x="0" y="2950368"/>
                </a:lnTo>
                <a:lnTo>
                  <a:pt x="0" y="18592"/>
                </a:lnTo>
                <a:lnTo>
                  <a:pt x="18592" y="0"/>
                </a:lnTo>
                <a:lnTo>
                  <a:pt x="4905832" y="0"/>
                </a:lnTo>
                <a:lnTo>
                  <a:pt x="4924425" y="18592"/>
                </a:lnTo>
                <a:lnTo>
                  <a:pt x="4924425" y="2953207"/>
                </a:lnTo>
                <a:lnTo>
                  <a:pt x="4908565" y="2971257"/>
                </a:lnTo>
                <a:lnTo>
                  <a:pt x="4905832" y="297180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4047" y="2543620"/>
            <a:ext cx="4489450" cy="18091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Controlling</a:t>
            </a:r>
            <a:r>
              <a:rPr dirty="0" sz="1750" spc="8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Area</a:t>
            </a:r>
            <a:r>
              <a:rPr dirty="0" sz="1750" spc="1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Configuration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1140"/>
              </a:spcBef>
            </a:pPr>
            <a:r>
              <a:rPr dirty="0" sz="1350">
                <a:latin typeface="Tahoma"/>
                <a:cs typeface="Tahoma"/>
              </a:rPr>
              <a:t>The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controlling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area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is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the </a:t>
            </a:r>
            <a:r>
              <a:rPr dirty="0" sz="1350">
                <a:latin typeface="Tahoma"/>
                <a:cs typeface="Tahoma"/>
              </a:rPr>
              <a:t>central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unit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in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CO.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 spc="-60">
                <a:latin typeface="Tahoma"/>
                <a:cs typeface="Tahoma"/>
              </a:rPr>
              <a:t>It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must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45">
                <a:latin typeface="Tahoma"/>
                <a:cs typeface="Tahoma"/>
              </a:rPr>
              <a:t>be </a:t>
            </a:r>
            <a:r>
              <a:rPr dirty="0" sz="1350" spc="50">
                <a:latin typeface="Tahoma"/>
                <a:cs typeface="Tahoma"/>
              </a:rPr>
              <a:t>defined</a:t>
            </a:r>
            <a:r>
              <a:rPr dirty="0" sz="1350" spc="1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and</a:t>
            </a:r>
            <a:r>
              <a:rPr dirty="0" sz="1350" spc="10">
                <a:latin typeface="Tahoma"/>
                <a:cs typeface="Tahoma"/>
              </a:rPr>
              <a:t> </a:t>
            </a:r>
            <a:r>
              <a:rPr dirty="0" sz="1350" spc="60">
                <a:latin typeface="Tahoma"/>
                <a:cs typeface="Tahoma"/>
              </a:rPr>
              <a:t>company</a:t>
            </a:r>
            <a:r>
              <a:rPr dirty="0" sz="1350" spc="15">
                <a:latin typeface="Tahoma"/>
                <a:cs typeface="Tahoma"/>
              </a:rPr>
              <a:t> </a:t>
            </a:r>
            <a:r>
              <a:rPr dirty="0" sz="1350" spc="80">
                <a:latin typeface="Tahoma"/>
                <a:cs typeface="Tahoma"/>
              </a:rPr>
              <a:t>codes</a:t>
            </a:r>
            <a:r>
              <a:rPr dirty="0" sz="1350" spc="1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must</a:t>
            </a:r>
            <a:r>
              <a:rPr dirty="0" sz="1350" spc="15">
                <a:latin typeface="Tahoma"/>
                <a:cs typeface="Tahoma"/>
              </a:rPr>
              <a:t> </a:t>
            </a:r>
            <a:r>
              <a:rPr dirty="0" sz="1350" spc="70">
                <a:latin typeface="Tahoma"/>
                <a:cs typeface="Tahoma"/>
              </a:rPr>
              <a:t>be</a:t>
            </a:r>
            <a:r>
              <a:rPr dirty="0" sz="1350" spc="1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assigned</a:t>
            </a:r>
            <a:r>
              <a:rPr dirty="0" sz="1350" spc="15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to</a:t>
            </a:r>
            <a:r>
              <a:rPr dirty="0" sz="1350" spc="1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it.</a:t>
            </a:r>
            <a:r>
              <a:rPr dirty="0" sz="1350" spc="1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The </a:t>
            </a:r>
            <a:r>
              <a:rPr dirty="0" sz="1350" spc="10">
                <a:latin typeface="Tahoma"/>
                <a:cs typeface="Tahoma"/>
              </a:rPr>
              <a:t>controlling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area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determines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the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currency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and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 spc="10">
                <a:latin typeface="Tahoma"/>
                <a:cs typeface="Tahoma"/>
              </a:rPr>
              <a:t>fiscal</a:t>
            </a:r>
            <a:r>
              <a:rPr dirty="0" sz="1350" spc="70">
                <a:latin typeface="Tahoma"/>
                <a:cs typeface="Tahoma"/>
              </a:rPr>
              <a:t> </a:t>
            </a:r>
            <a:r>
              <a:rPr dirty="0" sz="1350" spc="-20">
                <a:latin typeface="Tahoma"/>
                <a:cs typeface="Tahoma"/>
              </a:rPr>
              <a:t>year </a:t>
            </a:r>
            <a:r>
              <a:rPr dirty="0" sz="1350">
                <a:latin typeface="Tahoma"/>
                <a:cs typeface="Tahoma"/>
              </a:rPr>
              <a:t>for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all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80">
                <a:latin typeface="Tahoma"/>
                <a:cs typeface="Tahoma"/>
              </a:rPr>
              <a:t>cost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reporting.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All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80">
                <a:latin typeface="Tahoma"/>
                <a:cs typeface="Tahoma"/>
              </a:rPr>
              <a:t>cost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centres,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profit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centres,</a:t>
            </a:r>
            <a:r>
              <a:rPr dirty="0" sz="1350" spc="4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and </a:t>
            </a:r>
            <a:r>
              <a:rPr dirty="0" sz="1350">
                <a:latin typeface="Tahoma"/>
                <a:cs typeface="Tahoma"/>
              </a:rPr>
              <a:t>internal</a:t>
            </a:r>
            <a:r>
              <a:rPr dirty="0" sz="1350" spc="10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orders</a:t>
            </a:r>
            <a:r>
              <a:rPr dirty="0" sz="1350" spc="10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belong</a:t>
            </a:r>
            <a:r>
              <a:rPr dirty="0" sz="1350" spc="105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to</a:t>
            </a:r>
            <a:r>
              <a:rPr dirty="0" sz="1350" spc="10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</a:t>
            </a:r>
            <a:r>
              <a:rPr dirty="0" sz="1350" spc="10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controlling</a:t>
            </a:r>
            <a:r>
              <a:rPr dirty="0" sz="1350" spc="10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area.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Cost</a:t>
            </a:r>
            <a:r>
              <a:rPr dirty="0" spc="90"/>
              <a:t> </a:t>
            </a:r>
            <a:r>
              <a:rPr dirty="0"/>
              <a:t>Centre</a:t>
            </a:r>
            <a:r>
              <a:rPr dirty="0" spc="50"/>
              <a:t> </a:t>
            </a:r>
            <a:r>
              <a:rPr dirty="0" spc="-10"/>
              <a:t>Accounting</a:t>
            </a:r>
          </a:p>
          <a:p>
            <a:pPr marL="12700" marR="5080">
              <a:lnSpc>
                <a:spcPct val="132900"/>
              </a:lnSpc>
              <a:spcBef>
                <a:spcPts val="1140"/>
              </a:spcBef>
            </a:pP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centres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represent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departments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functions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within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a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80">
                <a:solidFill>
                  <a:srgbClr val="383838"/>
                </a:solidFill>
                <a:latin typeface="Tahoma"/>
                <a:cs typeface="Tahoma"/>
              </a:rPr>
              <a:t>(e.g.,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Production, </a:t>
            </a:r>
            <a:r>
              <a:rPr dirty="0" sz="1350" spc="-80">
                <a:solidFill>
                  <a:srgbClr val="383838"/>
                </a:solidFill>
                <a:latin typeface="Tahoma"/>
                <a:cs typeface="Tahoma"/>
              </a:rPr>
              <a:t>HR,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Marketing).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centre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includes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defining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centre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categories,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creating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centre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hierarchy,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setting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up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cost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centre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groups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reporting.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Costs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transactions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are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automatically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assigned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centres,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allowing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management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see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how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much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department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is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spending.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8675" y="5562600"/>
            <a:ext cx="3143250" cy="2638425"/>
          </a:xfrm>
          <a:custGeom>
            <a:avLst/>
            <a:gdLst/>
            <a:ahLst/>
            <a:cxnLst/>
            <a:rect l="l" t="t" r="r" b="b"/>
            <a:pathLst>
              <a:path w="3143250" h="2638425">
                <a:moveTo>
                  <a:pt x="3124657" y="2638425"/>
                </a:moveTo>
                <a:lnTo>
                  <a:pt x="18592" y="2638425"/>
                </a:lnTo>
                <a:lnTo>
                  <a:pt x="15859" y="2637882"/>
                </a:lnTo>
                <a:lnTo>
                  <a:pt x="0" y="2619832"/>
                </a:lnTo>
                <a:lnTo>
                  <a:pt x="0" y="2616993"/>
                </a:lnTo>
                <a:lnTo>
                  <a:pt x="0" y="18592"/>
                </a:lnTo>
                <a:lnTo>
                  <a:pt x="18592" y="0"/>
                </a:lnTo>
                <a:lnTo>
                  <a:pt x="3124657" y="0"/>
                </a:lnTo>
                <a:lnTo>
                  <a:pt x="3143250" y="18592"/>
                </a:lnTo>
                <a:lnTo>
                  <a:pt x="3143250" y="2619832"/>
                </a:lnTo>
                <a:lnTo>
                  <a:pt x="3127390" y="2637882"/>
                </a:lnTo>
                <a:lnTo>
                  <a:pt x="3124657" y="263842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87425" y="5715445"/>
            <a:ext cx="2744470" cy="22853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Profit</a:t>
            </a:r>
            <a:r>
              <a:rPr dirty="0" sz="1750" spc="8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Centres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500"/>
              </a:lnSpc>
              <a:spcBef>
                <a:spcPts val="53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centres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represent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business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units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both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revenues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costs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tracked.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enable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profitability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by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segment,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product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line,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region.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Profit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centres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assigned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cost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centres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G/L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accounts.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43375" y="5562600"/>
            <a:ext cx="3143250" cy="2638425"/>
          </a:xfrm>
          <a:custGeom>
            <a:avLst/>
            <a:gdLst/>
            <a:ahLst/>
            <a:cxnLst/>
            <a:rect l="l" t="t" r="r" b="b"/>
            <a:pathLst>
              <a:path w="3143250" h="2638425">
                <a:moveTo>
                  <a:pt x="3124657" y="2638425"/>
                </a:moveTo>
                <a:lnTo>
                  <a:pt x="18592" y="2638425"/>
                </a:lnTo>
                <a:lnTo>
                  <a:pt x="15859" y="2637882"/>
                </a:lnTo>
                <a:lnTo>
                  <a:pt x="0" y="2619832"/>
                </a:lnTo>
                <a:lnTo>
                  <a:pt x="0" y="2616993"/>
                </a:lnTo>
                <a:lnTo>
                  <a:pt x="0" y="18592"/>
                </a:lnTo>
                <a:lnTo>
                  <a:pt x="18592" y="0"/>
                </a:lnTo>
                <a:lnTo>
                  <a:pt x="3124657" y="0"/>
                </a:lnTo>
                <a:lnTo>
                  <a:pt x="3143250" y="18592"/>
                </a:lnTo>
                <a:lnTo>
                  <a:pt x="3143250" y="2619832"/>
                </a:lnTo>
                <a:lnTo>
                  <a:pt x="3127390" y="2637882"/>
                </a:lnTo>
                <a:lnTo>
                  <a:pt x="3124657" y="263842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302125" y="5715445"/>
            <a:ext cx="2741930" cy="22853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Internal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Orders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500"/>
              </a:lnSpc>
              <a:spcBef>
                <a:spcPts val="53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orders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used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track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costs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specific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projects,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events,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temporary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activities.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have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defined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start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end,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costs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collected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order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are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eventually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settled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(transferred)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to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centre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asset.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58075" y="5562600"/>
            <a:ext cx="3143250" cy="2638425"/>
          </a:xfrm>
          <a:custGeom>
            <a:avLst/>
            <a:gdLst/>
            <a:ahLst/>
            <a:cxnLst/>
            <a:rect l="l" t="t" r="r" b="b"/>
            <a:pathLst>
              <a:path w="3143250" h="2638425">
                <a:moveTo>
                  <a:pt x="3124657" y="2638425"/>
                </a:moveTo>
                <a:lnTo>
                  <a:pt x="18592" y="2638425"/>
                </a:lnTo>
                <a:lnTo>
                  <a:pt x="15849" y="2637882"/>
                </a:lnTo>
                <a:lnTo>
                  <a:pt x="0" y="2619832"/>
                </a:lnTo>
                <a:lnTo>
                  <a:pt x="0" y="2616993"/>
                </a:lnTo>
                <a:lnTo>
                  <a:pt x="0" y="18592"/>
                </a:lnTo>
                <a:lnTo>
                  <a:pt x="18592" y="0"/>
                </a:lnTo>
                <a:lnTo>
                  <a:pt x="3124657" y="0"/>
                </a:lnTo>
                <a:lnTo>
                  <a:pt x="3143250" y="18592"/>
                </a:lnTo>
                <a:lnTo>
                  <a:pt x="3143250" y="2619832"/>
                </a:lnTo>
                <a:lnTo>
                  <a:pt x="3127390" y="2637882"/>
                </a:lnTo>
                <a:lnTo>
                  <a:pt x="3124657" y="263842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16825" y="5715445"/>
            <a:ext cx="2806065" cy="22853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Cost</a:t>
            </a:r>
            <a:r>
              <a:rPr dirty="0" sz="1750" spc="5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Allocation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3500"/>
              </a:lnSpc>
              <a:spcBef>
                <a:spcPts val="530"/>
              </a:spcBef>
            </a:pP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allocation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distributes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costs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centre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others.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For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example,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14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department's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costs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allocated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other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departments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based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usage.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This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done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through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assessment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or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distribution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cycles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CO.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16675" y="8588983"/>
            <a:ext cx="9396730" cy="3845560"/>
          </a:xfrm>
          <a:custGeom>
            <a:avLst/>
            <a:gdLst/>
            <a:ahLst/>
            <a:cxnLst/>
            <a:rect l="l" t="t" r="r" b="b"/>
            <a:pathLst>
              <a:path w="9396730" h="3845559">
                <a:moveTo>
                  <a:pt x="3628013" y="3845340"/>
                </a:moveTo>
                <a:lnTo>
                  <a:pt x="2116340" y="3838377"/>
                </a:lnTo>
                <a:lnTo>
                  <a:pt x="2069872" y="3832822"/>
                </a:lnTo>
                <a:lnTo>
                  <a:pt x="2027239" y="3817411"/>
                </a:lnTo>
                <a:lnTo>
                  <a:pt x="1989650" y="3793356"/>
                </a:lnTo>
                <a:lnTo>
                  <a:pt x="1958312" y="3761871"/>
                </a:lnTo>
                <a:lnTo>
                  <a:pt x="1934432" y="3724169"/>
                </a:lnTo>
                <a:lnTo>
                  <a:pt x="1919218" y="3681463"/>
                </a:lnTo>
                <a:lnTo>
                  <a:pt x="1913879" y="3634967"/>
                </a:lnTo>
                <a:lnTo>
                  <a:pt x="1913879" y="1981601"/>
                </a:lnTo>
                <a:lnTo>
                  <a:pt x="1825785" y="1893507"/>
                </a:lnTo>
                <a:lnTo>
                  <a:pt x="1825785" y="1884730"/>
                </a:lnTo>
                <a:lnTo>
                  <a:pt x="1836619" y="1873896"/>
                </a:lnTo>
                <a:lnTo>
                  <a:pt x="1845396" y="1873896"/>
                </a:lnTo>
                <a:lnTo>
                  <a:pt x="1913879" y="1942379"/>
                </a:lnTo>
                <a:lnTo>
                  <a:pt x="1913879" y="203400"/>
                </a:lnTo>
                <a:lnTo>
                  <a:pt x="1907934" y="159160"/>
                </a:lnTo>
                <a:lnTo>
                  <a:pt x="1891158" y="119407"/>
                </a:lnTo>
                <a:lnTo>
                  <a:pt x="1865136" y="85727"/>
                </a:lnTo>
                <a:lnTo>
                  <a:pt x="1831454" y="59705"/>
                </a:lnTo>
                <a:lnTo>
                  <a:pt x="1791698" y="42929"/>
                </a:lnTo>
                <a:lnTo>
                  <a:pt x="1747454" y="36985"/>
                </a:lnTo>
                <a:lnTo>
                  <a:pt x="283535" y="36985"/>
                </a:lnTo>
                <a:lnTo>
                  <a:pt x="239295" y="42929"/>
                </a:lnTo>
                <a:lnTo>
                  <a:pt x="199540" y="59705"/>
                </a:lnTo>
                <a:lnTo>
                  <a:pt x="165857" y="85727"/>
                </a:lnTo>
                <a:lnTo>
                  <a:pt x="139833" y="119407"/>
                </a:lnTo>
                <a:lnTo>
                  <a:pt x="123056" y="159160"/>
                </a:lnTo>
                <a:lnTo>
                  <a:pt x="117110" y="203400"/>
                </a:lnTo>
                <a:lnTo>
                  <a:pt x="117110" y="1840087"/>
                </a:lnTo>
                <a:lnTo>
                  <a:pt x="148882" y="1852108"/>
                </a:lnTo>
                <a:lnTo>
                  <a:pt x="174289" y="1873720"/>
                </a:lnTo>
                <a:lnTo>
                  <a:pt x="191141" y="1902735"/>
                </a:lnTo>
                <a:lnTo>
                  <a:pt x="197245" y="1936967"/>
                </a:lnTo>
                <a:lnTo>
                  <a:pt x="189495" y="1975352"/>
                </a:lnTo>
                <a:lnTo>
                  <a:pt x="168360" y="2006699"/>
                </a:lnTo>
                <a:lnTo>
                  <a:pt x="137013" y="2027835"/>
                </a:lnTo>
                <a:lnTo>
                  <a:pt x="98627" y="2035585"/>
                </a:lnTo>
                <a:lnTo>
                  <a:pt x="60236" y="2027835"/>
                </a:lnTo>
                <a:lnTo>
                  <a:pt x="28886" y="2006699"/>
                </a:lnTo>
                <a:lnTo>
                  <a:pt x="7750" y="1975352"/>
                </a:lnTo>
                <a:lnTo>
                  <a:pt x="0" y="1936967"/>
                </a:lnTo>
                <a:lnTo>
                  <a:pt x="6104" y="1902735"/>
                </a:lnTo>
                <a:lnTo>
                  <a:pt x="22956" y="1873720"/>
                </a:lnTo>
                <a:lnTo>
                  <a:pt x="48363" y="1852108"/>
                </a:lnTo>
                <a:lnTo>
                  <a:pt x="80134" y="1840087"/>
                </a:lnTo>
                <a:lnTo>
                  <a:pt x="80134" y="203400"/>
                </a:lnTo>
                <a:lnTo>
                  <a:pt x="85506" y="156762"/>
                </a:lnTo>
                <a:lnTo>
                  <a:pt x="100808" y="113949"/>
                </a:lnTo>
                <a:lnTo>
                  <a:pt x="124819" y="76182"/>
                </a:lnTo>
                <a:lnTo>
                  <a:pt x="156317" y="44684"/>
                </a:lnTo>
                <a:lnTo>
                  <a:pt x="194084" y="20673"/>
                </a:lnTo>
                <a:lnTo>
                  <a:pt x="236896" y="5371"/>
                </a:lnTo>
                <a:lnTo>
                  <a:pt x="283535" y="0"/>
                </a:lnTo>
                <a:lnTo>
                  <a:pt x="1747454" y="0"/>
                </a:lnTo>
                <a:lnTo>
                  <a:pt x="1794093" y="5371"/>
                </a:lnTo>
                <a:lnTo>
                  <a:pt x="1836908" y="20673"/>
                </a:lnTo>
                <a:lnTo>
                  <a:pt x="1874676" y="44684"/>
                </a:lnTo>
                <a:lnTo>
                  <a:pt x="1906176" y="76182"/>
                </a:lnTo>
                <a:lnTo>
                  <a:pt x="1930189" y="113949"/>
                </a:lnTo>
                <a:lnTo>
                  <a:pt x="1945492" y="156762"/>
                </a:lnTo>
                <a:lnTo>
                  <a:pt x="1950864" y="203400"/>
                </a:lnTo>
                <a:lnTo>
                  <a:pt x="1950864" y="1936168"/>
                </a:lnTo>
                <a:lnTo>
                  <a:pt x="2013136" y="1873896"/>
                </a:lnTo>
                <a:lnTo>
                  <a:pt x="2021913" y="1873896"/>
                </a:lnTo>
                <a:lnTo>
                  <a:pt x="2032747" y="1884730"/>
                </a:lnTo>
                <a:lnTo>
                  <a:pt x="2032747" y="1893507"/>
                </a:lnTo>
                <a:lnTo>
                  <a:pt x="1950864" y="1975390"/>
                </a:lnTo>
                <a:lnTo>
                  <a:pt x="1950864" y="3634967"/>
                </a:lnTo>
                <a:lnTo>
                  <a:pt x="1956773" y="3679077"/>
                </a:lnTo>
                <a:lnTo>
                  <a:pt x="1973452" y="3718739"/>
                </a:lnTo>
                <a:lnTo>
                  <a:pt x="1999335" y="3752377"/>
                </a:lnTo>
                <a:lnTo>
                  <a:pt x="2032852" y="3778416"/>
                </a:lnTo>
                <a:lnTo>
                  <a:pt x="2072436" y="3795279"/>
                </a:lnTo>
                <a:lnTo>
                  <a:pt x="2116518" y="3801391"/>
                </a:lnTo>
                <a:lnTo>
                  <a:pt x="3628182" y="3808354"/>
                </a:lnTo>
                <a:lnTo>
                  <a:pt x="3672584" y="3802577"/>
                </a:lnTo>
                <a:lnTo>
                  <a:pt x="3712509" y="3785886"/>
                </a:lnTo>
                <a:lnTo>
                  <a:pt x="3746354" y="3759879"/>
                </a:lnTo>
                <a:lnTo>
                  <a:pt x="3772515" y="3726153"/>
                </a:lnTo>
                <a:lnTo>
                  <a:pt x="3789387" y="3686304"/>
                </a:lnTo>
                <a:lnTo>
                  <a:pt x="3795368" y="3641929"/>
                </a:lnTo>
                <a:lnTo>
                  <a:pt x="3795368" y="2069836"/>
                </a:lnTo>
                <a:lnTo>
                  <a:pt x="3792267" y="2069836"/>
                </a:lnTo>
                <a:lnTo>
                  <a:pt x="3792267" y="1918399"/>
                </a:lnTo>
                <a:lnTo>
                  <a:pt x="3722262" y="1988404"/>
                </a:lnTo>
                <a:lnTo>
                  <a:pt x="3713485" y="1988404"/>
                </a:lnTo>
                <a:lnTo>
                  <a:pt x="3702651" y="1977570"/>
                </a:lnTo>
                <a:lnTo>
                  <a:pt x="3702651" y="1968793"/>
                </a:lnTo>
                <a:lnTo>
                  <a:pt x="3795368" y="1876076"/>
                </a:lnTo>
                <a:lnTo>
                  <a:pt x="3795368" y="211218"/>
                </a:lnTo>
                <a:lnTo>
                  <a:pt x="3800710" y="164722"/>
                </a:lnTo>
                <a:lnTo>
                  <a:pt x="3815925" y="122017"/>
                </a:lnTo>
                <a:lnTo>
                  <a:pt x="3839805" y="84316"/>
                </a:lnTo>
                <a:lnTo>
                  <a:pt x="3871142" y="52832"/>
                </a:lnTo>
                <a:lnTo>
                  <a:pt x="3908730" y="28778"/>
                </a:lnTo>
                <a:lnTo>
                  <a:pt x="3951361" y="13365"/>
                </a:lnTo>
                <a:lnTo>
                  <a:pt x="3997829" y="7808"/>
                </a:lnTo>
                <a:lnTo>
                  <a:pt x="5491000" y="864"/>
                </a:lnTo>
                <a:lnTo>
                  <a:pt x="5537810" y="6051"/>
                </a:lnTo>
                <a:lnTo>
                  <a:pt x="5580806" y="21243"/>
                </a:lnTo>
                <a:lnTo>
                  <a:pt x="5618753" y="45213"/>
                </a:lnTo>
                <a:lnTo>
                  <a:pt x="5650416" y="76729"/>
                </a:lnTo>
                <a:lnTo>
                  <a:pt x="5674561" y="114564"/>
                </a:lnTo>
                <a:lnTo>
                  <a:pt x="5689954" y="157489"/>
                </a:lnTo>
                <a:lnTo>
                  <a:pt x="5695359" y="204274"/>
                </a:lnTo>
                <a:lnTo>
                  <a:pt x="5695359" y="1792464"/>
                </a:lnTo>
                <a:lnTo>
                  <a:pt x="5696872" y="1792464"/>
                </a:lnTo>
                <a:lnTo>
                  <a:pt x="5696872" y="1943901"/>
                </a:lnTo>
                <a:lnTo>
                  <a:pt x="5766877" y="1873896"/>
                </a:lnTo>
                <a:lnTo>
                  <a:pt x="5775654" y="1873896"/>
                </a:lnTo>
                <a:lnTo>
                  <a:pt x="5786488" y="1884730"/>
                </a:lnTo>
                <a:lnTo>
                  <a:pt x="5786488" y="1893507"/>
                </a:lnTo>
                <a:lnTo>
                  <a:pt x="5695359" y="1984636"/>
                </a:lnTo>
                <a:lnTo>
                  <a:pt x="5695359" y="3634121"/>
                </a:lnTo>
                <a:lnTo>
                  <a:pt x="5701304" y="3678361"/>
                </a:lnTo>
                <a:lnTo>
                  <a:pt x="5718080" y="3718116"/>
                </a:lnTo>
                <a:lnTo>
                  <a:pt x="5744101" y="3751799"/>
                </a:lnTo>
                <a:lnTo>
                  <a:pt x="5777781" y="3777823"/>
                </a:lnTo>
                <a:lnTo>
                  <a:pt x="5817534" y="3794600"/>
                </a:lnTo>
                <a:lnTo>
                  <a:pt x="5861774" y="3800546"/>
                </a:lnTo>
                <a:lnTo>
                  <a:pt x="7308723" y="3800546"/>
                </a:lnTo>
                <a:lnTo>
                  <a:pt x="7352964" y="3794600"/>
                </a:lnTo>
                <a:lnTo>
                  <a:pt x="7392719" y="3777823"/>
                </a:lnTo>
                <a:lnTo>
                  <a:pt x="7426401" y="3751799"/>
                </a:lnTo>
                <a:lnTo>
                  <a:pt x="7452425" y="3718116"/>
                </a:lnTo>
                <a:lnTo>
                  <a:pt x="7469203" y="3678361"/>
                </a:lnTo>
                <a:lnTo>
                  <a:pt x="7475148" y="3634121"/>
                </a:lnTo>
                <a:lnTo>
                  <a:pt x="7475148" y="1933781"/>
                </a:lnTo>
                <a:lnTo>
                  <a:pt x="7411288" y="1997641"/>
                </a:lnTo>
                <a:lnTo>
                  <a:pt x="7402511" y="1997641"/>
                </a:lnTo>
                <a:lnTo>
                  <a:pt x="7391677" y="1986816"/>
                </a:lnTo>
                <a:lnTo>
                  <a:pt x="7391677" y="1978030"/>
                </a:lnTo>
                <a:lnTo>
                  <a:pt x="7475148" y="1894559"/>
                </a:lnTo>
                <a:lnTo>
                  <a:pt x="7475148" y="212073"/>
                </a:lnTo>
                <a:lnTo>
                  <a:pt x="7480520" y="165434"/>
                </a:lnTo>
                <a:lnTo>
                  <a:pt x="7495823" y="122620"/>
                </a:lnTo>
                <a:lnTo>
                  <a:pt x="7519835" y="84852"/>
                </a:lnTo>
                <a:lnTo>
                  <a:pt x="7551335" y="53351"/>
                </a:lnTo>
                <a:lnTo>
                  <a:pt x="7589101" y="29339"/>
                </a:lnTo>
                <a:lnTo>
                  <a:pt x="7631913" y="14036"/>
                </a:lnTo>
                <a:lnTo>
                  <a:pt x="7678548" y="8663"/>
                </a:lnTo>
                <a:lnTo>
                  <a:pt x="9113150" y="8663"/>
                </a:lnTo>
                <a:lnTo>
                  <a:pt x="9159789" y="14036"/>
                </a:lnTo>
                <a:lnTo>
                  <a:pt x="9202601" y="29339"/>
                </a:lnTo>
                <a:lnTo>
                  <a:pt x="9240368" y="53351"/>
                </a:lnTo>
                <a:lnTo>
                  <a:pt x="9271866" y="84852"/>
                </a:lnTo>
                <a:lnTo>
                  <a:pt x="9295877" y="122620"/>
                </a:lnTo>
                <a:lnTo>
                  <a:pt x="9311179" y="165434"/>
                </a:lnTo>
                <a:lnTo>
                  <a:pt x="9316551" y="212073"/>
                </a:lnTo>
                <a:lnTo>
                  <a:pt x="9316551" y="1840087"/>
                </a:lnTo>
                <a:lnTo>
                  <a:pt x="9348316" y="1852108"/>
                </a:lnTo>
                <a:lnTo>
                  <a:pt x="9373711" y="1873720"/>
                </a:lnTo>
                <a:lnTo>
                  <a:pt x="9390549" y="1902735"/>
                </a:lnTo>
                <a:lnTo>
                  <a:pt x="9396648" y="1936967"/>
                </a:lnTo>
                <a:lnTo>
                  <a:pt x="9388903" y="1975352"/>
                </a:lnTo>
                <a:lnTo>
                  <a:pt x="9367780" y="2006699"/>
                </a:lnTo>
                <a:lnTo>
                  <a:pt x="9336443" y="2027835"/>
                </a:lnTo>
                <a:lnTo>
                  <a:pt x="9298058" y="2035585"/>
                </a:lnTo>
                <a:lnTo>
                  <a:pt x="9259672" y="2027835"/>
                </a:lnTo>
                <a:lnTo>
                  <a:pt x="9228325" y="2006699"/>
                </a:lnTo>
                <a:lnTo>
                  <a:pt x="9207190" y="1975352"/>
                </a:lnTo>
                <a:lnTo>
                  <a:pt x="9199440" y="1936967"/>
                </a:lnTo>
                <a:lnTo>
                  <a:pt x="9205544" y="1902735"/>
                </a:lnTo>
                <a:lnTo>
                  <a:pt x="9222395" y="1873720"/>
                </a:lnTo>
                <a:lnTo>
                  <a:pt x="9247799" y="1852108"/>
                </a:lnTo>
                <a:lnTo>
                  <a:pt x="9279565" y="1840087"/>
                </a:lnTo>
                <a:lnTo>
                  <a:pt x="9279565" y="212073"/>
                </a:lnTo>
                <a:lnTo>
                  <a:pt x="9273621" y="167833"/>
                </a:lnTo>
                <a:lnTo>
                  <a:pt x="9256845" y="128078"/>
                </a:lnTo>
                <a:lnTo>
                  <a:pt x="9230823" y="94395"/>
                </a:lnTo>
                <a:lnTo>
                  <a:pt x="9197143" y="68372"/>
                </a:lnTo>
                <a:lnTo>
                  <a:pt x="9157390" y="51594"/>
                </a:lnTo>
                <a:lnTo>
                  <a:pt x="9113150" y="45649"/>
                </a:lnTo>
                <a:lnTo>
                  <a:pt x="7678548" y="45649"/>
                </a:lnTo>
                <a:lnTo>
                  <a:pt x="7634309" y="51594"/>
                </a:lnTo>
                <a:lnTo>
                  <a:pt x="7594555" y="68372"/>
                </a:lnTo>
                <a:lnTo>
                  <a:pt x="7560875" y="94395"/>
                </a:lnTo>
                <a:lnTo>
                  <a:pt x="7534854" y="128078"/>
                </a:lnTo>
                <a:lnTo>
                  <a:pt x="7518078" y="167833"/>
                </a:lnTo>
                <a:lnTo>
                  <a:pt x="7512133" y="212073"/>
                </a:lnTo>
                <a:lnTo>
                  <a:pt x="7512133" y="1891534"/>
                </a:lnTo>
                <a:lnTo>
                  <a:pt x="7598639" y="1978030"/>
                </a:lnTo>
                <a:lnTo>
                  <a:pt x="7598639" y="1986816"/>
                </a:lnTo>
                <a:lnTo>
                  <a:pt x="7587805" y="1997641"/>
                </a:lnTo>
                <a:lnTo>
                  <a:pt x="7579028" y="1997641"/>
                </a:lnTo>
                <a:lnTo>
                  <a:pt x="7512133" y="1930755"/>
                </a:lnTo>
                <a:lnTo>
                  <a:pt x="7512133" y="3634121"/>
                </a:lnTo>
                <a:lnTo>
                  <a:pt x="7506761" y="3680759"/>
                </a:lnTo>
                <a:lnTo>
                  <a:pt x="7491458" y="3723572"/>
                </a:lnTo>
                <a:lnTo>
                  <a:pt x="7467445" y="3761339"/>
                </a:lnTo>
                <a:lnTo>
                  <a:pt x="7435944" y="3792837"/>
                </a:lnTo>
                <a:lnTo>
                  <a:pt x="7398176" y="3816848"/>
                </a:lnTo>
                <a:lnTo>
                  <a:pt x="7355362" y="3832150"/>
                </a:lnTo>
                <a:lnTo>
                  <a:pt x="7308723" y="3837521"/>
                </a:lnTo>
                <a:lnTo>
                  <a:pt x="5861774" y="3837521"/>
                </a:lnTo>
                <a:lnTo>
                  <a:pt x="5815139" y="3832150"/>
                </a:lnTo>
                <a:lnTo>
                  <a:pt x="5772327" y="3816848"/>
                </a:lnTo>
                <a:lnTo>
                  <a:pt x="5734561" y="3792837"/>
                </a:lnTo>
                <a:lnTo>
                  <a:pt x="5703061" y="3761339"/>
                </a:lnTo>
                <a:lnTo>
                  <a:pt x="5679049" y="3723572"/>
                </a:lnTo>
                <a:lnTo>
                  <a:pt x="5663746" y="3680759"/>
                </a:lnTo>
                <a:lnTo>
                  <a:pt x="5658374" y="3634121"/>
                </a:lnTo>
                <a:lnTo>
                  <a:pt x="5658374" y="1972354"/>
                </a:lnTo>
                <a:lnTo>
                  <a:pt x="5579526" y="1893507"/>
                </a:lnTo>
                <a:lnTo>
                  <a:pt x="5579526" y="1884730"/>
                </a:lnTo>
                <a:lnTo>
                  <a:pt x="5590361" y="1873896"/>
                </a:lnTo>
                <a:lnTo>
                  <a:pt x="5599137" y="1873896"/>
                </a:lnTo>
                <a:lnTo>
                  <a:pt x="5658374" y="1933133"/>
                </a:lnTo>
                <a:lnTo>
                  <a:pt x="5658374" y="204274"/>
                </a:lnTo>
                <a:lnTo>
                  <a:pt x="5652392" y="159896"/>
                </a:lnTo>
                <a:lnTo>
                  <a:pt x="5635518" y="120045"/>
                </a:lnTo>
                <a:lnTo>
                  <a:pt x="5609355" y="86317"/>
                </a:lnTo>
                <a:lnTo>
                  <a:pt x="5575507" y="60311"/>
                </a:lnTo>
                <a:lnTo>
                  <a:pt x="5535581" y="43623"/>
                </a:lnTo>
                <a:lnTo>
                  <a:pt x="5491178" y="37849"/>
                </a:lnTo>
                <a:lnTo>
                  <a:pt x="3997998" y="44794"/>
                </a:lnTo>
                <a:lnTo>
                  <a:pt x="3953920" y="50906"/>
                </a:lnTo>
                <a:lnTo>
                  <a:pt x="3914338" y="67771"/>
                </a:lnTo>
                <a:lnTo>
                  <a:pt x="3880823" y="93811"/>
                </a:lnTo>
                <a:lnTo>
                  <a:pt x="3854941" y="127450"/>
                </a:lnTo>
                <a:lnTo>
                  <a:pt x="3838262" y="167111"/>
                </a:lnTo>
                <a:lnTo>
                  <a:pt x="3832353" y="211218"/>
                </a:lnTo>
                <a:lnTo>
                  <a:pt x="3832353" y="1891534"/>
                </a:lnTo>
                <a:lnTo>
                  <a:pt x="3909613" y="1968793"/>
                </a:lnTo>
                <a:lnTo>
                  <a:pt x="3909613" y="1977570"/>
                </a:lnTo>
                <a:lnTo>
                  <a:pt x="3898778" y="1988404"/>
                </a:lnTo>
                <a:lnTo>
                  <a:pt x="3890002" y="1988404"/>
                </a:lnTo>
                <a:lnTo>
                  <a:pt x="3832353" y="1930755"/>
                </a:lnTo>
                <a:lnTo>
                  <a:pt x="3832353" y="3641929"/>
                </a:lnTo>
                <a:lnTo>
                  <a:pt x="3826949" y="3688711"/>
                </a:lnTo>
                <a:lnTo>
                  <a:pt x="3811558" y="3731633"/>
                </a:lnTo>
                <a:lnTo>
                  <a:pt x="3787415" y="3769467"/>
                </a:lnTo>
                <a:lnTo>
                  <a:pt x="3755754" y="3800984"/>
                </a:lnTo>
                <a:lnTo>
                  <a:pt x="3717811" y="3824954"/>
                </a:lnTo>
                <a:lnTo>
                  <a:pt x="3674819" y="3840149"/>
                </a:lnTo>
                <a:lnTo>
                  <a:pt x="3628013" y="384534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49893" y="11344419"/>
            <a:ext cx="1273175" cy="89090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750" spc="-75">
                <a:solidFill>
                  <a:srgbClr val="383838"/>
                </a:solidFill>
                <a:latin typeface="Georgia"/>
                <a:cs typeface="Georgia"/>
              </a:rPr>
              <a:t>FI</a:t>
            </a: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Recording</a:t>
            </a:r>
            <a:endParaRPr sz="1750">
              <a:latin typeface="Georgia"/>
              <a:cs typeface="Georgia"/>
            </a:endParaRPr>
          </a:p>
          <a:p>
            <a:pPr algn="ctr" marL="176530" marR="169545">
              <a:lnSpc>
                <a:spcPct val="109100"/>
              </a:lnSpc>
              <a:spcBef>
                <a:spcPts val="500"/>
              </a:spcBef>
            </a:pPr>
            <a:r>
              <a:rPr dirty="0" sz="1300" spc="-75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00" spc="-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85">
                <a:solidFill>
                  <a:srgbClr val="383838"/>
                </a:solidFill>
                <a:latin typeface="Tahoma"/>
                <a:cs typeface="Tahoma"/>
              </a:rPr>
              <a:t>posts</a:t>
            </a:r>
            <a:r>
              <a:rPr dirty="0" sz="130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expense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1375" y="11149003"/>
            <a:ext cx="1202055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5700"/>
              </a:lnSpc>
              <a:spcBef>
                <a:spcPts val="100"/>
              </a:spcBef>
            </a:pPr>
            <a:r>
              <a:rPr dirty="0" sz="1750" spc="-20">
                <a:solidFill>
                  <a:srgbClr val="020202"/>
                </a:solidFill>
                <a:latin typeface="Georgia"/>
                <a:cs typeface="Georgia"/>
              </a:rPr>
              <a:t>Cost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Assignment</a:t>
            </a:r>
            <a:endParaRPr sz="1750">
              <a:latin typeface="Georgia"/>
              <a:cs typeface="Georgia"/>
            </a:endParaRPr>
          </a:p>
          <a:p>
            <a:pPr algn="ctr" marL="43815" marR="36830">
              <a:lnSpc>
                <a:spcPct val="109100"/>
              </a:lnSpc>
              <a:spcBef>
                <a:spcPts val="500"/>
              </a:spcBef>
            </a:pP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Assign</a:t>
            </a:r>
            <a:r>
              <a:rPr dirty="0" sz="130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00" spc="-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to 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00" spc="-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centre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5514" y="8743441"/>
            <a:ext cx="1264920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450" marR="36830" indent="156210">
              <a:lnSpc>
                <a:spcPct val="105700"/>
              </a:lnSpc>
              <a:spcBef>
                <a:spcPts val="100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Business Transaction</a:t>
            </a:r>
            <a:endParaRPr sz="1750">
              <a:latin typeface="Georgia"/>
              <a:cs typeface="Georgia"/>
            </a:endParaRPr>
          </a:p>
          <a:p>
            <a:pPr marL="12700" marR="5080" indent="160020">
              <a:lnSpc>
                <a:spcPct val="104299"/>
              </a:lnSpc>
              <a:spcBef>
                <a:spcPts val="650"/>
              </a:spcBef>
            </a:pPr>
            <a:r>
              <a:rPr dirty="0" sz="1300" spc="40">
                <a:solidFill>
                  <a:srgbClr val="383838"/>
                </a:solidFill>
                <a:latin typeface="Tahoma"/>
                <a:cs typeface="Tahoma"/>
              </a:rPr>
              <a:t>Operational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expense</a:t>
            </a:r>
            <a:r>
              <a:rPr dirty="0" sz="130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383838"/>
                </a:solidFill>
                <a:latin typeface="Tahoma"/>
                <a:cs typeface="Tahoma"/>
              </a:rPr>
              <a:t>occurs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95599" y="8743441"/>
            <a:ext cx="1438910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2390" marR="64135">
              <a:lnSpc>
                <a:spcPct val="105700"/>
              </a:lnSpc>
              <a:spcBef>
                <a:spcPts val="100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Management Analysis</a:t>
            </a:r>
            <a:endParaRPr sz="1750">
              <a:latin typeface="Georgia"/>
              <a:cs typeface="Georgia"/>
            </a:endParaRPr>
          </a:p>
          <a:p>
            <a:pPr algn="ctr" marL="12700" marR="5080">
              <a:lnSpc>
                <a:spcPct val="104299"/>
              </a:lnSpc>
              <a:spcBef>
                <a:spcPts val="650"/>
              </a:spcBef>
            </a:pP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Review 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department</a:t>
            </a:r>
            <a:r>
              <a:rPr dirty="0" sz="130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85">
                <a:solidFill>
                  <a:srgbClr val="383838"/>
                </a:solidFill>
                <a:latin typeface="Tahoma"/>
                <a:cs typeface="Tahoma"/>
              </a:rPr>
              <a:t>costs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02824" y="8644623"/>
            <a:ext cx="1339215" cy="912494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CO</a:t>
            </a:r>
            <a:r>
              <a:rPr dirty="0" sz="1750" spc="-6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020202"/>
                </a:solidFill>
                <a:latin typeface="Georgia"/>
                <a:cs typeface="Georgia"/>
              </a:rPr>
              <a:t>Receipt</a:t>
            </a:r>
            <a:endParaRPr sz="1750">
              <a:latin typeface="Georgia"/>
              <a:cs typeface="Georgia"/>
            </a:endParaRPr>
          </a:p>
          <a:p>
            <a:pPr algn="ctr" marL="12065" marR="5080">
              <a:lnSpc>
                <a:spcPct val="109100"/>
              </a:lnSpc>
              <a:spcBef>
                <a:spcPts val="575"/>
              </a:spcBef>
            </a:pPr>
            <a:r>
              <a:rPr dirty="0" sz="1300" spc="10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0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information </a:t>
            </a:r>
            <a:r>
              <a:rPr dirty="0" sz="1300" spc="65">
                <a:solidFill>
                  <a:srgbClr val="383838"/>
                </a:solidFill>
                <a:latin typeface="Tahoma"/>
                <a:cs typeface="Tahoma"/>
              </a:rPr>
              <a:t>sent</a:t>
            </a:r>
            <a:r>
              <a:rPr dirty="0" sz="130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0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1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3150" y="12937489"/>
            <a:ext cx="9405620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b="1">
                <a:solidFill>
                  <a:srgbClr val="383838"/>
                </a:solidFill>
                <a:latin typeface="Trebuchet MS"/>
                <a:cs typeface="Trebuchet MS"/>
              </a:rPr>
              <a:t>Example:</a:t>
            </a:r>
            <a:r>
              <a:rPr dirty="0" sz="1350" spc="3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pays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electricity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bill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₹50,000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production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department.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20">
                <a:solidFill>
                  <a:srgbClr val="383838"/>
                </a:solidFill>
                <a:latin typeface="Tahoma"/>
                <a:cs typeface="Tahoma"/>
              </a:rPr>
              <a:t>FI,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expense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recorded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bank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account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reduced.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Simultaneously,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CO,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₹50,000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automatically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assigned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Production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centre.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analyse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much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production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department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spending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utilities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make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informed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decisions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about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control.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8675" y="12811125"/>
            <a:ext cx="19050" cy="1485900"/>
          </a:xfrm>
          <a:custGeom>
            <a:avLst/>
            <a:gdLst/>
            <a:ahLst/>
            <a:cxnLst/>
            <a:rect l="l" t="t" r="r" b="b"/>
            <a:pathLst>
              <a:path w="19050" h="1485900">
                <a:moveTo>
                  <a:pt x="12153" y="1485900"/>
                </a:moveTo>
                <a:lnTo>
                  <a:pt x="6896" y="1485900"/>
                </a:lnTo>
                <a:lnTo>
                  <a:pt x="4648" y="1484966"/>
                </a:lnTo>
                <a:lnTo>
                  <a:pt x="933" y="1481251"/>
                </a:lnTo>
                <a:lnTo>
                  <a:pt x="0" y="1479003"/>
                </a:lnTo>
                <a:lnTo>
                  <a:pt x="0" y="1476375"/>
                </a:lnTo>
                <a:lnTo>
                  <a:pt x="0" y="6896"/>
                </a:lnTo>
                <a:lnTo>
                  <a:pt x="933" y="4648"/>
                </a:lnTo>
                <a:lnTo>
                  <a:pt x="4648" y="933"/>
                </a:lnTo>
                <a:lnTo>
                  <a:pt x="6896" y="0"/>
                </a:lnTo>
                <a:lnTo>
                  <a:pt x="12153" y="0"/>
                </a:lnTo>
                <a:lnTo>
                  <a:pt x="14401" y="933"/>
                </a:lnTo>
                <a:lnTo>
                  <a:pt x="18116" y="4648"/>
                </a:lnTo>
                <a:lnTo>
                  <a:pt x="19050" y="6896"/>
                </a:lnTo>
                <a:lnTo>
                  <a:pt x="19050" y="1479003"/>
                </a:lnTo>
                <a:lnTo>
                  <a:pt x="18116" y="1481251"/>
                </a:lnTo>
                <a:lnTo>
                  <a:pt x="14401" y="1484966"/>
                </a:lnTo>
                <a:lnTo>
                  <a:pt x="12153" y="148590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2881" y="402216"/>
            <a:ext cx="8259445" cy="1750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34035">
              <a:lnSpc>
                <a:spcPts val="3870"/>
              </a:lnSpc>
              <a:spcBef>
                <a:spcPts val="105"/>
              </a:spcBef>
            </a:pPr>
            <a:r>
              <a:rPr dirty="0" sz="3100">
                <a:solidFill>
                  <a:srgbClr val="020202"/>
                </a:solidFill>
                <a:latin typeface="Georgia"/>
                <a:cs typeface="Georgia"/>
              </a:rPr>
              <a:t>Module</a:t>
            </a:r>
            <a:r>
              <a:rPr dirty="0" sz="3100" spc="-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100">
                <a:solidFill>
                  <a:srgbClr val="020202"/>
                </a:solidFill>
                <a:latin typeface="Georgia"/>
                <a:cs typeface="Georgia"/>
              </a:rPr>
              <a:t>Integration,</a:t>
            </a:r>
            <a:r>
              <a:rPr dirty="0" sz="3100" spc="-13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100" spc="-25">
                <a:solidFill>
                  <a:srgbClr val="020202"/>
                </a:solidFill>
                <a:latin typeface="Georgia"/>
                <a:cs typeface="Georgia"/>
              </a:rPr>
              <a:t>End-</a:t>
            </a:r>
            <a:r>
              <a:rPr dirty="0" sz="3100" spc="-20">
                <a:solidFill>
                  <a:srgbClr val="020202"/>
                </a:solidFill>
                <a:latin typeface="Georgia"/>
                <a:cs typeface="Georgia"/>
              </a:rPr>
              <a:t>to-</a:t>
            </a:r>
            <a:r>
              <a:rPr dirty="0" sz="3100">
                <a:solidFill>
                  <a:srgbClr val="020202"/>
                </a:solidFill>
                <a:latin typeface="Georgia"/>
                <a:cs typeface="Georgia"/>
              </a:rPr>
              <a:t>End</a:t>
            </a:r>
            <a:r>
              <a:rPr dirty="0" sz="3100" spc="-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100">
                <a:solidFill>
                  <a:srgbClr val="020202"/>
                </a:solidFill>
                <a:latin typeface="Georgia"/>
                <a:cs typeface="Georgia"/>
              </a:rPr>
              <a:t>Scenario</a:t>
            </a:r>
            <a:r>
              <a:rPr dirty="0" sz="3100" spc="-1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100" spc="430">
                <a:solidFill>
                  <a:srgbClr val="020202"/>
                </a:solidFill>
                <a:latin typeface="Georgia"/>
                <a:cs typeface="Georgia"/>
              </a:rPr>
              <a:t>&amp; </a:t>
            </a:r>
            <a:r>
              <a:rPr dirty="0" sz="3100" spc="-10">
                <a:solidFill>
                  <a:srgbClr val="020202"/>
                </a:solidFill>
                <a:latin typeface="Georgia"/>
                <a:cs typeface="Georgia"/>
              </a:rPr>
              <a:t>Conclusion</a:t>
            </a:r>
            <a:endParaRPr sz="3100">
              <a:latin typeface="Georgia"/>
              <a:cs typeface="Georgia"/>
            </a:endParaRPr>
          </a:p>
          <a:p>
            <a:pPr marL="12700" marR="5080">
              <a:lnSpc>
                <a:spcPct val="138000"/>
              </a:lnSpc>
              <a:spcBef>
                <a:spcPts val="2020"/>
              </a:spcBef>
            </a:pP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does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isolation.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3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integrates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other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modules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so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every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activity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purchasing,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selling,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manufacturing,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payroll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has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automatic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impact.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table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below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summarises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key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integrations.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9751" y="2356054"/>
            <a:ext cx="8549005" cy="2910840"/>
          </a:xfrm>
          <a:custGeom>
            <a:avLst/>
            <a:gdLst/>
            <a:ahLst/>
            <a:cxnLst/>
            <a:rect l="l" t="t" r="r" b="b"/>
            <a:pathLst>
              <a:path w="8549005" h="2910840">
                <a:moveTo>
                  <a:pt x="0" y="2896069"/>
                </a:moveTo>
                <a:lnTo>
                  <a:pt x="0" y="14595"/>
                </a:lnTo>
                <a:lnTo>
                  <a:pt x="0" y="12660"/>
                </a:lnTo>
                <a:lnTo>
                  <a:pt x="366" y="10800"/>
                </a:lnTo>
                <a:lnTo>
                  <a:pt x="1109" y="9007"/>
                </a:lnTo>
                <a:lnTo>
                  <a:pt x="1851" y="7222"/>
                </a:lnTo>
                <a:lnTo>
                  <a:pt x="2902" y="5646"/>
                </a:lnTo>
                <a:lnTo>
                  <a:pt x="4278" y="4278"/>
                </a:lnTo>
                <a:lnTo>
                  <a:pt x="5646" y="2902"/>
                </a:lnTo>
                <a:lnTo>
                  <a:pt x="7222" y="1851"/>
                </a:lnTo>
                <a:lnTo>
                  <a:pt x="9007" y="1109"/>
                </a:lnTo>
                <a:lnTo>
                  <a:pt x="10800" y="366"/>
                </a:lnTo>
                <a:lnTo>
                  <a:pt x="12660" y="0"/>
                </a:lnTo>
                <a:lnTo>
                  <a:pt x="14595" y="0"/>
                </a:lnTo>
                <a:lnTo>
                  <a:pt x="8533918" y="0"/>
                </a:lnTo>
                <a:lnTo>
                  <a:pt x="8535853" y="0"/>
                </a:lnTo>
                <a:lnTo>
                  <a:pt x="8537712" y="366"/>
                </a:lnTo>
                <a:lnTo>
                  <a:pt x="8539497" y="1109"/>
                </a:lnTo>
                <a:lnTo>
                  <a:pt x="8541290" y="1851"/>
                </a:lnTo>
                <a:lnTo>
                  <a:pt x="8542867" y="2902"/>
                </a:lnTo>
                <a:lnTo>
                  <a:pt x="8544234" y="4278"/>
                </a:lnTo>
                <a:lnTo>
                  <a:pt x="8545602" y="5646"/>
                </a:lnTo>
                <a:lnTo>
                  <a:pt x="8546661" y="7222"/>
                </a:lnTo>
                <a:lnTo>
                  <a:pt x="8547404" y="9007"/>
                </a:lnTo>
                <a:lnTo>
                  <a:pt x="8548138" y="10800"/>
                </a:lnTo>
                <a:lnTo>
                  <a:pt x="8548513" y="12660"/>
                </a:lnTo>
                <a:lnTo>
                  <a:pt x="8548513" y="14595"/>
                </a:lnTo>
                <a:lnTo>
                  <a:pt x="8548513" y="2896069"/>
                </a:lnTo>
                <a:lnTo>
                  <a:pt x="8548513" y="2898004"/>
                </a:lnTo>
                <a:lnTo>
                  <a:pt x="8548138" y="2899864"/>
                </a:lnTo>
                <a:lnTo>
                  <a:pt x="8547404" y="2901657"/>
                </a:lnTo>
                <a:lnTo>
                  <a:pt x="8546661" y="2903442"/>
                </a:lnTo>
                <a:lnTo>
                  <a:pt x="8545602" y="2905018"/>
                </a:lnTo>
                <a:lnTo>
                  <a:pt x="8544234" y="2906386"/>
                </a:lnTo>
                <a:lnTo>
                  <a:pt x="8542867" y="2907753"/>
                </a:lnTo>
                <a:lnTo>
                  <a:pt x="8541290" y="2908813"/>
                </a:lnTo>
                <a:lnTo>
                  <a:pt x="8539497" y="2909555"/>
                </a:lnTo>
                <a:lnTo>
                  <a:pt x="8537712" y="2910297"/>
                </a:lnTo>
                <a:lnTo>
                  <a:pt x="8535853" y="2910664"/>
                </a:lnTo>
                <a:lnTo>
                  <a:pt x="8533918" y="2910664"/>
                </a:lnTo>
                <a:lnTo>
                  <a:pt x="14595" y="2910664"/>
                </a:lnTo>
                <a:lnTo>
                  <a:pt x="12660" y="2910664"/>
                </a:lnTo>
                <a:lnTo>
                  <a:pt x="10800" y="2910297"/>
                </a:lnTo>
                <a:lnTo>
                  <a:pt x="9007" y="2909555"/>
                </a:lnTo>
                <a:lnTo>
                  <a:pt x="7222" y="2908813"/>
                </a:lnTo>
                <a:lnTo>
                  <a:pt x="5646" y="2907753"/>
                </a:lnTo>
                <a:lnTo>
                  <a:pt x="4278" y="2906386"/>
                </a:lnTo>
                <a:lnTo>
                  <a:pt x="2902" y="2905018"/>
                </a:lnTo>
                <a:lnTo>
                  <a:pt x="1851" y="2903442"/>
                </a:lnTo>
                <a:lnTo>
                  <a:pt x="1109" y="2901657"/>
                </a:lnTo>
                <a:lnTo>
                  <a:pt x="366" y="2899864"/>
                </a:lnTo>
                <a:lnTo>
                  <a:pt x="0" y="2898004"/>
                </a:lnTo>
                <a:lnTo>
                  <a:pt x="0" y="2896069"/>
                </a:lnTo>
                <a:close/>
              </a:path>
            </a:pathLst>
          </a:custGeom>
          <a:ln w="8340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9751" y="2356054"/>
          <a:ext cx="8625205" cy="2909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8575"/>
                <a:gridCol w="2960370"/>
                <a:gridCol w="3020060"/>
              </a:tblGrid>
              <a:tr h="441959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150" spc="9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SAP</a:t>
                      </a:r>
                      <a:r>
                        <a:rPr dirty="0" sz="1150" spc="-6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50" spc="6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Module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1620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150" spc="7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Business</a:t>
                      </a:r>
                      <a:r>
                        <a:rPr dirty="0" sz="1150" spc="-4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50" spc="4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Activity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1620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150" spc="1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Financial</a:t>
                      </a:r>
                      <a:r>
                        <a:rPr dirty="0" sz="1150" spc="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50" spc="7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Impact</a:t>
                      </a:r>
                      <a:r>
                        <a:rPr dirty="0" sz="1150" spc="1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in</a:t>
                      </a:r>
                      <a:r>
                        <a:rPr dirty="0" sz="1150" spc="5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50" spc="40" b="1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FICO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1620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683260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MM </a:t>
                      </a:r>
                      <a:r>
                        <a:rPr dirty="0" sz="11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(Materials</a:t>
                      </a:r>
                      <a:r>
                        <a:rPr dirty="0" sz="11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Management)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Purchasing</a:t>
                      </a:r>
                      <a:r>
                        <a:rPr dirty="0" sz="11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materials</a:t>
                      </a:r>
                      <a:r>
                        <a:rPr dirty="0" sz="11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1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goods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 marR="560070">
                        <a:lnSpc>
                          <a:spcPct val="138000"/>
                        </a:lnSpc>
                        <a:spcBef>
                          <a:spcPts val="459"/>
                        </a:spcBef>
                      </a:pP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Inventory</a:t>
                      </a:r>
                      <a:r>
                        <a:rPr dirty="0" sz="11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values</a:t>
                      </a:r>
                      <a:r>
                        <a:rPr dirty="0" sz="11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1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 </a:t>
                      </a:r>
                      <a:r>
                        <a:rPr dirty="0" sz="11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Payable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58419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SD</a:t>
                      </a:r>
                      <a:r>
                        <a:rPr dirty="0" sz="11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(Sales</a:t>
                      </a:r>
                      <a:r>
                        <a:rPr dirty="0" sz="11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1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Distribution)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Selling</a:t>
                      </a:r>
                      <a:r>
                        <a:rPr dirty="0" sz="11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products</a:t>
                      </a:r>
                      <a:r>
                        <a:rPr dirty="0" sz="11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1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customers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sz="11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1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r>
                        <a:rPr dirty="0" sz="11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Receivable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PP</a:t>
                      </a:r>
                      <a:r>
                        <a:rPr dirty="0" sz="11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(Production</a:t>
                      </a:r>
                      <a:r>
                        <a:rPr dirty="0" sz="1150" spc="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Planning)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1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Manufacturing</a:t>
                      </a:r>
                      <a:r>
                        <a:rPr dirty="0" sz="1150" spc="-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products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1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Production</a:t>
                      </a:r>
                      <a:r>
                        <a:rPr dirty="0" sz="1150" spc="-1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r>
                        <a:rPr dirty="0" sz="11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recorded</a:t>
                      </a:r>
                      <a:r>
                        <a:rPr dirty="0" sz="11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1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HCM</a:t>
                      </a:r>
                      <a:r>
                        <a:rPr dirty="0" sz="1150" spc="-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150" spc="-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SuccessFactors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Payroll</a:t>
                      </a:r>
                      <a:r>
                        <a:rPr dirty="0" sz="1150" spc="1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processing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Salary</a:t>
                      </a:r>
                      <a:r>
                        <a:rPr dirty="0" sz="11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expenses</a:t>
                      </a:r>
                      <a:r>
                        <a:rPr dirty="0" sz="1150" spc="1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1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-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</a:t>
                      </a:r>
                      <a:r>
                        <a:rPr dirty="0" sz="1150" spc="1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1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PM</a:t>
                      </a:r>
                      <a:r>
                        <a:rPr dirty="0" sz="11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(Plant</a:t>
                      </a: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Maintenance)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Equipment</a:t>
                      </a:r>
                      <a:r>
                        <a:rPr dirty="0" sz="1150" spc="-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maintenance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Maintenance</a:t>
                      </a:r>
                      <a:r>
                        <a:rPr dirty="0" sz="11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costs</a:t>
                      </a:r>
                      <a:r>
                        <a:rPr dirty="0" sz="11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1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</a:t>
                      </a:r>
                      <a:endParaRPr sz="1150">
                        <a:latin typeface="Tahoma"/>
                        <a:cs typeface="Tahoma"/>
                      </a:endParaRPr>
                    </a:p>
                  </a:txBody>
                  <a:tcPr marL="0" marR="0" marB="0" marT="1250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12878" y="5556125"/>
            <a:ext cx="4104640" cy="448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3535">
              <a:lnSpc>
                <a:spcPct val="105900"/>
              </a:lnSpc>
              <a:spcBef>
                <a:spcPts val="100"/>
              </a:spcBef>
            </a:pPr>
            <a:r>
              <a:rPr dirty="0" sz="1550" spc="-10">
                <a:solidFill>
                  <a:srgbClr val="020202"/>
                </a:solidFill>
                <a:latin typeface="Georgia"/>
                <a:cs typeface="Georgia"/>
              </a:rPr>
              <a:t>End-to-</a:t>
            </a:r>
            <a:r>
              <a:rPr dirty="0" sz="1550">
                <a:solidFill>
                  <a:srgbClr val="020202"/>
                </a:solidFill>
                <a:latin typeface="Georgia"/>
                <a:cs typeface="Georgia"/>
              </a:rPr>
              <a:t>End</a:t>
            </a:r>
            <a:r>
              <a:rPr dirty="0" sz="1550" spc="-2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020202"/>
                </a:solidFill>
                <a:latin typeface="Georgia"/>
                <a:cs typeface="Georgia"/>
              </a:rPr>
              <a:t>Scenario:</a:t>
            </a:r>
            <a:r>
              <a:rPr dirty="0" sz="1550" spc="-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020202"/>
                </a:solidFill>
                <a:latin typeface="Georgia"/>
                <a:cs typeface="Georgia"/>
              </a:rPr>
              <a:t>ABC</a:t>
            </a:r>
            <a:r>
              <a:rPr dirty="0" sz="1550" spc="-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020202"/>
                </a:solidFill>
                <a:latin typeface="Georgia"/>
                <a:cs typeface="Georgia"/>
              </a:rPr>
              <a:t>Electronics</a:t>
            </a:r>
            <a:r>
              <a:rPr dirty="0" sz="1550" spc="-20">
                <a:solidFill>
                  <a:srgbClr val="020202"/>
                </a:solidFill>
                <a:latin typeface="Georgia"/>
                <a:cs typeface="Georgia"/>
              </a:rPr>
              <a:t> Pvt. Ltd.</a:t>
            </a:r>
            <a:endParaRPr sz="1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bring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everything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together,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consider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83838"/>
                </a:solidFill>
                <a:latin typeface="Tahoma"/>
                <a:cs typeface="Tahoma"/>
              </a:rPr>
              <a:t>fictional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37000"/>
              </a:lnSpc>
              <a:spcBef>
                <a:spcPts val="10"/>
              </a:spcBef>
            </a:pP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1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95">
                <a:solidFill>
                  <a:srgbClr val="383838"/>
                </a:solidFill>
                <a:latin typeface="Tahoma"/>
                <a:cs typeface="Tahoma"/>
              </a:rPr>
              <a:t>ABC</a:t>
            </a:r>
            <a:r>
              <a:rPr dirty="0" sz="11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Electronics</a:t>
            </a:r>
            <a:r>
              <a:rPr dirty="0" sz="11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Pvt.</a:t>
            </a:r>
            <a:r>
              <a:rPr dirty="0" sz="11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383838"/>
                </a:solidFill>
                <a:latin typeface="Tahoma"/>
                <a:cs typeface="Tahoma"/>
              </a:rPr>
              <a:t>Ltd.,</a:t>
            </a:r>
            <a:r>
              <a:rPr dirty="0" sz="11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1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manufactures</a:t>
            </a:r>
            <a:r>
              <a:rPr dirty="0" sz="11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electronic products.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6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SAP,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would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first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define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its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organisational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structure: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one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95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legal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entity,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one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area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reporting,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chart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accounts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83838"/>
                </a:solidFill>
                <a:latin typeface="Tahoma"/>
                <a:cs typeface="Tahoma"/>
              </a:rPr>
              <a:t>transactions.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G/L</a:t>
            </a:r>
            <a:r>
              <a:rPr dirty="0" sz="11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accounts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would</a:t>
            </a:r>
            <a:r>
              <a:rPr dirty="0" sz="11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1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created</a:t>
            </a:r>
            <a:r>
              <a:rPr dirty="0" sz="11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assets,</a:t>
            </a:r>
            <a:r>
              <a:rPr dirty="0" sz="11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liabilities,</a:t>
            </a:r>
            <a:r>
              <a:rPr dirty="0" sz="11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revenues,</a:t>
            </a:r>
            <a:r>
              <a:rPr dirty="0" sz="11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expenses.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centres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would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set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up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each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department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(Production,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Sales,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Admin),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centres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product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line.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Vendors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customers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would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be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created</a:t>
            </a:r>
            <a:r>
              <a:rPr dirty="0" sz="11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1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master</a:t>
            </a:r>
            <a:r>
              <a:rPr dirty="0" sz="11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data.</a:t>
            </a:r>
            <a:r>
              <a:rPr dirty="0" sz="11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1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95">
                <a:solidFill>
                  <a:srgbClr val="383838"/>
                </a:solidFill>
                <a:latin typeface="Tahoma"/>
                <a:cs typeface="Tahoma"/>
              </a:rPr>
              <a:t>ABC</a:t>
            </a:r>
            <a:r>
              <a:rPr dirty="0" sz="11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Electronics</a:t>
            </a:r>
            <a:r>
              <a:rPr dirty="0" sz="11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purchases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raw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materials,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5">
                <a:solidFill>
                  <a:srgbClr val="383838"/>
                </a:solidFill>
                <a:latin typeface="Tahoma"/>
                <a:cs typeface="Tahoma"/>
              </a:rPr>
              <a:t>MM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module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triggers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AP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entry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383838"/>
                </a:solidFill>
                <a:latin typeface="Tahoma"/>
                <a:cs typeface="Tahoma"/>
              </a:rPr>
              <a:t>FI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 a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entry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 in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CO.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products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 are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sold,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383838"/>
                </a:solidFill>
                <a:latin typeface="Tahoma"/>
                <a:cs typeface="Tahoma"/>
              </a:rPr>
              <a:t>SD</a:t>
            </a:r>
            <a:r>
              <a:rPr dirty="0" sz="115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triggers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AR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entry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revenue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posting.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flows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automatically</a:t>
            </a:r>
            <a:r>
              <a:rPr dirty="0" sz="11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into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statements</a:t>
            </a:r>
            <a:r>
              <a:rPr dirty="0" sz="11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management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reports.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87407" y="5437688"/>
            <a:ext cx="4312285" cy="4770755"/>
          </a:xfrm>
          <a:custGeom>
            <a:avLst/>
            <a:gdLst/>
            <a:ahLst/>
            <a:cxnLst/>
            <a:rect l="l" t="t" r="r" b="b"/>
            <a:pathLst>
              <a:path w="4312284" h="4770755">
                <a:moveTo>
                  <a:pt x="4295507" y="4770487"/>
                </a:moveTo>
                <a:lnTo>
                  <a:pt x="16279" y="4770487"/>
                </a:lnTo>
                <a:lnTo>
                  <a:pt x="13886" y="4770012"/>
                </a:lnTo>
                <a:lnTo>
                  <a:pt x="0" y="4754207"/>
                </a:lnTo>
                <a:lnTo>
                  <a:pt x="0" y="4751722"/>
                </a:lnTo>
                <a:lnTo>
                  <a:pt x="0" y="16279"/>
                </a:lnTo>
                <a:lnTo>
                  <a:pt x="16279" y="0"/>
                </a:lnTo>
                <a:lnTo>
                  <a:pt x="4295507" y="0"/>
                </a:lnTo>
                <a:lnTo>
                  <a:pt x="4311786" y="16279"/>
                </a:lnTo>
                <a:lnTo>
                  <a:pt x="4311786" y="4754207"/>
                </a:lnTo>
                <a:lnTo>
                  <a:pt x="4297900" y="4770012"/>
                </a:lnTo>
                <a:lnTo>
                  <a:pt x="4295507" y="4770487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224827" y="5569937"/>
            <a:ext cx="3982720" cy="3505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020202"/>
                </a:solidFill>
                <a:latin typeface="Georgia"/>
                <a:cs typeface="Georgia"/>
              </a:rPr>
              <a:t>Common</a:t>
            </a:r>
            <a:r>
              <a:rPr dirty="0" sz="155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020202"/>
                </a:solidFill>
                <a:latin typeface="Georgia"/>
                <a:cs typeface="Georgia"/>
              </a:rPr>
              <a:t>Challenges</a:t>
            </a:r>
            <a:r>
              <a:rPr dirty="0" sz="155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550" spc="240">
                <a:solidFill>
                  <a:srgbClr val="020202"/>
                </a:solidFill>
                <a:latin typeface="Georgia"/>
                <a:cs typeface="Georgia"/>
              </a:rPr>
              <a:t>&amp;</a:t>
            </a:r>
            <a:r>
              <a:rPr dirty="0" sz="155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550">
                <a:solidFill>
                  <a:srgbClr val="020202"/>
                </a:solidFill>
                <a:latin typeface="Georgia"/>
                <a:cs typeface="Georgia"/>
              </a:rPr>
              <a:t>Best</a:t>
            </a:r>
            <a:r>
              <a:rPr dirty="0" sz="155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550" spc="-10">
                <a:solidFill>
                  <a:srgbClr val="020202"/>
                </a:solidFill>
                <a:latin typeface="Georgia"/>
                <a:cs typeface="Georgia"/>
              </a:rPr>
              <a:t>Practices</a:t>
            </a:r>
            <a:endParaRPr sz="1550">
              <a:latin typeface="Georgia"/>
              <a:cs typeface="Georgia"/>
            </a:endParaRPr>
          </a:p>
          <a:p>
            <a:pPr marL="12700" marR="5080">
              <a:lnSpc>
                <a:spcPct val="136800"/>
              </a:lnSpc>
              <a:spcBef>
                <a:spcPts val="985"/>
              </a:spcBef>
            </a:pPr>
            <a:r>
              <a:rPr dirty="0" sz="1150" spc="20">
                <a:latin typeface="Tahoma"/>
                <a:cs typeface="Tahoma"/>
              </a:rPr>
              <a:t>Beginners</a:t>
            </a:r>
            <a:r>
              <a:rPr dirty="0" sz="1150" spc="3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often</a:t>
            </a:r>
            <a:r>
              <a:rPr dirty="0" sz="1150" spc="40">
                <a:latin typeface="Tahoma"/>
                <a:cs typeface="Tahoma"/>
              </a:rPr>
              <a:t> </a:t>
            </a:r>
            <a:r>
              <a:rPr dirty="0" sz="1150" spc="65">
                <a:latin typeface="Tahoma"/>
                <a:cs typeface="Tahoma"/>
              </a:rPr>
              <a:t>face</a:t>
            </a:r>
            <a:r>
              <a:rPr dirty="0" sz="1150" spc="3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challenges</a:t>
            </a:r>
            <a:r>
              <a:rPr dirty="0" sz="1150" spc="40">
                <a:latin typeface="Tahoma"/>
                <a:cs typeface="Tahoma"/>
              </a:rPr>
              <a:t> </a:t>
            </a:r>
            <a:r>
              <a:rPr dirty="0" sz="1150" spc="75">
                <a:latin typeface="Tahoma"/>
                <a:cs typeface="Tahoma"/>
              </a:rPr>
              <a:t>such</a:t>
            </a:r>
            <a:r>
              <a:rPr dirty="0" sz="1150" spc="40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as</a:t>
            </a:r>
            <a:r>
              <a:rPr dirty="0" sz="1150" spc="3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incorrect </a:t>
            </a:r>
            <a:r>
              <a:rPr dirty="0" sz="1150" spc="20">
                <a:latin typeface="Tahoma"/>
                <a:cs typeface="Tahoma"/>
              </a:rPr>
              <a:t>organisational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structure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setup,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wrong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85">
                <a:latin typeface="Tahoma"/>
                <a:cs typeface="Tahoma"/>
              </a:rPr>
              <a:t>G/L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65">
                <a:latin typeface="Tahoma"/>
                <a:cs typeface="Tahoma"/>
              </a:rPr>
              <a:t>account </a:t>
            </a:r>
            <a:r>
              <a:rPr dirty="0" sz="1150" spc="20">
                <a:latin typeface="Tahoma"/>
                <a:cs typeface="Tahoma"/>
              </a:rPr>
              <a:t>configuration,</a:t>
            </a:r>
            <a:r>
              <a:rPr dirty="0" sz="1150" spc="50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incorrect</a:t>
            </a:r>
            <a:r>
              <a:rPr dirty="0" sz="1150" spc="5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posting </a:t>
            </a:r>
            <a:r>
              <a:rPr dirty="0" sz="1150" spc="20">
                <a:latin typeface="Tahoma"/>
                <a:cs typeface="Tahoma"/>
              </a:rPr>
              <a:t>periods,</a:t>
            </a:r>
            <a:r>
              <a:rPr dirty="0" sz="1150" spc="55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and</a:t>
            </a:r>
            <a:r>
              <a:rPr dirty="0" sz="1150" spc="5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FI–</a:t>
            </a:r>
            <a:r>
              <a:rPr dirty="0" sz="1150" spc="40">
                <a:latin typeface="Tahoma"/>
                <a:cs typeface="Tahoma"/>
              </a:rPr>
              <a:t>CO </a:t>
            </a:r>
            <a:r>
              <a:rPr dirty="0" sz="1150" spc="20">
                <a:latin typeface="Tahoma"/>
                <a:cs typeface="Tahoma"/>
              </a:rPr>
              <a:t>integration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errors.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These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75">
                <a:latin typeface="Tahoma"/>
                <a:cs typeface="Tahoma"/>
              </a:rPr>
              <a:t>can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85">
                <a:latin typeface="Tahoma"/>
                <a:cs typeface="Tahoma"/>
              </a:rPr>
              <a:t>be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prevented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65">
                <a:latin typeface="Tahoma"/>
                <a:cs typeface="Tahoma"/>
              </a:rPr>
              <a:t>by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thoroughly </a:t>
            </a:r>
            <a:r>
              <a:rPr dirty="0" sz="1150" spc="50">
                <a:latin typeface="Tahoma"/>
                <a:cs typeface="Tahoma"/>
              </a:rPr>
              <a:t>understanding</a:t>
            </a:r>
            <a:r>
              <a:rPr dirty="0" sz="1150" spc="-25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business</a:t>
            </a:r>
            <a:r>
              <a:rPr dirty="0" sz="1150" spc="-20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requirements</a:t>
            </a:r>
            <a:r>
              <a:rPr dirty="0" sz="1150" spc="-20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before</a:t>
            </a:r>
            <a:r>
              <a:rPr dirty="0" sz="1150" spc="-20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starting </a:t>
            </a:r>
            <a:r>
              <a:rPr dirty="0" sz="1150" spc="20">
                <a:latin typeface="Tahoma"/>
                <a:cs typeface="Tahoma"/>
              </a:rPr>
              <a:t>configuration,</a:t>
            </a:r>
            <a:r>
              <a:rPr dirty="0" sz="1150" spc="5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maintaining</a:t>
            </a:r>
            <a:r>
              <a:rPr dirty="0" sz="1150" spc="60">
                <a:latin typeface="Tahoma"/>
                <a:cs typeface="Tahoma"/>
              </a:rPr>
              <a:t> proper </a:t>
            </a:r>
            <a:r>
              <a:rPr dirty="0" sz="1150" spc="50">
                <a:latin typeface="Tahoma"/>
                <a:cs typeface="Tahoma"/>
              </a:rPr>
              <a:t>documentation,</a:t>
            </a:r>
            <a:r>
              <a:rPr dirty="0" sz="1150" spc="60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using </a:t>
            </a:r>
            <a:r>
              <a:rPr dirty="0" sz="1150" spc="60">
                <a:latin typeface="Tahoma"/>
                <a:cs typeface="Tahoma"/>
              </a:rPr>
              <a:t>development</a:t>
            </a:r>
            <a:r>
              <a:rPr dirty="0" sz="1150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and</a:t>
            </a:r>
            <a:r>
              <a:rPr dirty="0" sz="1150" spc="5">
                <a:latin typeface="Tahoma"/>
                <a:cs typeface="Tahoma"/>
              </a:rPr>
              <a:t> </a:t>
            </a:r>
            <a:r>
              <a:rPr dirty="0" sz="1150" spc="45">
                <a:latin typeface="Tahoma"/>
                <a:cs typeface="Tahoma"/>
              </a:rPr>
              <a:t>testing</a:t>
            </a:r>
            <a:r>
              <a:rPr dirty="0" sz="1150">
                <a:latin typeface="Tahoma"/>
                <a:cs typeface="Tahoma"/>
              </a:rPr>
              <a:t> </a:t>
            </a:r>
            <a:r>
              <a:rPr dirty="0" sz="1150" spc="30">
                <a:latin typeface="Tahoma"/>
                <a:cs typeface="Tahoma"/>
              </a:rPr>
              <a:t>environments</a:t>
            </a:r>
            <a:r>
              <a:rPr dirty="0" sz="1150" spc="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before</a:t>
            </a:r>
            <a:r>
              <a:rPr dirty="0" sz="1150">
                <a:latin typeface="Tahoma"/>
                <a:cs typeface="Tahoma"/>
              </a:rPr>
              <a:t> </a:t>
            </a:r>
            <a:r>
              <a:rPr dirty="0" sz="1150" spc="30">
                <a:latin typeface="Tahoma"/>
                <a:cs typeface="Tahoma"/>
              </a:rPr>
              <a:t>going</a:t>
            </a:r>
            <a:r>
              <a:rPr dirty="0" sz="1150" spc="5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live, </a:t>
            </a:r>
            <a:r>
              <a:rPr dirty="0" sz="1150" spc="60">
                <a:latin typeface="Tahoma"/>
                <a:cs typeface="Tahoma"/>
              </a:rPr>
              <a:t>and</a:t>
            </a:r>
            <a:r>
              <a:rPr dirty="0" sz="1150" spc="40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performing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integration</a:t>
            </a:r>
            <a:r>
              <a:rPr dirty="0" sz="1150" spc="45">
                <a:latin typeface="Tahoma"/>
                <a:cs typeface="Tahoma"/>
              </a:rPr>
              <a:t> testing </a:t>
            </a:r>
            <a:r>
              <a:rPr dirty="0" sz="1150" spc="70">
                <a:latin typeface="Tahoma"/>
                <a:cs typeface="Tahoma"/>
              </a:rPr>
              <a:t>across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all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20">
                <a:latin typeface="Tahoma"/>
                <a:cs typeface="Tahoma"/>
              </a:rPr>
              <a:t>modules.</a:t>
            </a:r>
            <a:r>
              <a:rPr dirty="0" sz="1150" spc="45">
                <a:latin typeface="Tahoma"/>
                <a:cs typeface="Tahoma"/>
              </a:rPr>
              <a:t> </a:t>
            </a:r>
            <a:r>
              <a:rPr dirty="0" sz="1150" spc="-25">
                <a:latin typeface="Tahoma"/>
                <a:cs typeface="Tahoma"/>
              </a:rPr>
              <a:t>It </a:t>
            </a:r>
            <a:r>
              <a:rPr dirty="0" sz="1150" spc="50">
                <a:latin typeface="Tahoma"/>
                <a:cs typeface="Tahoma"/>
              </a:rPr>
              <a:t>is</a:t>
            </a:r>
            <a:r>
              <a:rPr dirty="0" sz="1150" spc="-3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also</a:t>
            </a:r>
            <a:r>
              <a:rPr dirty="0" sz="1150" spc="-35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important</a:t>
            </a:r>
            <a:r>
              <a:rPr dirty="0" sz="1150" spc="-30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to</a:t>
            </a:r>
            <a:r>
              <a:rPr dirty="0" sz="1150" spc="-3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keep</a:t>
            </a:r>
            <a:r>
              <a:rPr dirty="0" sz="1150" spc="-30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in</a:t>
            </a:r>
            <a:r>
              <a:rPr dirty="0" sz="1150" spc="-35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mind</a:t>
            </a:r>
            <a:r>
              <a:rPr dirty="0" sz="1150" spc="-30">
                <a:latin typeface="Tahoma"/>
                <a:cs typeface="Tahoma"/>
              </a:rPr>
              <a:t> </a:t>
            </a:r>
            <a:r>
              <a:rPr dirty="0" sz="1150" spc="55">
                <a:latin typeface="Tahoma"/>
                <a:cs typeface="Tahoma"/>
              </a:rPr>
              <a:t>the</a:t>
            </a:r>
            <a:r>
              <a:rPr dirty="0" sz="1150" spc="-35">
                <a:latin typeface="Tahoma"/>
                <a:cs typeface="Tahoma"/>
              </a:rPr>
              <a:t> </a:t>
            </a:r>
            <a:r>
              <a:rPr dirty="0" sz="1150" spc="45">
                <a:latin typeface="Tahoma"/>
                <a:cs typeface="Tahoma"/>
              </a:rPr>
              <a:t>differences </a:t>
            </a:r>
            <a:r>
              <a:rPr dirty="0" sz="1150" spc="60">
                <a:latin typeface="Tahoma"/>
                <a:cs typeface="Tahoma"/>
              </a:rPr>
              <a:t>between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55">
                <a:latin typeface="Tahoma"/>
                <a:cs typeface="Tahoma"/>
              </a:rPr>
              <a:t>SAP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105">
                <a:latin typeface="Tahoma"/>
                <a:cs typeface="Tahoma"/>
              </a:rPr>
              <a:t>ECC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and</a:t>
            </a:r>
            <a:r>
              <a:rPr dirty="0" sz="1150" spc="20">
                <a:latin typeface="Tahoma"/>
                <a:cs typeface="Tahoma"/>
              </a:rPr>
              <a:t> </a:t>
            </a:r>
            <a:r>
              <a:rPr dirty="0" sz="1150" spc="55">
                <a:latin typeface="Tahoma"/>
                <a:cs typeface="Tahoma"/>
              </a:rPr>
              <a:t>SAP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10">
                <a:latin typeface="Tahoma"/>
                <a:cs typeface="Tahoma"/>
              </a:rPr>
              <a:t>S/4HANA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10">
                <a:latin typeface="Tahoma"/>
                <a:cs typeface="Tahoma"/>
              </a:rPr>
              <a:t>—</a:t>
            </a:r>
            <a:r>
              <a:rPr dirty="0" sz="1150" spc="20">
                <a:latin typeface="Tahoma"/>
                <a:cs typeface="Tahoma"/>
              </a:rPr>
              <a:t> </a:t>
            </a:r>
            <a:r>
              <a:rPr dirty="0" sz="1150" spc="10">
                <a:latin typeface="Tahoma"/>
                <a:cs typeface="Tahoma"/>
              </a:rPr>
              <a:t>S/4HANA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has</a:t>
            </a:r>
            <a:r>
              <a:rPr dirty="0" sz="1150" spc="15">
                <a:latin typeface="Tahoma"/>
                <a:cs typeface="Tahoma"/>
              </a:rPr>
              <a:t> </a:t>
            </a:r>
            <a:r>
              <a:rPr dirty="0" sz="1150" spc="-50">
                <a:latin typeface="Tahoma"/>
                <a:cs typeface="Tahoma"/>
              </a:rPr>
              <a:t>a </a:t>
            </a:r>
            <a:r>
              <a:rPr dirty="0" sz="1150" spc="50">
                <a:latin typeface="Tahoma"/>
                <a:cs typeface="Tahoma"/>
              </a:rPr>
              <a:t>simplified</a:t>
            </a:r>
            <a:r>
              <a:rPr dirty="0" sz="1150" spc="60">
                <a:latin typeface="Tahoma"/>
                <a:cs typeface="Tahoma"/>
              </a:rPr>
              <a:t> </a:t>
            </a:r>
            <a:r>
              <a:rPr dirty="0" sz="1150" spc="55">
                <a:latin typeface="Tahoma"/>
                <a:cs typeface="Tahoma"/>
              </a:rPr>
              <a:t>data</a:t>
            </a:r>
            <a:r>
              <a:rPr dirty="0" sz="1150" spc="65">
                <a:latin typeface="Tahoma"/>
                <a:cs typeface="Tahoma"/>
              </a:rPr>
              <a:t> model</a:t>
            </a:r>
            <a:r>
              <a:rPr dirty="0" sz="1150" spc="60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with</a:t>
            </a:r>
            <a:r>
              <a:rPr dirty="0" sz="1150" spc="65">
                <a:latin typeface="Tahoma"/>
                <a:cs typeface="Tahoma"/>
              </a:rPr>
              <a:t> </a:t>
            </a:r>
            <a:r>
              <a:rPr dirty="0" sz="1150" spc="55">
                <a:latin typeface="Tahoma"/>
                <a:cs typeface="Tahoma"/>
              </a:rPr>
              <a:t>the</a:t>
            </a:r>
            <a:r>
              <a:rPr dirty="0" sz="1150" spc="65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Universal</a:t>
            </a:r>
            <a:r>
              <a:rPr dirty="0" sz="1150" spc="60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Journal,</a:t>
            </a:r>
            <a:r>
              <a:rPr dirty="0" sz="1150" spc="65">
                <a:latin typeface="Tahoma"/>
                <a:cs typeface="Tahoma"/>
              </a:rPr>
              <a:t> </a:t>
            </a:r>
            <a:r>
              <a:rPr dirty="0" sz="1150" spc="35">
                <a:latin typeface="Tahoma"/>
                <a:cs typeface="Tahoma"/>
              </a:rPr>
              <a:t>and </a:t>
            </a:r>
            <a:r>
              <a:rPr dirty="0" sz="1150" spc="30">
                <a:latin typeface="Tahoma"/>
                <a:cs typeface="Tahoma"/>
              </a:rPr>
              <a:t>configuration</a:t>
            </a:r>
            <a:r>
              <a:rPr dirty="0" sz="1150" spc="-5">
                <a:latin typeface="Tahoma"/>
                <a:cs typeface="Tahoma"/>
              </a:rPr>
              <a:t> </a:t>
            </a:r>
            <a:r>
              <a:rPr dirty="0" sz="1150" spc="65">
                <a:latin typeface="Tahoma"/>
                <a:cs typeface="Tahoma"/>
              </a:rPr>
              <a:t>steps</a:t>
            </a:r>
            <a:r>
              <a:rPr dirty="0" sz="1150">
                <a:latin typeface="Tahoma"/>
                <a:cs typeface="Tahoma"/>
              </a:rPr>
              <a:t> </a:t>
            </a:r>
            <a:r>
              <a:rPr dirty="0" sz="1150" spc="75">
                <a:latin typeface="Tahoma"/>
                <a:cs typeface="Tahoma"/>
              </a:rPr>
              <a:t>can</a:t>
            </a:r>
            <a:r>
              <a:rPr dirty="0" sz="1150" spc="-5">
                <a:latin typeface="Tahoma"/>
                <a:cs typeface="Tahoma"/>
              </a:rPr>
              <a:t> </a:t>
            </a:r>
            <a:r>
              <a:rPr dirty="0" sz="1150" spc="30">
                <a:latin typeface="Tahoma"/>
                <a:cs typeface="Tahoma"/>
              </a:rPr>
              <a:t>vary</a:t>
            </a:r>
            <a:r>
              <a:rPr dirty="0" sz="1150">
                <a:latin typeface="Tahoma"/>
                <a:cs typeface="Tahoma"/>
              </a:rPr>
              <a:t> </a:t>
            </a:r>
            <a:r>
              <a:rPr dirty="0" sz="1150" spc="65">
                <a:latin typeface="Tahoma"/>
                <a:cs typeface="Tahoma"/>
              </a:rPr>
              <a:t>by</a:t>
            </a:r>
            <a:r>
              <a:rPr dirty="0" sz="1150">
                <a:latin typeface="Tahoma"/>
                <a:cs typeface="Tahoma"/>
              </a:rPr>
              <a:t> </a:t>
            </a:r>
            <a:r>
              <a:rPr dirty="0" sz="1150" spc="45">
                <a:latin typeface="Tahoma"/>
                <a:cs typeface="Tahoma"/>
              </a:rPr>
              <a:t>version</a:t>
            </a:r>
            <a:r>
              <a:rPr dirty="0" sz="1150" spc="-5">
                <a:latin typeface="Tahoma"/>
                <a:cs typeface="Tahoma"/>
              </a:rPr>
              <a:t> </a:t>
            </a:r>
            <a:r>
              <a:rPr dirty="0" sz="1150" spc="60">
                <a:latin typeface="Tahoma"/>
                <a:cs typeface="Tahoma"/>
              </a:rPr>
              <a:t>and</a:t>
            </a:r>
            <a:r>
              <a:rPr dirty="0" sz="1150">
                <a:latin typeface="Tahoma"/>
                <a:cs typeface="Tahoma"/>
              </a:rPr>
              <a:t> </a:t>
            </a:r>
            <a:r>
              <a:rPr dirty="0" sz="1150" spc="50">
                <a:latin typeface="Tahoma"/>
                <a:cs typeface="Tahoma"/>
              </a:rPr>
              <a:t>deployment </a:t>
            </a:r>
            <a:r>
              <a:rPr dirty="0" sz="1150" spc="80">
                <a:latin typeface="Tahoma"/>
                <a:cs typeface="Tahoma"/>
              </a:rPr>
              <a:t>type</a:t>
            </a:r>
            <a:r>
              <a:rPr dirty="0" sz="1150" spc="90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(cloud</a:t>
            </a:r>
            <a:r>
              <a:rPr dirty="0" sz="1150" spc="90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vs</a:t>
            </a:r>
            <a:r>
              <a:rPr dirty="0" sz="1150" spc="95">
                <a:latin typeface="Tahoma"/>
                <a:cs typeface="Tahoma"/>
              </a:rPr>
              <a:t> </a:t>
            </a:r>
            <a:r>
              <a:rPr dirty="0" sz="1150" spc="90">
                <a:latin typeface="Tahoma"/>
                <a:cs typeface="Tahoma"/>
              </a:rPr>
              <a:t>on-</a:t>
            </a:r>
            <a:r>
              <a:rPr dirty="0" sz="1150" spc="-10">
                <a:latin typeface="Tahoma"/>
                <a:cs typeface="Tahoma"/>
              </a:rPr>
              <a:t>premise).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0193" y="10539528"/>
            <a:ext cx="8227695" cy="3367404"/>
          </a:xfrm>
          <a:custGeom>
            <a:avLst/>
            <a:gdLst/>
            <a:ahLst/>
            <a:cxnLst/>
            <a:rect l="l" t="t" r="r" b="b"/>
            <a:pathLst>
              <a:path w="8227695" h="3367405">
                <a:moveTo>
                  <a:pt x="3176659" y="3366948"/>
                </a:moveTo>
                <a:lnTo>
                  <a:pt x="1853050" y="3360851"/>
                </a:lnTo>
                <a:lnTo>
                  <a:pt x="1805880" y="3354310"/>
                </a:lnTo>
                <a:lnTo>
                  <a:pt x="1763520" y="3336262"/>
                </a:lnTo>
                <a:lnTo>
                  <a:pt x="1727651" y="3308395"/>
                </a:lnTo>
                <a:lnTo>
                  <a:pt x="1699952" y="3272395"/>
                </a:lnTo>
                <a:lnTo>
                  <a:pt x="1682100" y="3229951"/>
                </a:lnTo>
                <a:lnTo>
                  <a:pt x="1675777" y="3182747"/>
                </a:lnTo>
                <a:lnTo>
                  <a:pt x="1675777" y="1735074"/>
                </a:lnTo>
                <a:lnTo>
                  <a:pt x="1598642" y="1657939"/>
                </a:lnTo>
                <a:lnTo>
                  <a:pt x="1598642" y="1650255"/>
                </a:lnTo>
                <a:lnTo>
                  <a:pt x="1608129" y="1640768"/>
                </a:lnTo>
                <a:lnTo>
                  <a:pt x="1615814" y="1640768"/>
                </a:lnTo>
                <a:lnTo>
                  <a:pt x="1675777" y="1700731"/>
                </a:lnTo>
                <a:lnTo>
                  <a:pt x="1675777" y="178095"/>
                </a:lnTo>
                <a:lnTo>
                  <a:pt x="1668348" y="132039"/>
                </a:lnTo>
                <a:lnTo>
                  <a:pt x="1647662" y="92040"/>
                </a:lnTo>
                <a:lnTo>
                  <a:pt x="1616119" y="60497"/>
                </a:lnTo>
                <a:lnTo>
                  <a:pt x="1576117" y="39812"/>
                </a:lnTo>
                <a:lnTo>
                  <a:pt x="1530057" y="32384"/>
                </a:lnTo>
                <a:lnTo>
                  <a:pt x="248261" y="32384"/>
                </a:lnTo>
                <a:lnTo>
                  <a:pt x="202204" y="39812"/>
                </a:lnTo>
                <a:lnTo>
                  <a:pt x="162202" y="60497"/>
                </a:lnTo>
                <a:lnTo>
                  <a:pt x="130658" y="92040"/>
                </a:lnTo>
                <a:lnTo>
                  <a:pt x="109970" y="132039"/>
                </a:lnTo>
                <a:lnTo>
                  <a:pt x="102541" y="178095"/>
                </a:lnTo>
                <a:lnTo>
                  <a:pt x="102541" y="1611165"/>
                </a:lnTo>
                <a:lnTo>
                  <a:pt x="130360" y="1621691"/>
                </a:lnTo>
                <a:lnTo>
                  <a:pt x="152606" y="1640614"/>
                </a:lnTo>
                <a:lnTo>
                  <a:pt x="167361" y="1666019"/>
                </a:lnTo>
                <a:lnTo>
                  <a:pt x="172706" y="1695992"/>
                </a:lnTo>
                <a:lnTo>
                  <a:pt x="165920" y="1729602"/>
                </a:lnTo>
                <a:lnTo>
                  <a:pt x="147415" y="1757050"/>
                </a:lnTo>
                <a:lnTo>
                  <a:pt x="119967" y="1775555"/>
                </a:lnTo>
                <a:lnTo>
                  <a:pt x="86357" y="1782341"/>
                </a:lnTo>
                <a:lnTo>
                  <a:pt x="52742" y="1775555"/>
                </a:lnTo>
                <a:lnTo>
                  <a:pt x="25292" y="1757050"/>
                </a:lnTo>
                <a:lnTo>
                  <a:pt x="6786" y="1729602"/>
                </a:lnTo>
                <a:lnTo>
                  <a:pt x="0" y="1695992"/>
                </a:lnTo>
                <a:lnTo>
                  <a:pt x="5344" y="1666019"/>
                </a:lnTo>
                <a:lnTo>
                  <a:pt x="20100" y="1640614"/>
                </a:lnTo>
                <a:lnTo>
                  <a:pt x="42346" y="1621691"/>
                </a:lnTo>
                <a:lnTo>
                  <a:pt x="70165" y="1611165"/>
                </a:lnTo>
                <a:lnTo>
                  <a:pt x="70165" y="178095"/>
                </a:lnTo>
                <a:lnTo>
                  <a:pt x="76527" y="130750"/>
                </a:lnTo>
                <a:lnTo>
                  <a:pt x="94480" y="88206"/>
                </a:lnTo>
                <a:lnTo>
                  <a:pt x="122327" y="52162"/>
                </a:lnTo>
                <a:lnTo>
                  <a:pt x="158372" y="24314"/>
                </a:lnTo>
                <a:lnTo>
                  <a:pt x="200915" y="6361"/>
                </a:lnTo>
                <a:lnTo>
                  <a:pt x="248261" y="0"/>
                </a:lnTo>
                <a:lnTo>
                  <a:pt x="1530057" y="0"/>
                </a:lnTo>
                <a:lnTo>
                  <a:pt x="1577403" y="6361"/>
                </a:lnTo>
                <a:lnTo>
                  <a:pt x="1619948" y="24314"/>
                </a:lnTo>
                <a:lnTo>
                  <a:pt x="1655994" y="52162"/>
                </a:lnTo>
                <a:lnTo>
                  <a:pt x="1683844" y="88206"/>
                </a:lnTo>
                <a:lnTo>
                  <a:pt x="1701799" y="130750"/>
                </a:lnTo>
                <a:lnTo>
                  <a:pt x="1708161" y="178095"/>
                </a:lnTo>
                <a:lnTo>
                  <a:pt x="1708161" y="1695293"/>
                </a:lnTo>
                <a:lnTo>
                  <a:pt x="1762686" y="1640768"/>
                </a:lnTo>
                <a:lnTo>
                  <a:pt x="1770370" y="1640768"/>
                </a:lnTo>
                <a:lnTo>
                  <a:pt x="1779857" y="1650255"/>
                </a:lnTo>
                <a:lnTo>
                  <a:pt x="1779857" y="1657939"/>
                </a:lnTo>
                <a:lnTo>
                  <a:pt x="1708161" y="1729635"/>
                </a:lnTo>
                <a:lnTo>
                  <a:pt x="1708161" y="3182747"/>
                </a:lnTo>
                <a:lnTo>
                  <a:pt x="1715545" y="3228671"/>
                </a:lnTo>
                <a:lnTo>
                  <a:pt x="1736114" y="3268589"/>
                </a:lnTo>
                <a:lnTo>
                  <a:pt x="1767495" y="3300117"/>
                </a:lnTo>
                <a:lnTo>
                  <a:pt x="1807317" y="3320871"/>
                </a:lnTo>
                <a:lnTo>
                  <a:pt x="1853206" y="3328467"/>
                </a:lnTo>
                <a:lnTo>
                  <a:pt x="3176807" y="3334564"/>
                </a:lnTo>
                <a:lnTo>
                  <a:pt x="3223034" y="3327302"/>
                </a:lnTo>
                <a:lnTo>
                  <a:pt x="3263214" y="3306683"/>
                </a:lnTo>
                <a:lnTo>
                  <a:pt x="3294918" y="3275123"/>
                </a:lnTo>
                <a:lnTo>
                  <a:pt x="3315720" y="3235038"/>
                </a:lnTo>
                <a:lnTo>
                  <a:pt x="3323193" y="3188844"/>
                </a:lnTo>
                <a:lnTo>
                  <a:pt x="3323193" y="1812331"/>
                </a:lnTo>
                <a:lnTo>
                  <a:pt x="3320478" y="1812331"/>
                </a:lnTo>
                <a:lnTo>
                  <a:pt x="3320478" y="1679734"/>
                </a:lnTo>
                <a:lnTo>
                  <a:pt x="3259182" y="1741030"/>
                </a:lnTo>
                <a:lnTo>
                  <a:pt x="3251498" y="1741030"/>
                </a:lnTo>
                <a:lnTo>
                  <a:pt x="3242011" y="1731544"/>
                </a:lnTo>
                <a:lnTo>
                  <a:pt x="3242011" y="1723859"/>
                </a:lnTo>
                <a:lnTo>
                  <a:pt x="3323193" y="1642677"/>
                </a:lnTo>
                <a:lnTo>
                  <a:pt x="3323193" y="184941"/>
                </a:lnTo>
                <a:lnTo>
                  <a:pt x="3329520" y="137738"/>
                </a:lnTo>
                <a:lnTo>
                  <a:pt x="3347372" y="95294"/>
                </a:lnTo>
                <a:lnTo>
                  <a:pt x="3375071" y="59296"/>
                </a:lnTo>
                <a:lnTo>
                  <a:pt x="3410939" y="31430"/>
                </a:lnTo>
                <a:lnTo>
                  <a:pt x="3453297" y="13381"/>
                </a:lnTo>
                <a:lnTo>
                  <a:pt x="3500467" y="6837"/>
                </a:lnTo>
                <a:lnTo>
                  <a:pt x="4807875" y="756"/>
                </a:lnTo>
                <a:lnTo>
                  <a:pt x="4855397" y="6936"/>
                </a:lnTo>
                <a:lnTo>
                  <a:pt x="4898128" y="24796"/>
                </a:lnTo>
                <a:lnTo>
                  <a:pt x="4934352" y="52627"/>
                </a:lnTo>
                <a:lnTo>
                  <a:pt x="4962351" y="88721"/>
                </a:lnTo>
                <a:lnTo>
                  <a:pt x="4980409" y="131368"/>
                </a:lnTo>
                <a:lnTo>
                  <a:pt x="4986810" y="178861"/>
                </a:lnTo>
                <a:lnTo>
                  <a:pt x="4986810" y="1569467"/>
                </a:lnTo>
                <a:lnTo>
                  <a:pt x="4988135" y="1569467"/>
                </a:lnTo>
                <a:lnTo>
                  <a:pt x="4988135" y="1702064"/>
                </a:lnTo>
                <a:lnTo>
                  <a:pt x="5049431" y="1640768"/>
                </a:lnTo>
                <a:lnTo>
                  <a:pt x="5057116" y="1640768"/>
                </a:lnTo>
                <a:lnTo>
                  <a:pt x="5066602" y="1650255"/>
                </a:lnTo>
                <a:lnTo>
                  <a:pt x="5066602" y="1657939"/>
                </a:lnTo>
                <a:lnTo>
                  <a:pt x="4986810" y="1737731"/>
                </a:lnTo>
                <a:lnTo>
                  <a:pt x="4986810" y="3182007"/>
                </a:lnTo>
                <a:lnTo>
                  <a:pt x="4994239" y="3228064"/>
                </a:lnTo>
                <a:lnTo>
                  <a:pt x="5014924" y="3268065"/>
                </a:lnTo>
                <a:lnTo>
                  <a:pt x="5046466" y="3299610"/>
                </a:lnTo>
                <a:lnTo>
                  <a:pt x="5086466" y="3320298"/>
                </a:lnTo>
                <a:lnTo>
                  <a:pt x="5132522" y="3327727"/>
                </a:lnTo>
                <a:lnTo>
                  <a:pt x="6399459" y="3327727"/>
                </a:lnTo>
                <a:lnTo>
                  <a:pt x="6445516" y="3320298"/>
                </a:lnTo>
                <a:lnTo>
                  <a:pt x="6485517" y="3299610"/>
                </a:lnTo>
                <a:lnTo>
                  <a:pt x="6517062" y="3268065"/>
                </a:lnTo>
                <a:lnTo>
                  <a:pt x="6537749" y="3228064"/>
                </a:lnTo>
                <a:lnTo>
                  <a:pt x="6545179" y="3182007"/>
                </a:lnTo>
                <a:lnTo>
                  <a:pt x="6545179" y="1693203"/>
                </a:lnTo>
                <a:lnTo>
                  <a:pt x="6489264" y="1749118"/>
                </a:lnTo>
                <a:lnTo>
                  <a:pt x="6481579" y="1749118"/>
                </a:lnTo>
                <a:lnTo>
                  <a:pt x="6472092" y="1739640"/>
                </a:lnTo>
                <a:lnTo>
                  <a:pt x="6472092" y="1731947"/>
                </a:lnTo>
                <a:lnTo>
                  <a:pt x="6545179" y="1658861"/>
                </a:lnTo>
                <a:lnTo>
                  <a:pt x="6545179" y="185690"/>
                </a:lnTo>
                <a:lnTo>
                  <a:pt x="6551541" y="138343"/>
                </a:lnTo>
                <a:lnTo>
                  <a:pt x="6569495" y="95798"/>
                </a:lnTo>
                <a:lnTo>
                  <a:pt x="6597344" y="59752"/>
                </a:lnTo>
                <a:lnTo>
                  <a:pt x="6633389" y="31902"/>
                </a:lnTo>
                <a:lnTo>
                  <a:pt x="6675932" y="13948"/>
                </a:lnTo>
                <a:lnTo>
                  <a:pt x="6723275" y="7585"/>
                </a:lnTo>
                <a:lnTo>
                  <a:pt x="7979400" y="7585"/>
                </a:lnTo>
                <a:lnTo>
                  <a:pt x="8026746" y="13948"/>
                </a:lnTo>
                <a:lnTo>
                  <a:pt x="8069290" y="31902"/>
                </a:lnTo>
                <a:lnTo>
                  <a:pt x="8105334" y="59752"/>
                </a:lnTo>
                <a:lnTo>
                  <a:pt x="8133181" y="95798"/>
                </a:lnTo>
                <a:lnTo>
                  <a:pt x="8151135" y="138343"/>
                </a:lnTo>
                <a:lnTo>
                  <a:pt x="8157496" y="185690"/>
                </a:lnTo>
                <a:lnTo>
                  <a:pt x="8157496" y="1611165"/>
                </a:lnTo>
                <a:lnTo>
                  <a:pt x="8185310" y="1621691"/>
                </a:lnTo>
                <a:lnTo>
                  <a:pt x="8207545" y="1640614"/>
                </a:lnTo>
                <a:lnTo>
                  <a:pt x="8222289" y="1666019"/>
                </a:lnTo>
                <a:lnTo>
                  <a:pt x="8227629" y="1695992"/>
                </a:lnTo>
                <a:lnTo>
                  <a:pt x="8220848" y="1729602"/>
                </a:lnTo>
                <a:lnTo>
                  <a:pt x="8202352" y="1757050"/>
                </a:lnTo>
                <a:lnTo>
                  <a:pt x="8174914" y="1775555"/>
                </a:lnTo>
                <a:lnTo>
                  <a:pt x="8141304" y="1782341"/>
                </a:lnTo>
                <a:lnTo>
                  <a:pt x="8107694" y="1775555"/>
                </a:lnTo>
                <a:lnTo>
                  <a:pt x="8080247" y="1757050"/>
                </a:lnTo>
                <a:lnTo>
                  <a:pt x="8061741" y="1729602"/>
                </a:lnTo>
                <a:lnTo>
                  <a:pt x="8054955" y="1695992"/>
                </a:lnTo>
                <a:lnTo>
                  <a:pt x="8060300" y="1666019"/>
                </a:lnTo>
                <a:lnTo>
                  <a:pt x="8075054" y="1640614"/>
                </a:lnTo>
                <a:lnTo>
                  <a:pt x="8097298" y="1621691"/>
                </a:lnTo>
                <a:lnTo>
                  <a:pt x="8125112" y="1611165"/>
                </a:lnTo>
                <a:lnTo>
                  <a:pt x="8125112" y="185690"/>
                </a:lnTo>
                <a:lnTo>
                  <a:pt x="8117684" y="139632"/>
                </a:lnTo>
                <a:lnTo>
                  <a:pt x="8096998" y="99631"/>
                </a:lnTo>
                <a:lnTo>
                  <a:pt x="8065456" y="68086"/>
                </a:lnTo>
                <a:lnTo>
                  <a:pt x="8025457" y="47399"/>
                </a:lnTo>
                <a:lnTo>
                  <a:pt x="7979400" y="39969"/>
                </a:lnTo>
                <a:lnTo>
                  <a:pt x="6723275" y="39969"/>
                </a:lnTo>
                <a:lnTo>
                  <a:pt x="6677218" y="47399"/>
                </a:lnTo>
                <a:lnTo>
                  <a:pt x="6637219" y="68086"/>
                </a:lnTo>
                <a:lnTo>
                  <a:pt x="6605677" y="99631"/>
                </a:lnTo>
                <a:lnTo>
                  <a:pt x="6584991" y="139632"/>
                </a:lnTo>
                <a:lnTo>
                  <a:pt x="6577563" y="185690"/>
                </a:lnTo>
                <a:lnTo>
                  <a:pt x="6577563" y="1656211"/>
                </a:lnTo>
                <a:lnTo>
                  <a:pt x="6653307" y="1731947"/>
                </a:lnTo>
                <a:lnTo>
                  <a:pt x="6653307" y="1739640"/>
                </a:lnTo>
                <a:lnTo>
                  <a:pt x="6643820" y="1749118"/>
                </a:lnTo>
                <a:lnTo>
                  <a:pt x="6636136" y="1749118"/>
                </a:lnTo>
                <a:lnTo>
                  <a:pt x="6577563" y="1690554"/>
                </a:lnTo>
                <a:lnTo>
                  <a:pt x="6577563" y="3182007"/>
                </a:lnTo>
                <a:lnTo>
                  <a:pt x="6571201" y="3229352"/>
                </a:lnTo>
                <a:lnTo>
                  <a:pt x="6553246" y="3271896"/>
                </a:lnTo>
                <a:lnTo>
                  <a:pt x="6525396" y="3307940"/>
                </a:lnTo>
                <a:lnTo>
                  <a:pt x="6489350" y="3335788"/>
                </a:lnTo>
                <a:lnTo>
                  <a:pt x="6446805" y="3353741"/>
                </a:lnTo>
                <a:lnTo>
                  <a:pt x="6399459" y="3360103"/>
                </a:lnTo>
                <a:lnTo>
                  <a:pt x="5132522" y="3360103"/>
                </a:lnTo>
                <a:lnTo>
                  <a:pt x="5085179" y="3353741"/>
                </a:lnTo>
                <a:lnTo>
                  <a:pt x="5042636" y="3335788"/>
                </a:lnTo>
                <a:lnTo>
                  <a:pt x="5006592" y="3307940"/>
                </a:lnTo>
                <a:lnTo>
                  <a:pt x="4978743" y="3271896"/>
                </a:lnTo>
                <a:lnTo>
                  <a:pt x="4960788" y="3229352"/>
                </a:lnTo>
                <a:lnTo>
                  <a:pt x="4954426" y="3182007"/>
                </a:lnTo>
                <a:lnTo>
                  <a:pt x="4954426" y="1726978"/>
                </a:lnTo>
                <a:lnTo>
                  <a:pt x="4885388" y="1657939"/>
                </a:lnTo>
                <a:lnTo>
                  <a:pt x="4885388" y="1650255"/>
                </a:lnTo>
                <a:lnTo>
                  <a:pt x="4894874" y="1640768"/>
                </a:lnTo>
                <a:lnTo>
                  <a:pt x="4902559" y="1640768"/>
                </a:lnTo>
                <a:lnTo>
                  <a:pt x="4954426" y="1692635"/>
                </a:lnTo>
                <a:lnTo>
                  <a:pt x="4954426" y="178861"/>
                </a:lnTo>
                <a:lnTo>
                  <a:pt x="4946952" y="132663"/>
                </a:lnTo>
                <a:lnTo>
                  <a:pt x="4926148" y="92576"/>
                </a:lnTo>
                <a:lnTo>
                  <a:pt x="4894441" y="61016"/>
                </a:lnTo>
                <a:lnTo>
                  <a:pt x="4854260" y="40398"/>
                </a:lnTo>
                <a:lnTo>
                  <a:pt x="4808031" y="33141"/>
                </a:lnTo>
                <a:lnTo>
                  <a:pt x="3500615" y="39221"/>
                </a:lnTo>
                <a:lnTo>
                  <a:pt x="3454730" y="46818"/>
                </a:lnTo>
                <a:lnTo>
                  <a:pt x="3414910" y="67573"/>
                </a:lnTo>
                <a:lnTo>
                  <a:pt x="3383530" y="99103"/>
                </a:lnTo>
                <a:lnTo>
                  <a:pt x="3362961" y="139020"/>
                </a:lnTo>
                <a:lnTo>
                  <a:pt x="3355577" y="184941"/>
                </a:lnTo>
                <a:lnTo>
                  <a:pt x="3355577" y="1656211"/>
                </a:lnTo>
                <a:lnTo>
                  <a:pt x="3423225" y="1723859"/>
                </a:lnTo>
                <a:lnTo>
                  <a:pt x="3423225" y="1731544"/>
                </a:lnTo>
                <a:lnTo>
                  <a:pt x="3413739" y="1741030"/>
                </a:lnTo>
                <a:lnTo>
                  <a:pt x="3406054" y="1741030"/>
                </a:lnTo>
                <a:lnTo>
                  <a:pt x="3355577" y="1690554"/>
                </a:lnTo>
                <a:lnTo>
                  <a:pt x="3355577" y="3188844"/>
                </a:lnTo>
                <a:lnTo>
                  <a:pt x="3349177" y="3236333"/>
                </a:lnTo>
                <a:lnTo>
                  <a:pt x="3331121" y="3278979"/>
                </a:lnTo>
                <a:lnTo>
                  <a:pt x="3303124" y="3315072"/>
                </a:lnTo>
                <a:lnTo>
                  <a:pt x="3266904" y="3342904"/>
                </a:lnTo>
                <a:lnTo>
                  <a:pt x="3224177" y="3360765"/>
                </a:lnTo>
                <a:lnTo>
                  <a:pt x="3176659" y="3366948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69052" y="12950585"/>
            <a:ext cx="1267460" cy="78359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dirty="0" sz="1500">
                <a:solidFill>
                  <a:srgbClr val="383838"/>
                </a:solidFill>
                <a:latin typeface="Georgia"/>
                <a:cs typeface="Georgia"/>
              </a:rPr>
              <a:t>Master</a:t>
            </a:r>
            <a:r>
              <a:rPr dirty="0" sz="1500" spc="5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500" spc="-20">
                <a:solidFill>
                  <a:srgbClr val="383838"/>
                </a:solidFill>
                <a:latin typeface="Georgia"/>
                <a:cs typeface="Georgia"/>
              </a:rPr>
              <a:t>Data</a:t>
            </a:r>
            <a:endParaRPr sz="1500">
              <a:latin typeface="Georgia"/>
              <a:cs typeface="Georgia"/>
            </a:endParaRPr>
          </a:p>
          <a:p>
            <a:pPr algn="ctr" marL="12700" marR="5080">
              <a:lnSpc>
                <a:spcPct val="108000"/>
              </a:lnSpc>
              <a:spcBef>
                <a:spcPts val="450"/>
              </a:spcBef>
            </a:pP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Chart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accounts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&amp;</a:t>
            </a:r>
            <a:r>
              <a:rPr dirty="0" sz="11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G/L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9236" y="12779482"/>
            <a:ext cx="1111885" cy="954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77800" marR="170180">
              <a:lnSpc>
                <a:spcPct val="108000"/>
              </a:lnSpc>
              <a:spcBef>
                <a:spcPts val="90"/>
              </a:spcBef>
            </a:pPr>
            <a:r>
              <a:rPr dirty="0" sz="1500" spc="-10">
                <a:solidFill>
                  <a:srgbClr val="020202"/>
                </a:solidFill>
                <a:latin typeface="Georgia"/>
                <a:cs typeface="Georgia"/>
              </a:rPr>
              <a:t>Business Partners</a:t>
            </a:r>
            <a:endParaRPr sz="1500">
              <a:latin typeface="Georgia"/>
              <a:cs typeface="Georgia"/>
            </a:endParaRPr>
          </a:p>
          <a:p>
            <a:pPr algn="ctr" marL="12065" marR="5080" indent="-635">
              <a:lnSpc>
                <a:spcPct val="108000"/>
              </a:lnSpc>
              <a:spcBef>
                <a:spcPts val="450"/>
              </a:spcBef>
            </a:pP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Vendor</a:t>
            </a:r>
            <a:r>
              <a:rPr dirty="0" sz="1150" spc="2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customer</a:t>
            </a:r>
            <a:r>
              <a:rPr dirty="0" sz="11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setup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6919" y="10673191"/>
            <a:ext cx="1057275" cy="954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014" marR="111760">
              <a:lnSpc>
                <a:spcPct val="108000"/>
              </a:lnSpc>
              <a:spcBef>
                <a:spcPts val="90"/>
              </a:spcBef>
            </a:pPr>
            <a:r>
              <a:rPr dirty="0" sz="1500" spc="-10">
                <a:solidFill>
                  <a:srgbClr val="383838"/>
                </a:solidFill>
                <a:latin typeface="Georgia"/>
                <a:cs typeface="Georgia"/>
              </a:rPr>
              <a:t>Company Setup</a:t>
            </a:r>
            <a:endParaRPr sz="1500">
              <a:latin typeface="Georgia"/>
              <a:cs typeface="Georgia"/>
            </a:endParaRPr>
          </a:p>
          <a:p>
            <a:pPr algn="ctr" marL="12065" marR="5080" indent="-635">
              <a:lnSpc>
                <a:spcPct val="103299"/>
              </a:lnSpc>
              <a:spcBef>
                <a:spcPts val="580"/>
              </a:spcBef>
            </a:pP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150" spc="-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&amp;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1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code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32257" y="10673191"/>
            <a:ext cx="1224280" cy="954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08000"/>
              </a:lnSpc>
              <a:spcBef>
                <a:spcPts val="90"/>
              </a:spcBef>
            </a:pPr>
            <a:r>
              <a:rPr dirty="0" sz="1500">
                <a:solidFill>
                  <a:srgbClr val="383838"/>
                </a:solidFill>
                <a:latin typeface="Georgia"/>
                <a:cs typeface="Georgia"/>
              </a:rPr>
              <a:t>Integration</a:t>
            </a:r>
            <a:r>
              <a:rPr dirty="0" sz="1500" spc="229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500" spc="215">
                <a:solidFill>
                  <a:srgbClr val="383838"/>
                </a:solidFill>
                <a:latin typeface="Georgia"/>
                <a:cs typeface="Georgia"/>
              </a:rPr>
              <a:t>&amp; </a:t>
            </a:r>
            <a:r>
              <a:rPr dirty="0" sz="1500" spc="-10">
                <a:solidFill>
                  <a:srgbClr val="383838"/>
                </a:solidFill>
                <a:latin typeface="Georgia"/>
                <a:cs typeface="Georgia"/>
              </a:rPr>
              <a:t>Reporting</a:t>
            </a:r>
            <a:endParaRPr sz="1500">
              <a:latin typeface="Georgia"/>
              <a:cs typeface="Georgia"/>
            </a:endParaRPr>
          </a:p>
          <a:p>
            <a:pPr algn="ctr" marL="107950" marR="100965">
              <a:lnSpc>
                <a:spcPct val="103299"/>
              </a:lnSpc>
              <a:spcBef>
                <a:spcPts val="580"/>
              </a:spcBef>
            </a:pP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FI-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CO,</a:t>
            </a:r>
            <a:r>
              <a:rPr dirty="0" sz="1150" spc="-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reports,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decisions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26021" y="10586666"/>
            <a:ext cx="1256665" cy="80264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5"/>
              </a:spcBef>
            </a:pPr>
            <a:r>
              <a:rPr dirty="0" sz="1500" spc="-10">
                <a:solidFill>
                  <a:srgbClr val="020202"/>
                </a:solidFill>
                <a:latin typeface="Georgia"/>
                <a:cs typeface="Georgia"/>
              </a:rPr>
              <a:t>Controlling</a:t>
            </a:r>
            <a:endParaRPr sz="1500">
              <a:latin typeface="Georgia"/>
              <a:cs typeface="Georgia"/>
            </a:endParaRPr>
          </a:p>
          <a:p>
            <a:pPr algn="ctr" marL="12700" marR="5080">
              <a:lnSpc>
                <a:spcPct val="108000"/>
              </a:lnSpc>
              <a:spcBef>
                <a:spcPts val="515"/>
              </a:spcBef>
            </a:pP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1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area</a:t>
            </a:r>
            <a:r>
              <a:rPr dirty="0" sz="11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&amp;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1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83838"/>
                </a:solidFill>
                <a:latin typeface="Tahoma"/>
                <a:cs typeface="Tahoma"/>
              </a:rPr>
              <a:t>centres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5581" y="14244742"/>
            <a:ext cx="17145" cy="1776730"/>
          </a:xfrm>
          <a:custGeom>
            <a:avLst/>
            <a:gdLst/>
            <a:ahLst/>
            <a:cxnLst/>
            <a:rect l="l" t="t" r="r" b="b"/>
            <a:pathLst>
              <a:path w="17145" h="1776730">
                <a:moveTo>
                  <a:pt x="10641" y="1776422"/>
                </a:moveTo>
                <a:lnTo>
                  <a:pt x="6038" y="1776422"/>
                </a:lnTo>
                <a:lnTo>
                  <a:pt x="4069" y="1775605"/>
                </a:lnTo>
                <a:lnTo>
                  <a:pt x="817" y="1772352"/>
                </a:lnTo>
                <a:lnTo>
                  <a:pt x="0" y="1770384"/>
                </a:lnTo>
                <a:lnTo>
                  <a:pt x="0" y="1768082"/>
                </a:lnTo>
                <a:lnTo>
                  <a:pt x="0" y="6038"/>
                </a:lnTo>
                <a:lnTo>
                  <a:pt x="817" y="4069"/>
                </a:lnTo>
                <a:lnTo>
                  <a:pt x="4069" y="817"/>
                </a:lnTo>
                <a:lnTo>
                  <a:pt x="6038" y="0"/>
                </a:lnTo>
                <a:lnTo>
                  <a:pt x="10641" y="0"/>
                </a:lnTo>
                <a:lnTo>
                  <a:pt x="12610" y="817"/>
                </a:lnTo>
                <a:lnTo>
                  <a:pt x="15862" y="4069"/>
                </a:lnTo>
                <a:lnTo>
                  <a:pt x="16680" y="6038"/>
                </a:lnTo>
                <a:lnTo>
                  <a:pt x="16680" y="1770384"/>
                </a:lnTo>
                <a:lnTo>
                  <a:pt x="15862" y="1772352"/>
                </a:lnTo>
                <a:lnTo>
                  <a:pt x="12610" y="1775605"/>
                </a:lnTo>
                <a:lnTo>
                  <a:pt x="10641" y="1776422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0601" y="1865661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5" h="50165">
                <a:moveTo>
                  <a:pt x="28339" y="50040"/>
                </a:moveTo>
                <a:lnTo>
                  <a:pt x="21700" y="50040"/>
                </a:lnTo>
                <a:lnTo>
                  <a:pt x="18506" y="49406"/>
                </a:lnTo>
                <a:lnTo>
                  <a:pt x="0" y="28339"/>
                </a:lnTo>
                <a:lnTo>
                  <a:pt x="0" y="21700"/>
                </a:lnTo>
                <a:lnTo>
                  <a:pt x="21700" y="0"/>
                </a:lnTo>
                <a:lnTo>
                  <a:pt x="28339" y="0"/>
                </a:lnTo>
                <a:lnTo>
                  <a:pt x="50040" y="21700"/>
                </a:lnTo>
                <a:lnTo>
                  <a:pt x="50040" y="25020"/>
                </a:lnTo>
                <a:lnTo>
                  <a:pt x="50040" y="28339"/>
                </a:lnTo>
                <a:lnTo>
                  <a:pt x="31533" y="49406"/>
                </a:lnTo>
                <a:lnTo>
                  <a:pt x="28339" y="5004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0601" y="18948508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5" h="50165">
                <a:moveTo>
                  <a:pt x="28339" y="50040"/>
                </a:moveTo>
                <a:lnTo>
                  <a:pt x="21700" y="50040"/>
                </a:lnTo>
                <a:lnTo>
                  <a:pt x="18506" y="49406"/>
                </a:lnTo>
                <a:lnTo>
                  <a:pt x="0" y="28339"/>
                </a:lnTo>
                <a:lnTo>
                  <a:pt x="0" y="21700"/>
                </a:lnTo>
                <a:lnTo>
                  <a:pt x="21700" y="0"/>
                </a:lnTo>
                <a:lnTo>
                  <a:pt x="28339" y="0"/>
                </a:lnTo>
                <a:lnTo>
                  <a:pt x="50040" y="21700"/>
                </a:lnTo>
                <a:lnTo>
                  <a:pt x="50040" y="25020"/>
                </a:lnTo>
                <a:lnTo>
                  <a:pt x="50040" y="28339"/>
                </a:lnTo>
                <a:lnTo>
                  <a:pt x="31533" y="49406"/>
                </a:lnTo>
                <a:lnTo>
                  <a:pt x="28339" y="5004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0601" y="1924041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5" h="50165">
                <a:moveTo>
                  <a:pt x="28339" y="50040"/>
                </a:moveTo>
                <a:lnTo>
                  <a:pt x="21700" y="50040"/>
                </a:lnTo>
                <a:lnTo>
                  <a:pt x="18506" y="49406"/>
                </a:lnTo>
                <a:lnTo>
                  <a:pt x="0" y="28339"/>
                </a:lnTo>
                <a:lnTo>
                  <a:pt x="0" y="21700"/>
                </a:lnTo>
                <a:lnTo>
                  <a:pt x="21700" y="0"/>
                </a:lnTo>
                <a:lnTo>
                  <a:pt x="28339" y="0"/>
                </a:lnTo>
                <a:lnTo>
                  <a:pt x="50040" y="21700"/>
                </a:lnTo>
                <a:lnTo>
                  <a:pt x="50040" y="25020"/>
                </a:lnTo>
                <a:lnTo>
                  <a:pt x="50040" y="28339"/>
                </a:lnTo>
                <a:lnTo>
                  <a:pt x="31533" y="49406"/>
                </a:lnTo>
                <a:lnTo>
                  <a:pt x="28339" y="5004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0601" y="1954065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5" h="50165">
                <a:moveTo>
                  <a:pt x="28339" y="50040"/>
                </a:moveTo>
                <a:lnTo>
                  <a:pt x="21700" y="50040"/>
                </a:lnTo>
                <a:lnTo>
                  <a:pt x="18506" y="49406"/>
                </a:lnTo>
                <a:lnTo>
                  <a:pt x="0" y="28339"/>
                </a:lnTo>
                <a:lnTo>
                  <a:pt x="0" y="21700"/>
                </a:lnTo>
                <a:lnTo>
                  <a:pt x="21700" y="0"/>
                </a:lnTo>
                <a:lnTo>
                  <a:pt x="28339" y="0"/>
                </a:lnTo>
                <a:lnTo>
                  <a:pt x="50040" y="21700"/>
                </a:lnTo>
                <a:lnTo>
                  <a:pt x="50040" y="25020"/>
                </a:lnTo>
                <a:lnTo>
                  <a:pt x="50040" y="28339"/>
                </a:lnTo>
                <a:lnTo>
                  <a:pt x="31533" y="49406"/>
                </a:lnTo>
                <a:lnTo>
                  <a:pt x="28339" y="5004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12881" y="14353806"/>
            <a:ext cx="8574405" cy="530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7490" marR="5080">
              <a:lnSpc>
                <a:spcPct val="137000"/>
              </a:lnSpc>
              <a:spcBef>
                <a:spcPts val="105"/>
              </a:spcBef>
            </a:pPr>
            <a:r>
              <a:rPr dirty="0" sz="1150" b="1">
                <a:solidFill>
                  <a:srgbClr val="383838"/>
                </a:solidFill>
                <a:latin typeface="Trebuchet MS"/>
                <a:cs typeface="Trebuchet MS"/>
              </a:rPr>
              <a:t>Learning</a:t>
            </a:r>
            <a:r>
              <a:rPr dirty="0" sz="1150" spc="2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150" spc="80" b="1">
                <a:solidFill>
                  <a:srgbClr val="383838"/>
                </a:solidFill>
                <a:latin typeface="Trebuchet MS"/>
                <a:cs typeface="Trebuchet MS"/>
              </a:rPr>
              <a:t>Outcomes</a:t>
            </a:r>
            <a:r>
              <a:rPr dirty="0" sz="1150" spc="2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150" spc="225" b="1">
                <a:solidFill>
                  <a:srgbClr val="383838"/>
                </a:solidFill>
                <a:latin typeface="Trebuchet MS"/>
                <a:cs typeface="Trebuchet MS"/>
              </a:rPr>
              <a:t>—</a:t>
            </a:r>
            <a:r>
              <a:rPr dirty="0" sz="1150" spc="25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150" spc="65" b="1">
                <a:solidFill>
                  <a:srgbClr val="383838"/>
                </a:solidFill>
                <a:latin typeface="Trebuchet MS"/>
                <a:cs typeface="Trebuchet MS"/>
              </a:rPr>
              <a:t>Week</a:t>
            </a:r>
            <a:r>
              <a:rPr dirty="0" sz="1150" spc="2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150" spc="-65" b="1">
                <a:solidFill>
                  <a:srgbClr val="383838"/>
                </a:solidFill>
                <a:latin typeface="Trebuchet MS"/>
                <a:cs typeface="Trebuchet MS"/>
              </a:rPr>
              <a:t>2:</a:t>
            </a:r>
            <a:r>
              <a:rPr dirty="0" sz="1150" spc="7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Through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research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and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study,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understood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means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and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383838"/>
                </a:solidFill>
                <a:latin typeface="Tahoma"/>
                <a:cs typeface="Tahoma"/>
              </a:rPr>
              <a:t>it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connects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business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requirements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to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system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behaviour.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learned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 SAP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enterprise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structures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organised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50">
                <a:solidFill>
                  <a:srgbClr val="383838"/>
                </a:solidFill>
                <a:latin typeface="Tahoma"/>
                <a:cs typeface="Tahoma"/>
              </a:rPr>
              <a:t>—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particularly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role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company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codes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areas.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understood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basic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areas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65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(General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Ledger,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383838"/>
                </a:solidFill>
                <a:latin typeface="Tahoma"/>
                <a:cs typeface="Tahoma"/>
              </a:rPr>
              <a:t>AP,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AR,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Asset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Accounting)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(cost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centres,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centres,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orders).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also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understood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65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CO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integrate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real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time,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transactions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create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impacts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flow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into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reports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management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decisions.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now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appreciate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why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83838"/>
                </a:solidFill>
                <a:latin typeface="Tahoma"/>
                <a:cs typeface="Tahoma"/>
              </a:rPr>
              <a:t>testing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accurate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master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critical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parts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any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implementation.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150">
              <a:latin typeface="Tahoma"/>
              <a:cs typeface="Tahoma"/>
            </a:endParaRPr>
          </a:p>
          <a:p>
            <a:pPr marL="12700" marR="87630">
              <a:lnSpc>
                <a:spcPct val="137200"/>
              </a:lnSpc>
            </a:pPr>
            <a:r>
              <a:rPr dirty="0" sz="1150" spc="50" b="1">
                <a:solidFill>
                  <a:srgbClr val="383838"/>
                </a:solidFill>
                <a:latin typeface="Trebuchet MS"/>
                <a:cs typeface="Trebuchet MS"/>
              </a:rPr>
              <a:t>Conclusion:</a:t>
            </a:r>
            <a:r>
              <a:rPr dirty="0" sz="1150" b="1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Week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2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1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has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helped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me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establish</a:t>
            </a:r>
            <a:r>
              <a:rPr dirty="0" sz="11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solid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conceptual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understanding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15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configuration.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now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understand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connects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real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requirements,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1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65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handles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external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while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supports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8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profitability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analysis,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enterprise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structure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provides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foundation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everything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else.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0">
                <a:solidFill>
                  <a:srgbClr val="383838"/>
                </a:solidFill>
                <a:latin typeface="Tahoma"/>
                <a:cs typeface="Tahoma"/>
              </a:rPr>
              <a:t>Correct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configuration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essential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accurate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transactions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reliable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 reports.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FI–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integration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makes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particularly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powerful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organisations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75">
                <a:solidFill>
                  <a:srgbClr val="383838"/>
                </a:solidFill>
                <a:latin typeface="Tahoma"/>
                <a:cs typeface="Tahoma"/>
              </a:rPr>
              <a:t>because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management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1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together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seamlessly.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6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weeks,</a:t>
            </a:r>
            <a:r>
              <a:rPr dirty="0" sz="11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look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forward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exploring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practical</a:t>
            </a:r>
            <a:r>
              <a:rPr dirty="0" sz="115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exercises,</a:t>
            </a:r>
            <a:r>
              <a:rPr dirty="0" sz="11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383838"/>
                </a:solidFill>
                <a:latin typeface="Tahoma"/>
                <a:cs typeface="Tahoma"/>
              </a:rPr>
              <a:t>transaction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processing,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reporting,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deeper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individual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1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areas.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50" spc="-10">
                <a:solidFill>
                  <a:srgbClr val="020202"/>
                </a:solidFill>
                <a:latin typeface="Georgia"/>
                <a:cs typeface="Georgia"/>
              </a:rPr>
              <a:t>References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550">
              <a:latin typeface="Georgia"/>
              <a:cs typeface="Georgia"/>
            </a:endParaRPr>
          </a:p>
          <a:p>
            <a:pPr marL="252729">
              <a:lnSpc>
                <a:spcPct val="100000"/>
              </a:lnSpc>
            </a:pP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Help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Portal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u="sng" sz="1150" spc="-10" b="1">
                <a:solidFill>
                  <a:srgbClr val="DF4F00"/>
                </a:solidFill>
                <a:uFill>
                  <a:solidFill>
                    <a:srgbClr val="DF4F00"/>
                  </a:solidFill>
                </a:uFill>
                <a:latin typeface="Trebuchet MS"/>
                <a:cs typeface="Trebuchet MS"/>
                <a:hlinkClick r:id="rId2"/>
              </a:rPr>
              <a:t>he</a:t>
            </a:r>
            <a:r>
              <a:rPr dirty="0" sz="1150" spc="-10" b="1">
                <a:solidFill>
                  <a:srgbClr val="DF4F00"/>
                </a:solidFill>
                <a:latin typeface="Trebuchet MS"/>
                <a:cs typeface="Trebuchet MS"/>
                <a:hlinkClick r:id="rId2"/>
              </a:rPr>
              <a:t>l</a:t>
            </a:r>
            <a:r>
              <a:rPr dirty="0" u="sng" sz="1150" spc="-10" b="1">
                <a:solidFill>
                  <a:srgbClr val="DF4F00"/>
                </a:solidFill>
                <a:uFill>
                  <a:solidFill>
                    <a:srgbClr val="DF4F00"/>
                  </a:solidFill>
                </a:uFill>
                <a:latin typeface="Trebuchet MS"/>
                <a:cs typeface="Trebuchet MS"/>
                <a:hlinkClick r:id="rId2"/>
              </a:rPr>
              <a:t>p.sap.com</a:t>
            </a:r>
            <a:endParaRPr sz="1150">
              <a:latin typeface="Trebuchet MS"/>
              <a:cs typeface="Trebuchet MS"/>
            </a:endParaRPr>
          </a:p>
          <a:p>
            <a:pPr marL="252729">
              <a:lnSpc>
                <a:spcPct val="100000"/>
              </a:lnSpc>
              <a:spcBef>
                <a:spcPts val="919"/>
              </a:spcBef>
            </a:pP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u="sng" sz="1150" spc="-10" b="1">
                <a:solidFill>
                  <a:srgbClr val="DF4F00"/>
                </a:solidFill>
                <a:uFill>
                  <a:solidFill>
                    <a:srgbClr val="DF4F00"/>
                  </a:solidFill>
                </a:uFill>
                <a:latin typeface="Trebuchet MS"/>
                <a:cs typeface="Trebuchet MS"/>
                <a:hlinkClick r:id="rId3"/>
              </a:rPr>
              <a:t>learning.sap.com</a:t>
            </a:r>
            <a:endParaRPr sz="1150">
              <a:latin typeface="Trebuchet MS"/>
              <a:cs typeface="Trebuchet MS"/>
            </a:endParaRPr>
          </a:p>
          <a:p>
            <a:pPr marL="252729" marR="3635375">
              <a:lnSpc>
                <a:spcPts val="2360"/>
              </a:lnSpc>
              <a:spcBef>
                <a:spcPts val="50"/>
              </a:spcBef>
            </a:pP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Official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Documentation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5">
                <a:solidFill>
                  <a:srgbClr val="383838"/>
                </a:solidFill>
                <a:latin typeface="Tahoma"/>
                <a:cs typeface="Tahoma"/>
              </a:rPr>
              <a:t>ECC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1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1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5">
                <a:solidFill>
                  <a:srgbClr val="383838"/>
                </a:solidFill>
                <a:latin typeface="Tahoma"/>
                <a:cs typeface="Tahoma"/>
              </a:rPr>
              <a:t>Finance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Implementation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65">
                <a:solidFill>
                  <a:srgbClr val="383838"/>
                </a:solidFill>
                <a:latin typeface="Tahoma"/>
                <a:cs typeface="Tahoma"/>
              </a:rPr>
              <a:t>Guide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(IMG)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2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available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383838"/>
                </a:solidFill>
                <a:latin typeface="Tahoma"/>
                <a:cs typeface="Tahoma"/>
              </a:rPr>
              <a:t>within</a:t>
            </a:r>
            <a:r>
              <a:rPr dirty="0" sz="11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1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383838"/>
                </a:solidFill>
                <a:latin typeface="Tahoma"/>
                <a:cs typeface="Tahoma"/>
              </a:rPr>
              <a:t>systems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F4F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2026-09-10T12:55:57Z</dcterms:created>
  <dcterms:modified xsi:type="dcterms:W3CDTF">2026-09-10T12:55:57Z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2026-09-05T00:00:00Z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2026-09-10T00:00:00Z</vt:filetime>
  </property>
  <property fmtid="{D5CDD505-2E9C-101B-9397-08002B2CF9AE}" pid="6" name="Producer">
    <vt:lpwstr>pdf-lib (https://github.com/Hopding/pdf-lib)</vt:lpwstr>
  </property>
</Properties>
</file>