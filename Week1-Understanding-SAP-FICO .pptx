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20104100"/>
  <p:notesSz cx="114300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8675" y="476250"/>
            <a:ext cx="904875" cy="257175"/>
          </a:xfrm>
          <a:custGeom>
            <a:avLst/>
            <a:gdLst/>
            <a:ahLst/>
            <a:cxnLst/>
            <a:rect l="l" t="t" r="r" b="b"/>
            <a:pathLst>
              <a:path w="904875" h="257175">
                <a:moveTo>
                  <a:pt x="863231" y="0"/>
                </a:moveTo>
                <a:lnTo>
                  <a:pt x="41643" y="0"/>
                </a:lnTo>
                <a:lnTo>
                  <a:pt x="35521" y="1269"/>
                </a:lnTo>
                <a:lnTo>
                  <a:pt x="1219" y="35559"/>
                </a:lnTo>
                <a:lnTo>
                  <a:pt x="0" y="41655"/>
                </a:lnTo>
                <a:lnTo>
                  <a:pt x="0" y="209169"/>
                </a:lnTo>
                <a:lnTo>
                  <a:pt x="0" y="215519"/>
                </a:lnTo>
                <a:lnTo>
                  <a:pt x="23749" y="251078"/>
                </a:lnTo>
                <a:lnTo>
                  <a:pt x="41643" y="257175"/>
                </a:lnTo>
                <a:lnTo>
                  <a:pt x="863231" y="257175"/>
                </a:lnTo>
                <a:lnTo>
                  <a:pt x="898779" y="233426"/>
                </a:lnTo>
                <a:lnTo>
                  <a:pt x="904875" y="215519"/>
                </a:lnTo>
                <a:lnTo>
                  <a:pt x="904875" y="41655"/>
                </a:lnTo>
                <a:lnTo>
                  <a:pt x="881126" y="6096"/>
                </a:lnTo>
                <a:lnTo>
                  <a:pt x="869353" y="1269"/>
                </a:lnTo>
                <a:lnTo>
                  <a:pt x="863231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5" y="777874"/>
            <a:ext cx="7081520" cy="54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5975" y="1526539"/>
            <a:ext cx="9712325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b.tech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1892300"/>
            <a:ext cx="49479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Week</a:t>
            </a:r>
            <a:r>
              <a:rPr dirty="0" spc="-340"/>
              <a:t> </a:t>
            </a:r>
            <a:r>
              <a:rPr dirty="0" spc="-685"/>
              <a:t>1</a:t>
            </a:r>
            <a:r>
              <a:rPr dirty="0" spc="-340"/>
              <a:t> </a:t>
            </a:r>
            <a:r>
              <a:rPr dirty="0" spc="-204"/>
              <a:t>Internship</a:t>
            </a:r>
            <a:r>
              <a:rPr dirty="0" spc="-340"/>
              <a:t> </a:t>
            </a:r>
            <a:r>
              <a:rPr dirty="0" spc="-12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2681922"/>
            <a:ext cx="9801225" cy="1804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-190" b="1">
                <a:latin typeface="Tahoma"/>
                <a:cs typeface="Tahoma"/>
              </a:rPr>
              <a:t>Understanding</a:t>
            </a:r>
            <a:r>
              <a:rPr dirty="0" sz="4650" spc="-465" b="1">
                <a:latin typeface="Tahoma"/>
                <a:cs typeface="Tahoma"/>
              </a:rPr>
              <a:t> </a:t>
            </a:r>
            <a:r>
              <a:rPr dirty="0" sz="4650" spc="-20" b="1">
                <a:latin typeface="Tahoma"/>
                <a:cs typeface="Tahoma"/>
              </a:rPr>
              <a:t>SAP</a:t>
            </a:r>
            <a:r>
              <a:rPr dirty="0" sz="4650" spc="-465" b="1">
                <a:latin typeface="Tahoma"/>
                <a:cs typeface="Tahoma"/>
              </a:rPr>
              <a:t> </a:t>
            </a:r>
            <a:r>
              <a:rPr dirty="0" sz="4650" spc="-20" b="1">
                <a:latin typeface="Tahoma"/>
                <a:cs typeface="Tahoma"/>
              </a:rPr>
              <a:t>FICO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2005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 report documents 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foundational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concepts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studied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during Week </a:t>
            </a:r>
            <a:r>
              <a:rPr dirty="0" sz="1350" spc="-195">
                <a:solidFill>
                  <a:srgbClr val="272424"/>
                </a:solidFill>
                <a:latin typeface="Tahoma"/>
                <a:cs typeface="Tahoma"/>
              </a:rPr>
              <a:t>1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FICO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internship. </a:t>
            </a:r>
            <a:r>
              <a:rPr dirty="0" sz="1350" spc="-85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covers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basics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500">
                <a:solidFill>
                  <a:srgbClr val="272424"/>
                </a:solidFill>
                <a:latin typeface="Tahoma"/>
                <a:cs typeface="Tahoma"/>
              </a:rPr>
              <a:t> 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systems,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Tahoma"/>
                <a:cs typeface="Tahoma"/>
              </a:rPr>
              <a:t>(FI),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Controlling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(CO),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integrate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other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modules,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integrated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matters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decisions.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37" y="481012"/>
            <a:ext cx="923925" cy="247650"/>
          </a:xfrm>
          <a:custGeom>
            <a:avLst/>
            <a:gdLst/>
            <a:ahLst/>
            <a:cxnLst/>
            <a:rect l="l" t="t" r="r" b="b"/>
            <a:pathLst>
              <a:path w="923925" h="247650">
                <a:moveTo>
                  <a:pt x="0" y="204406"/>
                </a:moveTo>
                <a:lnTo>
                  <a:pt x="0" y="43243"/>
                </a:lnTo>
                <a:lnTo>
                  <a:pt x="0" y="37503"/>
                </a:lnTo>
                <a:lnTo>
                  <a:pt x="1092" y="31991"/>
                </a:lnTo>
                <a:lnTo>
                  <a:pt x="3289" y="26695"/>
                </a:lnTo>
                <a:lnTo>
                  <a:pt x="5486" y="21399"/>
                </a:lnTo>
                <a:lnTo>
                  <a:pt x="8610" y="16725"/>
                </a:lnTo>
                <a:lnTo>
                  <a:pt x="12661" y="12661"/>
                </a:lnTo>
                <a:lnTo>
                  <a:pt x="16725" y="8610"/>
                </a:lnTo>
                <a:lnTo>
                  <a:pt x="21399" y="5486"/>
                </a:lnTo>
                <a:lnTo>
                  <a:pt x="26695" y="3289"/>
                </a:lnTo>
                <a:lnTo>
                  <a:pt x="31991" y="1092"/>
                </a:lnTo>
                <a:lnTo>
                  <a:pt x="37503" y="0"/>
                </a:lnTo>
                <a:lnTo>
                  <a:pt x="43243" y="0"/>
                </a:lnTo>
                <a:lnTo>
                  <a:pt x="880681" y="0"/>
                </a:lnTo>
                <a:lnTo>
                  <a:pt x="886421" y="0"/>
                </a:lnTo>
                <a:lnTo>
                  <a:pt x="891933" y="1092"/>
                </a:lnTo>
                <a:lnTo>
                  <a:pt x="897229" y="3289"/>
                </a:lnTo>
                <a:lnTo>
                  <a:pt x="902525" y="5486"/>
                </a:lnTo>
                <a:lnTo>
                  <a:pt x="923925" y="37503"/>
                </a:lnTo>
                <a:lnTo>
                  <a:pt x="923925" y="43243"/>
                </a:lnTo>
                <a:lnTo>
                  <a:pt x="923925" y="204406"/>
                </a:lnTo>
                <a:lnTo>
                  <a:pt x="923925" y="210146"/>
                </a:lnTo>
                <a:lnTo>
                  <a:pt x="922832" y="215658"/>
                </a:lnTo>
                <a:lnTo>
                  <a:pt x="897229" y="244360"/>
                </a:lnTo>
                <a:lnTo>
                  <a:pt x="891933" y="246557"/>
                </a:lnTo>
                <a:lnTo>
                  <a:pt x="886421" y="247650"/>
                </a:lnTo>
                <a:lnTo>
                  <a:pt x="880681" y="247650"/>
                </a:lnTo>
                <a:lnTo>
                  <a:pt x="43243" y="247650"/>
                </a:lnTo>
                <a:lnTo>
                  <a:pt x="37503" y="247650"/>
                </a:lnTo>
                <a:lnTo>
                  <a:pt x="31991" y="246557"/>
                </a:lnTo>
                <a:lnTo>
                  <a:pt x="26695" y="244360"/>
                </a:lnTo>
                <a:lnTo>
                  <a:pt x="21399" y="242163"/>
                </a:lnTo>
                <a:lnTo>
                  <a:pt x="0" y="210146"/>
                </a:lnTo>
                <a:lnTo>
                  <a:pt x="0" y="204406"/>
                </a:lnTo>
                <a:close/>
              </a:path>
            </a:pathLst>
          </a:custGeom>
          <a:ln w="9525">
            <a:solidFill>
              <a:srgbClr val="485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9" y="507365"/>
            <a:ext cx="7594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4850BB"/>
                </a:solidFill>
                <a:latin typeface="Tahoma"/>
                <a:cs typeface="Tahoma"/>
              </a:rPr>
              <a:t>TITLE</a:t>
            </a:r>
            <a:r>
              <a:rPr dirty="0" sz="1050" spc="-5">
                <a:solidFill>
                  <a:srgbClr val="4850BB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850BB"/>
                </a:solidFill>
                <a:latin typeface="Tahoma"/>
                <a:cs typeface="Tahoma"/>
              </a:rPr>
              <a:t>PAGE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5975" y="787400"/>
            <a:ext cx="28143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Report</a:t>
            </a:r>
            <a:r>
              <a:rPr dirty="0" spc="-330"/>
              <a:t> </a:t>
            </a:r>
            <a:r>
              <a:rPr dirty="0" spc="-114"/>
              <a:t>Details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975" y="1606550"/>
            <a:ext cx="57873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 has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been prepared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part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an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FICO internship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program.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8200" y="2076450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91"/>
                </a:lnTo>
                <a:lnTo>
                  <a:pt x="965" y="40639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5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88" y="1612"/>
                </a:lnTo>
                <a:lnTo>
                  <a:pt x="40640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10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3041" y="22440"/>
                </a:lnTo>
                <a:lnTo>
                  <a:pt x="4774882" y="25196"/>
                </a:lnTo>
                <a:lnTo>
                  <a:pt x="4776431" y="28105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39"/>
                </a:lnTo>
                <a:lnTo>
                  <a:pt x="4781232" y="4389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74882" y="984453"/>
                </a:lnTo>
                <a:lnTo>
                  <a:pt x="4773041" y="987209"/>
                </a:lnTo>
                <a:lnTo>
                  <a:pt x="4771199" y="989964"/>
                </a:lnTo>
                <a:lnTo>
                  <a:pt x="4759109" y="1001140"/>
                </a:lnTo>
                <a:lnTo>
                  <a:pt x="4756353" y="1002982"/>
                </a:lnTo>
                <a:lnTo>
                  <a:pt x="4753444" y="1004544"/>
                </a:lnTo>
                <a:lnTo>
                  <a:pt x="4750384" y="1005801"/>
                </a:lnTo>
                <a:lnTo>
                  <a:pt x="4747323" y="1007071"/>
                </a:lnTo>
                <a:lnTo>
                  <a:pt x="4744161" y="1008037"/>
                </a:lnTo>
                <a:lnTo>
                  <a:pt x="4740910" y="1008684"/>
                </a:lnTo>
                <a:lnTo>
                  <a:pt x="4737671" y="1009332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32"/>
                </a:lnTo>
                <a:lnTo>
                  <a:pt x="40640" y="1008684"/>
                </a:lnTo>
                <a:lnTo>
                  <a:pt x="37388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44"/>
                </a:lnTo>
                <a:lnTo>
                  <a:pt x="25196" y="1002982"/>
                </a:lnTo>
                <a:lnTo>
                  <a:pt x="22440" y="1001140"/>
                </a:lnTo>
                <a:lnTo>
                  <a:pt x="19684" y="999299"/>
                </a:lnTo>
                <a:lnTo>
                  <a:pt x="8509" y="987209"/>
                </a:lnTo>
                <a:lnTo>
                  <a:pt x="6667" y="984453"/>
                </a:lnTo>
                <a:lnTo>
                  <a:pt x="5105" y="981544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6475" y="2239962"/>
            <a:ext cx="144462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Student</a:t>
            </a:r>
            <a:r>
              <a:rPr dirty="0" sz="16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272424"/>
                </a:solidFill>
                <a:latin typeface="Tahoma"/>
                <a:cs typeface="Tahoma"/>
              </a:rPr>
              <a:t>Name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Ashish</a:t>
            </a:r>
            <a:r>
              <a:rPr dirty="0" sz="1350" spc="1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Kumar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10250" y="2076450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91"/>
                </a:lnTo>
                <a:lnTo>
                  <a:pt x="965" y="40639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5"/>
                </a:lnTo>
                <a:lnTo>
                  <a:pt x="12446" y="17132"/>
                </a:lnTo>
                <a:lnTo>
                  <a:pt x="14782" y="14782"/>
                </a:lnTo>
                <a:lnTo>
                  <a:pt x="17132" y="12446"/>
                </a:lnTo>
                <a:lnTo>
                  <a:pt x="19685" y="10350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76" y="1612"/>
                </a:lnTo>
                <a:lnTo>
                  <a:pt x="40627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09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39"/>
                </a:lnTo>
                <a:lnTo>
                  <a:pt x="4781232" y="4389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59109" y="1001140"/>
                </a:lnTo>
                <a:lnTo>
                  <a:pt x="4756353" y="1002982"/>
                </a:lnTo>
                <a:lnTo>
                  <a:pt x="4753444" y="1004544"/>
                </a:lnTo>
                <a:lnTo>
                  <a:pt x="4750384" y="1005801"/>
                </a:lnTo>
                <a:lnTo>
                  <a:pt x="4747323" y="1007071"/>
                </a:lnTo>
                <a:lnTo>
                  <a:pt x="4744161" y="1008037"/>
                </a:lnTo>
                <a:lnTo>
                  <a:pt x="4740909" y="1008684"/>
                </a:lnTo>
                <a:lnTo>
                  <a:pt x="4737658" y="1009332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32"/>
                </a:lnTo>
                <a:lnTo>
                  <a:pt x="40627" y="1008684"/>
                </a:lnTo>
                <a:lnTo>
                  <a:pt x="37376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44"/>
                </a:lnTo>
                <a:lnTo>
                  <a:pt x="25196" y="1002982"/>
                </a:lnTo>
                <a:lnTo>
                  <a:pt x="22440" y="1001140"/>
                </a:lnTo>
                <a:lnTo>
                  <a:pt x="19672" y="999299"/>
                </a:lnTo>
                <a:lnTo>
                  <a:pt x="8509" y="987209"/>
                </a:lnTo>
                <a:lnTo>
                  <a:pt x="6667" y="984453"/>
                </a:lnTo>
                <a:lnTo>
                  <a:pt x="5105" y="981544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78525" y="2239962"/>
            <a:ext cx="151828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 b="1">
                <a:solidFill>
                  <a:srgbClr val="272424"/>
                </a:solidFill>
                <a:latin typeface="Tahoma"/>
                <a:cs typeface="Tahoma"/>
              </a:rPr>
              <a:t>Roll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Number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25SCS1003003125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8200" y="3276600"/>
            <a:ext cx="4781550" cy="1000125"/>
          </a:xfrm>
          <a:custGeom>
            <a:avLst/>
            <a:gdLst/>
            <a:ahLst/>
            <a:cxnLst/>
            <a:rect l="l" t="t" r="r" b="b"/>
            <a:pathLst>
              <a:path w="4781550" h="1000125">
                <a:moveTo>
                  <a:pt x="0" y="949642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78"/>
                </a:lnTo>
                <a:lnTo>
                  <a:pt x="965" y="40627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5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88" y="1612"/>
                </a:lnTo>
                <a:lnTo>
                  <a:pt x="40640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10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3041" y="22440"/>
                </a:lnTo>
                <a:lnTo>
                  <a:pt x="4774882" y="25196"/>
                </a:lnTo>
                <a:lnTo>
                  <a:pt x="4776431" y="28105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39"/>
                </a:lnTo>
                <a:lnTo>
                  <a:pt x="4781232" y="43878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49642"/>
                </a:lnTo>
                <a:lnTo>
                  <a:pt x="4781550" y="952957"/>
                </a:lnTo>
                <a:lnTo>
                  <a:pt x="4781232" y="956233"/>
                </a:lnTo>
                <a:lnTo>
                  <a:pt x="4780584" y="959485"/>
                </a:lnTo>
                <a:lnTo>
                  <a:pt x="4779937" y="962736"/>
                </a:lnTo>
                <a:lnTo>
                  <a:pt x="4778971" y="965898"/>
                </a:lnTo>
                <a:lnTo>
                  <a:pt x="4777701" y="968959"/>
                </a:lnTo>
                <a:lnTo>
                  <a:pt x="4776431" y="972019"/>
                </a:lnTo>
                <a:lnTo>
                  <a:pt x="4774882" y="974928"/>
                </a:lnTo>
                <a:lnTo>
                  <a:pt x="4773041" y="977684"/>
                </a:lnTo>
                <a:lnTo>
                  <a:pt x="4771199" y="980439"/>
                </a:lnTo>
                <a:lnTo>
                  <a:pt x="4750384" y="996276"/>
                </a:lnTo>
                <a:lnTo>
                  <a:pt x="4747323" y="997546"/>
                </a:lnTo>
                <a:lnTo>
                  <a:pt x="4744161" y="998512"/>
                </a:lnTo>
                <a:lnTo>
                  <a:pt x="4740910" y="999159"/>
                </a:lnTo>
                <a:lnTo>
                  <a:pt x="4737671" y="999807"/>
                </a:lnTo>
                <a:lnTo>
                  <a:pt x="4734382" y="1000125"/>
                </a:lnTo>
                <a:lnTo>
                  <a:pt x="4731067" y="1000125"/>
                </a:lnTo>
                <a:lnTo>
                  <a:pt x="50482" y="1000125"/>
                </a:lnTo>
                <a:lnTo>
                  <a:pt x="47167" y="1000125"/>
                </a:lnTo>
                <a:lnTo>
                  <a:pt x="43878" y="999794"/>
                </a:lnTo>
                <a:lnTo>
                  <a:pt x="40640" y="999159"/>
                </a:lnTo>
                <a:lnTo>
                  <a:pt x="37388" y="998512"/>
                </a:lnTo>
                <a:lnTo>
                  <a:pt x="34226" y="997546"/>
                </a:lnTo>
                <a:lnTo>
                  <a:pt x="31165" y="996276"/>
                </a:lnTo>
                <a:lnTo>
                  <a:pt x="28105" y="995006"/>
                </a:lnTo>
                <a:lnTo>
                  <a:pt x="3848" y="968959"/>
                </a:lnTo>
                <a:lnTo>
                  <a:pt x="2578" y="965898"/>
                </a:lnTo>
                <a:lnTo>
                  <a:pt x="1612" y="962736"/>
                </a:lnTo>
                <a:lnTo>
                  <a:pt x="965" y="959485"/>
                </a:lnTo>
                <a:lnTo>
                  <a:pt x="317" y="956233"/>
                </a:lnTo>
                <a:lnTo>
                  <a:pt x="0" y="952957"/>
                </a:lnTo>
                <a:lnTo>
                  <a:pt x="0" y="949642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06475" y="3440112"/>
            <a:ext cx="209931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Course</a:t>
            </a:r>
            <a:r>
              <a:rPr dirty="0" sz="1650" spc="-18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305" b="1">
                <a:solidFill>
                  <a:srgbClr val="272424"/>
                </a:solidFill>
                <a:latin typeface="Tahoma"/>
                <a:cs typeface="Tahoma"/>
              </a:rPr>
              <a:t>/</a:t>
            </a:r>
            <a:r>
              <a:rPr dirty="0" sz="1650" spc="-18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u="sng" sz="1350" spc="-35" b="1">
                <a:solidFill>
                  <a:srgbClr val="4850BB"/>
                </a:solidFill>
                <a:uFill>
                  <a:solidFill>
                    <a:srgbClr val="4850BB"/>
                  </a:solidFill>
                </a:uFill>
                <a:latin typeface="Tahoma"/>
                <a:cs typeface="Tahoma"/>
                <a:hlinkClick r:id="rId2"/>
              </a:rPr>
              <a:t>B.Tech</a:t>
            </a:r>
            <a:r>
              <a:rPr dirty="0" sz="1350" spc="-50" b="1">
                <a:solidFill>
                  <a:srgbClr val="4850BB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(CSE)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0250" y="3276600"/>
            <a:ext cx="4781550" cy="1000125"/>
          </a:xfrm>
          <a:custGeom>
            <a:avLst/>
            <a:gdLst/>
            <a:ahLst/>
            <a:cxnLst/>
            <a:rect l="l" t="t" r="r" b="b"/>
            <a:pathLst>
              <a:path w="4781550" h="1000125">
                <a:moveTo>
                  <a:pt x="0" y="949642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78"/>
                </a:lnTo>
                <a:lnTo>
                  <a:pt x="965" y="40627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5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76" y="1612"/>
                </a:lnTo>
                <a:lnTo>
                  <a:pt x="40627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09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39"/>
                </a:lnTo>
                <a:lnTo>
                  <a:pt x="4781232" y="43878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49642"/>
                </a:lnTo>
                <a:lnTo>
                  <a:pt x="4781550" y="952957"/>
                </a:lnTo>
                <a:lnTo>
                  <a:pt x="4781232" y="956233"/>
                </a:lnTo>
                <a:lnTo>
                  <a:pt x="4780584" y="959485"/>
                </a:lnTo>
                <a:lnTo>
                  <a:pt x="4779937" y="962736"/>
                </a:lnTo>
                <a:lnTo>
                  <a:pt x="4778971" y="965898"/>
                </a:lnTo>
                <a:lnTo>
                  <a:pt x="4777701" y="968959"/>
                </a:lnTo>
                <a:lnTo>
                  <a:pt x="4776431" y="972019"/>
                </a:lnTo>
                <a:lnTo>
                  <a:pt x="4759109" y="991616"/>
                </a:lnTo>
                <a:lnTo>
                  <a:pt x="4756353" y="993457"/>
                </a:lnTo>
                <a:lnTo>
                  <a:pt x="4753444" y="995019"/>
                </a:lnTo>
                <a:lnTo>
                  <a:pt x="4750384" y="996276"/>
                </a:lnTo>
                <a:lnTo>
                  <a:pt x="4747323" y="997546"/>
                </a:lnTo>
                <a:lnTo>
                  <a:pt x="4744161" y="998512"/>
                </a:lnTo>
                <a:lnTo>
                  <a:pt x="4740909" y="999159"/>
                </a:lnTo>
                <a:lnTo>
                  <a:pt x="4737658" y="999807"/>
                </a:lnTo>
                <a:lnTo>
                  <a:pt x="4734382" y="1000125"/>
                </a:lnTo>
                <a:lnTo>
                  <a:pt x="4731067" y="1000125"/>
                </a:lnTo>
                <a:lnTo>
                  <a:pt x="50482" y="1000125"/>
                </a:lnTo>
                <a:lnTo>
                  <a:pt x="47167" y="1000125"/>
                </a:lnTo>
                <a:lnTo>
                  <a:pt x="43878" y="999794"/>
                </a:lnTo>
                <a:lnTo>
                  <a:pt x="40627" y="999159"/>
                </a:lnTo>
                <a:lnTo>
                  <a:pt x="37376" y="998512"/>
                </a:lnTo>
                <a:lnTo>
                  <a:pt x="34226" y="997546"/>
                </a:lnTo>
                <a:lnTo>
                  <a:pt x="31165" y="996276"/>
                </a:lnTo>
                <a:lnTo>
                  <a:pt x="28105" y="995006"/>
                </a:lnTo>
                <a:lnTo>
                  <a:pt x="25196" y="993457"/>
                </a:lnTo>
                <a:lnTo>
                  <a:pt x="22440" y="991616"/>
                </a:lnTo>
                <a:lnTo>
                  <a:pt x="19672" y="989774"/>
                </a:lnTo>
                <a:lnTo>
                  <a:pt x="8509" y="977684"/>
                </a:lnTo>
                <a:lnTo>
                  <a:pt x="6667" y="974928"/>
                </a:lnTo>
                <a:lnTo>
                  <a:pt x="5105" y="972019"/>
                </a:lnTo>
                <a:lnTo>
                  <a:pt x="3848" y="968959"/>
                </a:lnTo>
                <a:lnTo>
                  <a:pt x="2578" y="965898"/>
                </a:lnTo>
                <a:lnTo>
                  <a:pt x="1612" y="962736"/>
                </a:lnTo>
                <a:lnTo>
                  <a:pt x="965" y="959485"/>
                </a:lnTo>
                <a:lnTo>
                  <a:pt x="317" y="956233"/>
                </a:lnTo>
                <a:lnTo>
                  <a:pt x="0" y="952957"/>
                </a:lnTo>
                <a:lnTo>
                  <a:pt x="0" y="949642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78525" y="3440112"/>
            <a:ext cx="231521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72424"/>
                </a:solidFill>
                <a:latin typeface="Tahoma"/>
                <a:cs typeface="Tahoma"/>
              </a:rPr>
              <a:t>College</a:t>
            </a:r>
            <a:r>
              <a:rPr dirty="0" sz="165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305" b="1">
                <a:solidFill>
                  <a:srgbClr val="272424"/>
                </a:solidFill>
                <a:latin typeface="Tahoma"/>
                <a:cs typeface="Tahoma"/>
              </a:rPr>
              <a:t>/</a:t>
            </a:r>
            <a:r>
              <a:rPr dirty="0" sz="165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University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IILM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University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Greater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Noida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200" y="4467225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91"/>
                </a:lnTo>
                <a:lnTo>
                  <a:pt x="965" y="40627"/>
                </a:lnTo>
                <a:lnTo>
                  <a:pt x="1612" y="37376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88" y="1612"/>
                </a:lnTo>
                <a:lnTo>
                  <a:pt x="40640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10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73041" y="22440"/>
                </a:lnTo>
                <a:lnTo>
                  <a:pt x="4774882" y="25196"/>
                </a:lnTo>
                <a:lnTo>
                  <a:pt x="4776431" y="28105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76"/>
                </a:lnTo>
                <a:lnTo>
                  <a:pt x="4780584" y="40627"/>
                </a:lnTo>
                <a:lnTo>
                  <a:pt x="4781232" y="4389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74882" y="984453"/>
                </a:lnTo>
                <a:lnTo>
                  <a:pt x="4773041" y="987209"/>
                </a:lnTo>
                <a:lnTo>
                  <a:pt x="4771199" y="989964"/>
                </a:lnTo>
                <a:lnTo>
                  <a:pt x="4750384" y="1005801"/>
                </a:lnTo>
                <a:lnTo>
                  <a:pt x="4747323" y="1007071"/>
                </a:lnTo>
                <a:lnTo>
                  <a:pt x="4744161" y="1008037"/>
                </a:lnTo>
                <a:lnTo>
                  <a:pt x="4740910" y="1008684"/>
                </a:lnTo>
                <a:lnTo>
                  <a:pt x="4737671" y="1009319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19"/>
                </a:lnTo>
                <a:lnTo>
                  <a:pt x="40640" y="1008684"/>
                </a:lnTo>
                <a:lnTo>
                  <a:pt x="37388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31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06475" y="4630737"/>
            <a:ext cx="235331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272424"/>
                </a:solidFill>
                <a:latin typeface="Tahoma"/>
                <a:cs typeface="Tahoma"/>
              </a:rPr>
              <a:t>Internship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Yuva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Intern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10250" y="4467225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91"/>
                </a:lnTo>
                <a:lnTo>
                  <a:pt x="965" y="40627"/>
                </a:lnTo>
                <a:lnTo>
                  <a:pt x="1612" y="37376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5"/>
                </a:lnTo>
                <a:lnTo>
                  <a:pt x="31165" y="3848"/>
                </a:lnTo>
                <a:lnTo>
                  <a:pt x="34226" y="2578"/>
                </a:lnTo>
                <a:lnTo>
                  <a:pt x="37376" y="1612"/>
                </a:lnTo>
                <a:lnTo>
                  <a:pt x="40627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09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8"/>
                </a:lnTo>
                <a:lnTo>
                  <a:pt x="4761865" y="10350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76"/>
                </a:lnTo>
                <a:lnTo>
                  <a:pt x="4780584" y="40627"/>
                </a:lnTo>
                <a:lnTo>
                  <a:pt x="4781232" y="4389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59109" y="1001141"/>
                </a:lnTo>
                <a:lnTo>
                  <a:pt x="4756353" y="1002982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19"/>
                </a:lnTo>
                <a:lnTo>
                  <a:pt x="40627" y="1008684"/>
                </a:lnTo>
                <a:lnTo>
                  <a:pt x="37376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31"/>
                </a:lnTo>
                <a:lnTo>
                  <a:pt x="25196" y="1002982"/>
                </a:lnTo>
                <a:lnTo>
                  <a:pt x="22440" y="1001141"/>
                </a:lnTo>
                <a:lnTo>
                  <a:pt x="19672" y="999299"/>
                </a:lnTo>
                <a:lnTo>
                  <a:pt x="8509" y="987209"/>
                </a:lnTo>
                <a:lnTo>
                  <a:pt x="6667" y="984453"/>
                </a:lnTo>
                <a:lnTo>
                  <a:pt x="5105" y="981544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78525" y="4630737"/>
            <a:ext cx="161099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272424"/>
                </a:solidFill>
                <a:latin typeface="Tahoma"/>
                <a:cs typeface="Tahoma"/>
              </a:rPr>
              <a:t>Internship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72424"/>
                </a:solidFill>
                <a:latin typeface="Tahoma"/>
                <a:cs typeface="Tahoma"/>
              </a:rPr>
              <a:t>Title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Internship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200" y="5667375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78"/>
                </a:lnTo>
                <a:lnTo>
                  <a:pt x="965" y="40627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4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88" y="1612"/>
                </a:lnTo>
                <a:lnTo>
                  <a:pt x="40640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10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3041" y="22440"/>
                </a:lnTo>
                <a:lnTo>
                  <a:pt x="4774882" y="25196"/>
                </a:lnTo>
                <a:lnTo>
                  <a:pt x="4776431" y="28105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27"/>
                </a:lnTo>
                <a:lnTo>
                  <a:pt x="4781232" y="43878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74882" y="984453"/>
                </a:lnTo>
                <a:lnTo>
                  <a:pt x="4773041" y="987209"/>
                </a:lnTo>
                <a:lnTo>
                  <a:pt x="4771199" y="989965"/>
                </a:lnTo>
                <a:lnTo>
                  <a:pt x="4759109" y="1001141"/>
                </a:lnTo>
                <a:lnTo>
                  <a:pt x="4756353" y="1002982"/>
                </a:lnTo>
                <a:lnTo>
                  <a:pt x="4753444" y="1004531"/>
                </a:lnTo>
                <a:lnTo>
                  <a:pt x="4750384" y="1005801"/>
                </a:lnTo>
                <a:lnTo>
                  <a:pt x="4747323" y="1007071"/>
                </a:lnTo>
                <a:lnTo>
                  <a:pt x="4744161" y="1008037"/>
                </a:lnTo>
                <a:lnTo>
                  <a:pt x="4740910" y="1008684"/>
                </a:lnTo>
                <a:lnTo>
                  <a:pt x="4737671" y="1009332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32"/>
                </a:lnTo>
                <a:lnTo>
                  <a:pt x="40640" y="1008684"/>
                </a:lnTo>
                <a:lnTo>
                  <a:pt x="37388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31"/>
                </a:lnTo>
                <a:lnTo>
                  <a:pt x="25196" y="1002982"/>
                </a:lnTo>
                <a:lnTo>
                  <a:pt x="22440" y="1001141"/>
                </a:lnTo>
                <a:lnTo>
                  <a:pt x="19684" y="999299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06475" y="5830887"/>
            <a:ext cx="59245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Week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10250" y="5667375"/>
            <a:ext cx="4781550" cy="1009650"/>
          </a:xfrm>
          <a:custGeom>
            <a:avLst/>
            <a:gdLst/>
            <a:ahLst/>
            <a:cxnLst/>
            <a:rect l="l" t="t" r="r" b="b"/>
            <a:pathLst>
              <a:path w="4781550" h="1009650">
                <a:moveTo>
                  <a:pt x="0" y="959167"/>
                </a:moveTo>
                <a:lnTo>
                  <a:pt x="0" y="50482"/>
                </a:lnTo>
                <a:lnTo>
                  <a:pt x="0" y="47167"/>
                </a:lnTo>
                <a:lnTo>
                  <a:pt x="317" y="43878"/>
                </a:lnTo>
                <a:lnTo>
                  <a:pt x="965" y="40627"/>
                </a:lnTo>
                <a:lnTo>
                  <a:pt x="1612" y="37388"/>
                </a:lnTo>
                <a:lnTo>
                  <a:pt x="2578" y="34226"/>
                </a:lnTo>
                <a:lnTo>
                  <a:pt x="3848" y="31165"/>
                </a:lnTo>
                <a:lnTo>
                  <a:pt x="5105" y="28105"/>
                </a:lnTo>
                <a:lnTo>
                  <a:pt x="6667" y="25196"/>
                </a:lnTo>
                <a:lnTo>
                  <a:pt x="8509" y="22440"/>
                </a:lnTo>
                <a:lnTo>
                  <a:pt x="10350" y="19684"/>
                </a:lnTo>
                <a:lnTo>
                  <a:pt x="22440" y="8509"/>
                </a:lnTo>
                <a:lnTo>
                  <a:pt x="25196" y="6667"/>
                </a:lnTo>
                <a:lnTo>
                  <a:pt x="28105" y="5105"/>
                </a:lnTo>
                <a:lnTo>
                  <a:pt x="31165" y="3848"/>
                </a:lnTo>
                <a:lnTo>
                  <a:pt x="34226" y="2578"/>
                </a:lnTo>
                <a:lnTo>
                  <a:pt x="37376" y="1612"/>
                </a:lnTo>
                <a:lnTo>
                  <a:pt x="40627" y="965"/>
                </a:lnTo>
                <a:lnTo>
                  <a:pt x="43878" y="317"/>
                </a:lnTo>
                <a:lnTo>
                  <a:pt x="47167" y="0"/>
                </a:lnTo>
                <a:lnTo>
                  <a:pt x="50482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58" y="317"/>
                </a:lnTo>
                <a:lnTo>
                  <a:pt x="4740909" y="965"/>
                </a:lnTo>
                <a:lnTo>
                  <a:pt x="4744161" y="1612"/>
                </a:lnTo>
                <a:lnTo>
                  <a:pt x="4747323" y="2578"/>
                </a:lnTo>
                <a:lnTo>
                  <a:pt x="4750384" y="3848"/>
                </a:lnTo>
                <a:lnTo>
                  <a:pt x="4753444" y="5105"/>
                </a:lnTo>
                <a:lnTo>
                  <a:pt x="4756353" y="6667"/>
                </a:lnTo>
                <a:lnTo>
                  <a:pt x="4759109" y="8509"/>
                </a:lnTo>
                <a:lnTo>
                  <a:pt x="4761865" y="10350"/>
                </a:lnTo>
                <a:lnTo>
                  <a:pt x="4777701" y="31165"/>
                </a:lnTo>
                <a:lnTo>
                  <a:pt x="4778971" y="34226"/>
                </a:lnTo>
                <a:lnTo>
                  <a:pt x="4779937" y="37388"/>
                </a:lnTo>
                <a:lnTo>
                  <a:pt x="4780584" y="40627"/>
                </a:lnTo>
                <a:lnTo>
                  <a:pt x="4781232" y="43878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959167"/>
                </a:lnTo>
                <a:lnTo>
                  <a:pt x="4781550" y="962482"/>
                </a:lnTo>
                <a:lnTo>
                  <a:pt x="4781232" y="965758"/>
                </a:lnTo>
                <a:lnTo>
                  <a:pt x="4780584" y="969010"/>
                </a:lnTo>
                <a:lnTo>
                  <a:pt x="4779937" y="972261"/>
                </a:lnTo>
                <a:lnTo>
                  <a:pt x="4778971" y="975423"/>
                </a:lnTo>
                <a:lnTo>
                  <a:pt x="4777701" y="978484"/>
                </a:lnTo>
                <a:lnTo>
                  <a:pt x="4776431" y="981544"/>
                </a:lnTo>
                <a:lnTo>
                  <a:pt x="4759109" y="1001141"/>
                </a:lnTo>
                <a:lnTo>
                  <a:pt x="4756353" y="1002982"/>
                </a:lnTo>
                <a:lnTo>
                  <a:pt x="4734382" y="1009650"/>
                </a:lnTo>
                <a:lnTo>
                  <a:pt x="4731067" y="1009650"/>
                </a:lnTo>
                <a:lnTo>
                  <a:pt x="50482" y="1009650"/>
                </a:lnTo>
                <a:lnTo>
                  <a:pt x="47167" y="1009650"/>
                </a:lnTo>
                <a:lnTo>
                  <a:pt x="43878" y="1009332"/>
                </a:lnTo>
                <a:lnTo>
                  <a:pt x="40627" y="1008684"/>
                </a:lnTo>
                <a:lnTo>
                  <a:pt x="37376" y="1008037"/>
                </a:lnTo>
                <a:lnTo>
                  <a:pt x="34226" y="1007071"/>
                </a:lnTo>
                <a:lnTo>
                  <a:pt x="31165" y="1005801"/>
                </a:lnTo>
                <a:lnTo>
                  <a:pt x="28105" y="1004531"/>
                </a:lnTo>
                <a:lnTo>
                  <a:pt x="25196" y="1002982"/>
                </a:lnTo>
                <a:lnTo>
                  <a:pt x="22440" y="1001141"/>
                </a:lnTo>
                <a:lnTo>
                  <a:pt x="19672" y="999299"/>
                </a:lnTo>
                <a:lnTo>
                  <a:pt x="8509" y="987209"/>
                </a:lnTo>
                <a:lnTo>
                  <a:pt x="6667" y="984453"/>
                </a:lnTo>
                <a:lnTo>
                  <a:pt x="5105" y="981544"/>
                </a:lnTo>
                <a:lnTo>
                  <a:pt x="3848" y="978484"/>
                </a:lnTo>
                <a:lnTo>
                  <a:pt x="2578" y="975423"/>
                </a:lnTo>
                <a:lnTo>
                  <a:pt x="1612" y="972261"/>
                </a:lnTo>
                <a:lnTo>
                  <a:pt x="965" y="969010"/>
                </a:lnTo>
                <a:lnTo>
                  <a:pt x="317" y="965758"/>
                </a:lnTo>
                <a:lnTo>
                  <a:pt x="0" y="962482"/>
                </a:lnTo>
                <a:lnTo>
                  <a:pt x="0" y="959167"/>
                </a:lnTo>
                <a:close/>
              </a:path>
            </a:pathLst>
          </a:custGeom>
          <a:ln w="9525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978525" y="5830887"/>
            <a:ext cx="169798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Submission</a:t>
            </a:r>
            <a:r>
              <a:rPr dirty="0" sz="1650" spc="-9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272424"/>
                </a:solidFill>
                <a:latin typeface="Tahoma"/>
                <a:cs typeface="Tahoma"/>
              </a:rPr>
              <a:t>Date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06/09/2026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37" y="481012"/>
            <a:ext cx="1581150" cy="247650"/>
          </a:xfrm>
          <a:custGeom>
            <a:avLst/>
            <a:gdLst/>
            <a:ahLst/>
            <a:cxnLst/>
            <a:rect l="l" t="t" r="r" b="b"/>
            <a:pathLst>
              <a:path w="1581150" h="247650">
                <a:moveTo>
                  <a:pt x="0" y="204406"/>
                </a:moveTo>
                <a:lnTo>
                  <a:pt x="0" y="43243"/>
                </a:lnTo>
                <a:lnTo>
                  <a:pt x="0" y="37515"/>
                </a:lnTo>
                <a:lnTo>
                  <a:pt x="1092" y="31991"/>
                </a:lnTo>
                <a:lnTo>
                  <a:pt x="3289" y="26695"/>
                </a:lnTo>
                <a:lnTo>
                  <a:pt x="5486" y="21399"/>
                </a:lnTo>
                <a:lnTo>
                  <a:pt x="8610" y="16725"/>
                </a:lnTo>
                <a:lnTo>
                  <a:pt x="12661" y="12661"/>
                </a:lnTo>
                <a:lnTo>
                  <a:pt x="16725" y="8610"/>
                </a:lnTo>
                <a:lnTo>
                  <a:pt x="21399" y="5486"/>
                </a:lnTo>
                <a:lnTo>
                  <a:pt x="26695" y="3289"/>
                </a:lnTo>
                <a:lnTo>
                  <a:pt x="31991" y="1092"/>
                </a:lnTo>
                <a:lnTo>
                  <a:pt x="37503" y="0"/>
                </a:lnTo>
                <a:lnTo>
                  <a:pt x="43243" y="0"/>
                </a:lnTo>
                <a:lnTo>
                  <a:pt x="1537906" y="0"/>
                </a:lnTo>
                <a:lnTo>
                  <a:pt x="1543646" y="0"/>
                </a:lnTo>
                <a:lnTo>
                  <a:pt x="1549158" y="1092"/>
                </a:lnTo>
                <a:lnTo>
                  <a:pt x="1554454" y="3289"/>
                </a:lnTo>
                <a:lnTo>
                  <a:pt x="1559750" y="5486"/>
                </a:lnTo>
                <a:lnTo>
                  <a:pt x="1581150" y="37515"/>
                </a:lnTo>
                <a:lnTo>
                  <a:pt x="1581150" y="43243"/>
                </a:lnTo>
                <a:lnTo>
                  <a:pt x="1581150" y="204406"/>
                </a:lnTo>
                <a:lnTo>
                  <a:pt x="1581150" y="210146"/>
                </a:lnTo>
                <a:lnTo>
                  <a:pt x="1580057" y="215658"/>
                </a:lnTo>
                <a:lnTo>
                  <a:pt x="1577860" y="220954"/>
                </a:lnTo>
                <a:lnTo>
                  <a:pt x="1575663" y="226250"/>
                </a:lnTo>
                <a:lnTo>
                  <a:pt x="1554454" y="244360"/>
                </a:lnTo>
                <a:lnTo>
                  <a:pt x="1549158" y="246557"/>
                </a:lnTo>
                <a:lnTo>
                  <a:pt x="1543646" y="247650"/>
                </a:lnTo>
                <a:lnTo>
                  <a:pt x="1537906" y="247650"/>
                </a:lnTo>
                <a:lnTo>
                  <a:pt x="43243" y="247650"/>
                </a:lnTo>
                <a:lnTo>
                  <a:pt x="37503" y="247650"/>
                </a:lnTo>
                <a:lnTo>
                  <a:pt x="31991" y="246557"/>
                </a:lnTo>
                <a:lnTo>
                  <a:pt x="26695" y="244360"/>
                </a:lnTo>
                <a:lnTo>
                  <a:pt x="21399" y="242163"/>
                </a:lnTo>
                <a:lnTo>
                  <a:pt x="3289" y="220954"/>
                </a:lnTo>
                <a:lnTo>
                  <a:pt x="1092" y="215658"/>
                </a:lnTo>
                <a:lnTo>
                  <a:pt x="0" y="210146"/>
                </a:lnTo>
                <a:lnTo>
                  <a:pt x="0" y="204406"/>
                </a:lnTo>
                <a:close/>
              </a:path>
            </a:pathLst>
          </a:custGeom>
          <a:ln w="9525">
            <a:solidFill>
              <a:srgbClr val="485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9" y="497840"/>
            <a:ext cx="141414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4850BB"/>
                </a:solidFill>
                <a:latin typeface="Tahoma"/>
                <a:cs typeface="Tahoma"/>
              </a:rPr>
              <a:t>TABLE</a:t>
            </a:r>
            <a:r>
              <a:rPr dirty="0" sz="1050" spc="25">
                <a:solidFill>
                  <a:srgbClr val="4850BB"/>
                </a:solidFill>
                <a:latin typeface="Tahoma"/>
                <a:cs typeface="Tahoma"/>
              </a:rPr>
              <a:t> </a:t>
            </a:r>
            <a:r>
              <a:rPr dirty="0" sz="1050" spc="65">
                <a:solidFill>
                  <a:srgbClr val="4850BB"/>
                </a:solidFill>
                <a:latin typeface="Tahoma"/>
                <a:cs typeface="Tahoma"/>
              </a:rPr>
              <a:t>OF</a:t>
            </a:r>
            <a:r>
              <a:rPr dirty="0" sz="1050" spc="30">
                <a:solidFill>
                  <a:srgbClr val="4850BB"/>
                </a:solidFill>
                <a:latin typeface="Tahoma"/>
                <a:cs typeface="Tahoma"/>
              </a:rPr>
              <a:t> </a:t>
            </a:r>
            <a:r>
              <a:rPr dirty="0" sz="1050" spc="60">
                <a:solidFill>
                  <a:srgbClr val="4850BB"/>
                </a:solidFill>
                <a:latin typeface="Tahoma"/>
                <a:cs typeface="Tahoma"/>
              </a:rPr>
              <a:t>CONTENTS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5975" y="777875"/>
            <a:ext cx="18542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Contents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975" y="1526539"/>
            <a:ext cx="9796145" cy="606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report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structured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build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understanding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progressively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starting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basics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SAP,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then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moving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through 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detail,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finally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exploring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everything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connects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context.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Introduction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FICO?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FI </a:t>
            </a:r>
            <a:r>
              <a:rPr dirty="0" sz="1350" spc="-70">
                <a:solidFill>
                  <a:srgbClr val="272424"/>
                </a:solidFill>
                <a:latin typeface="Tahoma"/>
                <a:cs typeface="Tahoma"/>
              </a:rPr>
              <a:t>–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endParaRPr sz="135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Tahoma"/>
                <a:cs typeface="Tahoma"/>
              </a:rPr>
              <a:t>–</a:t>
            </a:r>
            <a:r>
              <a:rPr dirty="0" sz="135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Controlling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Key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Functionalities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endParaRPr sz="135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Works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Integration</a:t>
            </a:r>
            <a:r>
              <a:rPr dirty="0" sz="13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Other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Modules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End-to-End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Example</a:t>
            </a:r>
            <a:endParaRPr sz="135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Real-World 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Cases</a:t>
            </a:r>
            <a:endParaRPr sz="1350">
              <a:latin typeface="Tahoma"/>
              <a:cs typeface="Tahoma"/>
            </a:endParaRPr>
          </a:p>
          <a:p>
            <a:pPr marL="285750" indent="-27305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5750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Benefits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FICO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Challenges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Limitations</a:t>
            </a:r>
            <a:endParaRPr sz="1350">
              <a:latin typeface="Tahoma"/>
              <a:cs typeface="Tahoma"/>
            </a:endParaRPr>
          </a:p>
          <a:p>
            <a:pPr marL="285750" indent="-27305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5750" algn="l"/>
              </a:tabLst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S/4HANA</a:t>
            </a:r>
            <a:endParaRPr sz="1350">
              <a:latin typeface="Tahoma"/>
              <a:cs typeface="Tahoma"/>
            </a:endParaRPr>
          </a:p>
          <a:p>
            <a:pPr marL="285750" indent="-27305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5750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Importance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Learning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Outcomes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Week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1350">
              <a:latin typeface="Tahoma"/>
              <a:cs typeface="Tahoma"/>
            </a:endParaRPr>
          </a:p>
          <a:p>
            <a:pPr marL="285750" indent="-27305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285750" algn="l"/>
              </a:tabLst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Conclusion</a:t>
            </a:r>
            <a:endParaRPr sz="1350">
              <a:latin typeface="Tahoma"/>
              <a:cs typeface="Tahoma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References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2798" y="415401"/>
            <a:ext cx="764540" cy="224790"/>
          </a:xfrm>
          <a:custGeom>
            <a:avLst/>
            <a:gdLst/>
            <a:ahLst/>
            <a:cxnLst/>
            <a:rect l="l" t="t" r="r" b="b"/>
            <a:pathLst>
              <a:path w="764540" h="224790">
                <a:moveTo>
                  <a:pt x="728015" y="0"/>
                </a:moveTo>
                <a:lnTo>
                  <a:pt x="36322" y="0"/>
                </a:lnTo>
                <a:lnTo>
                  <a:pt x="30983" y="1107"/>
                </a:lnTo>
                <a:lnTo>
                  <a:pt x="1063" y="31016"/>
                </a:lnTo>
                <a:lnTo>
                  <a:pt x="0" y="36333"/>
                </a:lnTo>
                <a:lnTo>
                  <a:pt x="0" y="182444"/>
                </a:lnTo>
                <a:lnTo>
                  <a:pt x="0" y="187982"/>
                </a:lnTo>
                <a:lnTo>
                  <a:pt x="30983" y="223209"/>
                </a:lnTo>
                <a:lnTo>
                  <a:pt x="36322" y="224316"/>
                </a:lnTo>
                <a:lnTo>
                  <a:pt x="728015" y="224316"/>
                </a:lnTo>
                <a:lnTo>
                  <a:pt x="763275" y="193300"/>
                </a:lnTo>
                <a:lnTo>
                  <a:pt x="764338" y="187982"/>
                </a:lnTo>
                <a:lnTo>
                  <a:pt x="764338" y="36333"/>
                </a:lnTo>
                <a:lnTo>
                  <a:pt x="733355" y="1107"/>
                </a:lnTo>
                <a:lnTo>
                  <a:pt x="728015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0098" y="397728"/>
            <a:ext cx="8517890" cy="1405128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365"/>
              </a:spcBef>
            </a:pPr>
            <a:r>
              <a:rPr dirty="0" sz="95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9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950" spc="-105" b="1">
                <a:latin typeface="Tahoma"/>
                <a:cs typeface="Tahoma"/>
              </a:rPr>
              <a:t>Introduction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understanding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FICO,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organizations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one.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350" spc="-105" b="1">
                <a:latin typeface="Tahoma"/>
                <a:cs typeface="Tahoma"/>
              </a:rPr>
              <a:t>What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35" b="1">
                <a:latin typeface="Tahoma"/>
                <a:cs typeface="Tahoma"/>
              </a:rPr>
              <a:t>is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an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130" b="1">
                <a:latin typeface="Tahoma"/>
                <a:cs typeface="Tahoma"/>
              </a:rPr>
              <a:t>ERP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10" b="1">
                <a:latin typeface="Tahoma"/>
                <a:cs typeface="Tahoma"/>
              </a:rPr>
              <a:t>System?</a:t>
            </a:r>
            <a:endParaRPr sz="2350">
              <a:latin typeface="Tahoma"/>
              <a:cs typeface="Tahoma"/>
            </a:endParaRPr>
          </a:p>
          <a:p>
            <a:pPr marL="12700" marR="124460">
              <a:lnSpc>
                <a:spcPct val="135100"/>
              </a:lnSpc>
              <a:spcBef>
                <a:spcPts val="1625"/>
              </a:spcBef>
            </a:pP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stands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72424"/>
                </a:solidFill>
                <a:latin typeface="Tahoma"/>
                <a:cs typeface="Tahoma"/>
              </a:rPr>
              <a:t>Enterprise</a:t>
            </a:r>
            <a:r>
              <a:rPr dirty="0" sz="11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272424"/>
                </a:solidFill>
                <a:latin typeface="Tahoma"/>
                <a:cs typeface="Tahoma"/>
              </a:rPr>
              <a:t>Resource</a:t>
            </a:r>
            <a:r>
              <a:rPr dirty="0" sz="11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40" b="1">
                <a:solidFill>
                  <a:srgbClr val="272424"/>
                </a:solidFill>
                <a:latin typeface="Tahoma"/>
                <a:cs typeface="Tahoma"/>
              </a:rPr>
              <a:t>Planning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simple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terms,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software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manage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its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day-to-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day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activities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things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like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purchasing,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selling,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manufacturing,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paying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employees,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keeping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financial records.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1310"/>
              </a:spcBef>
            </a:pP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Without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system,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different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departments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often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separate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software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even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manual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spreadsheets.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sales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might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track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orders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system,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warehouse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might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track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inventory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another,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5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might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third.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creates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problems: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gets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duplicated,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errors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creep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in,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becomes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difficult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get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clear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picture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performing.</a:t>
            </a:r>
            <a:endParaRPr sz="1150">
              <a:latin typeface="Tahoma"/>
              <a:cs typeface="Tahoma"/>
            </a:endParaRPr>
          </a:p>
          <a:p>
            <a:pPr marL="12700" marR="203200">
              <a:lnSpc>
                <a:spcPct val="135100"/>
              </a:lnSpc>
              <a:spcBef>
                <a:spcPts val="1340"/>
              </a:spcBef>
            </a:pP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solves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by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bringing</a:t>
            </a:r>
            <a:r>
              <a:rPr dirty="0" sz="11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these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functions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single,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connected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platform.</a:t>
            </a:r>
            <a:r>
              <a:rPr dirty="0" sz="11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sales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 sale,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immediately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see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revenue.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warehouse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receives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goods,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purchasing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team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knows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stock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arrived.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Everything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linked,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flows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automatically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between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departments.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350" spc="-105" b="1">
                <a:latin typeface="Tahoma"/>
                <a:cs typeface="Tahoma"/>
              </a:rPr>
              <a:t>What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35" b="1">
                <a:latin typeface="Tahoma"/>
                <a:cs typeface="Tahoma"/>
              </a:rPr>
              <a:t>is</a:t>
            </a:r>
            <a:r>
              <a:rPr dirty="0" sz="2350" spc="-24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SAP?</a:t>
            </a:r>
            <a:endParaRPr sz="2350">
              <a:latin typeface="Tahoma"/>
              <a:cs typeface="Tahoma"/>
            </a:endParaRPr>
          </a:p>
          <a:p>
            <a:pPr marL="12700" marR="163830">
              <a:lnSpc>
                <a:spcPct val="135900"/>
              </a:lnSpc>
              <a:spcBef>
                <a:spcPts val="1614"/>
              </a:spcBef>
            </a:pP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world's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leading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software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providers.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was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founded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Germany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1972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today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serves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hundreds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thousands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organizations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almost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industry.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0">
                <a:solidFill>
                  <a:srgbClr val="272424"/>
                </a:solidFill>
                <a:latin typeface="Tahoma"/>
                <a:cs typeface="Tahoma"/>
              </a:rPr>
              <a:t>SAP's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software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covers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wide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range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business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processes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human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resources,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supply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chain,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manufacturing,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1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relationship management.</a:t>
            </a:r>
            <a:endParaRPr sz="1150">
              <a:latin typeface="Tahoma"/>
              <a:cs typeface="Tahoma"/>
            </a:endParaRPr>
          </a:p>
          <a:p>
            <a:pPr marL="12700" marR="41275">
              <a:lnSpc>
                <a:spcPct val="136300"/>
              </a:lnSpc>
              <a:spcBef>
                <a:spcPts val="1255"/>
              </a:spcBef>
            </a:pP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word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"SAP"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originally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stood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-90" i="1">
                <a:solidFill>
                  <a:srgbClr val="272424"/>
                </a:solidFill>
                <a:latin typeface="Verdana"/>
                <a:cs typeface="Verdana"/>
              </a:rPr>
              <a:t>Systemanalyse</a:t>
            </a:r>
            <a:r>
              <a:rPr dirty="0" sz="1200" spc="1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00" spc="-85" i="1">
                <a:solidFill>
                  <a:srgbClr val="272424"/>
                </a:solidFill>
                <a:latin typeface="Verdana"/>
                <a:cs typeface="Verdana"/>
              </a:rPr>
              <a:t>Programmentwicklung</a:t>
            </a:r>
            <a:r>
              <a:rPr dirty="0" sz="1200" spc="-5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(System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Analysis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Program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Development),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but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today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simply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known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SAP.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company's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well-known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ERP,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evolved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decades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current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called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 b="1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72424"/>
                </a:solidFill>
                <a:latin typeface="Tahoma"/>
                <a:cs typeface="Tahoma"/>
              </a:rPr>
              <a:t>S/4HANA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350" spc="-50" b="1">
                <a:latin typeface="Tahoma"/>
                <a:cs typeface="Tahoma"/>
              </a:rPr>
              <a:t>Why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75" b="1">
                <a:latin typeface="Tahoma"/>
                <a:cs typeface="Tahoma"/>
              </a:rPr>
              <a:t>Finance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35" b="1">
                <a:latin typeface="Tahoma"/>
                <a:cs typeface="Tahoma"/>
              </a:rPr>
              <a:t>is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10" b="1">
                <a:latin typeface="Tahoma"/>
                <a:cs typeface="Tahoma"/>
              </a:rPr>
              <a:t>Central</a:t>
            </a:r>
            <a:endParaRPr sz="2350">
              <a:latin typeface="Tahoma"/>
              <a:cs typeface="Tahoma"/>
            </a:endParaRPr>
          </a:p>
          <a:p>
            <a:pPr marL="12700" marR="74295">
              <a:lnSpc>
                <a:spcPct val="135100"/>
              </a:lnSpc>
              <a:spcBef>
                <a:spcPts val="1625"/>
              </a:spcBef>
            </a:pP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activity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financial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effect.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buys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raw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materials,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money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leaves.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sells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product,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money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comes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in.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pays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employees,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expense.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invests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machinery,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asset.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 separate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world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connected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everything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does.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Tahoma"/>
              <a:cs typeface="Tahoma"/>
            </a:endParaRPr>
          </a:p>
          <a:p>
            <a:pPr marL="12700" marR="41275">
              <a:lnSpc>
                <a:spcPct val="135900"/>
              </a:lnSpc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needs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be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connected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purchasing,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sales,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production,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human</a:t>
            </a:r>
            <a:r>
              <a:rPr dirty="0" sz="11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resources.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does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know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purchasing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ordered,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cannot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accurately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track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owes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suppliers.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do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know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sales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sold,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cannot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accurately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record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revenue.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Integrated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financial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essential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reporting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good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making.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350" spc="-110" b="1">
                <a:latin typeface="Tahoma"/>
                <a:cs typeface="Tahoma"/>
              </a:rPr>
              <a:t>What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35" b="1">
                <a:latin typeface="Tahoma"/>
                <a:cs typeface="Tahoma"/>
              </a:rPr>
              <a:t>is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10" b="1">
                <a:latin typeface="Tahoma"/>
                <a:cs typeface="Tahoma"/>
              </a:rPr>
              <a:t>SAP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FICO?</a:t>
            </a:r>
            <a:endParaRPr sz="2350">
              <a:latin typeface="Tahoma"/>
              <a:cs typeface="Tahoma"/>
            </a:endParaRPr>
          </a:p>
          <a:p>
            <a:pPr marL="12700" marR="179070">
              <a:lnSpc>
                <a:spcPct val="135100"/>
              </a:lnSpc>
              <a:spcBef>
                <a:spcPts val="1620"/>
              </a:spcBef>
            </a:pP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module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ERP.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name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combination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two</a:t>
            </a:r>
            <a:r>
              <a:rPr dirty="0" sz="11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components: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14" b="1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1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40" b="1">
                <a:solidFill>
                  <a:srgbClr val="272424"/>
                </a:solidFill>
                <a:latin typeface="Tahoma"/>
                <a:cs typeface="Tahoma"/>
              </a:rPr>
              <a:t>(Financial</a:t>
            </a:r>
            <a:r>
              <a:rPr dirty="0" sz="11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72424"/>
                </a:solidFill>
                <a:latin typeface="Tahoma"/>
                <a:cs typeface="Tahoma"/>
              </a:rPr>
              <a:t>Accounting)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b="1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15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50" b="1">
                <a:solidFill>
                  <a:srgbClr val="272424"/>
                </a:solidFill>
                <a:latin typeface="Tahoma"/>
                <a:cs typeface="Tahoma"/>
              </a:rPr>
              <a:t>(Controlling)</a:t>
            </a:r>
            <a:r>
              <a:rPr dirty="0" sz="1150" spc="-5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Together,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handle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recording,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reporting,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1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1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an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organization.</a:t>
            </a:r>
            <a:endParaRPr sz="1150">
              <a:latin typeface="Tahoma"/>
              <a:cs typeface="Tahoma"/>
            </a:endParaRPr>
          </a:p>
          <a:p>
            <a:pPr algn="just" marL="12700" marR="80645">
              <a:lnSpc>
                <a:spcPct val="137500"/>
              </a:lnSpc>
              <a:spcBef>
                <a:spcPts val="1310"/>
              </a:spcBef>
            </a:pP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important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modules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any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implementation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272424"/>
                </a:solidFill>
                <a:latin typeface="Tahoma"/>
                <a:cs typeface="Tahoma"/>
              </a:rPr>
              <a:t>because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captures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1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impact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every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business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transaction.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Whether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buying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materials,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paying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salaries,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selling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products,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investing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equipment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272424"/>
                </a:solidFill>
                <a:latin typeface="Tahoma"/>
                <a:cs typeface="Tahoma"/>
              </a:rPr>
              <a:t>—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FICO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it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makes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available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analysis.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350" spc="-75" b="1">
                <a:latin typeface="Tahoma"/>
                <a:cs typeface="Tahoma"/>
              </a:rPr>
              <a:t>Purpose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30" b="1">
                <a:latin typeface="Tahoma"/>
                <a:cs typeface="Tahoma"/>
              </a:rPr>
              <a:t>of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35" b="1">
                <a:latin typeface="Tahoma"/>
                <a:cs typeface="Tahoma"/>
              </a:rPr>
              <a:t>This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100" b="1">
                <a:latin typeface="Tahoma"/>
                <a:cs typeface="Tahoma"/>
              </a:rPr>
              <a:t>Week</a:t>
            </a:r>
            <a:r>
              <a:rPr dirty="0" sz="2350" spc="-240" b="1">
                <a:latin typeface="Tahoma"/>
                <a:cs typeface="Tahoma"/>
              </a:rPr>
              <a:t> </a:t>
            </a:r>
            <a:r>
              <a:rPr dirty="0" sz="2350" spc="-495" b="1">
                <a:latin typeface="Tahoma"/>
                <a:cs typeface="Tahoma"/>
              </a:rPr>
              <a:t>1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10" b="1">
                <a:latin typeface="Tahoma"/>
                <a:cs typeface="Tahoma"/>
              </a:rPr>
              <a:t>Study</a:t>
            </a:r>
            <a:endParaRPr sz="2350">
              <a:latin typeface="Tahoma"/>
              <a:cs typeface="Tahoma"/>
            </a:endParaRPr>
          </a:p>
          <a:p>
            <a:pPr marL="12700" marR="387350">
              <a:lnSpc>
                <a:spcPct val="135100"/>
              </a:lnSpc>
              <a:spcBef>
                <a:spcPts val="1625"/>
              </a:spcBef>
            </a:pP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goal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first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week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build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solid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conceptual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foundation.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working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any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practice,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5">
                <a:solidFill>
                  <a:srgbClr val="272424"/>
                </a:solidFill>
                <a:latin typeface="Tahoma"/>
                <a:cs typeface="Tahoma"/>
              </a:rPr>
              <a:t>is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important to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what the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does,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structured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way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it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is,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it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connects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dirty="0" sz="11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business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processes.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 This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report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documents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that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learning.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098" y="14684202"/>
            <a:ext cx="541337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125" b="1">
                <a:latin typeface="Tahoma"/>
                <a:cs typeface="Tahoma"/>
              </a:rPr>
              <a:t>How</a:t>
            </a:r>
            <a:r>
              <a:rPr dirty="0" sz="2350" spc="-225" b="1">
                <a:latin typeface="Tahoma"/>
                <a:cs typeface="Tahoma"/>
              </a:rPr>
              <a:t> </a:t>
            </a:r>
            <a:r>
              <a:rPr dirty="0" sz="2350" spc="-130" b="1">
                <a:latin typeface="Tahoma"/>
                <a:cs typeface="Tahoma"/>
              </a:rPr>
              <a:t>ERP</a:t>
            </a:r>
            <a:r>
              <a:rPr dirty="0" sz="2350" spc="-22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Connects</a:t>
            </a:r>
            <a:r>
              <a:rPr dirty="0" sz="2350" spc="-220" b="1">
                <a:latin typeface="Tahoma"/>
                <a:cs typeface="Tahoma"/>
              </a:rPr>
              <a:t> </a:t>
            </a:r>
            <a:r>
              <a:rPr dirty="0" sz="2350" spc="-65" b="1">
                <a:latin typeface="Tahoma"/>
                <a:cs typeface="Tahoma"/>
              </a:rPr>
              <a:t>Business</a:t>
            </a:r>
            <a:r>
              <a:rPr dirty="0" sz="2350" spc="-220" b="1">
                <a:latin typeface="Tahoma"/>
                <a:cs typeface="Tahoma"/>
              </a:rPr>
              <a:t> </a:t>
            </a:r>
            <a:r>
              <a:rPr dirty="0" sz="2350" spc="-55" b="1">
                <a:latin typeface="Tahoma"/>
                <a:cs typeface="Tahoma"/>
              </a:rPr>
              <a:t>Functions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6854" y="15467311"/>
            <a:ext cx="8195945" cy="3411220"/>
          </a:xfrm>
          <a:custGeom>
            <a:avLst/>
            <a:gdLst/>
            <a:ahLst/>
            <a:cxnLst/>
            <a:rect l="l" t="t" r="r" b="b"/>
            <a:pathLst>
              <a:path w="8195945" h="3411219">
                <a:moveTo>
                  <a:pt x="1879287" y="0"/>
                </a:moveTo>
                <a:lnTo>
                  <a:pt x="251511" y="0"/>
                </a:lnTo>
                <a:lnTo>
                  <a:pt x="203545" y="6444"/>
                </a:lnTo>
                <a:lnTo>
                  <a:pt x="160444" y="24632"/>
                </a:lnTo>
                <a:lnTo>
                  <a:pt x="123928" y="52844"/>
                </a:lnTo>
                <a:lnTo>
                  <a:pt x="95716" y="89360"/>
                </a:lnTo>
                <a:lnTo>
                  <a:pt x="77528" y="132461"/>
                </a:lnTo>
                <a:lnTo>
                  <a:pt x="71083" y="180428"/>
                </a:lnTo>
                <a:lnTo>
                  <a:pt x="71083" y="1632250"/>
                </a:lnTo>
                <a:lnTo>
                  <a:pt x="42900" y="1642910"/>
                </a:lnTo>
                <a:lnTo>
                  <a:pt x="20362" y="1662080"/>
                </a:lnTo>
                <a:lnTo>
                  <a:pt x="5414" y="1687820"/>
                </a:lnTo>
                <a:lnTo>
                  <a:pt x="0" y="1718188"/>
                </a:lnTo>
                <a:lnTo>
                  <a:pt x="6875" y="1752237"/>
                </a:lnTo>
                <a:lnTo>
                  <a:pt x="25624" y="1780043"/>
                </a:lnTo>
                <a:lnTo>
                  <a:pt x="53434" y="1798791"/>
                </a:lnTo>
                <a:lnTo>
                  <a:pt x="87489" y="1805666"/>
                </a:lnTo>
                <a:lnTo>
                  <a:pt x="121537" y="1798791"/>
                </a:lnTo>
                <a:lnTo>
                  <a:pt x="149343" y="1780043"/>
                </a:lnTo>
                <a:lnTo>
                  <a:pt x="168092" y="1752237"/>
                </a:lnTo>
                <a:lnTo>
                  <a:pt x="174967" y="1718188"/>
                </a:lnTo>
                <a:lnTo>
                  <a:pt x="169552" y="1687820"/>
                </a:lnTo>
                <a:lnTo>
                  <a:pt x="154604" y="1662080"/>
                </a:lnTo>
                <a:lnTo>
                  <a:pt x="132066" y="1642910"/>
                </a:lnTo>
                <a:lnTo>
                  <a:pt x="103883" y="1632250"/>
                </a:lnTo>
                <a:lnTo>
                  <a:pt x="103883" y="180428"/>
                </a:lnTo>
                <a:lnTo>
                  <a:pt x="111410" y="133767"/>
                </a:lnTo>
                <a:lnTo>
                  <a:pt x="132368" y="93242"/>
                </a:lnTo>
                <a:lnTo>
                  <a:pt x="164325" y="61284"/>
                </a:lnTo>
                <a:lnTo>
                  <a:pt x="204851" y="40326"/>
                </a:lnTo>
                <a:lnTo>
                  <a:pt x="251511" y="32800"/>
                </a:lnTo>
                <a:lnTo>
                  <a:pt x="1879287" y="32800"/>
                </a:lnTo>
                <a:lnTo>
                  <a:pt x="1925946" y="40326"/>
                </a:lnTo>
                <a:lnTo>
                  <a:pt x="1966469" y="61284"/>
                </a:lnTo>
                <a:lnTo>
                  <a:pt x="1998423" y="93242"/>
                </a:lnTo>
                <a:lnTo>
                  <a:pt x="2019378" y="133767"/>
                </a:lnTo>
                <a:lnTo>
                  <a:pt x="2026904" y="180428"/>
                </a:lnTo>
                <a:lnTo>
                  <a:pt x="2026904" y="1715641"/>
                </a:lnTo>
                <a:lnTo>
                  <a:pt x="1974563" y="1663300"/>
                </a:lnTo>
                <a:lnTo>
                  <a:pt x="1966776" y="1663300"/>
                </a:lnTo>
                <a:lnTo>
                  <a:pt x="1957172" y="1672904"/>
                </a:lnTo>
                <a:lnTo>
                  <a:pt x="1957172" y="1680692"/>
                </a:lnTo>
                <a:lnTo>
                  <a:pt x="2026904" y="1750424"/>
                </a:lnTo>
                <a:lnTo>
                  <a:pt x="2026904" y="3224246"/>
                </a:lnTo>
                <a:lnTo>
                  <a:pt x="2033318" y="3272099"/>
                </a:lnTo>
                <a:lnTo>
                  <a:pt x="2051423" y="3315121"/>
                </a:lnTo>
                <a:lnTo>
                  <a:pt x="2079516" y="3351601"/>
                </a:lnTo>
                <a:lnTo>
                  <a:pt x="2115890" y="3379827"/>
                </a:lnTo>
                <a:lnTo>
                  <a:pt x="2158842" y="3398088"/>
                </a:lnTo>
                <a:lnTo>
                  <a:pt x="2206667" y="3404674"/>
                </a:lnTo>
                <a:lnTo>
                  <a:pt x="3961090" y="3411154"/>
                </a:lnTo>
                <a:lnTo>
                  <a:pt x="4009195" y="3404858"/>
                </a:lnTo>
                <a:lnTo>
                  <a:pt x="4052446" y="3386745"/>
                </a:lnTo>
                <a:lnTo>
                  <a:pt x="4089107" y="3358546"/>
                </a:lnTo>
                <a:lnTo>
                  <a:pt x="4117443" y="3321990"/>
                </a:lnTo>
                <a:lnTo>
                  <a:pt x="4135717" y="3278807"/>
                </a:lnTo>
                <a:lnTo>
                  <a:pt x="4142194" y="3230726"/>
                </a:lnTo>
                <a:lnTo>
                  <a:pt x="4142194" y="1708751"/>
                </a:lnTo>
                <a:lnTo>
                  <a:pt x="4198312" y="1764869"/>
                </a:lnTo>
                <a:lnTo>
                  <a:pt x="4206100" y="1764869"/>
                </a:lnTo>
                <a:lnTo>
                  <a:pt x="4215704" y="1755253"/>
                </a:lnTo>
                <a:lnTo>
                  <a:pt x="4215704" y="1747477"/>
                </a:lnTo>
                <a:lnTo>
                  <a:pt x="4142194" y="1673968"/>
                </a:lnTo>
                <a:lnTo>
                  <a:pt x="4142194" y="187506"/>
                </a:lnTo>
                <a:lnTo>
                  <a:pt x="4149683" y="140956"/>
                </a:lnTo>
                <a:lnTo>
                  <a:pt x="4170545" y="100501"/>
                </a:lnTo>
                <a:lnTo>
                  <a:pt x="4202369" y="68557"/>
                </a:lnTo>
                <a:lnTo>
                  <a:pt x="4242746" y="47544"/>
                </a:lnTo>
                <a:lnTo>
                  <a:pt x="4289269" y="39878"/>
                </a:lnTo>
                <a:lnTo>
                  <a:pt x="6023232" y="33420"/>
                </a:lnTo>
                <a:lnTo>
                  <a:pt x="6070030" y="40806"/>
                </a:lnTo>
                <a:lnTo>
                  <a:pt x="6110700" y="61706"/>
                </a:lnTo>
                <a:lnTo>
                  <a:pt x="6142788" y="93675"/>
                </a:lnTo>
                <a:lnTo>
                  <a:pt x="6163840" y="134267"/>
                </a:lnTo>
                <a:lnTo>
                  <a:pt x="6171403" y="181037"/>
                </a:lnTo>
                <a:lnTo>
                  <a:pt x="6171403" y="1718443"/>
                </a:lnTo>
                <a:lnTo>
                  <a:pt x="6116271" y="1663300"/>
                </a:lnTo>
                <a:lnTo>
                  <a:pt x="6108472" y="1663300"/>
                </a:lnTo>
                <a:lnTo>
                  <a:pt x="6098868" y="1672904"/>
                </a:lnTo>
                <a:lnTo>
                  <a:pt x="6098868" y="1680692"/>
                </a:lnTo>
                <a:lnTo>
                  <a:pt x="6171403" y="1753237"/>
                </a:lnTo>
                <a:lnTo>
                  <a:pt x="6171403" y="3223648"/>
                </a:lnTo>
                <a:lnTo>
                  <a:pt x="6177848" y="3271614"/>
                </a:lnTo>
                <a:lnTo>
                  <a:pt x="6196038" y="3314715"/>
                </a:lnTo>
                <a:lnTo>
                  <a:pt x="6224251" y="3351231"/>
                </a:lnTo>
                <a:lnTo>
                  <a:pt x="6260768" y="3379443"/>
                </a:lnTo>
                <a:lnTo>
                  <a:pt x="6303868" y="3397631"/>
                </a:lnTo>
                <a:lnTo>
                  <a:pt x="6351831" y="3404076"/>
                </a:lnTo>
                <a:lnTo>
                  <a:pt x="7944414" y="3404076"/>
                </a:lnTo>
                <a:lnTo>
                  <a:pt x="7992376" y="3397631"/>
                </a:lnTo>
                <a:lnTo>
                  <a:pt x="8035476" y="3379443"/>
                </a:lnTo>
                <a:lnTo>
                  <a:pt x="8071993" y="3351231"/>
                </a:lnTo>
                <a:lnTo>
                  <a:pt x="8100206" y="3314715"/>
                </a:lnTo>
                <a:lnTo>
                  <a:pt x="8118396" y="3271614"/>
                </a:lnTo>
                <a:lnTo>
                  <a:pt x="8124842" y="3223648"/>
                </a:lnTo>
                <a:lnTo>
                  <a:pt x="8124842" y="1804105"/>
                </a:lnTo>
                <a:lnTo>
                  <a:pt x="8153025" y="1793447"/>
                </a:lnTo>
                <a:lnTo>
                  <a:pt x="8175562" y="1774281"/>
                </a:lnTo>
                <a:lnTo>
                  <a:pt x="8190510" y="1748549"/>
                </a:lnTo>
                <a:lnTo>
                  <a:pt x="8195925" y="1718188"/>
                </a:lnTo>
                <a:lnTo>
                  <a:pt x="8189050" y="1684134"/>
                </a:lnTo>
                <a:lnTo>
                  <a:pt x="8170300" y="1656324"/>
                </a:lnTo>
                <a:lnTo>
                  <a:pt x="8142491" y="1637575"/>
                </a:lnTo>
                <a:lnTo>
                  <a:pt x="8108436" y="1630699"/>
                </a:lnTo>
                <a:lnTo>
                  <a:pt x="8074388" y="1637575"/>
                </a:lnTo>
                <a:lnTo>
                  <a:pt x="8046581" y="1656324"/>
                </a:lnTo>
                <a:lnTo>
                  <a:pt x="8027833" y="1684134"/>
                </a:lnTo>
                <a:lnTo>
                  <a:pt x="8020958" y="1718188"/>
                </a:lnTo>
                <a:lnTo>
                  <a:pt x="8026373" y="1748549"/>
                </a:lnTo>
                <a:lnTo>
                  <a:pt x="8041321" y="1774281"/>
                </a:lnTo>
                <a:lnTo>
                  <a:pt x="8063859" y="1793447"/>
                </a:lnTo>
                <a:lnTo>
                  <a:pt x="8092042" y="1804105"/>
                </a:lnTo>
                <a:lnTo>
                  <a:pt x="8092042" y="3223648"/>
                </a:lnTo>
                <a:lnTo>
                  <a:pt x="8084515" y="3270308"/>
                </a:lnTo>
                <a:lnTo>
                  <a:pt x="8063557" y="3310833"/>
                </a:lnTo>
                <a:lnTo>
                  <a:pt x="8031599" y="3342791"/>
                </a:lnTo>
                <a:lnTo>
                  <a:pt x="7991074" y="3363749"/>
                </a:lnTo>
                <a:lnTo>
                  <a:pt x="7944414" y="3371276"/>
                </a:lnTo>
                <a:lnTo>
                  <a:pt x="6351831" y="3371276"/>
                </a:lnTo>
                <a:lnTo>
                  <a:pt x="6305171" y="3363749"/>
                </a:lnTo>
                <a:lnTo>
                  <a:pt x="6264649" y="3342791"/>
                </a:lnTo>
                <a:lnTo>
                  <a:pt x="6232695" y="3310833"/>
                </a:lnTo>
                <a:lnTo>
                  <a:pt x="6211739" y="3270308"/>
                </a:lnTo>
                <a:lnTo>
                  <a:pt x="6204214" y="3223648"/>
                </a:lnTo>
                <a:lnTo>
                  <a:pt x="6204214" y="1758931"/>
                </a:lnTo>
                <a:lnTo>
                  <a:pt x="6282453" y="1680692"/>
                </a:lnTo>
                <a:lnTo>
                  <a:pt x="6282453" y="1672904"/>
                </a:lnTo>
                <a:lnTo>
                  <a:pt x="6272849" y="1663300"/>
                </a:lnTo>
                <a:lnTo>
                  <a:pt x="6265051" y="1663300"/>
                </a:lnTo>
                <a:lnTo>
                  <a:pt x="6204214" y="1724137"/>
                </a:lnTo>
                <a:lnTo>
                  <a:pt x="6204214" y="181037"/>
                </a:lnTo>
                <a:lnTo>
                  <a:pt x="6197737" y="132957"/>
                </a:lnTo>
                <a:lnTo>
                  <a:pt x="6179462" y="89775"/>
                </a:lnTo>
                <a:lnTo>
                  <a:pt x="6151127" y="53221"/>
                </a:lnTo>
                <a:lnTo>
                  <a:pt x="6114466" y="25022"/>
                </a:lnTo>
                <a:lnTo>
                  <a:pt x="6071215" y="6909"/>
                </a:lnTo>
                <a:lnTo>
                  <a:pt x="6023110" y="609"/>
                </a:lnTo>
                <a:lnTo>
                  <a:pt x="4289147" y="7078"/>
                </a:lnTo>
                <a:lnTo>
                  <a:pt x="4241322" y="13668"/>
                </a:lnTo>
                <a:lnTo>
                  <a:pt x="4198370" y="31932"/>
                </a:lnTo>
                <a:lnTo>
                  <a:pt x="4161995" y="60159"/>
                </a:lnTo>
                <a:lnTo>
                  <a:pt x="4133903" y="96638"/>
                </a:lnTo>
                <a:lnTo>
                  <a:pt x="4115797" y="139657"/>
                </a:lnTo>
                <a:lnTo>
                  <a:pt x="4109383" y="187506"/>
                </a:lnTo>
                <a:lnTo>
                  <a:pt x="4109383" y="1670201"/>
                </a:lnTo>
                <a:lnTo>
                  <a:pt x="4032118" y="1747477"/>
                </a:lnTo>
                <a:lnTo>
                  <a:pt x="4032118" y="1755253"/>
                </a:lnTo>
                <a:lnTo>
                  <a:pt x="4041723" y="1764869"/>
                </a:lnTo>
                <a:lnTo>
                  <a:pt x="4049521" y="1764869"/>
                </a:lnTo>
                <a:lnTo>
                  <a:pt x="4109383" y="1704995"/>
                </a:lnTo>
                <a:lnTo>
                  <a:pt x="4109383" y="3230726"/>
                </a:lnTo>
                <a:lnTo>
                  <a:pt x="4101822" y="3277496"/>
                </a:lnTo>
                <a:lnTo>
                  <a:pt x="4080772" y="3318089"/>
                </a:lnTo>
                <a:lnTo>
                  <a:pt x="4048687" y="3350059"/>
                </a:lnTo>
                <a:lnTo>
                  <a:pt x="4008020" y="3370963"/>
                </a:lnTo>
                <a:lnTo>
                  <a:pt x="3961223" y="3378354"/>
                </a:lnTo>
                <a:lnTo>
                  <a:pt x="2206789" y="3371874"/>
                </a:lnTo>
                <a:lnTo>
                  <a:pt x="2160267" y="3364212"/>
                </a:lnTo>
                <a:lnTo>
                  <a:pt x="2119889" y="3343199"/>
                </a:lnTo>
                <a:lnTo>
                  <a:pt x="2088065" y="3311255"/>
                </a:lnTo>
                <a:lnTo>
                  <a:pt x="2067204" y="3270797"/>
                </a:lnTo>
                <a:lnTo>
                  <a:pt x="2059715" y="3224246"/>
                </a:lnTo>
                <a:lnTo>
                  <a:pt x="2059715" y="1761734"/>
                </a:lnTo>
                <a:lnTo>
                  <a:pt x="2140757" y="1680692"/>
                </a:lnTo>
                <a:lnTo>
                  <a:pt x="2140757" y="1672904"/>
                </a:lnTo>
                <a:lnTo>
                  <a:pt x="2131153" y="1663300"/>
                </a:lnTo>
                <a:lnTo>
                  <a:pt x="2123354" y="1663300"/>
                </a:lnTo>
                <a:lnTo>
                  <a:pt x="2061266" y="1725389"/>
                </a:lnTo>
                <a:lnTo>
                  <a:pt x="2061266" y="1591065"/>
                </a:lnTo>
                <a:lnTo>
                  <a:pt x="2059715" y="1591065"/>
                </a:lnTo>
                <a:lnTo>
                  <a:pt x="2059715" y="180428"/>
                </a:lnTo>
                <a:lnTo>
                  <a:pt x="2053269" y="132461"/>
                </a:lnTo>
                <a:lnTo>
                  <a:pt x="2035080" y="89360"/>
                </a:lnTo>
                <a:lnTo>
                  <a:pt x="2006866" y="52844"/>
                </a:lnTo>
                <a:lnTo>
                  <a:pt x="1970349" y="24632"/>
                </a:lnTo>
                <a:lnTo>
                  <a:pt x="1927249" y="6444"/>
                </a:lnTo>
                <a:lnTo>
                  <a:pt x="1879287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98791" y="17750514"/>
            <a:ext cx="1305560" cy="94996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1450" spc="-80" b="1">
                <a:latin typeface="Tahoma"/>
                <a:cs typeface="Tahoma"/>
              </a:rPr>
              <a:t>ERP</a:t>
            </a:r>
            <a:r>
              <a:rPr dirty="0" sz="1450" spc="-145" b="1">
                <a:latin typeface="Tahoma"/>
                <a:cs typeface="Tahoma"/>
              </a:rPr>
              <a:t> </a:t>
            </a:r>
            <a:r>
              <a:rPr dirty="0" sz="1450" spc="-10" b="1">
                <a:latin typeface="Tahoma"/>
                <a:cs typeface="Tahoma"/>
              </a:rPr>
              <a:t>System</a:t>
            </a:r>
            <a:endParaRPr sz="1450">
              <a:latin typeface="Tahoma"/>
              <a:cs typeface="Tahoma"/>
            </a:endParaRPr>
          </a:p>
          <a:p>
            <a:pPr algn="ctr" marL="12700" marR="5080">
              <a:lnSpc>
                <a:spcPct val="105300"/>
              </a:lnSpc>
              <a:spcBef>
                <a:spcPts val="484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Integrated</a:t>
            </a:r>
            <a:r>
              <a:rPr dirty="0" sz="11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platform connecting</a:t>
            </a:r>
            <a:r>
              <a:rPr dirty="0" sz="1150" spc="5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functions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7524" y="17567011"/>
            <a:ext cx="1173480" cy="113347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8415" marR="12065" indent="5080">
              <a:lnSpc>
                <a:spcPct val="103899"/>
              </a:lnSpc>
              <a:spcBef>
                <a:spcPts val="35"/>
              </a:spcBef>
            </a:pPr>
            <a:r>
              <a:rPr dirty="0" sz="1450" spc="-50" b="1">
                <a:latin typeface="Tahoma"/>
                <a:cs typeface="Tahoma"/>
              </a:rPr>
              <a:t>Finance</a:t>
            </a:r>
            <a:r>
              <a:rPr dirty="0" sz="1450" spc="-110" b="1">
                <a:latin typeface="Tahoma"/>
                <a:cs typeface="Tahoma"/>
              </a:rPr>
              <a:t> </a:t>
            </a:r>
            <a:r>
              <a:rPr dirty="0" sz="1450" spc="-50" b="1">
                <a:latin typeface="Tahoma"/>
                <a:cs typeface="Tahoma"/>
              </a:rPr>
              <a:t>+ </a:t>
            </a:r>
            <a:r>
              <a:rPr dirty="0" sz="1450" spc="-65" b="1">
                <a:latin typeface="Tahoma"/>
                <a:cs typeface="Tahoma"/>
              </a:rPr>
              <a:t>Operations</a:t>
            </a:r>
            <a:r>
              <a:rPr dirty="0" sz="1450" spc="-90" b="1">
                <a:latin typeface="Tahoma"/>
                <a:cs typeface="Tahoma"/>
              </a:rPr>
              <a:t> </a:t>
            </a:r>
            <a:r>
              <a:rPr dirty="0" sz="1450" spc="-50" b="1">
                <a:latin typeface="Tahoma"/>
                <a:cs typeface="Tahoma"/>
              </a:rPr>
              <a:t>+ </a:t>
            </a:r>
            <a:r>
              <a:rPr dirty="0" sz="1450" spc="-60" b="1"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algn="ctr" marL="12700" marR="5080">
              <a:lnSpc>
                <a:spcPct val="103000"/>
              </a:lnSpc>
              <a:spcBef>
                <a:spcPts val="520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Unified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decision-making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0583" y="15623286"/>
            <a:ext cx="1262380" cy="91249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69850" marR="60325" indent="-635">
              <a:lnSpc>
                <a:spcPct val="103899"/>
              </a:lnSpc>
              <a:spcBef>
                <a:spcPts val="35"/>
              </a:spcBef>
            </a:pPr>
            <a:r>
              <a:rPr dirty="0" sz="1450" spc="-10" b="1">
                <a:latin typeface="Tahoma"/>
                <a:cs typeface="Tahoma"/>
              </a:rPr>
              <a:t>Business </a:t>
            </a:r>
            <a:r>
              <a:rPr dirty="0" sz="1450" spc="-70" b="1">
                <a:latin typeface="Tahoma"/>
                <a:cs typeface="Tahoma"/>
              </a:rPr>
              <a:t>Departments</a:t>
            </a:r>
            <a:endParaRPr sz="1450">
              <a:latin typeface="Tahoma"/>
              <a:cs typeface="Tahoma"/>
            </a:endParaRPr>
          </a:p>
          <a:p>
            <a:pPr algn="ctr" marL="12065" marR="5080">
              <a:lnSpc>
                <a:spcPct val="107600"/>
              </a:lnSpc>
              <a:spcBef>
                <a:spcPts val="455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Sales,</a:t>
            </a:r>
            <a:r>
              <a:rPr dirty="0" sz="1150" spc="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Purchasing,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HR,</a:t>
            </a:r>
            <a:r>
              <a:rPr dirty="0" sz="11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Production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9306" y="15623286"/>
            <a:ext cx="1019175" cy="109283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2700" marR="5080" indent="-635">
              <a:lnSpc>
                <a:spcPct val="103899"/>
              </a:lnSpc>
              <a:spcBef>
                <a:spcPts val="35"/>
              </a:spcBef>
            </a:pPr>
            <a:r>
              <a:rPr dirty="0" sz="1450" spc="-10" b="1">
                <a:latin typeface="Tahoma"/>
                <a:cs typeface="Tahoma"/>
              </a:rPr>
              <a:t>Integrated </a:t>
            </a:r>
            <a:r>
              <a:rPr dirty="0" sz="1450" spc="-100" b="1">
                <a:latin typeface="Tahoma"/>
                <a:cs typeface="Tahoma"/>
              </a:rPr>
              <a:t>Information</a:t>
            </a:r>
            <a:endParaRPr sz="1450">
              <a:latin typeface="Tahoma"/>
              <a:cs typeface="Tahoma"/>
            </a:endParaRPr>
          </a:p>
          <a:p>
            <a:pPr algn="ctr" marL="100965" marR="97790">
              <a:lnSpc>
                <a:spcPct val="105300"/>
              </a:lnSpc>
              <a:spcBef>
                <a:spcPts val="484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Shared</a:t>
            </a:r>
            <a:r>
              <a:rPr dirty="0" sz="1150" spc="1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272424"/>
                </a:solidFill>
                <a:latin typeface="Tahoma"/>
                <a:cs typeface="Tahoma"/>
              </a:rPr>
              <a:t>data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dirty="0" sz="11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272424"/>
                </a:solidFill>
                <a:latin typeface="Tahoma"/>
                <a:cs typeface="Tahoma"/>
              </a:rPr>
              <a:t>all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functions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098" y="19150598"/>
            <a:ext cx="8119109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Figure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25">
                <a:solidFill>
                  <a:srgbClr val="272424"/>
                </a:solidFill>
                <a:latin typeface="Tahoma"/>
                <a:cs typeface="Tahoma"/>
              </a:rPr>
              <a:t>1: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Simplified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relationship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between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functions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showing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1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1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272424"/>
                </a:solidFill>
                <a:latin typeface="Tahoma"/>
                <a:cs typeface="Tahoma"/>
              </a:rPr>
              <a:t>connects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different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departments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272424"/>
                </a:solidFill>
                <a:latin typeface="Tahoma"/>
                <a:cs typeface="Tahoma"/>
              </a:rPr>
              <a:t>enables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integrated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finance,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272424"/>
                </a:solidFill>
                <a:latin typeface="Tahoma"/>
                <a:cs typeface="Tahoma"/>
              </a:rPr>
              <a:t>operations,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272424"/>
                </a:solidFill>
                <a:latin typeface="Tahoma"/>
                <a:cs typeface="Tahoma"/>
              </a:rPr>
              <a:t>management.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60898"/>
            <a:ext cx="9791065" cy="164401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420"/>
              </a:spcBef>
            </a:pP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10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3350" spc="-145" b="1">
                <a:latin typeface="Tahoma"/>
                <a:cs typeface="Tahoma"/>
              </a:rPr>
              <a:t>What</a:t>
            </a:r>
            <a:r>
              <a:rPr dirty="0" sz="3350" spc="-360" b="1">
                <a:latin typeface="Tahoma"/>
                <a:cs typeface="Tahoma"/>
              </a:rPr>
              <a:t> </a:t>
            </a:r>
            <a:r>
              <a:rPr dirty="0" sz="3350" spc="-30" b="1">
                <a:latin typeface="Tahoma"/>
                <a:cs typeface="Tahoma"/>
              </a:rPr>
              <a:t>is</a:t>
            </a:r>
            <a:r>
              <a:rPr dirty="0" sz="3350" spc="-360" b="1">
                <a:latin typeface="Tahoma"/>
                <a:cs typeface="Tahoma"/>
              </a:rPr>
              <a:t> </a:t>
            </a:r>
            <a:r>
              <a:rPr dirty="0" sz="3350" b="1">
                <a:latin typeface="Tahoma"/>
                <a:cs typeface="Tahoma"/>
              </a:rPr>
              <a:t>SAP</a:t>
            </a:r>
            <a:r>
              <a:rPr dirty="0" sz="3350" spc="-355" b="1">
                <a:latin typeface="Tahoma"/>
                <a:cs typeface="Tahoma"/>
              </a:rPr>
              <a:t> </a:t>
            </a:r>
            <a:r>
              <a:rPr dirty="0" sz="3350" spc="-10" b="1">
                <a:latin typeface="Tahoma"/>
                <a:cs typeface="Tahoma"/>
              </a:rPr>
              <a:t>FICO?</a:t>
            </a:r>
            <a:endParaRPr sz="3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850"/>
              </a:spcBef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thing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two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modules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working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together.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Understanding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difference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between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them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important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foundations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 learning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finance.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975" y="2487612"/>
            <a:ext cx="4688840" cy="178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latin typeface="Tahoma"/>
                <a:cs typeface="Tahoma"/>
              </a:rPr>
              <a:t>SAP</a:t>
            </a:r>
            <a:r>
              <a:rPr dirty="0" sz="1650" spc="-150" b="1">
                <a:latin typeface="Tahoma"/>
                <a:cs typeface="Tahoma"/>
              </a:rPr>
              <a:t> </a:t>
            </a:r>
            <a:r>
              <a:rPr dirty="0" sz="1650" spc="-185" b="1">
                <a:latin typeface="Tahoma"/>
                <a:cs typeface="Tahoma"/>
              </a:rPr>
              <a:t>FI</a:t>
            </a:r>
            <a:r>
              <a:rPr dirty="0" sz="1650" spc="-145" b="1">
                <a:latin typeface="Tahoma"/>
                <a:cs typeface="Tahoma"/>
              </a:rPr>
              <a:t> </a:t>
            </a:r>
            <a:r>
              <a:rPr dirty="0" sz="1650" spc="180" b="1">
                <a:latin typeface="Tahoma"/>
                <a:cs typeface="Tahoma"/>
              </a:rPr>
              <a:t>—</a:t>
            </a:r>
            <a:r>
              <a:rPr dirty="0" sz="1650" spc="-150" b="1">
                <a:latin typeface="Tahoma"/>
                <a:cs typeface="Tahoma"/>
              </a:rPr>
              <a:t> </a:t>
            </a:r>
            <a:r>
              <a:rPr dirty="0" sz="1650" spc="-60" b="1">
                <a:latin typeface="Tahoma"/>
                <a:cs typeface="Tahoma"/>
              </a:rPr>
              <a:t>Financial</a:t>
            </a:r>
            <a:r>
              <a:rPr dirty="0" sz="1650" spc="-14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Accounting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concerned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dirty="0" sz="1350" spc="-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dirty="0" sz="1350" spc="-65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records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produces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financial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must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share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people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outside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investors,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tax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authorities,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banks,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regulators.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" y="4403090"/>
            <a:ext cx="467995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answers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questions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like: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revenue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did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we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earn?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do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we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owe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suppliers?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value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our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assets? What profit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did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we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make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year?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0930" y="2487612"/>
            <a:ext cx="4627245" cy="178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latin typeface="Tahoma"/>
                <a:cs typeface="Tahoma"/>
              </a:rPr>
              <a:t>SAP</a:t>
            </a:r>
            <a:r>
              <a:rPr dirty="0" sz="1650" spc="-170" b="1">
                <a:latin typeface="Tahoma"/>
                <a:cs typeface="Tahoma"/>
              </a:rPr>
              <a:t> </a:t>
            </a:r>
            <a:r>
              <a:rPr dirty="0" sz="1650" spc="50" b="1">
                <a:latin typeface="Tahoma"/>
                <a:cs typeface="Tahoma"/>
              </a:rPr>
              <a:t>CO</a:t>
            </a:r>
            <a:r>
              <a:rPr dirty="0" sz="1650" spc="-165" b="1">
                <a:latin typeface="Tahoma"/>
                <a:cs typeface="Tahoma"/>
              </a:rPr>
              <a:t> </a:t>
            </a:r>
            <a:r>
              <a:rPr dirty="0" sz="1650" spc="180" b="1">
                <a:latin typeface="Tahoma"/>
                <a:cs typeface="Tahoma"/>
              </a:rPr>
              <a:t>—</a:t>
            </a:r>
            <a:r>
              <a:rPr dirty="0" sz="1650" spc="-16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Controlling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concerned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350" spc="-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350" spc="-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350" spc="-7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It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managers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inside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where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money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being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spent,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departments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are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profitable,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whether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staying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its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budgets.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0930" y="4403090"/>
            <a:ext cx="452120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answers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questions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like: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spent</a:t>
            </a:r>
            <a:r>
              <a:rPr dirty="0" sz="13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travel?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highest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production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cost?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marketing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campaign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budget?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Which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segment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profitable?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975" y="5959475"/>
            <a:ext cx="9648190" cy="316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45" b="1">
                <a:latin typeface="Tahoma"/>
                <a:cs typeface="Tahoma"/>
              </a:rPr>
              <a:t>A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14" b="1">
                <a:latin typeface="Tahoma"/>
                <a:cs typeface="Tahoma"/>
              </a:rPr>
              <a:t>Simple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30" b="1">
                <a:latin typeface="Tahoma"/>
                <a:cs typeface="Tahoma"/>
              </a:rPr>
              <a:t>Example</a:t>
            </a:r>
            <a:r>
              <a:rPr dirty="0" sz="2700" spc="-270" b="1">
                <a:latin typeface="Tahoma"/>
                <a:cs typeface="Tahoma"/>
              </a:rPr>
              <a:t> </a:t>
            </a:r>
            <a:r>
              <a:rPr dirty="0" sz="2700" spc="-145" b="1">
                <a:latin typeface="Tahoma"/>
                <a:cs typeface="Tahoma"/>
              </a:rPr>
              <a:t>to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95" b="1">
                <a:latin typeface="Tahoma"/>
                <a:cs typeface="Tahoma"/>
              </a:rPr>
              <a:t>Illustrate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25" b="1">
                <a:latin typeface="Tahoma"/>
                <a:cs typeface="Tahoma"/>
              </a:rPr>
              <a:t>the</a:t>
            </a:r>
            <a:r>
              <a:rPr dirty="0" sz="2700" spc="-270" b="1">
                <a:latin typeface="Tahoma"/>
                <a:cs typeface="Tahoma"/>
              </a:rPr>
              <a:t> </a:t>
            </a:r>
            <a:r>
              <a:rPr dirty="0" sz="2700" spc="-10" b="1">
                <a:latin typeface="Tahoma"/>
                <a:cs typeface="Tahoma"/>
              </a:rPr>
              <a:t>Difference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Imagine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a company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spends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₹1,00,000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on an advertising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campaign.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160" b="1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-30" b="1">
                <a:solidFill>
                  <a:srgbClr val="272424"/>
                </a:solidFill>
                <a:latin typeface="Tahoma"/>
                <a:cs typeface="Tahoma"/>
              </a:rPr>
              <a:t> asks:</a:t>
            </a:r>
            <a:r>
              <a:rPr dirty="0" sz="1350" spc="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"What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happened?"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Tahoma"/>
                <a:cs typeface="Tahoma"/>
              </a:rPr>
              <a:t>→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answer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is: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expense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₹1,00,000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was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incurred.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will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appear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in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loss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reduce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company's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reported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profit.</a:t>
            </a:r>
            <a:endParaRPr sz="1350">
              <a:latin typeface="Tahoma"/>
              <a:cs typeface="Tahoma"/>
            </a:endParaRPr>
          </a:p>
          <a:p>
            <a:pPr marL="12700" marR="186055">
              <a:lnSpc>
                <a:spcPct val="129600"/>
              </a:lnSpc>
              <a:spcBef>
                <a:spcPts val="1575"/>
              </a:spcBef>
            </a:pP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0" b="1">
                <a:solidFill>
                  <a:srgbClr val="272424"/>
                </a:solidFill>
                <a:latin typeface="Tahoma"/>
                <a:cs typeface="Tahoma"/>
              </a:rPr>
              <a:t>asks:</a:t>
            </a:r>
            <a:r>
              <a:rPr dirty="0" sz="1350" spc="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"Which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incurred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cost,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does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compare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plan?"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Tahoma"/>
                <a:cs typeface="Tahoma"/>
              </a:rPr>
              <a:t>→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answer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is: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Marketing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spent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₹1,00,000,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budget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advertising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was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₹1,20,000,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so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still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budget.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ahoma"/>
              <a:cs typeface="Tahoma"/>
            </a:endParaRPr>
          </a:p>
          <a:p>
            <a:pPr marL="12700" marR="368300">
              <a:lnSpc>
                <a:spcPct val="129600"/>
              </a:lnSpc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Both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perspectives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important.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ensures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company's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stakeholders.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CO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ensures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managers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inside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have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need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control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make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good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decisions.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975" y="9398000"/>
            <a:ext cx="46882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315" b="1">
                <a:latin typeface="Tahoma"/>
                <a:cs typeface="Tahoma"/>
              </a:rPr>
              <a:t>FI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b="1">
                <a:latin typeface="Tahoma"/>
                <a:cs typeface="Tahoma"/>
              </a:rPr>
              <a:t>vs</a:t>
            </a:r>
            <a:r>
              <a:rPr dirty="0" sz="2700" spc="-285" b="1">
                <a:latin typeface="Tahoma"/>
                <a:cs typeface="Tahoma"/>
              </a:rPr>
              <a:t> </a:t>
            </a:r>
            <a:r>
              <a:rPr dirty="0" sz="2700" spc="50" b="1">
                <a:latin typeface="Tahoma"/>
                <a:cs typeface="Tahoma"/>
              </a:rPr>
              <a:t>CO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spc="245" b="1">
                <a:latin typeface="Tahoma"/>
                <a:cs typeface="Tahoma"/>
              </a:rPr>
              <a:t>—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spc="-90" b="1">
                <a:latin typeface="Tahoma"/>
                <a:cs typeface="Tahoma"/>
              </a:rPr>
              <a:t>Comparison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spc="-50" b="1">
                <a:latin typeface="Tahoma"/>
                <a:cs typeface="Tahoma"/>
              </a:rPr>
              <a:t>Table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3437" y="10110787"/>
            <a:ext cx="9763125" cy="4933950"/>
          </a:xfrm>
          <a:custGeom>
            <a:avLst/>
            <a:gdLst/>
            <a:ahLst/>
            <a:cxnLst/>
            <a:rect l="l" t="t" r="r" b="b"/>
            <a:pathLst>
              <a:path w="9763125" h="4933950">
                <a:moveTo>
                  <a:pt x="0" y="4878705"/>
                </a:moveTo>
                <a:lnTo>
                  <a:pt x="0" y="55245"/>
                </a:lnTo>
                <a:lnTo>
                  <a:pt x="0" y="51612"/>
                </a:lnTo>
                <a:lnTo>
                  <a:pt x="355" y="48018"/>
                </a:lnTo>
                <a:lnTo>
                  <a:pt x="1066" y="44462"/>
                </a:lnTo>
                <a:lnTo>
                  <a:pt x="1765" y="40906"/>
                </a:lnTo>
                <a:lnTo>
                  <a:pt x="2819" y="37452"/>
                </a:lnTo>
                <a:lnTo>
                  <a:pt x="4203" y="34099"/>
                </a:lnTo>
                <a:lnTo>
                  <a:pt x="5587" y="30746"/>
                </a:lnTo>
                <a:lnTo>
                  <a:pt x="7289" y="27571"/>
                </a:lnTo>
                <a:lnTo>
                  <a:pt x="9309" y="24549"/>
                </a:lnTo>
                <a:lnTo>
                  <a:pt x="11328" y="21539"/>
                </a:lnTo>
                <a:lnTo>
                  <a:pt x="13614" y="18745"/>
                </a:lnTo>
                <a:lnTo>
                  <a:pt x="16179" y="16179"/>
                </a:lnTo>
                <a:lnTo>
                  <a:pt x="18745" y="13614"/>
                </a:lnTo>
                <a:lnTo>
                  <a:pt x="34099" y="4203"/>
                </a:lnTo>
                <a:lnTo>
                  <a:pt x="37452" y="2819"/>
                </a:lnTo>
                <a:lnTo>
                  <a:pt x="40906" y="1765"/>
                </a:lnTo>
                <a:lnTo>
                  <a:pt x="44462" y="1054"/>
                </a:lnTo>
                <a:lnTo>
                  <a:pt x="48018" y="355"/>
                </a:lnTo>
                <a:lnTo>
                  <a:pt x="51612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12" y="0"/>
                </a:lnTo>
                <a:lnTo>
                  <a:pt x="9715093" y="355"/>
                </a:lnTo>
                <a:lnTo>
                  <a:pt x="9746945" y="16179"/>
                </a:lnTo>
                <a:lnTo>
                  <a:pt x="9749510" y="18745"/>
                </a:lnTo>
                <a:lnTo>
                  <a:pt x="9762058" y="44462"/>
                </a:lnTo>
                <a:lnTo>
                  <a:pt x="9762769" y="48018"/>
                </a:lnTo>
                <a:lnTo>
                  <a:pt x="9763125" y="51612"/>
                </a:lnTo>
                <a:lnTo>
                  <a:pt x="9763125" y="55245"/>
                </a:lnTo>
                <a:lnTo>
                  <a:pt x="9763125" y="4878705"/>
                </a:lnTo>
                <a:lnTo>
                  <a:pt x="9763125" y="4882337"/>
                </a:lnTo>
                <a:lnTo>
                  <a:pt x="9762769" y="4885918"/>
                </a:lnTo>
                <a:lnTo>
                  <a:pt x="9762058" y="4889487"/>
                </a:lnTo>
                <a:lnTo>
                  <a:pt x="9761359" y="4893043"/>
                </a:lnTo>
                <a:lnTo>
                  <a:pt x="9746945" y="4917770"/>
                </a:lnTo>
                <a:lnTo>
                  <a:pt x="9744379" y="4920335"/>
                </a:lnTo>
                <a:lnTo>
                  <a:pt x="9718649" y="4932883"/>
                </a:lnTo>
                <a:lnTo>
                  <a:pt x="9715093" y="4933594"/>
                </a:lnTo>
                <a:lnTo>
                  <a:pt x="9711512" y="4933950"/>
                </a:lnTo>
                <a:lnTo>
                  <a:pt x="9707880" y="4933950"/>
                </a:lnTo>
                <a:lnTo>
                  <a:pt x="55244" y="4933950"/>
                </a:lnTo>
                <a:lnTo>
                  <a:pt x="51612" y="4933950"/>
                </a:lnTo>
                <a:lnTo>
                  <a:pt x="48018" y="4933594"/>
                </a:lnTo>
                <a:lnTo>
                  <a:pt x="44462" y="4932883"/>
                </a:lnTo>
                <a:lnTo>
                  <a:pt x="40906" y="4932172"/>
                </a:lnTo>
                <a:lnTo>
                  <a:pt x="16179" y="4917770"/>
                </a:lnTo>
                <a:lnTo>
                  <a:pt x="13614" y="4915204"/>
                </a:lnTo>
                <a:lnTo>
                  <a:pt x="1066" y="4889487"/>
                </a:lnTo>
                <a:lnTo>
                  <a:pt x="355" y="4885918"/>
                </a:lnTo>
                <a:lnTo>
                  <a:pt x="0" y="4882337"/>
                </a:lnTo>
                <a:lnTo>
                  <a:pt x="0" y="4878705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8200" y="10115550"/>
          <a:ext cx="9829800" cy="4923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660"/>
                <a:gridCol w="3253740"/>
              </a:tblGrid>
              <a:tr h="5092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Aspect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6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</a:t>
                      </a:r>
                      <a:r>
                        <a:rPr dirty="0" sz="1350" spc="-9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6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(Financial</a:t>
                      </a:r>
                      <a:r>
                        <a:rPr dirty="0" sz="1350" spc="-9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Accounting)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350" spc="-6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(Controlling)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External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7942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Recording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 transactions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81534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Tracking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costs,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budgets,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profitability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58420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Investors,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regulators,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banks,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tax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authorities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71501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Managers,</a:t>
                      </a:r>
                      <a:r>
                        <a:rPr dirty="0" sz="1350" spc="1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</a:t>
                      </a:r>
                      <a:r>
                        <a:rPr dirty="0" sz="1350" spc="1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heads,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teams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Type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Information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35496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Historical,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legally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required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23812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Forward-looking,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analytical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07034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Recording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supplier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invoice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expense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3911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Assigning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expense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759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 marR="28956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Preparing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balance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sheets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loss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statements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37846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Monitoring</a:t>
                      </a:r>
                      <a:r>
                        <a:rPr dirty="0" sz="1350" spc="1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departmental</a:t>
                      </a:r>
                      <a:r>
                        <a:rPr dirty="0" sz="1350" spc="114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spending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profitability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15975" y="15175864"/>
            <a:ext cx="966533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65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practice, 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and </a:t>
            </a: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closely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linked. When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 financial transaction is recorded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FI,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simultaneously update 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CO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records.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integration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means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always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based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same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underlying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reducing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errors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inconsistencies.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3437" y="2338387"/>
            <a:ext cx="9763125" cy="2590800"/>
            <a:chOff x="833437" y="2338387"/>
            <a:chExt cx="9763125" cy="2590800"/>
          </a:xfrm>
        </p:grpSpPr>
        <p:sp>
          <p:nvSpPr>
            <p:cNvPr id="3" name="object 3"/>
            <p:cNvSpPr/>
            <p:nvPr/>
          </p:nvSpPr>
          <p:spPr>
            <a:xfrm>
              <a:off x="838200" y="2343150"/>
              <a:ext cx="9753600" cy="2581275"/>
            </a:xfrm>
            <a:custGeom>
              <a:avLst/>
              <a:gdLst/>
              <a:ahLst/>
              <a:cxnLst/>
              <a:rect l="l" t="t" r="r" b="b"/>
              <a:pathLst>
                <a:path w="9753600" h="2581275">
                  <a:moveTo>
                    <a:pt x="0" y="2530729"/>
                  </a:moveTo>
                  <a:lnTo>
                    <a:pt x="0" y="50419"/>
                  </a:lnTo>
                  <a:lnTo>
                    <a:pt x="0" y="47117"/>
                  </a:lnTo>
                  <a:lnTo>
                    <a:pt x="317" y="43815"/>
                  </a:lnTo>
                  <a:lnTo>
                    <a:pt x="965" y="40640"/>
                  </a:lnTo>
                  <a:lnTo>
                    <a:pt x="1612" y="37338"/>
                  </a:lnTo>
                  <a:lnTo>
                    <a:pt x="2578" y="34163"/>
                  </a:lnTo>
                  <a:lnTo>
                    <a:pt x="3848" y="31115"/>
                  </a:lnTo>
                  <a:lnTo>
                    <a:pt x="5105" y="28067"/>
                  </a:lnTo>
                  <a:lnTo>
                    <a:pt x="6667" y="25146"/>
                  </a:lnTo>
                  <a:lnTo>
                    <a:pt x="8509" y="22478"/>
                  </a:lnTo>
                  <a:lnTo>
                    <a:pt x="10350" y="19684"/>
                  </a:lnTo>
                  <a:lnTo>
                    <a:pt x="12446" y="17144"/>
                  </a:lnTo>
                  <a:lnTo>
                    <a:pt x="14782" y="14732"/>
                  </a:lnTo>
                  <a:lnTo>
                    <a:pt x="17132" y="12446"/>
                  </a:lnTo>
                  <a:lnTo>
                    <a:pt x="19684" y="10413"/>
                  </a:lnTo>
                  <a:lnTo>
                    <a:pt x="22440" y="8509"/>
                  </a:lnTo>
                  <a:lnTo>
                    <a:pt x="25196" y="6603"/>
                  </a:lnTo>
                  <a:lnTo>
                    <a:pt x="40640" y="1015"/>
                  </a:lnTo>
                  <a:lnTo>
                    <a:pt x="43878" y="380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253"/>
                  </a:lnTo>
                  <a:lnTo>
                    <a:pt x="9712960" y="1015"/>
                  </a:lnTo>
                  <a:lnTo>
                    <a:pt x="9716211" y="1651"/>
                  </a:lnTo>
                  <a:lnTo>
                    <a:pt x="9731159" y="8509"/>
                  </a:lnTo>
                  <a:lnTo>
                    <a:pt x="9733915" y="10413"/>
                  </a:lnTo>
                  <a:lnTo>
                    <a:pt x="9745091" y="22478"/>
                  </a:lnTo>
                  <a:lnTo>
                    <a:pt x="9746932" y="25146"/>
                  </a:lnTo>
                  <a:lnTo>
                    <a:pt x="9748481" y="28067"/>
                  </a:lnTo>
                  <a:lnTo>
                    <a:pt x="9749751" y="31115"/>
                  </a:lnTo>
                  <a:lnTo>
                    <a:pt x="9751021" y="34163"/>
                  </a:lnTo>
                  <a:lnTo>
                    <a:pt x="9751987" y="37338"/>
                  </a:lnTo>
                  <a:lnTo>
                    <a:pt x="9752634" y="40640"/>
                  </a:lnTo>
                  <a:lnTo>
                    <a:pt x="9753282" y="43815"/>
                  </a:lnTo>
                  <a:lnTo>
                    <a:pt x="9753600" y="47117"/>
                  </a:lnTo>
                  <a:lnTo>
                    <a:pt x="9753600" y="50419"/>
                  </a:lnTo>
                  <a:lnTo>
                    <a:pt x="9753600" y="2530729"/>
                  </a:lnTo>
                  <a:lnTo>
                    <a:pt x="9753600" y="2534157"/>
                  </a:lnTo>
                  <a:lnTo>
                    <a:pt x="9753282" y="2537332"/>
                  </a:lnTo>
                  <a:lnTo>
                    <a:pt x="9752634" y="2540634"/>
                  </a:lnTo>
                  <a:lnTo>
                    <a:pt x="9751987" y="2543936"/>
                  </a:lnTo>
                  <a:lnTo>
                    <a:pt x="9745091" y="2558796"/>
                  </a:lnTo>
                  <a:lnTo>
                    <a:pt x="9743249" y="2561590"/>
                  </a:lnTo>
                  <a:lnTo>
                    <a:pt x="9709708" y="2580894"/>
                  </a:lnTo>
                  <a:lnTo>
                    <a:pt x="9706432" y="2581275"/>
                  </a:lnTo>
                  <a:lnTo>
                    <a:pt x="9703117" y="2581275"/>
                  </a:lnTo>
                  <a:lnTo>
                    <a:pt x="50482" y="2581275"/>
                  </a:lnTo>
                  <a:lnTo>
                    <a:pt x="47167" y="2581275"/>
                  </a:lnTo>
                  <a:lnTo>
                    <a:pt x="43878" y="2580894"/>
                  </a:lnTo>
                  <a:lnTo>
                    <a:pt x="40640" y="2580259"/>
                  </a:lnTo>
                  <a:lnTo>
                    <a:pt x="37388" y="2579623"/>
                  </a:lnTo>
                  <a:lnTo>
                    <a:pt x="8509" y="2558796"/>
                  </a:lnTo>
                  <a:lnTo>
                    <a:pt x="6667" y="2556129"/>
                  </a:lnTo>
                  <a:lnTo>
                    <a:pt x="0" y="2534157"/>
                  </a:lnTo>
                  <a:lnTo>
                    <a:pt x="0" y="2530729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7725" y="2352675"/>
              <a:ext cx="681355" cy="2562225"/>
            </a:xfrm>
            <a:custGeom>
              <a:avLst/>
              <a:gdLst/>
              <a:ahLst/>
              <a:cxnLst/>
              <a:rect l="l" t="t" r="r" b="b"/>
              <a:pathLst>
                <a:path w="681355" h="2562225">
                  <a:moveTo>
                    <a:pt x="681037" y="0"/>
                  </a:moveTo>
                  <a:lnTo>
                    <a:pt x="35521" y="0"/>
                  </a:lnTo>
                  <a:lnTo>
                    <a:pt x="30302" y="1015"/>
                  </a:lnTo>
                  <a:lnTo>
                    <a:pt x="1041" y="30353"/>
                  </a:lnTo>
                  <a:lnTo>
                    <a:pt x="0" y="35559"/>
                  </a:lnTo>
                  <a:lnTo>
                    <a:pt x="0" y="2521204"/>
                  </a:lnTo>
                  <a:lnTo>
                    <a:pt x="0" y="2526665"/>
                  </a:lnTo>
                  <a:lnTo>
                    <a:pt x="30302" y="2561209"/>
                  </a:lnTo>
                  <a:lnTo>
                    <a:pt x="35521" y="2562225"/>
                  </a:lnTo>
                  <a:lnTo>
                    <a:pt x="681037" y="25622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24000" y="2352675"/>
              <a:ext cx="9525" cy="2562225"/>
            </a:xfrm>
            <a:custGeom>
              <a:avLst/>
              <a:gdLst/>
              <a:ahLst/>
              <a:cxnLst/>
              <a:rect l="l" t="t" r="r" b="b"/>
              <a:pathLst>
                <a:path w="9525" h="2562225">
                  <a:moveTo>
                    <a:pt x="9525" y="0"/>
                  </a:moveTo>
                  <a:lnTo>
                    <a:pt x="0" y="0"/>
                  </a:lnTo>
                  <a:lnTo>
                    <a:pt x="0" y="2562225"/>
                  </a:lnTo>
                  <a:lnTo>
                    <a:pt x="9525" y="256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15975" y="460898"/>
            <a:ext cx="9753600" cy="42538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420"/>
              </a:spcBef>
            </a:pP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10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3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3350" b="1">
                <a:latin typeface="Tahoma"/>
                <a:cs typeface="Tahoma"/>
              </a:rPr>
              <a:t>SAP</a:t>
            </a:r>
            <a:r>
              <a:rPr dirty="0" sz="3350" spc="-355" b="1">
                <a:latin typeface="Tahoma"/>
                <a:cs typeface="Tahoma"/>
              </a:rPr>
              <a:t> </a:t>
            </a:r>
            <a:r>
              <a:rPr dirty="0" sz="3350" spc="-385" b="1">
                <a:latin typeface="Tahoma"/>
                <a:cs typeface="Tahoma"/>
              </a:rPr>
              <a:t>FI</a:t>
            </a:r>
            <a:r>
              <a:rPr dirty="0" sz="3350" spc="-355" b="1">
                <a:latin typeface="Tahoma"/>
                <a:cs typeface="Tahoma"/>
              </a:rPr>
              <a:t> </a:t>
            </a:r>
            <a:r>
              <a:rPr dirty="0" sz="3350" spc="-475" b="1">
                <a:latin typeface="Tahoma"/>
                <a:cs typeface="Tahoma"/>
              </a:rPr>
              <a:t>–</a:t>
            </a:r>
            <a:r>
              <a:rPr dirty="0" sz="3350" spc="-355" b="1">
                <a:latin typeface="Tahoma"/>
                <a:cs typeface="Tahoma"/>
              </a:rPr>
              <a:t> </a:t>
            </a:r>
            <a:r>
              <a:rPr dirty="0" sz="3350" spc="-125" b="1">
                <a:latin typeface="Tahoma"/>
                <a:cs typeface="Tahoma"/>
              </a:rPr>
              <a:t>Financial</a:t>
            </a:r>
            <a:r>
              <a:rPr dirty="0" sz="3350" spc="-355" b="1">
                <a:latin typeface="Tahoma"/>
                <a:cs typeface="Tahoma"/>
              </a:rPr>
              <a:t> </a:t>
            </a:r>
            <a:r>
              <a:rPr dirty="0" sz="3350" spc="-10" b="1">
                <a:latin typeface="Tahoma"/>
                <a:cs typeface="Tahoma"/>
              </a:rPr>
              <a:t>Accounting</a:t>
            </a:r>
            <a:endParaRPr sz="3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850"/>
              </a:spcBef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backbone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recording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SAP.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captures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organizes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so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produce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statements.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Below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six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main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components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FI.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ahoma"/>
              <a:cs typeface="Tahoma"/>
            </a:endParaRPr>
          </a:p>
          <a:p>
            <a:pPr marL="889000">
              <a:lnSpc>
                <a:spcPct val="100000"/>
              </a:lnSpc>
            </a:pPr>
            <a:r>
              <a:rPr dirty="0" sz="1650" spc="-55" b="1">
                <a:solidFill>
                  <a:srgbClr val="272424"/>
                </a:solidFill>
                <a:latin typeface="Tahoma"/>
                <a:cs typeface="Tahoma"/>
              </a:rPr>
              <a:t>General</a:t>
            </a:r>
            <a:r>
              <a:rPr dirty="0" sz="16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Ledger</a:t>
            </a:r>
            <a:r>
              <a:rPr dirty="0" sz="16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72424"/>
                </a:solidFill>
                <a:latin typeface="Tahoma"/>
                <a:cs typeface="Tahoma"/>
              </a:rPr>
              <a:t>(G/L)</a:t>
            </a:r>
            <a:endParaRPr sz="1650">
              <a:latin typeface="Tahoma"/>
              <a:cs typeface="Tahoma"/>
            </a:endParaRPr>
          </a:p>
          <a:p>
            <a:pPr marL="889000" marR="302895">
              <a:lnSpc>
                <a:spcPct val="134300"/>
              </a:lnSpc>
              <a:spcBef>
                <a:spcPts val="540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spc="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General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Ledger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 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main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company.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money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moves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whether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sale,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purchase,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payment,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receipt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recorded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G/L.</a:t>
            </a:r>
            <a:endParaRPr sz="1350">
              <a:latin typeface="Tahoma"/>
              <a:cs typeface="Tahoma"/>
            </a:endParaRPr>
          </a:p>
          <a:p>
            <a:pPr marL="889000" marR="168275" indent="-570865">
              <a:lnSpc>
                <a:spcPct val="117700"/>
              </a:lnSpc>
              <a:spcBef>
                <a:spcPts val="229"/>
              </a:spcBef>
              <a:tabLst>
                <a:tab pos="888365" algn="l"/>
              </a:tabLst>
            </a:pPr>
            <a:r>
              <a:rPr dirty="0" baseline="1388" sz="3000" spc="-690" b="1">
                <a:solidFill>
                  <a:srgbClr val="272424"/>
                </a:solidFill>
                <a:latin typeface="Tahoma"/>
                <a:cs typeface="Tahoma"/>
              </a:rPr>
              <a:t>1</a:t>
            </a:r>
            <a:r>
              <a:rPr dirty="0" baseline="1388" sz="3000" b="1">
                <a:solidFill>
                  <a:srgbClr val="272424"/>
                </a:solidFill>
                <a:latin typeface="Tahoma"/>
                <a:cs typeface="Tahoma"/>
              </a:rPr>
              <a:t>	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G/L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 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source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 financial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reports.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balance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sheet 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loss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statement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both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prepared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G/L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data.</a:t>
            </a:r>
            <a:endParaRPr sz="1350">
              <a:latin typeface="Tahoma"/>
              <a:cs typeface="Tahoma"/>
            </a:endParaRPr>
          </a:p>
          <a:p>
            <a:pPr marL="889000" marR="528955">
              <a:lnSpc>
                <a:spcPct val="134300"/>
              </a:lnSpc>
              <a:spcBef>
                <a:spcPts val="825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spc="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pays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₹50,000,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G/L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decrease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decrease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amount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owed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supplier.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3437" y="5110162"/>
            <a:ext cx="9763125" cy="2600325"/>
            <a:chOff x="833437" y="5110162"/>
            <a:chExt cx="9763125" cy="2600325"/>
          </a:xfrm>
        </p:grpSpPr>
        <p:sp>
          <p:nvSpPr>
            <p:cNvPr id="8" name="object 8"/>
            <p:cNvSpPr/>
            <p:nvPr/>
          </p:nvSpPr>
          <p:spPr>
            <a:xfrm>
              <a:off x="838200" y="5114925"/>
              <a:ext cx="9753600" cy="2590800"/>
            </a:xfrm>
            <a:custGeom>
              <a:avLst/>
              <a:gdLst/>
              <a:ahLst/>
              <a:cxnLst/>
              <a:rect l="l" t="t" r="r" b="b"/>
              <a:pathLst>
                <a:path w="9753600" h="2590800">
                  <a:moveTo>
                    <a:pt x="0" y="2540317"/>
                  </a:moveTo>
                  <a:lnTo>
                    <a:pt x="0" y="50419"/>
                  </a:lnTo>
                  <a:lnTo>
                    <a:pt x="0" y="47117"/>
                  </a:lnTo>
                  <a:lnTo>
                    <a:pt x="317" y="43815"/>
                  </a:lnTo>
                  <a:lnTo>
                    <a:pt x="965" y="40640"/>
                  </a:lnTo>
                  <a:lnTo>
                    <a:pt x="1612" y="37338"/>
                  </a:lnTo>
                  <a:lnTo>
                    <a:pt x="2578" y="34290"/>
                  </a:lnTo>
                  <a:lnTo>
                    <a:pt x="3848" y="31115"/>
                  </a:lnTo>
                  <a:lnTo>
                    <a:pt x="5105" y="28067"/>
                  </a:lnTo>
                  <a:lnTo>
                    <a:pt x="6667" y="25146"/>
                  </a:lnTo>
                  <a:lnTo>
                    <a:pt x="8509" y="22478"/>
                  </a:lnTo>
                  <a:lnTo>
                    <a:pt x="10350" y="19684"/>
                  </a:lnTo>
                  <a:lnTo>
                    <a:pt x="22440" y="8509"/>
                  </a:lnTo>
                  <a:lnTo>
                    <a:pt x="25196" y="6603"/>
                  </a:lnTo>
                  <a:lnTo>
                    <a:pt x="40640" y="1015"/>
                  </a:lnTo>
                  <a:lnTo>
                    <a:pt x="43878" y="25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253"/>
                  </a:lnTo>
                  <a:lnTo>
                    <a:pt x="9712960" y="1015"/>
                  </a:lnTo>
                  <a:lnTo>
                    <a:pt x="9716211" y="1651"/>
                  </a:lnTo>
                  <a:lnTo>
                    <a:pt x="9731159" y="8509"/>
                  </a:lnTo>
                  <a:lnTo>
                    <a:pt x="9733915" y="10286"/>
                  </a:lnTo>
                  <a:lnTo>
                    <a:pt x="9745091" y="22478"/>
                  </a:lnTo>
                  <a:lnTo>
                    <a:pt x="9746932" y="25146"/>
                  </a:lnTo>
                  <a:lnTo>
                    <a:pt x="9752634" y="40640"/>
                  </a:lnTo>
                  <a:lnTo>
                    <a:pt x="9753282" y="43815"/>
                  </a:lnTo>
                  <a:lnTo>
                    <a:pt x="9753600" y="47117"/>
                  </a:lnTo>
                  <a:lnTo>
                    <a:pt x="9753600" y="50419"/>
                  </a:lnTo>
                  <a:lnTo>
                    <a:pt x="9753600" y="2540317"/>
                  </a:lnTo>
                  <a:lnTo>
                    <a:pt x="9753600" y="2543632"/>
                  </a:lnTo>
                  <a:lnTo>
                    <a:pt x="9753282" y="2546908"/>
                  </a:lnTo>
                  <a:lnTo>
                    <a:pt x="9752634" y="2550159"/>
                  </a:lnTo>
                  <a:lnTo>
                    <a:pt x="9751987" y="2553411"/>
                  </a:lnTo>
                  <a:lnTo>
                    <a:pt x="9728403" y="2584132"/>
                  </a:lnTo>
                  <a:lnTo>
                    <a:pt x="9706432" y="2590800"/>
                  </a:lnTo>
                  <a:lnTo>
                    <a:pt x="9703117" y="2590800"/>
                  </a:lnTo>
                  <a:lnTo>
                    <a:pt x="50482" y="2590800"/>
                  </a:lnTo>
                  <a:lnTo>
                    <a:pt x="47167" y="2590800"/>
                  </a:lnTo>
                  <a:lnTo>
                    <a:pt x="43878" y="2590469"/>
                  </a:lnTo>
                  <a:lnTo>
                    <a:pt x="40640" y="2589834"/>
                  </a:lnTo>
                  <a:lnTo>
                    <a:pt x="37388" y="2589187"/>
                  </a:lnTo>
                  <a:lnTo>
                    <a:pt x="34226" y="2588221"/>
                  </a:lnTo>
                  <a:lnTo>
                    <a:pt x="31165" y="2586951"/>
                  </a:lnTo>
                  <a:lnTo>
                    <a:pt x="28105" y="2585681"/>
                  </a:lnTo>
                  <a:lnTo>
                    <a:pt x="8509" y="2568359"/>
                  </a:lnTo>
                  <a:lnTo>
                    <a:pt x="6667" y="2565603"/>
                  </a:lnTo>
                  <a:lnTo>
                    <a:pt x="5105" y="2562694"/>
                  </a:lnTo>
                  <a:lnTo>
                    <a:pt x="3848" y="2559634"/>
                  </a:lnTo>
                  <a:lnTo>
                    <a:pt x="2578" y="2556573"/>
                  </a:lnTo>
                  <a:lnTo>
                    <a:pt x="1612" y="2553411"/>
                  </a:lnTo>
                  <a:lnTo>
                    <a:pt x="965" y="2550159"/>
                  </a:lnTo>
                  <a:lnTo>
                    <a:pt x="317" y="2546908"/>
                  </a:lnTo>
                  <a:lnTo>
                    <a:pt x="0" y="2543632"/>
                  </a:lnTo>
                  <a:lnTo>
                    <a:pt x="0" y="2540317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7725" y="5124450"/>
              <a:ext cx="681355" cy="2571750"/>
            </a:xfrm>
            <a:custGeom>
              <a:avLst/>
              <a:gdLst/>
              <a:ahLst/>
              <a:cxnLst/>
              <a:rect l="l" t="t" r="r" b="b"/>
              <a:pathLst>
                <a:path w="681355" h="2571750">
                  <a:moveTo>
                    <a:pt x="681037" y="0"/>
                  </a:moveTo>
                  <a:lnTo>
                    <a:pt x="35521" y="0"/>
                  </a:lnTo>
                  <a:lnTo>
                    <a:pt x="30302" y="1015"/>
                  </a:lnTo>
                  <a:lnTo>
                    <a:pt x="1041" y="30353"/>
                  </a:lnTo>
                  <a:lnTo>
                    <a:pt x="0" y="35559"/>
                  </a:lnTo>
                  <a:lnTo>
                    <a:pt x="0" y="2530792"/>
                  </a:lnTo>
                  <a:lnTo>
                    <a:pt x="0" y="2536228"/>
                  </a:lnTo>
                  <a:lnTo>
                    <a:pt x="30302" y="2570708"/>
                  </a:lnTo>
                  <a:lnTo>
                    <a:pt x="35521" y="2571750"/>
                  </a:lnTo>
                  <a:lnTo>
                    <a:pt x="681037" y="257175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24000" y="5124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9525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9525" y="25717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95921" y="5278437"/>
            <a:ext cx="9189085" cy="2207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08965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55" b="1">
                <a:solidFill>
                  <a:srgbClr val="272424"/>
                </a:solidFill>
                <a:latin typeface="Tahoma"/>
                <a:cs typeface="Tahoma"/>
              </a:rPr>
              <a:t>Payable</a:t>
            </a:r>
            <a:r>
              <a:rPr dirty="0" sz="165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72424"/>
                </a:solidFill>
                <a:latin typeface="Tahoma"/>
                <a:cs typeface="Tahoma"/>
              </a:rPr>
              <a:t>(AP)</a:t>
            </a:r>
            <a:endParaRPr sz="1650">
              <a:latin typeface="Tahoma"/>
              <a:cs typeface="Tahoma"/>
            </a:endParaRPr>
          </a:p>
          <a:p>
            <a:pPr marL="608965" marR="310515">
              <a:lnSpc>
                <a:spcPct val="134300"/>
              </a:lnSpc>
              <a:spcBef>
                <a:spcPts val="540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AP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tracks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money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owes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suppliers.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sends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AP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tracks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payment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due.</a:t>
            </a:r>
            <a:endParaRPr sz="1350">
              <a:latin typeface="Tahoma"/>
              <a:cs typeface="Tahoma"/>
            </a:endParaRPr>
          </a:p>
          <a:p>
            <a:pPr marL="608965" marR="116839" indent="-596900">
              <a:lnSpc>
                <a:spcPct val="117700"/>
              </a:lnSpc>
              <a:spcBef>
                <a:spcPts val="305"/>
              </a:spcBef>
              <a:tabLst>
                <a:tab pos="608965" algn="l"/>
              </a:tabLst>
            </a:pPr>
            <a:r>
              <a:rPr dirty="0" baseline="1388" sz="3000" spc="-75" b="1">
                <a:solidFill>
                  <a:srgbClr val="272424"/>
                </a:solidFill>
                <a:latin typeface="Tahoma"/>
                <a:cs typeface="Tahoma"/>
              </a:rPr>
              <a:t>2</a:t>
            </a:r>
            <a:r>
              <a:rPr dirty="0" baseline="1388" sz="3000" b="1">
                <a:solidFill>
                  <a:srgbClr val="272424"/>
                </a:solidFill>
                <a:latin typeface="Tahoma"/>
                <a:cs typeface="Tahoma"/>
              </a:rPr>
              <a:t>	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Without AP,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 would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know how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owes,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whom, 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payments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due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difficult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good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relationships.</a:t>
            </a:r>
            <a:endParaRPr sz="1350">
              <a:latin typeface="Tahoma"/>
              <a:cs typeface="Tahoma"/>
            </a:endParaRPr>
          </a:p>
          <a:p>
            <a:pPr marL="608965" marR="5080">
              <a:lnSpc>
                <a:spcPct val="134300"/>
              </a:lnSpc>
              <a:spcBef>
                <a:spcPts val="750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spc="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0">
                <a:solidFill>
                  <a:srgbClr val="272424"/>
                </a:solidFill>
                <a:latin typeface="Tahoma"/>
                <a:cs typeface="Tahoma"/>
              </a:rPr>
              <a:t>ABC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Ltd.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receives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raw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material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₹2,00,000.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AP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liability.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 payment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 made,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AP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updates 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show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 invoice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settled.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3437" y="7891462"/>
            <a:ext cx="9763125" cy="2590800"/>
            <a:chOff x="833437" y="7891462"/>
            <a:chExt cx="9763125" cy="2590800"/>
          </a:xfrm>
        </p:grpSpPr>
        <p:sp>
          <p:nvSpPr>
            <p:cNvPr id="13" name="object 13"/>
            <p:cNvSpPr/>
            <p:nvPr/>
          </p:nvSpPr>
          <p:spPr>
            <a:xfrm>
              <a:off x="838200" y="7896225"/>
              <a:ext cx="9753600" cy="2581275"/>
            </a:xfrm>
            <a:custGeom>
              <a:avLst/>
              <a:gdLst/>
              <a:ahLst/>
              <a:cxnLst/>
              <a:rect l="l" t="t" r="r" b="b"/>
              <a:pathLst>
                <a:path w="9753600" h="2581275">
                  <a:moveTo>
                    <a:pt x="0" y="25307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78"/>
                  </a:lnTo>
                  <a:lnTo>
                    <a:pt x="965" y="40627"/>
                  </a:lnTo>
                  <a:lnTo>
                    <a:pt x="1612" y="37376"/>
                  </a:lnTo>
                  <a:lnTo>
                    <a:pt x="2578" y="34226"/>
                  </a:lnTo>
                  <a:lnTo>
                    <a:pt x="3848" y="31165"/>
                  </a:lnTo>
                  <a:lnTo>
                    <a:pt x="5105" y="28105"/>
                  </a:lnTo>
                  <a:lnTo>
                    <a:pt x="31165" y="3848"/>
                  </a:lnTo>
                  <a:lnTo>
                    <a:pt x="34226" y="2578"/>
                  </a:lnTo>
                  <a:lnTo>
                    <a:pt x="37388" y="1612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317"/>
                  </a:lnTo>
                  <a:lnTo>
                    <a:pt x="9712960" y="965"/>
                  </a:lnTo>
                  <a:lnTo>
                    <a:pt x="9716211" y="1612"/>
                  </a:lnTo>
                  <a:lnTo>
                    <a:pt x="9719373" y="2578"/>
                  </a:lnTo>
                  <a:lnTo>
                    <a:pt x="9722434" y="3848"/>
                  </a:lnTo>
                  <a:lnTo>
                    <a:pt x="9725494" y="5105"/>
                  </a:lnTo>
                  <a:lnTo>
                    <a:pt x="9751021" y="34226"/>
                  </a:lnTo>
                  <a:lnTo>
                    <a:pt x="9752634" y="40627"/>
                  </a:lnTo>
                  <a:lnTo>
                    <a:pt x="9753282" y="43878"/>
                  </a:lnTo>
                  <a:lnTo>
                    <a:pt x="9753600" y="47167"/>
                  </a:lnTo>
                  <a:lnTo>
                    <a:pt x="9753600" y="50482"/>
                  </a:lnTo>
                  <a:lnTo>
                    <a:pt x="9753600" y="2530792"/>
                  </a:lnTo>
                  <a:lnTo>
                    <a:pt x="9753600" y="2534107"/>
                  </a:lnTo>
                  <a:lnTo>
                    <a:pt x="9753282" y="2537383"/>
                  </a:lnTo>
                  <a:lnTo>
                    <a:pt x="9752634" y="2540634"/>
                  </a:lnTo>
                  <a:lnTo>
                    <a:pt x="9751987" y="2543886"/>
                  </a:lnTo>
                  <a:lnTo>
                    <a:pt x="9728403" y="2574607"/>
                  </a:lnTo>
                  <a:lnTo>
                    <a:pt x="9712960" y="2580309"/>
                  </a:lnTo>
                  <a:lnTo>
                    <a:pt x="9709708" y="2580957"/>
                  </a:lnTo>
                  <a:lnTo>
                    <a:pt x="9706432" y="2581275"/>
                  </a:lnTo>
                  <a:lnTo>
                    <a:pt x="9703117" y="2581275"/>
                  </a:lnTo>
                  <a:lnTo>
                    <a:pt x="50482" y="2581275"/>
                  </a:lnTo>
                  <a:lnTo>
                    <a:pt x="47167" y="2581275"/>
                  </a:lnTo>
                  <a:lnTo>
                    <a:pt x="43878" y="2580957"/>
                  </a:lnTo>
                  <a:lnTo>
                    <a:pt x="40640" y="2580309"/>
                  </a:lnTo>
                  <a:lnTo>
                    <a:pt x="37388" y="2579662"/>
                  </a:lnTo>
                  <a:lnTo>
                    <a:pt x="34226" y="2578696"/>
                  </a:lnTo>
                  <a:lnTo>
                    <a:pt x="31165" y="2577426"/>
                  </a:lnTo>
                  <a:lnTo>
                    <a:pt x="28105" y="2576156"/>
                  </a:lnTo>
                  <a:lnTo>
                    <a:pt x="8509" y="2558834"/>
                  </a:lnTo>
                  <a:lnTo>
                    <a:pt x="6667" y="2556078"/>
                  </a:lnTo>
                  <a:lnTo>
                    <a:pt x="5105" y="2553169"/>
                  </a:lnTo>
                  <a:lnTo>
                    <a:pt x="3848" y="2550109"/>
                  </a:lnTo>
                  <a:lnTo>
                    <a:pt x="2578" y="2547048"/>
                  </a:lnTo>
                  <a:lnTo>
                    <a:pt x="1612" y="2543886"/>
                  </a:lnTo>
                  <a:lnTo>
                    <a:pt x="965" y="2540634"/>
                  </a:lnTo>
                  <a:lnTo>
                    <a:pt x="317" y="2537383"/>
                  </a:lnTo>
                  <a:lnTo>
                    <a:pt x="0" y="2534107"/>
                  </a:lnTo>
                  <a:lnTo>
                    <a:pt x="0" y="2530792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47725" y="7905750"/>
              <a:ext cx="681355" cy="2562225"/>
            </a:xfrm>
            <a:custGeom>
              <a:avLst/>
              <a:gdLst/>
              <a:ahLst/>
              <a:cxnLst/>
              <a:rect l="l" t="t" r="r" b="b"/>
              <a:pathLst>
                <a:path w="681355" h="2562225">
                  <a:moveTo>
                    <a:pt x="681037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2521267"/>
                  </a:lnTo>
                  <a:lnTo>
                    <a:pt x="0" y="2526703"/>
                  </a:lnTo>
                  <a:lnTo>
                    <a:pt x="30302" y="2561183"/>
                  </a:lnTo>
                  <a:lnTo>
                    <a:pt x="35521" y="2562225"/>
                  </a:lnTo>
                  <a:lnTo>
                    <a:pt x="681037" y="25622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24000" y="7905750"/>
              <a:ext cx="9525" cy="2562225"/>
            </a:xfrm>
            <a:custGeom>
              <a:avLst/>
              <a:gdLst/>
              <a:ahLst/>
              <a:cxnLst/>
              <a:rect l="l" t="t" r="r" b="b"/>
              <a:pathLst>
                <a:path w="9525" h="2562225">
                  <a:moveTo>
                    <a:pt x="9525" y="0"/>
                  </a:moveTo>
                  <a:lnTo>
                    <a:pt x="0" y="0"/>
                  </a:lnTo>
                  <a:lnTo>
                    <a:pt x="0" y="2562225"/>
                  </a:lnTo>
                  <a:lnTo>
                    <a:pt x="9525" y="256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093990" y="9007475"/>
            <a:ext cx="1917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272424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92275" y="8059737"/>
            <a:ext cx="8720455" cy="2198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6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272424"/>
                </a:solidFill>
                <a:latin typeface="Tahoma"/>
                <a:cs typeface="Tahoma"/>
              </a:rPr>
              <a:t>Receivable</a:t>
            </a:r>
            <a:r>
              <a:rPr dirty="0" sz="16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72424"/>
                </a:solidFill>
                <a:latin typeface="Tahoma"/>
                <a:cs typeface="Tahoma"/>
              </a:rPr>
              <a:t>(AR)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spc="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tracks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 money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customers owe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 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company.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 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sends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an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customer,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tracks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payment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expected.</a:t>
            </a:r>
            <a:endParaRPr sz="1350">
              <a:latin typeface="Tahoma"/>
              <a:cs typeface="Tahoma"/>
            </a:endParaRPr>
          </a:p>
          <a:p>
            <a:pPr marL="12700" marR="208915">
              <a:lnSpc>
                <a:spcPct val="134300"/>
              </a:lnSpc>
              <a:spcBef>
                <a:spcPts val="825"/>
              </a:spcBef>
            </a:pP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spc="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know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revenue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outstanding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have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yet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paid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essential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managing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flow.</a:t>
            </a:r>
            <a:endParaRPr sz="1350">
              <a:latin typeface="Tahoma"/>
              <a:cs typeface="Tahoma"/>
            </a:endParaRPr>
          </a:p>
          <a:p>
            <a:pPr marL="12700" marR="133985">
              <a:lnSpc>
                <a:spcPct val="134300"/>
              </a:lnSpc>
              <a:spcBef>
                <a:spcPts val="750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0">
                <a:solidFill>
                  <a:srgbClr val="272424"/>
                </a:solidFill>
                <a:latin typeface="Tahoma"/>
                <a:cs typeface="Tahoma"/>
              </a:rPr>
              <a:t>ABC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Ltd.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sells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goods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worth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₹1,50,000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credit.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receivable.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When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pays,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marks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cleared.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3437" y="10663237"/>
            <a:ext cx="9763125" cy="2590800"/>
            <a:chOff x="833437" y="10663237"/>
            <a:chExt cx="9763125" cy="2590800"/>
          </a:xfrm>
        </p:grpSpPr>
        <p:sp>
          <p:nvSpPr>
            <p:cNvPr id="19" name="object 19"/>
            <p:cNvSpPr/>
            <p:nvPr/>
          </p:nvSpPr>
          <p:spPr>
            <a:xfrm>
              <a:off x="838200" y="10668000"/>
              <a:ext cx="9753600" cy="2581275"/>
            </a:xfrm>
            <a:custGeom>
              <a:avLst/>
              <a:gdLst/>
              <a:ahLst/>
              <a:cxnLst/>
              <a:rect l="l" t="t" r="r" b="b"/>
              <a:pathLst>
                <a:path w="9753600" h="2581275">
                  <a:moveTo>
                    <a:pt x="0" y="25307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78"/>
                  </a:lnTo>
                  <a:lnTo>
                    <a:pt x="965" y="40627"/>
                  </a:lnTo>
                  <a:lnTo>
                    <a:pt x="1612" y="37376"/>
                  </a:lnTo>
                  <a:lnTo>
                    <a:pt x="2578" y="34226"/>
                  </a:lnTo>
                  <a:lnTo>
                    <a:pt x="3848" y="31165"/>
                  </a:lnTo>
                  <a:lnTo>
                    <a:pt x="5105" y="28105"/>
                  </a:lnTo>
                  <a:lnTo>
                    <a:pt x="34226" y="2578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317"/>
                  </a:lnTo>
                  <a:lnTo>
                    <a:pt x="9712960" y="965"/>
                  </a:lnTo>
                  <a:lnTo>
                    <a:pt x="9716211" y="1612"/>
                  </a:lnTo>
                  <a:lnTo>
                    <a:pt x="9746932" y="25196"/>
                  </a:lnTo>
                  <a:lnTo>
                    <a:pt x="9753600" y="47167"/>
                  </a:lnTo>
                  <a:lnTo>
                    <a:pt x="9753600" y="50482"/>
                  </a:lnTo>
                  <a:lnTo>
                    <a:pt x="9753600" y="2530792"/>
                  </a:lnTo>
                  <a:lnTo>
                    <a:pt x="9753600" y="2534107"/>
                  </a:lnTo>
                  <a:lnTo>
                    <a:pt x="9753282" y="2537383"/>
                  </a:lnTo>
                  <a:lnTo>
                    <a:pt x="9752634" y="2540635"/>
                  </a:lnTo>
                  <a:lnTo>
                    <a:pt x="9751987" y="2543886"/>
                  </a:lnTo>
                  <a:lnTo>
                    <a:pt x="9751021" y="2547048"/>
                  </a:lnTo>
                  <a:lnTo>
                    <a:pt x="9749751" y="2550109"/>
                  </a:lnTo>
                  <a:lnTo>
                    <a:pt x="9748481" y="2553169"/>
                  </a:lnTo>
                  <a:lnTo>
                    <a:pt x="9731159" y="2572766"/>
                  </a:lnTo>
                  <a:lnTo>
                    <a:pt x="9728403" y="2574607"/>
                  </a:lnTo>
                  <a:lnTo>
                    <a:pt x="9712960" y="2580297"/>
                  </a:lnTo>
                  <a:lnTo>
                    <a:pt x="9709708" y="2580944"/>
                  </a:lnTo>
                  <a:lnTo>
                    <a:pt x="9706432" y="2581275"/>
                  </a:lnTo>
                  <a:lnTo>
                    <a:pt x="9703117" y="2581275"/>
                  </a:lnTo>
                  <a:lnTo>
                    <a:pt x="50482" y="2581275"/>
                  </a:lnTo>
                  <a:lnTo>
                    <a:pt x="47167" y="2581275"/>
                  </a:lnTo>
                  <a:lnTo>
                    <a:pt x="43878" y="2580944"/>
                  </a:lnTo>
                  <a:lnTo>
                    <a:pt x="40640" y="2580297"/>
                  </a:lnTo>
                  <a:lnTo>
                    <a:pt x="37388" y="2579649"/>
                  </a:lnTo>
                  <a:lnTo>
                    <a:pt x="34226" y="2578696"/>
                  </a:lnTo>
                  <a:lnTo>
                    <a:pt x="31165" y="2577426"/>
                  </a:lnTo>
                  <a:lnTo>
                    <a:pt x="28105" y="2576156"/>
                  </a:lnTo>
                  <a:lnTo>
                    <a:pt x="25196" y="2574607"/>
                  </a:lnTo>
                  <a:lnTo>
                    <a:pt x="22440" y="2572766"/>
                  </a:lnTo>
                  <a:lnTo>
                    <a:pt x="19684" y="2570924"/>
                  </a:lnTo>
                  <a:lnTo>
                    <a:pt x="8509" y="2558834"/>
                  </a:lnTo>
                  <a:lnTo>
                    <a:pt x="6667" y="2556078"/>
                  </a:lnTo>
                  <a:lnTo>
                    <a:pt x="5105" y="2553169"/>
                  </a:lnTo>
                  <a:lnTo>
                    <a:pt x="3848" y="2550109"/>
                  </a:lnTo>
                  <a:lnTo>
                    <a:pt x="2578" y="2547048"/>
                  </a:lnTo>
                  <a:lnTo>
                    <a:pt x="1612" y="2543886"/>
                  </a:lnTo>
                  <a:lnTo>
                    <a:pt x="965" y="2540635"/>
                  </a:lnTo>
                  <a:lnTo>
                    <a:pt x="317" y="2537383"/>
                  </a:lnTo>
                  <a:lnTo>
                    <a:pt x="0" y="2534107"/>
                  </a:lnTo>
                  <a:lnTo>
                    <a:pt x="0" y="2530792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47725" y="10677525"/>
              <a:ext cx="681355" cy="2562225"/>
            </a:xfrm>
            <a:custGeom>
              <a:avLst/>
              <a:gdLst/>
              <a:ahLst/>
              <a:cxnLst/>
              <a:rect l="l" t="t" r="r" b="b"/>
              <a:pathLst>
                <a:path w="681355" h="2562225">
                  <a:moveTo>
                    <a:pt x="681037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2521267"/>
                  </a:lnTo>
                  <a:lnTo>
                    <a:pt x="0" y="2526703"/>
                  </a:lnTo>
                  <a:lnTo>
                    <a:pt x="30302" y="2561183"/>
                  </a:lnTo>
                  <a:lnTo>
                    <a:pt x="35521" y="2562225"/>
                  </a:lnTo>
                  <a:lnTo>
                    <a:pt x="681037" y="25622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24000" y="10677525"/>
              <a:ext cx="9525" cy="2562225"/>
            </a:xfrm>
            <a:custGeom>
              <a:avLst/>
              <a:gdLst/>
              <a:ahLst/>
              <a:cxnLst/>
              <a:rect l="l" t="t" r="r" b="b"/>
              <a:pathLst>
                <a:path w="9525" h="2562225">
                  <a:moveTo>
                    <a:pt x="9525" y="0"/>
                  </a:moveTo>
                  <a:lnTo>
                    <a:pt x="0" y="0"/>
                  </a:lnTo>
                  <a:lnTo>
                    <a:pt x="0" y="2562225"/>
                  </a:lnTo>
                  <a:lnTo>
                    <a:pt x="9525" y="256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89964" y="11779250"/>
            <a:ext cx="19939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 b="1">
                <a:solidFill>
                  <a:srgbClr val="272424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92275" y="10831512"/>
            <a:ext cx="8734425" cy="2207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Asset</a:t>
            </a:r>
            <a:r>
              <a:rPr dirty="0" sz="165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endParaRPr sz="1650">
              <a:latin typeface="Tahoma"/>
              <a:cs typeface="Tahoma"/>
            </a:endParaRPr>
          </a:p>
          <a:p>
            <a:pPr marL="12700" marR="263525">
              <a:lnSpc>
                <a:spcPct val="134300"/>
              </a:lnSpc>
              <a:spcBef>
                <a:spcPts val="540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Asset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tracks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company's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fixed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assets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long-term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items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like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buildings,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machinery,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vehicles,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computers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uses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multiple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years.</a:t>
            </a:r>
            <a:endParaRPr sz="1350">
              <a:latin typeface="Tahoma"/>
              <a:cs typeface="Tahoma"/>
            </a:endParaRPr>
          </a:p>
          <a:p>
            <a:pPr marL="12700" marR="215900">
              <a:lnSpc>
                <a:spcPct val="131200"/>
              </a:lnSpc>
              <a:spcBef>
                <a:spcPts val="800"/>
              </a:spcBef>
            </a:pP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Fixed assets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 valuable and must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be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tracked accurately. Their value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decreases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over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time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through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95" i="1">
                <a:solidFill>
                  <a:srgbClr val="272424"/>
                </a:solidFill>
                <a:latin typeface="Verdana"/>
                <a:cs typeface="Verdana"/>
              </a:rPr>
              <a:t>depreciation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concept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spreads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asset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useful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life.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815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spc="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1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buys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machine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₹10,00,000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useful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life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10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years.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Asset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purchase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calculates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annual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depreciation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₹1,00,000.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33437" y="13435012"/>
            <a:ext cx="9763125" cy="2600325"/>
            <a:chOff x="833437" y="13435012"/>
            <a:chExt cx="9763125" cy="2600325"/>
          </a:xfrm>
        </p:grpSpPr>
        <p:sp>
          <p:nvSpPr>
            <p:cNvPr id="25" name="object 25"/>
            <p:cNvSpPr/>
            <p:nvPr/>
          </p:nvSpPr>
          <p:spPr>
            <a:xfrm>
              <a:off x="838200" y="13439775"/>
              <a:ext cx="9753600" cy="2590800"/>
            </a:xfrm>
            <a:custGeom>
              <a:avLst/>
              <a:gdLst/>
              <a:ahLst/>
              <a:cxnLst/>
              <a:rect l="l" t="t" r="r" b="b"/>
              <a:pathLst>
                <a:path w="9753600" h="2590800">
                  <a:moveTo>
                    <a:pt x="0" y="254031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965" y="40639"/>
                  </a:lnTo>
                  <a:lnTo>
                    <a:pt x="1612" y="37388"/>
                  </a:lnTo>
                  <a:lnTo>
                    <a:pt x="2578" y="34226"/>
                  </a:lnTo>
                  <a:lnTo>
                    <a:pt x="3848" y="31165"/>
                  </a:lnTo>
                  <a:lnTo>
                    <a:pt x="5105" y="28105"/>
                  </a:lnTo>
                  <a:lnTo>
                    <a:pt x="22440" y="8509"/>
                  </a:lnTo>
                  <a:lnTo>
                    <a:pt x="25196" y="6667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317"/>
                  </a:lnTo>
                  <a:lnTo>
                    <a:pt x="9712960" y="965"/>
                  </a:lnTo>
                  <a:lnTo>
                    <a:pt x="9716211" y="1612"/>
                  </a:lnTo>
                  <a:lnTo>
                    <a:pt x="9731159" y="8509"/>
                  </a:lnTo>
                  <a:lnTo>
                    <a:pt x="9733915" y="10350"/>
                  </a:lnTo>
                  <a:lnTo>
                    <a:pt x="9749751" y="31165"/>
                  </a:lnTo>
                  <a:lnTo>
                    <a:pt x="9751021" y="34226"/>
                  </a:lnTo>
                  <a:lnTo>
                    <a:pt x="9751987" y="37388"/>
                  </a:lnTo>
                  <a:lnTo>
                    <a:pt x="9752634" y="40639"/>
                  </a:lnTo>
                  <a:lnTo>
                    <a:pt x="9753282" y="43891"/>
                  </a:lnTo>
                  <a:lnTo>
                    <a:pt x="9753600" y="47167"/>
                  </a:lnTo>
                  <a:lnTo>
                    <a:pt x="9753600" y="50482"/>
                  </a:lnTo>
                  <a:lnTo>
                    <a:pt x="9753600" y="2540317"/>
                  </a:lnTo>
                  <a:lnTo>
                    <a:pt x="9753600" y="2543632"/>
                  </a:lnTo>
                  <a:lnTo>
                    <a:pt x="9753282" y="2546908"/>
                  </a:lnTo>
                  <a:lnTo>
                    <a:pt x="9752634" y="2550160"/>
                  </a:lnTo>
                  <a:lnTo>
                    <a:pt x="9751987" y="2553411"/>
                  </a:lnTo>
                  <a:lnTo>
                    <a:pt x="9751021" y="2556573"/>
                  </a:lnTo>
                  <a:lnTo>
                    <a:pt x="9749751" y="2559634"/>
                  </a:lnTo>
                  <a:lnTo>
                    <a:pt x="9748481" y="2562694"/>
                  </a:lnTo>
                  <a:lnTo>
                    <a:pt x="9731159" y="2582291"/>
                  </a:lnTo>
                  <a:lnTo>
                    <a:pt x="9728403" y="2584132"/>
                  </a:lnTo>
                  <a:lnTo>
                    <a:pt x="9712960" y="2589822"/>
                  </a:lnTo>
                  <a:lnTo>
                    <a:pt x="9709708" y="2590469"/>
                  </a:lnTo>
                  <a:lnTo>
                    <a:pt x="9706432" y="2590800"/>
                  </a:lnTo>
                  <a:lnTo>
                    <a:pt x="9703117" y="2590800"/>
                  </a:lnTo>
                  <a:lnTo>
                    <a:pt x="50482" y="2590800"/>
                  </a:lnTo>
                  <a:lnTo>
                    <a:pt x="47167" y="2590800"/>
                  </a:lnTo>
                  <a:lnTo>
                    <a:pt x="43878" y="2590469"/>
                  </a:lnTo>
                  <a:lnTo>
                    <a:pt x="40640" y="2589822"/>
                  </a:lnTo>
                  <a:lnTo>
                    <a:pt x="37388" y="2589187"/>
                  </a:lnTo>
                  <a:lnTo>
                    <a:pt x="22440" y="2582291"/>
                  </a:lnTo>
                  <a:lnTo>
                    <a:pt x="19684" y="2580449"/>
                  </a:lnTo>
                  <a:lnTo>
                    <a:pt x="8509" y="2568359"/>
                  </a:lnTo>
                  <a:lnTo>
                    <a:pt x="6667" y="2565603"/>
                  </a:lnTo>
                  <a:lnTo>
                    <a:pt x="5105" y="2562694"/>
                  </a:lnTo>
                  <a:lnTo>
                    <a:pt x="3848" y="2559634"/>
                  </a:lnTo>
                  <a:lnTo>
                    <a:pt x="2578" y="2556573"/>
                  </a:lnTo>
                  <a:lnTo>
                    <a:pt x="1612" y="2553411"/>
                  </a:lnTo>
                  <a:lnTo>
                    <a:pt x="965" y="2550160"/>
                  </a:lnTo>
                  <a:lnTo>
                    <a:pt x="317" y="2546908"/>
                  </a:lnTo>
                  <a:lnTo>
                    <a:pt x="0" y="2543632"/>
                  </a:lnTo>
                  <a:lnTo>
                    <a:pt x="0" y="2540317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7725" y="13449300"/>
              <a:ext cx="681355" cy="2571750"/>
            </a:xfrm>
            <a:custGeom>
              <a:avLst/>
              <a:gdLst/>
              <a:ahLst/>
              <a:cxnLst/>
              <a:rect l="l" t="t" r="r" b="b"/>
              <a:pathLst>
                <a:path w="681355" h="2571750">
                  <a:moveTo>
                    <a:pt x="681037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2530792"/>
                  </a:lnTo>
                  <a:lnTo>
                    <a:pt x="0" y="2536228"/>
                  </a:lnTo>
                  <a:lnTo>
                    <a:pt x="30302" y="2570708"/>
                  </a:lnTo>
                  <a:lnTo>
                    <a:pt x="35521" y="2571750"/>
                  </a:lnTo>
                  <a:lnTo>
                    <a:pt x="681037" y="257175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524000" y="1344930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9525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9525" y="25717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96962" y="14551025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272424"/>
                </a:solidFill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92275" y="13603287"/>
            <a:ext cx="8518525" cy="2207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65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30" b="1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305" b="1">
                <a:solidFill>
                  <a:srgbClr val="272424"/>
                </a:solidFill>
                <a:latin typeface="Tahoma"/>
                <a:cs typeface="Tahoma"/>
              </a:rPr>
              <a:t>/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endParaRPr sz="1650">
              <a:latin typeface="Tahoma"/>
              <a:cs typeface="Tahoma"/>
            </a:endParaRPr>
          </a:p>
          <a:p>
            <a:pPr marL="12700" marR="191135">
              <a:lnSpc>
                <a:spcPct val="134300"/>
              </a:lnSpc>
              <a:spcBef>
                <a:spcPts val="540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 is</a:t>
            </a:r>
            <a:r>
              <a:rPr dirty="0" sz="13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spc="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component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manages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bank-related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payments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made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accounts,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receipts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accounts,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reconciliation.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900"/>
              </a:spcBef>
            </a:pP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Companies need to know their exact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position at all times. Bank reconciliation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ensures that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company's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match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bank's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records.</a:t>
            </a:r>
            <a:endParaRPr sz="1350">
              <a:latin typeface="Tahoma"/>
              <a:cs typeface="Tahoma"/>
            </a:endParaRPr>
          </a:p>
          <a:p>
            <a:pPr marL="12700" marR="269875">
              <a:lnSpc>
                <a:spcPct val="134300"/>
              </a:lnSpc>
              <a:spcBef>
                <a:spcPts val="825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At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end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month,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compares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company's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ledger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actual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identify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resolve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differences.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33437" y="16216312"/>
            <a:ext cx="9763125" cy="2590800"/>
            <a:chOff x="833437" y="16216312"/>
            <a:chExt cx="9763125" cy="2590800"/>
          </a:xfrm>
        </p:grpSpPr>
        <p:sp>
          <p:nvSpPr>
            <p:cNvPr id="31" name="object 31"/>
            <p:cNvSpPr/>
            <p:nvPr/>
          </p:nvSpPr>
          <p:spPr>
            <a:xfrm>
              <a:off x="838200" y="16221075"/>
              <a:ext cx="9753600" cy="2581275"/>
            </a:xfrm>
            <a:custGeom>
              <a:avLst/>
              <a:gdLst/>
              <a:ahLst/>
              <a:cxnLst/>
              <a:rect l="l" t="t" r="r" b="b"/>
              <a:pathLst>
                <a:path w="9753600" h="2581275">
                  <a:moveTo>
                    <a:pt x="0" y="25307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78"/>
                  </a:lnTo>
                  <a:lnTo>
                    <a:pt x="965" y="40627"/>
                  </a:lnTo>
                  <a:lnTo>
                    <a:pt x="1612" y="37376"/>
                  </a:lnTo>
                  <a:lnTo>
                    <a:pt x="2578" y="34226"/>
                  </a:lnTo>
                  <a:lnTo>
                    <a:pt x="3848" y="31165"/>
                  </a:lnTo>
                  <a:lnTo>
                    <a:pt x="5105" y="28105"/>
                  </a:lnTo>
                  <a:lnTo>
                    <a:pt x="34226" y="2578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9703117" y="0"/>
                  </a:lnTo>
                  <a:lnTo>
                    <a:pt x="9706432" y="0"/>
                  </a:lnTo>
                  <a:lnTo>
                    <a:pt x="9709708" y="317"/>
                  </a:lnTo>
                  <a:lnTo>
                    <a:pt x="9731159" y="8508"/>
                  </a:lnTo>
                  <a:lnTo>
                    <a:pt x="9733915" y="10350"/>
                  </a:lnTo>
                  <a:lnTo>
                    <a:pt x="9749751" y="31165"/>
                  </a:lnTo>
                  <a:lnTo>
                    <a:pt x="9751021" y="34226"/>
                  </a:lnTo>
                  <a:lnTo>
                    <a:pt x="9751987" y="37376"/>
                  </a:lnTo>
                  <a:lnTo>
                    <a:pt x="9752634" y="40627"/>
                  </a:lnTo>
                  <a:lnTo>
                    <a:pt x="9753282" y="43878"/>
                  </a:lnTo>
                  <a:lnTo>
                    <a:pt x="9753600" y="47167"/>
                  </a:lnTo>
                  <a:lnTo>
                    <a:pt x="9753600" y="50482"/>
                  </a:lnTo>
                  <a:lnTo>
                    <a:pt x="9753600" y="2530792"/>
                  </a:lnTo>
                  <a:lnTo>
                    <a:pt x="9753600" y="2534107"/>
                  </a:lnTo>
                  <a:lnTo>
                    <a:pt x="9753282" y="2537383"/>
                  </a:lnTo>
                  <a:lnTo>
                    <a:pt x="9752634" y="2540635"/>
                  </a:lnTo>
                  <a:lnTo>
                    <a:pt x="9751987" y="2543886"/>
                  </a:lnTo>
                  <a:lnTo>
                    <a:pt x="9751021" y="2547048"/>
                  </a:lnTo>
                  <a:lnTo>
                    <a:pt x="9749751" y="2550109"/>
                  </a:lnTo>
                  <a:lnTo>
                    <a:pt x="9748481" y="2553169"/>
                  </a:lnTo>
                  <a:lnTo>
                    <a:pt x="9731159" y="2572766"/>
                  </a:lnTo>
                  <a:lnTo>
                    <a:pt x="9728403" y="2574607"/>
                  </a:lnTo>
                  <a:lnTo>
                    <a:pt x="9712960" y="2580297"/>
                  </a:lnTo>
                  <a:lnTo>
                    <a:pt x="9709708" y="2580944"/>
                  </a:lnTo>
                  <a:lnTo>
                    <a:pt x="9706432" y="2581275"/>
                  </a:lnTo>
                  <a:lnTo>
                    <a:pt x="9703117" y="2581275"/>
                  </a:lnTo>
                  <a:lnTo>
                    <a:pt x="50482" y="2581275"/>
                  </a:lnTo>
                  <a:lnTo>
                    <a:pt x="47167" y="2581275"/>
                  </a:lnTo>
                  <a:lnTo>
                    <a:pt x="43878" y="2580944"/>
                  </a:lnTo>
                  <a:lnTo>
                    <a:pt x="40640" y="2580297"/>
                  </a:lnTo>
                  <a:lnTo>
                    <a:pt x="37388" y="2579649"/>
                  </a:lnTo>
                  <a:lnTo>
                    <a:pt x="34226" y="2578696"/>
                  </a:lnTo>
                  <a:lnTo>
                    <a:pt x="31165" y="2577426"/>
                  </a:lnTo>
                  <a:lnTo>
                    <a:pt x="28105" y="2576156"/>
                  </a:lnTo>
                  <a:lnTo>
                    <a:pt x="25196" y="2574607"/>
                  </a:lnTo>
                  <a:lnTo>
                    <a:pt x="22440" y="2572766"/>
                  </a:lnTo>
                  <a:lnTo>
                    <a:pt x="19684" y="2570924"/>
                  </a:lnTo>
                  <a:lnTo>
                    <a:pt x="3848" y="2550109"/>
                  </a:lnTo>
                  <a:lnTo>
                    <a:pt x="2578" y="2547048"/>
                  </a:lnTo>
                  <a:lnTo>
                    <a:pt x="1612" y="2543886"/>
                  </a:lnTo>
                  <a:lnTo>
                    <a:pt x="965" y="2540635"/>
                  </a:lnTo>
                  <a:lnTo>
                    <a:pt x="317" y="2537383"/>
                  </a:lnTo>
                  <a:lnTo>
                    <a:pt x="0" y="2534107"/>
                  </a:lnTo>
                  <a:lnTo>
                    <a:pt x="0" y="2530792"/>
                  </a:lnTo>
                  <a:close/>
                </a:path>
              </a:pathLst>
            </a:custGeom>
            <a:ln w="952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47725" y="16230600"/>
              <a:ext cx="681355" cy="2562225"/>
            </a:xfrm>
            <a:custGeom>
              <a:avLst/>
              <a:gdLst/>
              <a:ahLst/>
              <a:cxnLst/>
              <a:rect l="l" t="t" r="r" b="b"/>
              <a:pathLst>
                <a:path w="681355" h="2562225">
                  <a:moveTo>
                    <a:pt x="681037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2521267"/>
                  </a:lnTo>
                  <a:lnTo>
                    <a:pt x="0" y="2526703"/>
                  </a:lnTo>
                  <a:lnTo>
                    <a:pt x="30302" y="2561183"/>
                  </a:lnTo>
                  <a:lnTo>
                    <a:pt x="35521" y="2562225"/>
                  </a:lnTo>
                  <a:lnTo>
                    <a:pt x="681037" y="25622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524000" y="16230600"/>
              <a:ext cx="9525" cy="2562225"/>
            </a:xfrm>
            <a:custGeom>
              <a:avLst/>
              <a:gdLst/>
              <a:ahLst/>
              <a:cxnLst/>
              <a:rect l="l" t="t" r="r" b="b"/>
              <a:pathLst>
                <a:path w="9525" h="2562225">
                  <a:moveTo>
                    <a:pt x="9525" y="0"/>
                  </a:moveTo>
                  <a:lnTo>
                    <a:pt x="0" y="0"/>
                  </a:lnTo>
                  <a:lnTo>
                    <a:pt x="0" y="2562225"/>
                  </a:lnTo>
                  <a:lnTo>
                    <a:pt x="9525" y="256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93393" y="17332325"/>
            <a:ext cx="1930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272424"/>
                </a:solidFill>
                <a:latin typeface="Tahoma"/>
                <a:cs typeface="Tahoma"/>
              </a:rPr>
              <a:t>6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92275" y="16384587"/>
            <a:ext cx="861568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6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272424"/>
                </a:solidFill>
                <a:latin typeface="Tahoma"/>
                <a:cs typeface="Tahoma"/>
              </a:rPr>
              <a:t>Closing</a:t>
            </a:r>
            <a:r>
              <a:rPr dirty="0" sz="16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it?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closing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process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finalizing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period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(month, quarter,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year).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ensures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recorded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produced.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92275" y="17357089"/>
            <a:ext cx="8465185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Why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 is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needed?</a:t>
            </a:r>
            <a:r>
              <a:rPr dirty="0" sz="1350" spc="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closing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essential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reliable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statements.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missed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or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recorded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wrong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period,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will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be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incorrect.</a:t>
            </a:r>
            <a:endParaRPr sz="1350">
              <a:latin typeface="Tahoma"/>
              <a:cs typeface="Tahoma"/>
            </a:endParaRPr>
          </a:p>
          <a:p>
            <a:pPr marL="12700" marR="278765">
              <a:lnSpc>
                <a:spcPct val="134300"/>
              </a:lnSpc>
              <a:spcBef>
                <a:spcPts val="745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dirty="0" sz="1350" spc="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end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March, 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finance team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closes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March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period in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SAP,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runs depreciation,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posts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accruals,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generates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quarterly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loss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statement.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932" y="370651"/>
            <a:ext cx="704850" cy="207645"/>
          </a:xfrm>
          <a:custGeom>
            <a:avLst/>
            <a:gdLst/>
            <a:ahLst/>
            <a:cxnLst/>
            <a:rect l="l" t="t" r="r" b="b"/>
            <a:pathLst>
              <a:path w="704850" h="207645">
                <a:moveTo>
                  <a:pt x="671826" y="0"/>
                </a:moveTo>
                <a:lnTo>
                  <a:pt x="32409" y="0"/>
                </a:lnTo>
                <a:lnTo>
                  <a:pt x="27645" y="988"/>
                </a:lnTo>
                <a:lnTo>
                  <a:pt x="0" y="32419"/>
                </a:lnTo>
                <a:lnTo>
                  <a:pt x="0" y="170202"/>
                </a:lnTo>
                <a:lnTo>
                  <a:pt x="0" y="175144"/>
                </a:lnTo>
                <a:lnTo>
                  <a:pt x="27645" y="206576"/>
                </a:lnTo>
                <a:lnTo>
                  <a:pt x="32409" y="207564"/>
                </a:lnTo>
                <a:lnTo>
                  <a:pt x="671826" y="207564"/>
                </a:lnTo>
                <a:lnTo>
                  <a:pt x="703287" y="179889"/>
                </a:lnTo>
                <a:lnTo>
                  <a:pt x="704236" y="175144"/>
                </a:lnTo>
                <a:lnTo>
                  <a:pt x="704236" y="32419"/>
                </a:lnTo>
                <a:lnTo>
                  <a:pt x="676590" y="988"/>
                </a:lnTo>
                <a:lnTo>
                  <a:pt x="671826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2232" y="363298"/>
            <a:ext cx="7516495" cy="14998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dirty="0" sz="85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8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850" spc="25">
                <a:solidFill>
                  <a:srgbClr val="272424"/>
                </a:solidFill>
                <a:latin typeface="Tahoma"/>
                <a:cs typeface="Tahoma"/>
              </a:rPr>
              <a:t>4</a:t>
            </a: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600" b="1">
                <a:latin typeface="Tahoma"/>
                <a:cs typeface="Tahoma"/>
              </a:rPr>
              <a:t>SAP</a:t>
            </a:r>
            <a:r>
              <a:rPr dirty="0" sz="2600" spc="-285" b="1">
                <a:latin typeface="Tahoma"/>
                <a:cs typeface="Tahoma"/>
              </a:rPr>
              <a:t> </a:t>
            </a:r>
            <a:r>
              <a:rPr dirty="0" sz="2600" spc="65" b="1">
                <a:latin typeface="Tahoma"/>
                <a:cs typeface="Tahoma"/>
              </a:rPr>
              <a:t>CO</a:t>
            </a:r>
            <a:r>
              <a:rPr dirty="0" sz="2600" spc="-285" b="1">
                <a:latin typeface="Tahoma"/>
                <a:cs typeface="Tahoma"/>
              </a:rPr>
              <a:t> </a:t>
            </a:r>
            <a:r>
              <a:rPr dirty="0" sz="2600" spc="-350" b="1">
                <a:latin typeface="Tahoma"/>
                <a:cs typeface="Tahoma"/>
              </a:rPr>
              <a:t>–</a:t>
            </a:r>
            <a:r>
              <a:rPr dirty="0" sz="2600" spc="-285" b="1">
                <a:latin typeface="Tahoma"/>
                <a:cs typeface="Tahoma"/>
              </a:rPr>
              <a:t> </a:t>
            </a:r>
            <a:r>
              <a:rPr dirty="0" sz="2600" spc="-10" b="1">
                <a:latin typeface="Tahoma"/>
                <a:cs typeface="Tahoma"/>
              </a:rPr>
              <a:t>Controlling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440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While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focuses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reporting,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7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8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focuses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50" b="1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0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50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55" b="1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050" spc="-55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8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managers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where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money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being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spent,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profitable,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whether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organization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meeting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financial targets.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1314" y="2184863"/>
            <a:ext cx="7313295" cy="3044190"/>
          </a:xfrm>
          <a:custGeom>
            <a:avLst/>
            <a:gdLst/>
            <a:ahLst/>
            <a:cxnLst/>
            <a:rect l="l" t="t" r="r" b="b"/>
            <a:pathLst>
              <a:path w="7313295" h="3044190">
                <a:moveTo>
                  <a:pt x="1676834" y="0"/>
                </a:moveTo>
                <a:lnTo>
                  <a:pt x="224416" y="0"/>
                </a:lnTo>
                <a:lnTo>
                  <a:pt x="181617" y="5749"/>
                </a:lnTo>
                <a:lnTo>
                  <a:pt x="143159" y="21975"/>
                </a:lnTo>
                <a:lnTo>
                  <a:pt x="110577" y="47146"/>
                </a:lnTo>
                <a:lnTo>
                  <a:pt x="85404" y="79731"/>
                </a:lnTo>
                <a:lnTo>
                  <a:pt x="69176" y="118196"/>
                </a:lnTo>
                <a:lnTo>
                  <a:pt x="63425" y="161010"/>
                </a:lnTo>
                <a:lnTo>
                  <a:pt x="63425" y="1456410"/>
                </a:lnTo>
                <a:lnTo>
                  <a:pt x="38278" y="1465906"/>
                </a:lnTo>
                <a:lnTo>
                  <a:pt x="18169" y="1483010"/>
                </a:lnTo>
                <a:lnTo>
                  <a:pt x="4831" y="1505989"/>
                </a:lnTo>
                <a:lnTo>
                  <a:pt x="0" y="1533110"/>
                </a:lnTo>
                <a:lnTo>
                  <a:pt x="6134" y="1563476"/>
                </a:lnTo>
                <a:lnTo>
                  <a:pt x="22864" y="1588263"/>
                </a:lnTo>
                <a:lnTo>
                  <a:pt x="47677" y="1604970"/>
                </a:lnTo>
                <a:lnTo>
                  <a:pt x="78064" y="1611095"/>
                </a:lnTo>
                <a:lnTo>
                  <a:pt x="108444" y="1604970"/>
                </a:lnTo>
                <a:lnTo>
                  <a:pt x="133255" y="1588263"/>
                </a:lnTo>
                <a:lnTo>
                  <a:pt x="149983" y="1563476"/>
                </a:lnTo>
                <a:lnTo>
                  <a:pt x="156118" y="1533110"/>
                </a:lnTo>
                <a:lnTo>
                  <a:pt x="151286" y="1505989"/>
                </a:lnTo>
                <a:lnTo>
                  <a:pt x="137948" y="1483010"/>
                </a:lnTo>
                <a:lnTo>
                  <a:pt x="117839" y="1465906"/>
                </a:lnTo>
                <a:lnTo>
                  <a:pt x="92692" y="1456410"/>
                </a:lnTo>
                <a:lnTo>
                  <a:pt x="92692" y="161010"/>
                </a:lnTo>
                <a:lnTo>
                  <a:pt x="99408" y="119373"/>
                </a:lnTo>
                <a:lnTo>
                  <a:pt x="118108" y="83206"/>
                </a:lnTo>
                <a:lnTo>
                  <a:pt x="146623" y="54683"/>
                </a:lnTo>
                <a:lnTo>
                  <a:pt x="182782" y="35975"/>
                </a:lnTo>
                <a:lnTo>
                  <a:pt x="224416" y="29256"/>
                </a:lnTo>
                <a:lnTo>
                  <a:pt x="1676834" y="29256"/>
                </a:lnTo>
                <a:lnTo>
                  <a:pt x="1718467" y="35975"/>
                </a:lnTo>
                <a:lnTo>
                  <a:pt x="1754624" y="54683"/>
                </a:lnTo>
                <a:lnTo>
                  <a:pt x="1783136" y="83206"/>
                </a:lnTo>
                <a:lnTo>
                  <a:pt x="1801833" y="119373"/>
                </a:lnTo>
                <a:lnTo>
                  <a:pt x="1808548" y="161010"/>
                </a:lnTo>
                <a:lnTo>
                  <a:pt x="1808548" y="1530837"/>
                </a:lnTo>
                <a:lnTo>
                  <a:pt x="1761846" y="1484085"/>
                </a:lnTo>
                <a:lnTo>
                  <a:pt x="1754898" y="1484085"/>
                </a:lnTo>
                <a:lnTo>
                  <a:pt x="1746328" y="1492684"/>
                </a:lnTo>
                <a:lnTo>
                  <a:pt x="1746328" y="1499603"/>
                </a:lnTo>
                <a:lnTo>
                  <a:pt x="1808548" y="1561873"/>
                </a:lnTo>
                <a:lnTo>
                  <a:pt x="1808548" y="2876843"/>
                </a:lnTo>
                <a:lnTo>
                  <a:pt x="1816716" y="2927643"/>
                </a:lnTo>
                <a:lnTo>
                  <a:pt x="1839468" y="2971777"/>
                </a:lnTo>
                <a:lnTo>
                  <a:pt x="1874176" y="3006612"/>
                </a:lnTo>
                <a:lnTo>
                  <a:pt x="1918212" y="3029515"/>
                </a:lnTo>
                <a:lnTo>
                  <a:pt x="1968946" y="3037854"/>
                </a:lnTo>
                <a:lnTo>
                  <a:pt x="3534367" y="3043685"/>
                </a:lnTo>
                <a:lnTo>
                  <a:pt x="3577290" y="3038053"/>
                </a:lnTo>
                <a:lnTo>
                  <a:pt x="3615882" y="3021885"/>
                </a:lnTo>
                <a:lnTo>
                  <a:pt x="3648593" y="2996724"/>
                </a:lnTo>
                <a:lnTo>
                  <a:pt x="3673876" y="2964108"/>
                </a:lnTo>
                <a:lnTo>
                  <a:pt x="3690182" y="2925578"/>
                </a:lnTo>
                <a:lnTo>
                  <a:pt x="3695961" y="2882674"/>
                </a:lnTo>
                <a:lnTo>
                  <a:pt x="3695961" y="1524610"/>
                </a:lnTo>
                <a:lnTo>
                  <a:pt x="3746034" y="1574722"/>
                </a:lnTo>
                <a:lnTo>
                  <a:pt x="3752982" y="1574722"/>
                </a:lnTo>
                <a:lnTo>
                  <a:pt x="3761552" y="1566123"/>
                </a:lnTo>
                <a:lnTo>
                  <a:pt x="3761552" y="1559204"/>
                </a:lnTo>
                <a:lnTo>
                  <a:pt x="3695961" y="1493574"/>
                </a:lnTo>
                <a:lnTo>
                  <a:pt x="3695961" y="167237"/>
                </a:lnTo>
                <a:lnTo>
                  <a:pt x="3706262" y="116101"/>
                </a:lnTo>
                <a:lnTo>
                  <a:pt x="3734367" y="74315"/>
                </a:lnTo>
                <a:lnTo>
                  <a:pt x="3776076" y="46076"/>
                </a:lnTo>
                <a:lnTo>
                  <a:pt x="3827191" y="35582"/>
                </a:lnTo>
                <a:lnTo>
                  <a:pt x="5374357" y="29750"/>
                </a:lnTo>
                <a:lnTo>
                  <a:pt x="5416114" y="36374"/>
                </a:lnTo>
                <a:lnTo>
                  <a:pt x="5452402" y="55035"/>
                </a:lnTo>
                <a:lnTo>
                  <a:pt x="5481033" y="83558"/>
                </a:lnTo>
                <a:lnTo>
                  <a:pt x="5499818" y="119772"/>
                </a:lnTo>
                <a:lnTo>
                  <a:pt x="5506566" y="161504"/>
                </a:lnTo>
                <a:lnTo>
                  <a:pt x="5506566" y="1533308"/>
                </a:lnTo>
                <a:lnTo>
                  <a:pt x="5457373" y="1484085"/>
                </a:lnTo>
                <a:lnTo>
                  <a:pt x="5450415" y="1484085"/>
                </a:lnTo>
                <a:lnTo>
                  <a:pt x="5441845" y="1492684"/>
                </a:lnTo>
                <a:lnTo>
                  <a:pt x="5441845" y="1499603"/>
                </a:lnTo>
                <a:lnTo>
                  <a:pt x="5506566" y="1564344"/>
                </a:lnTo>
                <a:lnTo>
                  <a:pt x="5506566" y="2876349"/>
                </a:lnTo>
                <a:lnTo>
                  <a:pt x="5512317" y="2919163"/>
                </a:lnTo>
                <a:lnTo>
                  <a:pt x="5528547" y="2957628"/>
                </a:lnTo>
                <a:lnTo>
                  <a:pt x="5553721" y="2990213"/>
                </a:lnTo>
                <a:lnTo>
                  <a:pt x="5586304" y="3015384"/>
                </a:lnTo>
                <a:lnTo>
                  <a:pt x="5624761" y="3031610"/>
                </a:lnTo>
                <a:lnTo>
                  <a:pt x="5667557" y="3037359"/>
                </a:lnTo>
                <a:lnTo>
                  <a:pt x="7088573" y="3037359"/>
                </a:lnTo>
                <a:lnTo>
                  <a:pt x="7131368" y="3031610"/>
                </a:lnTo>
                <a:lnTo>
                  <a:pt x="7169825" y="3015384"/>
                </a:lnTo>
                <a:lnTo>
                  <a:pt x="7202408" y="2990213"/>
                </a:lnTo>
                <a:lnTo>
                  <a:pt x="7227582" y="2957628"/>
                </a:lnTo>
                <a:lnTo>
                  <a:pt x="7243812" y="2919163"/>
                </a:lnTo>
                <a:lnTo>
                  <a:pt x="7249564" y="2876349"/>
                </a:lnTo>
                <a:lnTo>
                  <a:pt x="7249564" y="1609711"/>
                </a:lnTo>
                <a:lnTo>
                  <a:pt x="7274710" y="1600216"/>
                </a:lnTo>
                <a:lnTo>
                  <a:pt x="7294820" y="1583123"/>
                </a:lnTo>
                <a:lnTo>
                  <a:pt x="7308158" y="1560174"/>
                </a:lnTo>
                <a:lnTo>
                  <a:pt x="7312989" y="1533110"/>
                </a:lnTo>
                <a:lnTo>
                  <a:pt x="7306855" y="1502687"/>
                </a:lnTo>
                <a:lnTo>
                  <a:pt x="7290125" y="1477871"/>
                </a:lnTo>
                <a:lnTo>
                  <a:pt x="7265312" y="1461153"/>
                </a:lnTo>
                <a:lnTo>
                  <a:pt x="7234925" y="1455026"/>
                </a:lnTo>
                <a:lnTo>
                  <a:pt x="7204545" y="1461153"/>
                </a:lnTo>
                <a:lnTo>
                  <a:pt x="7179734" y="1477871"/>
                </a:lnTo>
                <a:lnTo>
                  <a:pt x="7163006" y="1502687"/>
                </a:lnTo>
                <a:lnTo>
                  <a:pt x="7156871" y="1533110"/>
                </a:lnTo>
                <a:lnTo>
                  <a:pt x="7161703" y="1560174"/>
                </a:lnTo>
                <a:lnTo>
                  <a:pt x="7175041" y="1583123"/>
                </a:lnTo>
                <a:lnTo>
                  <a:pt x="7195150" y="1600216"/>
                </a:lnTo>
                <a:lnTo>
                  <a:pt x="7220297" y="1609711"/>
                </a:lnTo>
                <a:lnTo>
                  <a:pt x="7220297" y="2876349"/>
                </a:lnTo>
                <a:lnTo>
                  <a:pt x="7213581" y="2917986"/>
                </a:lnTo>
                <a:lnTo>
                  <a:pt x="7194881" y="2954152"/>
                </a:lnTo>
                <a:lnTo>
                  <a:pt x="7166366" y="2982676"/>
                </a:lnTo>
                <a:lnTo>
                  <a:pt x="7130207" y="3001384"/>
                </a:lnTo>
                <a:lnTo>
                  <a:pt x="7088573" y="3008103"/>
                </a:lnTo>
                <a:lnTo>
                  <a:pt x="5667557" y="3008103"/>
                </a:lnTo>
                <a:lnTo>
                  <a:pt x="5625924" y="3001384"/>
                </a:lnTo>
                <a:lnTo>
                  <a:pt x="5589767" y="2982676"/>
                </a:lnTo>
                <a:lnTo>
                  <a:pt x="5561255" y="2954152"/>
                </a:lnTo>
                <a:lnTo>
                  <a:pt x="5542557" y="2917986"/>
                </a:lnTo>
                <a:lnTo>
                  <a:pt x="5535842" y="2876349"/>
                </a:lnTo>
                <a:lnTo>
                  <a:pt x="5535842" y="1569384"/>
                </a:lnTo>
                <a:lnTo>
                  <a:pt x="5605653" y="1499603"/>
                </a:lnTo>
                <a:lnTo>
                  <a:pt x="5605653" y="1492684"/>
                </a:lnTo>
                <a:lnTo>
                  <a:pt x="5597084" y="1484085"/>
                </a:lnTo>
                <a:lnTo>
                  <a:pt x="5590125" y="1484085"/>
                </a:lnTo>
                <a:lnTo>
                  <a:pt x="5535842" y="1538349"/>
                </a:lnTo>
                <a:lnTo>
                  <a:pt x="5535842" y="161504"/>
                </a:lnTo>
                <a:lnTo>
                  <a:pt x="5530063" y="118601"/>
                </a:lnTo>
                <a:lnTo>
                  <a:pt x="5513757" y="80071"/>
                </a:lnTo>
                <a:lnTo>
                  <a:pt x="5488474" y="47455"/>
                </a:lnTo>
                <a:lnTo>
                  <a:pt x="5455763" y="22293"/>
                </a:lnTo>
                <a:lnTo>
                  <a:pt x="5417171" y="6126"/>
                </a:lnTo>
                <a:lnTo>
                  <a:pt x="5374248" y="494"/>
                </a:lnTo>
                <a:lnTo>
                  <a:pt x="3827083" y="6325"/>
                </a:lnTo>
                <a:lnTo>
                  <a:pt x="3776348" y="14663"/>
                </a:lnTo>
                <a:lnTo>
                  <a:pt x="3732313" y="37560"/>
                </a:lnTo>
                <a:lnTo>
                  <a:pt x="3697605" y="72381"/>
                </a:lnTo>
                <a:lnTo>
                  <a:pt x="3674853" y="116485"/>
                </a:lnTo>
                <a:lnTo>
                  <a:pt x="3666685" y="167237"/>
                </a:lnTo>
                <a:lnTo>
                  <a:pt x="3666685" y="1490213"/>
                </a:lnTo>
                <a:lnTo>
                  <a:pt x="3597744" y="1559204"/>
                </a:lnTo>
                <a:lnTo>
                  <a:pt x="3597744" y="1566123"/>
                </a:lnTo>
                <a:lnTo>
                  <a:pt x="3606313" y="1574722"/>
                </a:lnTo>
                <a:lnTo>
                  <a:pt x="3613272" y="1574722"/>
                </a:lnTo>
                <a:lnTo>
                  <a:pt x="3666685" y="1521249"/>
                </a:lnTo>
                <a:lnTo>
                  <a:pt x="3666685" y="2882674"/>
                </a:lnTo>
                <a:lnTo>
                  <a:pt x="3659938" y="2924406"/>
                </a:lnTo>
                <a:lnTo>
                  <a:pt x="3641156" y="2960621"/>
                </a:lnTo>
                <a:lnTo>
                  <a:pt x="3612528" y="2989144"/>
                </a:lnTo>
                <a:lnTo>
                  <a:pt x="3576241" y="3007805"/>
                </a:lnTo>
                <a:lnTo>
                  <a:pt x="3534486" y="3014428"/>
                </a:lnTo>
                <a:lnTo>
                  <a:pt x="1969055" y="3008597"/>
                </a:lnTo>
                <a:lnTo>
                  <a:pt x="1917939" y="2998087"/>
                </a:lnTo>
                <a:lnTo>
                  <a:pt x="1876230" y="2969814"/>
                </a:lnTo>
                <a:lnTo>
                  <a:pt x="1848126" y="2927994"/>
                </a:lnTo>
                <a:lnTo>
                  <a:pt x="1837825" y="2876843"/>
                </a:lnTo>
                <a:lnTo>
                  <a:pt x="1837825" y="1571954"/>
                </a:lnTo>
                <a:lnTo>
                  <a:pt x="1910136" y="1499603"/>
                </a:lnTo>
                <a:lnTo>
                  <a:pt x="1910136" y="1492684"/>
                </a:lnTo>
                <a:lnTo>
                  <a:pt x="1901567" y="1484085"/>
                </a:lnTo>
                <a:lnTo>
                  <a:pt x="1894608" y="1484085"/>
                </a:lnTo>
                <a:lnTo>
                  <a:pt x="1839208" y="1539535"/>
                </a:lnTo>
                <a:lnTo>
                  <a:pt x="1839208" y="1419642"/>
                </a:lnTo>
                <a:lnTo>
                  <a:pt x="1837825" y="1419642"/>
                </a:lnTo>
                <a:lnTo>
                  <a:pt x="1837825" y="161010"/>
                </a:lnTo>
                <a:lnTo>
                  <a:pt x="1832073" y="118196"/>
                </a:lnTo>
                <a:lnTo>
                  <a:pt x="1815843" y="79731"/>
                </a:lnTo>
                <a:lnTo>
                  <a:pt x="1790669" y="47146"/>
                </a:lnTo>
                <a:lnTo>
                  <a:pt x="1758086" y="21975"/>
                </a:lnTo>
                <a:lnTo>
                  <a:pt x="1719629" y="5749"/>
                </a:lnTo>
                <a:lnTo>
                  <a:pt x="1676834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17968" y="4389030"/>
            <a:ext cx="1016635" cy="68199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705"/>
              </a:spcBef>
            </a:pPr>
            <a:r>
              <a:rPr dirty="0" sz="1300" spc="-10" b="1">
                <a:latin typeface="Tahoma"/>
                <a:cs typeface="Tahoma"/>
              </a:rPr>
              <a:t>Assignment</a:t>
            </a:r>
            <a:endParaRPr sz="1300">
              <a:latin typeface="Tahoma"/>
              <a:cs typeface="Tahoma"/>
            </a:endParaRPr>
          </a:p>
          <a:p>
            <a:pPr algn="ctr" marL="12700" marR="5080" indent="-635">
              <a:lnSpc>
                <a:spcPct val="105600"/>
              </a:lnSpc>
              <a:spcBef>
                <a:spcPts val="459"/>
              </a:spcBef>
            </a:pPr>
            <a:r>
              <a:rPr dirty="0" sz="1000" spc="6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centers, </a:t>
            </a:r>
            <a:r>
              <a:rPr dirty="0" sz="1000">
                <a:solidFill>
                  <a:srgbClr val="272424"/>
                </a:solidFill>
                <a:latin typeface="Tahoma"/>
                <a:cs typeface="Tahoma"/>
              </a:rPr>
              <a:t>orders,</a:t>
            </a:r>
            <a:r>
              <a:rPr dirty="0" sz="1000" spc="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5598" y="4389030"/>
            <a:ext cx="1164590" cy="68199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705"/>
              </a:spcBef>
            </a:pPr>
            <a:r>
              <a:rPr dirty="0" sz="1300" spc="-10" b="1">
                <a:latin typeface="Tahoma"/>
                <a:cs typeface="Tahoma"/>
              </a:rPr>
              <a:t>Decisions</a:t>
            </a:r>
            <a:endParaRPr sz="1300">
              <a:latin typeface="Tahoma"/>
              <a:cs typeface="Tahoma"/>
            </a:endParaRPr>
          </a:p>
          <a:p>
            <a:pPr algn="ctr" marL="12065" marR="5080" indent="635">
              <a:lnSpc>
                <a:spcPct val="105600"/>
              </a:lnSpc>
              <a:spcBef>
                <a:spcPts val="459"/>
              </a:spcBef>
            </a:pPr>
            <a:r>
              <a:rPr dirty="0" sz="1000" spc="65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control, </a:t>
            </a:r>
            <a:r>
              <a:rPr dirty="0" sz="1000">
                <a:solidFill>
                  <a:srgbClr val="272424"/>
                </a:solidFill>
                <a:latin typeface="Tahoma"/>
                <a:cs typeface="Tahoma"/>
              </a:rPr>
              <a:t>pricing,</a:t>
            </a:r>
            <a:r>
              <a:rPr dirty="0" sz="1000" spc="1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investment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7689" y="2244889"/>
            <a:ext cx="1148715" cy="68961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300" spc="-10" b="1">
                <a:latin typeface="Tahoma"/>
                <a:cs typeface="Tahoma"/>
              </a:rPr>
              <a:t>Costs</a:t>
            </a:r>
            <a:r>
              <a:rPr dirty="0" sz="1300" spc="-155" b="1">
                <a:latin typeface="Tahoma"/>
                <a:cs typeface="Tahoma"/>
              </a:rPr>
              <a:t> </a:t>
            </a:r>
            <a:r>
              <a:rPr dirty="0" sz="1300" spc="-60" b="1">
                <a:latin typeface="Tahoma"/>
                <a:cs typeface="Tahoma"/>
              </a:rPr>
              <a:t>Incurred</a:t>
            </a:r>
            <a:endParaRPr sz="1300">
              <a:latin typeface="Tahoma"/>
              <a:cs typeface="Tahoma"/>
            </a:endParaRPr>
          </a:p>
          <a:p>
            <a:pPr algn="ctr" marL="64135" marR="60960">
              <a:lnSpc>
                <a:spcPct val="110400"/>
              </a:lnSpc>
              <a:spcBef>
                <a:spcPts val="405"/>
              </a:spcBef>
            </a:pPr>
            <a:r>
              <a:rPr dirty="0" sz="1000" spc="50">
                <a:solidFill>
                  <a:srgbClr val="272424"/>
                </a:solidFill>
                <a:latin typeface="Tahoma"/>
                <a:cs typeface="Tahoma"/>
              </a:rPr>
              <a:t>Expenses</a:t>
            </a:r>
            <a:r>
              <a:rPr dirty="0" sz="10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272424"/>
                </a:solidFill>
                <a:latin typeface="Tahoma"/>
                <a:cs typeface="Tahoma"/>
              </a:rPr>
              <a:t>across </a:t>
            </a:r>
            <a:r>
              <a:rPr dirty="0" sz="10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3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4807" y="2244889"/>
            <a:ext cx="1025525" cy="68961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300" spc="-10" b="1">
                <a:latin typeface="Tahoma"/>
                <a:cs typeface="Tahoma"/>
              </a:rPr>
              <a:t>Analysis</a:t>
            </a:r>
            <a:endParaRPr sz="1300">
              <a:latin typeface="Tahoma"/>
              <a:cs typeface="Tahoma"/>
            </a:endParaRPr>
          </a:p>
          <a:p>
            <a:pPr algn="ctr" marL="12700" marR="5080">
              <a:lnSpc>
                <a:spcPct val="110400"/>
              </a:lnSpc>
              <a:spcBef>
                <a:spcPts val="405"/>
              </a:spcBef>
            </a:pPr>
            <a:r>
              <a:rPr dirty="0" sz="1000" spc="10">
                <a:solidFill>
                  <a:srgbClr val="272424"/>
                </a:solidFill>
                <a:latin typeface="Tahoma"/>
                <a:cs typeface="Tahoma"/>
              </a:rPr>
              <a:t>Budget</a:t>
            </a:r>
            <a:r>
              <a:rPr dirty="0" sz="10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272424"/>
                </a:solidFill>
                <a:latin typeface="Tahoma"/>
                <a:cs typeface="Tahoma"/>
              </a:rPr>
              <a:t>vs</a:t>
            </a:r>
            <a:r>
              <a:rPr dirty="0" sz="10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actual </a:t>
            </a:r>
            <a:r>
              <a:rPr dirty="0" sz="100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0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72424"/>
                </a:solidFill>
                <a:latin typeface="Tahoma"/>
                <a:cs typeface="Tahoma"/>
              </a:rPr>
              <a:t>profitability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232" y="5469966"/>
            <a:ext cx="7624445" cy="9996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4310">
              <a:lnSpc>
                <a:spcPct val="1343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Figure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2: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Simplified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purpose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7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Controlling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showing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through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centers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analysis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decisions.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25" b="1">
                <a:latin typeface="Tahoma"/>
                <a:cs typeface="Tahoma"/>
              </a:rPr>
              <a:t>Cost</a:t>
            </a:r>
            <a:r>
              <a:rPr dirty="0" sz="2100" spc="-210" b="1">
                <a:latin typeface="Tahoma"/>
                <a:cs typeface="Tahoma"/>
              </a:rPr>
              <a:t> </a:t>
            </a:r>
            <a:r>
              <a:rPr dirty="0" sz="2100" spc="-75" b="1">
                <a:latin typeface="Tahoma"/>
                <a:cs typeface="Tahoma"/>
              </a:rPr>
              <a:t>Center</a:t>
            </a:r>
            <a:r>
              <a:rPr dirty="0" sz="2100" spc="-204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Accounting</a:t>
            </a:r>
            <a:endParaRPr sz="2100">
              <a:latin typeface="Tahoma"/>
              <a:cs typeface="Tahoma"/>
            </a:endParaRPr>
          </a:p>
          <a:p>
            <a:pPr marL="12700" marR="142875">
              <a:lnSpc>
                <a:spcPct val="134300"/>
              </a:lnSpc>
              <a:spcBef>
                <a:spcPts val="1425"/>
              </a:spcBef>
            </a:pPr>
            <a:r>
              <a:rPr dirty="0" sz="1050" spc="9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 b="1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35" b="1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050" spc="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area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where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collected.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Common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examples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include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Production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Department,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Sales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Department,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HR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Department,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Department.</a:t>
            </a:r>
            <a:endParaRPr sz="1050">
              <a:latin typeface="Tahoma"/>
              <a:cs typeface="Tahoma"/>
            </a:endParaRPr>
          </a:p>
          <a:p>
            <a:pPr marL="12700" marR="74295">
              <a:lnSpc>
                <a:spcPct val="134300"/>
              </a:lnSpc>
              <a:spcBef>
                <a:spcPts val="1170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allows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see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exactly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spending.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HR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Department</a:t>
            </a:r>
            <a:r>
              <a:rPr dirty="0" sz="1050" spc="5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budget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₹5,00,000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year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already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spent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₹4,80,000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by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October,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take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action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budget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exceeded.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105" b="1">
                <a:latin typeface="Tahoma"/>
                <a:cs typeface="Tahoma"/>
              </a:rPr>
              <a:t>Profit</a:t>
            </a:r>
            <a:r>
              <a:rPr dirty="0" sz="2100" spc="-204" b="1">
                <a:latin typeface="Tahoma"/>
                <a:cs typeface="Tahoma"/>
              </a:rPr>
              <a:t> </a:t>
            </a:r>
            <a:r>
              <a:rPr dirty="0" sz="2100" spc="-75" b="1">
                <a:latin typeface="Tahoma"/>
                <a:cs typeface="Tahoma"/>
              </a:rPr>
              <a:t>Center</a:t>
            </a:r>
            <a:r>
              <a:rPr dirty="0" sz="2100" spc="-204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Accounting</a:t>
            </a:r>
            <a:endParaRPr sz="2100">
              <a:latin typeface="Tahoma"/>
              <a:cs typeface="Tahoma"/>
            </a:endParaRPr>
          </a:p>
          <a:p>
            <a:pPr marL="12700" marR="52069">
              <a:lnSpc>
                <a:spcPct val="134300"/>
              </a:lnSpc>
              <a:spcBef>
                <a:spcPts val="1425"/>
              </a:spcBef>
            </a:pPr>
            <a:r>
              <a:rPr dirty="0" sz="1050" spc="9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50" b="1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35" b="1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050" spc="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part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both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revenues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tracked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allowing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see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which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parts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generating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not.</a:t>
            </a:r>
            <a:endParaRPr sz="1050">
              <a:latin typeface="Tahoma"/>
              <a:cs typeface="Tahoma"/>
            </a:endParaRPr>
          </a:p>
          <a:p>
            <a:pPr marL="12700" marR="130810">
              <a:lnSpc>
                <a:spcPct val="132000"/>
              </a:lnSpc>
              <a:spcBef>
                <a:spcPts val="1200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example,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might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have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separate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centers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North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Region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South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Region.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Accounting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would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show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North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Region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generated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₹20,00,000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while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South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Region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generated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only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₹8,00,000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—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prompting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investigate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difference.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165" b="1">
                <a:latin typeface="Tahoma"/>
                <a:cs typeface="Tahoma"/>
              </a:rPr>
              <a:t>Internal</a:t>
            </a:r>
            <a:r>
              <a:rPr dirty="0" sz="2100" spc="-190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Orders</a:t>
            </a:r>
            <a:endParaRPr sz="2100">
              <a:latin typeface="Tahoma"/>
              <a:cs typeface="Tahoma"/>
            </a:endParaRPr>
          </a:p>
          <a:p>
            <a:pPr marL="12700" marR="412750">
              <a:lnSpc>
                <a:spcPct val="134300"/>
              </a:lnSpc>
              <a:spcBef>
                <a:spcPts val="1425"/>
              </a:spcBef>
            </a:pPr>
            <a:r>
              <a:rPr dirty="0" sz="1050" spc="-75" b="1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05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30" b="1">
                <a:solidFill>
                  <a:srgbClr val="272424"/>
                </a:solidFill>
                <a:latin typeface="Tahoma"/>
                <a:cs typeface="Tahoma"/>
              </a:rPr>
              <a:t>Orders</a:t>
            </a:r>
            <a:r>
              <a:rPr dirty="0" sz="1050" spc="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track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specific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short-term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activities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projects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marketing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campaign,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research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project,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maintenance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job.</a:t>
            </a:r>
            <a:endParaRPr sz="1050">
              <a:latin typeface="Tahoma"/>
              <a:cs typeface="Tahoma"/>
            </a:endParaRPr>
          </a:p>
          <a:p>
            <a:pPr marL="12700" marR="100965">
              <a:lnSpc>
                <a:spcPct val="134300"/>
              </a:lnSpc>
              <a:spcBef>
                <a:spcPts val="1170"/>
              </a:spcBef>
            </a:pP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Unlike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centers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(which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ongoing),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orders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temporary.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Once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project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complete,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order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closed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total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reviewed.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evaluate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whether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specific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activities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delivered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value</a:t>
            </a:r>
            <a:r>
              <a:rPr dirty="0" sz="10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money.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90" b="1">
                <a:latin typeface="Tahoma"/>
                <a:cs typeface="Tahoma"/>
              </a:rPr>
              <a:t>Product</a:t>
            </a:r>
            <a:r>
              <a:rPr dirty="0" sz="2100" spc="-210" b="1">
                <a:latin typeface="Tahoma"/>
                <a:cs typeface="Tahoma"/>
              </a:rPr>
              <a:t> </a:t>
            </a:r>
            <a:r>
              <a:rPr dirty="0" sz="2100" spc="-30" b="1">
                <a:latin typeface="Tahoma"/>
                <a:cs typeface="Tahoma"/>
              </a:rPr>
              <a:t>Cost</a:t>
            </a:r>
            <a:r>
              <a:rPr dirty="0" sz="2100" spc="-204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Controlling</a:t>
            </a:r>
            <a:endParaRPr sz="2100">
              <a:latin typeface="Tahoma"/>
              <a:cs typeface="Tahoma"/>
            </a:endParaRPr>
          </a:p>
          <a:p>
            <a:pPr marL="12700" marR="264160">
              <a:lnSpc>
                <a:spcPct val="134300"/>
              </a:lnSpc>
              <a:spcBef>
                <a:spcPts val="1425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component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calculates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total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producing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including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raw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materials,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labor,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overhead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like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electricity</a:t>
            </a:r>
            <a:r>
              <a:rPr dirty="0" sz="10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factory</a:t>
            </a:r>
            <a:r>
              <a:rPr dirty="0" sz="10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rent.</a:t>
            </a:r>
            <a:endParaRPr sz="10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170"/>
              </a:spcBef>
            </a:pPr>
            <a:r>
              <a:rPr dirty="0" sz="1050" spc="-4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manufactures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television,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Controlling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will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show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₹18,000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produce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unit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(₹12,000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materials,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₹4,000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labor,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₹2,000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overhead).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selling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price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₹22,000,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gross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per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unit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₹4,000.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If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production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rise,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will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see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immediately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adjust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pricing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find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savings.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110" b="1">
                <a:latin typeface="Tahoma"/>
                <a:cs typeface="Tahoma"/>
              </a:rPr>
              <a:t>Profitability</a:t>
            </a:r>
            <a:r>
              <a:rPr dirty="0" sz="2100" spc="-165" b="1">
                <a:latin typeface="Tahoma"/>
                <a:cs typeface="Tahoma"/>
              </a:rPr>
              <a:t> </a:t>
            </a:r>
            <a:r>
              <a:rPr dirty="0" sz="2100" spc="-45" b="1">
                <a:latin typeface="Tahoma"/>
                <a:cs typeface="Tahoma"/>
              </a:rPr>
              <a:t>Analysis</a:t>
            </a:r>
            <a:r>
              <a:rPr dirty="0" sz="2100" spc="-160" b="1">
                <a:latin typeface="Tahoma"/>
                <a:cs typeface="Tahoma"/>
              </a:rPr>
              <a:t> </a:t>
            </a:r>
            <a:r>
              <a:rPr dirty="0" sz="2100" spc="-55" b="1">
                <a:latin typeface="Tahoma"/>
                <a:cs typeface="Tahoma"/>
              </a:rPr>
              <a:t>(CO-</a:t>
            </a:r>
            <a:r>
              <a:rPr dirty="0" sz="2100" spc="-25" b="1">
                <a:latin typeface="Tahoma"/>
                <a:cs typeface="Tahoma"/>
              </a:rPr>
              <a:t>PA)</a:t>
            </a:r>
            <a:endParaRPr sz="2100">
              <a:latin typeface="Tahoma"/>
              <a:cs typeface="Tahoma"/>
            </a:endParaRPr>
          </a:p>
          <a:p>
            <a:pPr marL="12700" marR="425450">
              <a:lnSpc>
                <a:spcPct val="129700"/>
              </a:lnSpc>
              <a:spcBef>
                <a:spcPts val="1485"/>
              </a:spcBef>
            </a:pPr>
            <a:r>
              <a:rPr dirty="0" sz="1050" spc="70">
                <a:solidFill>
                  <a:srgbClr val="272424"/>
                </a:solidFill>
                <a:latin typeface="Tahoma"/>
                <a:cs typeface="Tahoma"/>
              </a:rPr>
              <a:t>CO-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PA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powerful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tools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7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CO.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65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analyzes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profitability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by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different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dimensions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0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product,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customer,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region,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sales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channel.</a:t>
            </a:r>
            <a:endParaRPr sz="1050">
              <a:latin typeface="Tahoma"/>
              <a:cs typeface="Tahoma"/>
            </a:endParaRPr>
          </a:p>
          <a:p>
            <a:pPr marL="12700" marR="84455">
              <a:lnSpc>
                <a:spcPct val="134300"/>
              </a:lnSpc>
              <a:spcBef>
                <a:spcPts val="1170"/>
              </a:spcBef>
            </a:pP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example,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70">
                <a:solidFill>
                  <a:srgbClr val="272424"/>
                </a:solidFill>
                <a:latin typeface="Tahoma"/>
                <a:cs typeface="Tahoma"/>
              </a:rPr>
              <a:t>CO-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PA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might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reveal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9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generates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high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revenue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very</a:t>
            </a:r>
            <a:r>
              <a:rPr dirty="0" sz="10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high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production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costs,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while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dirty="0" sz="10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5">
                <a:solidFill>
                  <a:srgbClr val="272424"/>
                </a:solidFill>
                <a:latin typeface="Tahoma"/>
                <a:cs typeface="Tahoma"/>
              </a:rPr>
              <a:t>B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lower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revenue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much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better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margins.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kind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insight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helps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make</a:t>
            </a:r>
            <a:r>
              <a:rPr dirty="0" sz="10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informed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decisions</a:t>
            </a:r>
            <a:r>
              <a:rPr dirty="0" sz="10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about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0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promote,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discontinue,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where</a:t>
            </a:r>
            <a:r>
              <a:rPr dirty="0" sz="10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72424"/>
                </a:solidFill>
                <a:latin typeface="Tahoma"/>
                <a:cs typeface="Tahoma"/>
              </a:rPr>
              <a:t>focus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Tahoma"/>
                <a:cs typeface="Tahoma"/>
              </a:rPr>
              <a:t>resources.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638" y="15645170"/>
            <a:ext cx="7598409" cy="4084954"/>
          </a:xfrm>
          <a:custGeom>
            <a:avLst/>
            <a:gdLst/>
            <a:ahLst/>
            <a:cxnLst/>
            <a:rect l="l" t="t" r="r" b="b"/>
            <a:pathLst>
              <a:path w="7598409" h="4084955">
                <a:moveTo>
                  <a:pt x="0" y="4041576"/>
                </a:moveTo>
                <a:lnTo>
                  <a:pt x="0" y="42995"/>
                </a:lnTo>
                <a:lnTo>
                  <a:pt x="0" y="40168"/>
                </a:lnTo>
                <a:lnTo>
                  <a:pt x="276" y="37371"/>
                </a:lnTo>
                <a:lnTo>
                  <a:pt x="830" y="34603"/>
                </a:lnTo>
                <a:lnTo>
                  <a:pt x="1373" y="31836"/>
                </a:lnTo>
                <a:lnTo>
                  <a:pt x="2194" y="29147"/>
                </a:lnTo>
                <a:lnTo>
                  <a:pt x="3271" y="26538"/>
                </a:lnTo>
                <a:lnTo>
                  <a:pt x="4348" y="23929"/>
                </a:lnTo>
                <a:lnTo>
                  <a:pt x="5673" y="21458"/>
                </a:lnTo>
                <a:lnTo>
                  <a:pt x="7244" y="19105"/>
                </a:lnTo>
                <a:lnTo>
                  <a:pt x="8816" y="16763"/>
                </a:lnTo>
                <a:lnTo>
                  <a:pt x="10595" y="14588"/>
                </a:lnTo>
                <a:lnTo>
                  <a:pt x="12592" y="12592"/>
                </a:lnTo>
                <a:lnTo>
                  <a:pt x="14588" y="10595"/>
                </a:lnTo>
                <a:lnTo>
                  <a:pt x="26538" y="3271"/>
                </a:lnTo>
                <a:lnTo>
                  <a:pt x="29147" y="2194"/>
                </a:lnTo>
                <a:lnTo>
                  <a:pt x="31836" y="1373"/>
                </a:lnTo>
                <a:lnTo>
                  <a:pt x="34603" y="820"/>
                </a:lnTo>
                <a:lnTo>
                  <a:pt x="37371" y="276"/>
                </a:lnTo>
                <a:lnTo>
                  <a:pt x="40168" y="0"/>
                </a:lnTo>
                <a:lnTo>
                  <a:pt x="42995" y="0"/>
                </a:lnTo>
                <a:lnTo>
                  <a:pt x="7555346" y="0"/>
                </a:lnTo>
                <a:lnTo>
                  <a:pt x="7558172" y="0"/>
                </a:lnTo>
                <a:lnTo>
                  <a:pt x="7560960" y="276"/>
                </a:lnTo>
                <a:lnTo>
                  <a:pt x="7585749" y="12592"/>
                </a:lnTo>
                <a:lnTo>
                  <a:pt x="7587745" y="14588"/>
                </a:lnTo>
                <a:lnTo>
                  <a:pt x="7597511" y="34603"/>
                </a:lnTo>
                <a:lnTo>
                  <a:pt x="7598064" y="37371"/>
                </a:lnTo>
                <a:lnTo>
                  <a:pt x="7598341" y="40168"/>
                </a:lnTo>
                <a:lnTo>
                  <a:pt x="7598341" y="42995"/>
                </a:lnTo>
                <a:lnTo>
                  <a:pt x="7598341" y="4041576"/>
                </a:lnTo>
                <a:lnTo>
                  <a:pt x="7598341" y="4044403"/>
                </a:lnTo>
                <a:lnTo>
                  <a:pt x="7598064" y="4047200"/>
                </a:lnTo>
                <a:lnTo>
                  <a:pt x="7597511" y="4049967"/>
                </a:lnTo>
                <a:lnTo>
                  <a:pt x="7596967" y="4052735"/>
                </a:lnTo>
                <a:lnTo>
                  <a:pt x="7591096" y="4065456"/>
                </a:lnTo>
                <a:lnTo>
                  <a:pt x="7589524" y="4067808"/>
                </a:lnTo>
                <a:lnTo>
                  <a:pt x="7587745" y="4069983"/>
                </a:lnTo>
                <a:lnTo>
                  <a:pt x="7585749" y="4071979"/>
                </a:lnTo>
                <a:lnTo>
                  <a:pt x="7583752" y="4073976"/>
                </a:lnTo>
                <a:lnTo>
                  <a:pt x="7563727" y="4083741"/>
                </a:lnTo>
                <a:lnTo>
                  <a:pt x="7560960" y="4084295"/>
                </a:lnTo>
                <a:lnTo>
                  <a:pt x="7558172" y="4084571"/>
                </a:lnTo>
                <a:lnTo>
                  <a:pt x="7555346" y="4084571"/>
                </a:lnTo>
                <a:lnTo>
                  <a:pt x="42995" y="4084571"/>
                </a:lnTo>
                <a:lnTo>
                  <a:pt x="40168" y="4084571"/>
                </a:lnTo>
                <a:lnTo>
                  <a:pt x="37371" y="4084295"/>
                </a:lnTo>
                <a:lnTo>
                  <a:pt x="34603" y="4083741"/>
                </a:lnTo>
                <a:lnTo>
                  <a:pt x="31836" y="4083188"/>
                </a:lnTo>
                <a:lnTo>
                  <a:pt x="12592" y="4071979"/>
                </a:lnTo>
                <a:lnTo>
                  <a:pt x="10595" y="4069983"/>
                </a:lnTo>
                <a:lnTo>
                  <a:pt x="830" y="4049967"/>
                </a:lnTo>
                <a:lnTo>
                  <a:pt x="276" y="4047200"/>
                </a:lnTo>
                <a:lnTo>
                  <a:pt x="0" y="4044403"/>
                </a:lnTo>
                <a:lnTo>
                  <a:pt x="0" y="4041576"/>
                </a:lnTo>
                <a:close/>
              </a:path>
            </a:pathLst>
          </a:custGeom>
          <a:ln w="7413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2345" y="15756828"/>
          <a:ext cx="7667625" cy="3842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550"/>
                <a:gridCol w="1910714"/>
                <a:gridCol w="1898650"/>
                <a:gridCol w="1920875"/>
              </a:tblGrid>
              <a:tr h="288290">
                <a:tc>
                  <a:txBody>
                    <a:bodyPr/>
                    <a:lstStyle/>
                    <a:p>
                      <a:pPr marL="133350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050" spc="-6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Component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230"/>
                        </a:lnSpc>
                      </a:pPr>
                      <a:r>
                        <a:rPr dirty="0" sz="1050" spc="-4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What</a:t>
                      </a:r>
                      <a:r>
                        <a:rPr dirty="0" sz="1050" spc="-8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050" spc="-8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230"/>
                        </a:lnSpc>
                      </a:pPr>
                      <a:r>
                        <a:rPr dirty="0" sz="1050" spc="-3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Who</a:t>
                      </a:r>
                      <a:r>
                        <a:rPr dirty="0" sz="1050" spc="-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Uses</a:t>
                      </a:r>
                      <a:r>
                        <a:rPr dirty="0" sz="1050" spc="-8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230"/>
                        </a:lnSpc>
                      </a:pPr>
                      <a:r>
                        <a:rPr dirty="0" sz="10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0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</a:t>
                      </a:r>
                      <a:r>
                        <a:rPr dirty="0" sz="10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Departmental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</a:t>
                      </a:r>
                      <a:r>
                        <a:rPr dirty="0" sz="10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managers,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HR</a:t>
                      </a:r>
                      <a:r>
                        <a:rPr dirty="0" sz="10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</a:t>
                      </a:r>
                      <a:r>
                        <a:rPr dirty="0" sz="10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spent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CFO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₹4,80,000</a:t>
                      </a:r>
                      <a:r>
                        <a:rPr dirty="0" sz="10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against</a:t>
                      </a:r>
                      <a:r>
                        <a:rPr dirty="0" sz="10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₹5,00,000</a:t>
                      </a:r>
                      <a:r>
                        <a:rPr dirty="0" sz="10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0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</a:t>
                      </a:r>
                      <a:r>
                        <a:rPr dirty="0" sz="10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by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Division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heads,</a:t>
                      </a:r>
                      <a:r>
                        <a:rPr dirty="0" sz="10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senior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North</a:t>
                      </a:r>
                      <a:r>
                        <a:rPr dirty="0" sz="10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Region</a:t>
                      </a:r>
                      <a:r>
                        <a:rPr dirty="0" sz="10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profit: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050" spc="1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unit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₹20,00,000;</a:t>
                      </a:r>
                      <a:r>
                        <a:rPr dirty="0" sz="10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South</a:t>
                      </a:r>
                      <a:r>
                        <a:rPr dirty="0" sz="10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Region: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₹8,00,000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Orders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Project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0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activity-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specific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Project</a:t>
                      </a:r>
                      <a:r>
                        <a:rPr dirty="0" sz="10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managers,</a:t>
                      </a:r>
                      <a:r>
                        <a:rPr dirty="0" sz="10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Summer</a:t>
                      </a:r>
                      <a:r>
                        <a:rPr dirty="0" sz="10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marketing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team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campaign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cost: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₹3,20,000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r>
                        <a:rPr dirty="0" sz="10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0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Controlling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0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manufacture</a:t>
                      </a:r>
                      <a:r>
                        <a:rPr dirty="0" sz="10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each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Production</a:t>
                      </a:r>
                      <a:r>
                        <a:rPr dirty="0" sz="1050" spc="1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managers,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0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produce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TV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107314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pricing</a:t>
                      </a:r>
                      <a:r>
                        <a:rPr dirty="0" sz="10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team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unit:</a:t>
                      </a:r>
                      <a:r>
                        <a:rPr dirty="0" sz="1050" spc="-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₹18,000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Profitability</a:t>
                      </a:r>
                      <a:r>
                        <a:rPr dirty="0" sz="10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Analysis</a:t>
                      </a:r>
                      <a:r>
                        <a:rPr dirty="0" sz="10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(CO-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050" spc="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by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product,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Sales</a:t>
                      </a:r>
                      <a:r>
                        <a:rPr dirty="0" sz="10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directors,</a:t>
                      </a:r>
                      <a:r>
                        <a:rPr dirty="0" sz="10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strategic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has</a:t>
                      </a:r>
                      <a:r>
                        <a:rPr dirty="0" sz="10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35%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margin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133350">
                        <a:lnSpc>
                          <a:spcPts val="1205"/>
                        </a:lnSpc>
                        <a:spcBef>
                          <a:spcPts val="175"/>
                        </a:spcBef>
                      </a:pP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PA)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205"/>
                        </a:lnSpc>
                        <a:spcBef>
                          <a:spcPts val="175"/>
                        </a:spcBef>
                      </a:pP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customer,</a:t>
                      </a:r>
                      <a:r>
                        <a:rPr dirty="0" sz="10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region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205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planners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205"/>
                        </a:lnSpc>
                        <a:spcBef>
                          <a:spcPts val="175"/>
                        </a:spcBef>
                      </a:pPr>
                      <a:r>
                        <a:rPr dirty="0" sz="10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vs</a:t>
                      </a: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0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12%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675" y="476249"/>
            <a:ext cx="895350" cy="257175"/>
          </a:xfrm>
          <a:custGeom>
            <a:avLst/>
            <a:gdLst/>
            <a:ahLst/>
            <a:cxnLst/>
            <a:rect l="l" t="t" r="r" b="b"/>
            <a:pathLst>
              <a:path w="895350" h="257175">
                <a:moveTo>
                  <a:pt x="853706" y="0"/>
                </a:moveTo>
                <a:lnTo>
                  <a:pt x="41643" y="0"/>
                </a:lnTo>
                <a:lnTo>
                  <a:pt x="35521" y="1270"/>
                </a:lnTo>
                <a:lnTo>
                  <a:pt x="1219" y="35560"/>
                </a:lnTo>
                <a:lnTo>
                  <a:pt x="0" y="41656"/>
                </a:lnTo>
                <a:lnTo>
                  <a:pt x="0" y="209169"/>
                </a:lnTo>
                <a:lnTo>
                  <a:pt x="0" y="215531"/>
                </a:lnTo>
                <a:lnTo>
                  <a:pt x="23749" y="251079"/>
                </a:lnTo>
                <a:lnTo>
                  <a:pt x="41643" y="257175"/>
                </a:lnTo>
                <a:lnTo>
                  <a:pt x="853706" y="257175"/>
                </a:lnTo>
                <a:lnTo>
                  <a:pt x="889254" y="233425"/>
                </a:lnTo>
                <a:lnTo>
                  <a:pt x="895350" y="215531"/>
                </a:lnTo>
                <a:lnTo>
                  <a:pt x="895350" y="41656"/>
                </a:lnTo>
                <a:lnTo>
                  <a:pt x="871601" y="6096"/>
                </a:lnTo>
                <a:lnTo>
                  <a:pt x="859828" y="1270"/>
                </a:lnTo>
                <a:lnTo>
                  <a:pt x="853706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9" y="497839"/>
            <a:ext cx="72263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10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5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2614611"/>
            <a:ext cx="9763125" cy="9124950"/>
          </a:xfrm>
          <a:custGeom>
            <a:avLst/>
            <a:gdLst/>
            <a:ahLst/>
            <a:cxnLst/>
            <a:rect l="l" t="t" r="r" b="b"/>
            <a:pathLst>
              <a:path w="9763125" h="9124950">
                <a:moveTo>
                  <a:pt x="0" y="9069705"/>
                </a:moveTo>
                <a:lnTo>
                  <a:pt x="0" y="55245"/>
                </a:lnTo>
                <a:lnTo>
                  <a:pt x="0" y="51612"/>
                </a:lnTo>
                <a:lnTo>
                  <a:pt x="355" y="48031"/>
                </a:lnTo>
                <a:lnTo>
                  <a:pt x="1066" y="44462"/>
                </a:lnTo>
                <a:lnTo>
                  <a:pt x="1765" y="40906"/>
                </a:lnTo>
                <a:lnTo>
                  <a:pt x="2819" y="37452"/>
                </a:lnTo>
                <a:lnTo>
                  <a:pt x="4203" y="34099"/>
                </a:lnTo>
                <a:lnTo>
                  <a:pt x="5587" y="30746"/>
                </a:lnTo>
                <a:lnTo>
                  <a:pt x="7289" y="27571"/>
                </a:lnTo>
                <a:lnTo>
                  <a:pt x="9309" y="24549"/>
                </a:lnTo>
                <a:lnTo>
                  <a:pt x="11328" y="21539"/>
                </a:lnTo>
                <a:lnTo>
                  <a:pt x="13614" y="18745"/>
                </a:lnTo>
                <a:lnTo>
                  <a:pt x="16179" y="16179"/>
                </a:lnTo>
                <a:lnTo>
                  <a:pt x="18745" y="13614"/>
                </a:lnTo>
                <a:lnTo>
                  <a:pt x="44462" y="1066"/>
                </a:lnTo>
                <a:lnTo>
                  <a:pt x="48018" y="355"/>
                </a:lnTo>
                <a:lnTo>
                  <a:pt x="51612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12" y="0"/>
                </a:lnTo>
                <a:lnTo>
                  <a:pt x="9715093" y="355"/>
                </a:lnTo>
                <a:lnTo>
                  <a:pt x="9718649" y="1066"/>
                </a:lnTo>
                <a:lnTo>
                  <a:pt x="9722218" y="1765"/>
                </a:lnTo>
                <a:lnTo>
                  <a:pt x="9746945" y="16179"/>
                </a:lnTo>
                <a:lnTo>
                  <a:pt x="9749510" y="18745"/>
                </a:lnTo>
                <a:lnTo>
                  <a:pt x="9762058" y="44462"/>
                </a:lnTo>
                <a:lnTo>
                  <a:pt x="9762769" y="48031"/>
                </a:lnTo>
                <a:lnTo>
                  <a:pt x="9763125" y="51612"/>
                </a:lnTo>
                <a:lnTo>
                  <a:pt x="9763125" y="55245"/>
                </a:lnTo>
                <a:lnTo>
                  <a:pt x="9763125" y="9069705"/>
                </a:lnTo>
                <a:lnTo>
                  <a:pt x="9763125" y="9073337"/>
                </a:lnTo>
                <a:lnTo>
                  <a:pt x="9762769" y="9076918"/>
                </a:lnTo>
                <a:lnTo>
                  <a:pt x="9762058" y="9080487"/>
                </a:lnTo>
                <a:lnTo>
                  <a:pt x="9761359" y="9084043"/>
                </a:lnTo>
                <a:lnTo>
                  <a:pt x="9746945" y="9108770"/>
                </a:lnTo>
                <a:lnTo>
                  <a:pt x="9744379" y="9111335"/>
                </a:lnTo>
                <a:lnTo>
                  <a:pt x="9718649" y="9123883"/>
                </a:lnTo>
                <a:lnTo>
                  <a:pt x="9715093" y="9124594"/>
                </a:lnTo>
                <a:lnTo>
                  <a:pt x="9711512" y="9124950"/>
                </a:lnTo>
                <a:lnTo>
                  <a:pt x="9707880" y="9124950"/>
                </a:lnTo>
                <a:lnTo>
                  <a:pt x="55244" y="9124950"/>
                </a:lnTo>
                <a:lnTo>
                  <a:pt x="51612" y="9124950"/>
                </a:lnTo>
                <a:lnTo>
                  <a:pt x="48018" y="9124594"/>
                </a:lnTo>
                <a:lnTo>
                  <a:pt x="44462" y="9123883"/>
                </a:lnTo>
                <a:lnTo>
                  <a:pt x="40906" y="9123184"/>
                </a:lnTo>
                <a:lnTo>
                  <a:pt x="16179" y="9108770"/>
                </a:lnTo>
                <a:lnTo>
                  <a:pt x="13614" y="9106204"/>
                </a:lnTo>
                <a:lnTo>
                  <a:pt x="4203" y="9090837"/>
                </a:lnTo>
                <a:lnTo>
                  <a:pt x="2819" y="9087497"/>
                </a:lnTo>
                <a:lnTo>
                  <a:pt x="1765" y="9084043"/>
                </a:lnTo>
                <a:lnTo>
                  <a:pt x="1066" y="9080487"/>
                </a:lnTo>
                <a:lnTo>
                  <a:pt x="355" y="9076918"/>
                </a:lnTo>
                <a:lnTo>
                  <a:pt x="0" y="9073337"/>
                </a:lnTo>
                <a:lnTo>
                  <a:pt x="0" y="9069705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8200" y="2619374"/>
          <a:ext cx="9829800" cy="9114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660"/>
                <a:gridCol w="3253740"/>
              </a:tblGrid>
              <a:tr h="5092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Functionality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6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What</a:t>
                      </a:r>
                      <a:r>
                        <a:rPr dirty="0" sz="1350" spc="-1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-10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Does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Why</a:t>
                      </a:r>
                      <a:r>
                        <a:rPr dirty="0" sz="1350" spc="-12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-1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3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-1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Useful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Transaction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8288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Captures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every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event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—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sales,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purchases,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payments,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receipts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46228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no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transaction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missed;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complete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trail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General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Ledger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6926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Maintains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central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all 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balances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02489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Foundation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statements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Vendor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Invoice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67818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supplier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invoices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6446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Prevents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missed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payments;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supplier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relationships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1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230504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Tracks</a:t>
                      </a:r>
                      <a:r>
                        <a:rPr dirty="0" sz="1350" spc="1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1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invoices,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outstanding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amounts,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74803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Manages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flow;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identifies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overdue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Asset</a:t>
                      </a:r>
                      <a:r>
                        <a:rPr dirty="0" sz="1350" spc="-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27622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fixed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assets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calculates depreciation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9558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Accurate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asset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valuation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 statements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70802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Assigns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departments,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products,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projects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5245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dirty="0" sz="1350" spc="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 monitoring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Planning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Budgeting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7335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creation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budgets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3657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comparison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actual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vs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planned</a:t>
                      </a:r>
                      <a:r>
                        <a:rPr dirty="0" sz="13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Profitability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Analysis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96456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Analyzes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product,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customer,</a:t>
                      </a:r>
                      <a:r>
                        <a:rPr dirty="0" sz="1350" spc="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region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60706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strategic</a:t>
                      </a: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decisions</a:t>
                      </a:r>
                      <a:r>
                        <a:rPr dirty="0" sz="1350" spc="114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on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pricing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investment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9621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Generates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balance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sheets,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loss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statements,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flow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76327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Meets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legal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management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requirements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Period-End</a:t>
                      </a:r>
                      <a:r>
                        <a:rPr dirty="0" sz="1350" spc="1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Year-End</a:t>
                      </a:r>
                      <a:r>
                        <a:rPr dirty="0" sz="1350" spc="1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Closing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7018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Finalizes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end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each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period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6891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13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accurate</a:t>
                      </a:r>
                      <a:r>
                        <a:rPr dirty="0" sz="13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timely</a:t>
                      </a:r>
                      <a:r>
                        <a:rPr dirty="0" sz="13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 statements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549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Controls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 marR="31623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dirty="0" sz="1350" spc="1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authorization</a:t>
                      </a:r>
                      <a:r>
                        <a:rPr dirty="0" sz="1350" spc="1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controls</a:t>
                      </a:r>
                      <a:r>
                        <a:rPr dirty="0" sz="1350" spc="1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dirty="0" sz="1350" spc="-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trails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107251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1350" spc="1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compliance</a:t>
                      </a:r>
                      <a:r>
                        <a:rPr dirty="0" sz="1350" spc="1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internal/external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audits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15975" y="777874"/>
            <a:ext cx="62534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Key</a:t>
            </a:r>
            <a:r>
              <a:rPr dirty="0" spc="-350"/>
              <a:t> </a:t>
            </a:r>
            <a:r>
              <a:rPr dirty="0" spc="-145"/>
              <a:t>Functionalities</a:t>
            </a:r>
            <a:r>
              <a:rPr dirty="0" spc="-345"/>
              <a:t> </a:t>
            </a:r>
            <a:r>
              <a:rPr dirty="0" spc="-25"/>
              <a:t>of</a:t>
            </a:r>
            <a:r>
              <a:rPr dirty="0" spc="-345"/>
              <a:t> </a:t>
            </a:r>
            <a:r>
              <a:rPr dirty="0"/>
              <a:t>SAP</a:t>
            </a:r>
            <a:r>
              <a:rPr dirty="0" spc="-340"/>
              <a:t> </a:t>
            </a:r>
            <a:r>
              <a:rPr dirty="0" spc="-105"/>
              <a:t>FICO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5975" y="1545589"/>
            <a:ext cx="9584690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provides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wide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range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functionalities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together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cover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complete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needs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an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organization.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functionality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serves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specific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purpose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contributes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effective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cost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control.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975" y="11870689"/>
            <a:ext cx="948309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These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functionalities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do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work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isolation.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processed,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simultaneously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updates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General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Ledger,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Payable,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(if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configured)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relevant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integration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makes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FICO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powerful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event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updates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all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relevant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automatically.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675" y="476250"/>
            <a:ext cx="904875" cy="257175"/>
          </a:xfrm>
          <a:custGeom>
            <a:avLst/>
            <a:gdLst/>
            <a:ahLst/>
            <a:cxnLst/>
            <a:rect l="l" t="t" r="r" b="b"/>
            <a:pathLst>
              <a:path w="904875" h="257175">
                <a:moveTo>
                  <a:pt x="863231" y="0"/>
                </a:moveTo>
                <a:lnTo>
                  <a:pt x="41643" y="0"/>
                </a:lnTo>
                <a:lnTo>
                  <a:pt x="35521" y="1270"/>
                </a:lnTo>
                <a:lnTo>
                  <a:pt x="1219" y="35560"/>
                </a:lnTo>
                <a:lnTo>
                  <a:pt x="0" y="41655"/>
                </a:lnTo>
                <a:lnTo>
                  <a:pt x="0" y="209169"/>
                </a:lnTo>
                <a:lnTo>
                  <a:pt x="0" y="215519"/>
                </a:lnTo>
                <a:lnTo>
                  <a:pt x="23749" y="251078"/>
                </a:lnTo>
                <a:lnTo>
                  <a:pt x="41643" y="257175"/>
                </a:lnTo>
                <a:lnTo>
                  <a:pt x="863231" y="257175"/>
                </a:lnTo>
                <a:lnTo>
                  <a:pt x="898779" y="233426"/>
                </a:lnTo>
                <a:lnTo>
                  <a:pt x="904875" y="215519"/>
                </a:lnTo>
                <a:lnTo>
                  <a:pt x="904875" y="41655"/>
                </a:lnTo>
                <a:lnTo>
                  <a:pt x="881126" y="6096"/>
                </a:lnTo>
                <a:lnTo>
                  <a:pt x="869353" y="1270"/>
                </a:lnTo>
                <a:lnTo>
                  <a:pt x="863231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9" y="497840"/>
            <a:ext cx="7264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10">
                <a:solidFill>
                  <a:srgbClr val="272424"/>
                </a:solidFill>
                <a:latin typeface="Tahoma"/>
                <a:cs typeface="Tahoma"/>
              </a:rPr>
              <a:t>SECTION</a:t>
            </a:r>
            <a:r>
              <a:rPr dirty="0" sz="10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6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How</a:t>
            </a:r>
            <a:r>
              <a:rPr dirty="0" spc="-365"/>
              <a:t> </a:t>
            </a:r>
            <a:r>
              <a:rPr dirty="0"/>
              <a:t>SAP</a:t>
            </a:r>
            <a:r>
              <a:rPr dirty="0" spc="-355"/>
              <a:t> </a:t>
            </a:r>
            <a:r>
              <a:rPr dirty="0" spc="-185"/>
              <a:t>FICO</a:t>
            </a:r>
            <a:r>
              <a:rPr dirty="0" spc="-360"/>
              <a:t> </a:t>
            </a:r>
            <a:r>
              <a:rPr dirty="0" spc="-55"/>
              <a:t>Works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975" y="1526539"/>
            <a:ext cx="980186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FICO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works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practice, consider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common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business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process: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manufacturing company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purchasing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raw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materials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supplier.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known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procure-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to-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pay</a:t>
            </a:r>
            <a:r>
              <a:rPr dirty="0" sz="135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cycle.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6673" y="2521585"/>
            <a:ext cx="9396730" cy="3845560"/>
          </a:xfrm>
          <a:custGeom>
            <a:avLst/>
            <a:gdLst/>
            <a:ahLst/>
            <a:cxnLst/>
            <a:rect l="l" t="t" r="r" b="b"/>
            <a:pathLst>
              <a:path w="9396730" h="3845560">
                <a:moveTo>
                  <a:pt x="1747456" y="0"/>
                </a:moveTo>
                <a:lnTo>
                  <a:pt x="283540" y="0"/>
                </a:lnTo>
                <a:lnTo>
                  <a:pt x="236899" y="5371"/>
                </a:lnTo>
                <a:lnTo>
                  <a:pt x="194085" y="20672"/>
                </a:lnTo>
                <a:lnTo>
                  <a:pt x="156318" y="44680"/>
                </a:lnTo>
                <a:lnTo>
                  <a:pt x="124819" y="76176"/>
                </a:lnTo>
                <a:lnTo>
                  <a:pt x="100809" y="113938"/>
                </a:lnTo>
                <a:lnTo>
                  <a:pt x="85508" y="156746"/>
                </a:lnTo>
                <a:lnTo>
                  <a:pt x="80137" y="203377"/>
                </a:lnTo>
                <a:lnTo>
                  <a:pt x="80137" y="1840064"/>
                </a:lnTo>
                <a:lnTo>
                  <a:pt x="48364" y="1852085"/>
                </a:lnTo>
                <a:lnTo>
                  <a:pt x="22956" y="1873696"/>
                </a:lnTo>
                <a:lnTo>
                  <a:pt x="6104" y="1902710"/>
                </a:lnTo>
                <a:lnTo>
                  <a:pt x="0" y="1936940"/>
                </a:lnTo>
                <a:lnTo>
                  <a:pt x="7750" y="1975330"/>
                </a:lnTo>
                <a:lnTo>
                  <a:pt x="28887" y="2006680"/>
                </a:lnTo>
                <a:lnTo>
                  <a:pt x="60237" y="2027817"/>
                </a:lnTo>
                <a:lnTo>
                  <a:pt x="98628" y="2035568"/>
                </a:lnTo>
                <a:lnTo>
                  <a:pt x="137011" y="2027817"/>
                </a:lnTo>
                <a:lnTo>
                  <a:pt x="168357" y="2006680"/>
                </a:lnTo>
                <a:lnTo>
                  <a:pt x="189493" y="1975330"/>
                </a:lnTo>
                <a:lnTo>
                  <a:pt x="197243" y="1936940"/>
                </a:lnTo>
                <a:lnTo>
                  <a:pt x="191139" y="1902710"/>
                </a:lnTo>
                <a:lnTo>
                  <a:pt x="174288" y="1873696"/>
                </a:lnTo>
                <a:lnTo>
                  <a:pt x="148884" y="1852085"/>
                </a:lnTo>
                <a:lnTo>
                  <a:pt x="117119" y="1840064"/>
                </a:lnTo>
                <a:lnTo>
                  <a:pt x="117119" y="203377"/>
                </a:lnTo>
                <a:lnTo>
                  <a:pt x="123064" y="159150"/>
                </a:lnTo>
                <a:lnTo>
                  <a:pt x="139841" y="119399"/>
                </a:lnTo>
                <a:lnTo>
                  <a:pt x="165863" y="85715"/>
                </a:lnTo>
                <a:lnTo>
                  <a:pt x="199545" y="59687"/>
                </a:lnTo>
                <a:lnTo>
                  <a:pt x="239299" y="42904"/>
                </a:lnTo>
                <a:lnTo>
                  <a:pt x="283540" y="36956"/>
                </a:lnTo>
                <a:lnTo>
                  <a:pt x="1747456" y="36956"/>
                </a:lnTo>
                <a:lnTo>
                  <a:pt x="1791701" y="42904"/>
                </a:lnTo>
                <a:lnTo>
                  <a:pt x="1831457" y="59687"/>
                </a:lnTo>
                <a:lnTo>
                  <a:pt x="1865137" y="85715"/>
                </a:lnTo>
                <a:lnTo>
                  <a:pt x="1891158" y="119399"/>
                </a:lnTo>
                <a:lnTo>
                  <a:pt x="1907933" y="159150"/>
                </a:lnTo>
                <a:lnTo>
                  <a:pt x="1913877" y="203377"/>
                </a:lnTo>
                <a:lnTo>
                  <a:pt x="1913877" y="1942363"/>
                </a:lnTo>
                <a:lnTo>
                  <a:pt x="1845398" y="1873872"/>
                </a:lnTo>
                <a:lnTo>
                  <a:pt x="1836623" y="1873872"/>
                </a:lnTo>
                <a:lnTo>
                  <a:pt x="1825790" y="1884705"/>
                </a:lnTo>
                <a:lnTo>
                  <a:pt x="1825790" y="1893481"/>
                </a:lnTo>
                <a:lnTo>
                  <a:pt x="1913877" y="1981580"/>
                </a:lnTo>
                <a:lnTo>
                  <a:pt x="1913877" y="3634943"/>
                </a:lnTo>
                <a:lnTo>
                  <a:pt x="1919216" y="3681441"/>
                </a:lnTo>
                <a:lnTo>
                  <a:pt x="1934430" y="3724148"/>
                </a:lnTo>
                <a:lnTo>
                  <a:pt x="1958310" y="3761851"/>
                </a:lnTo>
                <a:lnTo>
                  <a:pt x="1989648" y="3793336"/>
                </a:lnTo>
                <a:lnTo>
                  <a:pt x="2027238" y="3817391"/>
                </a:lnTo>
                <a:lnTo>
                  <a:pt x="2069871" y="3832803"/>
                </a:lnTo>
                <a:lnTo>
                  <a:pt x="2116340" y="3838359"/>
                </a:lnTo>
                <a:lnTo>
                  <a:pt x="3628021" y="3845318"/>
                </a:lnTo>
                <a:lnTo>
                  <a:pt x="3674825" y="3840129"/>
                </a:lnTo>
                <a:lnTo>
                  <a:pt x="3717815" y="3824935"/>
                </a:lnTo>
                <a:lnTo>
                  <a:pt x="3755757" y="3800965"/>
                </a:lnTo>
                <a:lnTo>
                  <a:pt x="3787416" y="3769447"/>
                </a:lnTo>
                <a:lnTo>
                  <a:pt x="3811557" y="3731612"/>
                </a:lnTo>
                <a:lnTo>
                  <a:pt x="3826947" y="3688687"/>
                </a:lnTo>
                <a:lnTo>
                  <a:pt x="3832352" y="3641902"/>
                </a:lnTo>
                <a:lnTo>
                  <a:pt x="3832352" y="1930730"/>
                </a:lnTo>
                <a:lnTo>
                  <a:pt x="3890010" y="1988375"/>
                </a:lnTo>
                <a:lnTo>
                  <a:pt x="3898785" y="1988375"/>
                </a:lnTo>
                <a:lnTo>
                  <a:pt x="3909618" y="1977542"/>
                </a:lnTo>
                <a:lnTo>
                  <a:pt x="3909618" y="1968766"/>
                </a:lnTo>
                <a:lnTo>
                  <a:pt x="3832352" y="1891512"/>
                </a:lnTo>
                <a:lnTo>
                  <a:pt x="3832352" y="211188"/>
                </a:lnTo>
                <a:lnTo>
                  <a:pt x="3838260" y="167102"/>
                </a:lnTo>
                <a:lnTo>
                  <a:pt x="3854940" y="127452"/>
                </a:lnTo>
                <a:lnTo>
                  <a:pt x="3880823" y="93819"/>
                </a:lnTo>
                <a:lnTo>
                  <a:pt x="3914339" y="67784"/>
                </a:lnTo>
                <a:lnTo>
                  <a:pt x="3953920" y="50928"/>
                </a:lnTo>
                <a:lnTo>
                  <a:pt x="3997998" y="44830"/>
                </a:lnTo>
                <a:lnTo>
                  <a:pt x="5491187" y="37846"/>
                </a:lnTo>
                <a:lnTo>
                  <a:pt x="5535587" y="43590"/>
                </a:lnTo>
                <a:lnTo>
                  <a:pt x="5575513" y="60264"/>
                </a:lnTo>
                <a:lnTo>
                  <a:pt x="5609361" y="86267"/>
                </a:lnTo>
                <a:lnTo>
                  <a:pt x="5635525" y="119999"/>
                </a:lnTo>
                <a:lnTo>
                  <a:pt x="5652401" y="159857"/>
                </a:lnTo>
                <a:lnTo>
                  <a:pt x="5658383" y="204241"/>
                </a:lnTo>
                <a:lnTo>
                  <a:pt x="5658383" y="1933105"/>
                </a:lnTo>
                <a:lnTo>
                  <a:pt x="5599137" y="1873872"/>
                </a:lnTo>
                <a:lnTo>
                  <a:pt x="5590362" y="1873872"/>
                </a:lnTo>
                <a:lnTo>
                  <a:pt x="5579529" y="1884705"/>
                </a:lnTo>
                <a:lnTo>
                  <a:pt x="5579529" y="1893481"/>
                </a:lnTo>
                <a:lnTo>
                  <a:pt x="5658383" y="1972335"/>
                </a:lnTo>
                <a:lnTo>
                  <a:pt x="5658383" y="3634104"/>
                </a:lnTo>
                <a:lnTo>
                  <a:pt x="5663755" y="3680741"/>
                </a:lnTo>
                <a:lnTo>
                  <a:pt x="5679058" y="3723551"/>
                </a:lnTo>
                <a:lnTo>
                  <a:pt x="5703069" y="3761316"/>
                </a:lnTo>
                <a:lnTo>
                  <a:pt x="5734567" y="3792813"/>
                </a:lnTo>
                <a:lnTo>
                  <a:pt x="5772332" y="3816823"/>
                </a:lnTo>
                <a:lnTo>
                  <a:pt x="5815141" y="3832123"/>
                </a:lnTo>
                <a:lnTo>
                  <a:pt x="5861773" y="3837495"/>
                </a:lnTo>
                <a:lnTo>
                  <a:pt x="7308723" y="3837495"/>
                </a:lnTo>
                <a:lnTo>
                  <a:pt x="7355364" y="3832123"/>
                </a:lnTo>
                <a:lnTo>
                  <a:pt x="7398180" y="3816823"/>
                </a:lnTo>
                <a:lnTo>
                  <a:pt x="7435949" y="3792813"/>
                </a:lnTo>
                <a:lnTo>
                  <a:pt x="7467450" y="3761316"/>
                </a:lnTo>
                <a:lnTo>
                  <a:pt x="7491463" y="3723551"/>
                </a:lnTo>
                <a:lnTo>
                  <a:pt x="7506766" y="3680741"/>
                </a:lnTo>
                <a:lnTo>
                  <a:pt x="7512138" y="3634104"/>
                </a:lnTo>
                <a:lnTo>
                  <a:pt x="7512138" y="1930730"/>
                </a:lnTo>
                <a:lnTo>
                  <a:pt x="7579029" y="1997621"/>
                </a:lnTo>
                <a:lnTo>
                  <a:pt x="7587805" y="1997621"/>
                </a:lnTo>
                <a:lnTo>
                  <a:pt x="7598638" y="1986788"/>
                </a:lnTo>
                <a:lnTo>
                  <a:pt x="7598638" y="1978012"/>
                </a:lnTo>
                <a:lnTo>
                  <a:pt x="7512138" y="1891512"/>
                </a:lnTo>
                <a:lnTo>
                  <a:pt x="7512138" y="212051"/>
                </a:lnTo>
                <a:lnTo>
                  <a:pt x="7518083" y="167808"/>
                </a:lnTo>
                <a:lnTo>
                  <a:pt x="7534860" y="128047"/>
                </a:lnTo>
                <a:lnTo>
                  <a:pt x="7560881" y="94356"/>
                </a:lnTo>
                <a:lnTo>
                  <a:pt x="7594560" y="68324"/>
                </a:lnTo>
                <a:lnTo>
                  <a:pt x="7634311" y="51540"/>
                </a:lnTo>
                <a:lnTo>
                  <a:pt x="7678547" y="45593"/>
                </a:lnTo>
                <a:lnTo>
                  <a:pt x="9113151" y="45593"/>
                </a:lnTo>
                <a:lnTo>
                  <a:pt x="9157392" y="51540"/>
                </a:lnTo>
                <a:lnTo>
                  <a:pt x="9197146" y="68324"/>
                </a:lnTo>
                <a:lnTo>
                  <a:pt x="9230828" y="94356"/>
                </a:lnTo>
                <a:lnTo>
                  <a:pt x="9256850" y="128047"/>
                </a:lnTo>
                <a:lnTo>
                  <a:pt x="9273627" y="167808"/>
                </a:lnTo>
                <a:lnTo>
                  <a:pt x="9279572" y="212051"/>
                </a:lnTo>
                <a:lnTo>
                  <a:pt x="9279572" y="1840064"/>
                </a:lnTo>
                <a:lnTo>
                  <a:pt x="9247807" y="1852085"/>
                </a:lnTo>
                <a:lnTo>
                  <a:pt x="9222403" y="1873696"/>
                </a:lnTo>
                <a:lnTo>
                  <a:pt x="9205552" y="1902710"/>
                </a:lnTo>
                <a:lnTo>
                  <a:pt x="9199448" y="1936940"/>
                </a:lnTo>
                <a:lnTo>
                  <a:pt x="9207196" y="1975330"/>
                </a:lnTo>
                <a:lnTo>
                  <a:pt x="9228329" y="2006680"/>
                </a:lnTo>
                <a:lnTo>
                  <a:pt x="9259675" y="2027817"/>
                </a:lnTo>
                <a:lnTo>
                  <a:pt x="9298063" y="2035568"/>
                </a:lnTo>
                <a:lnTo>
                  <a:pt x="9336448" y="2027817"/>
                </a:lnTo>
                <a:lnTo>
                  <a:pt x="9367785" y="2006680"/>
                </a:lnTo>
                <a:lnTo>
                  <a:pt x="9388908" y="1975330"/>
                </a:lnTo>
                <a:lnTo>
                  <a:pt x="9396653" y="1936940"/>
                </a:lnTo>
                <a:lnTo>
                  <a:pt x="9390555" y="1902710"/>
                </a:lnTo>
                <a:lnTo>
                  <a:pt x="9373716" y="1873696"/>
                </a:lnTo>
                <a:lnTo>
                  <a:pt x="9348320" y="1852085"/>
                </a:lnTo>
                <a:lnTo>
                  <a:pt x="9316554" y="1840064"/>
                </a:lnTo>
                <a:lnTo>
                  <a:pt x="9316554" y="212051"/>
                </a:lnTo>
                <a:lnTo>
                  <a:pt x="9311183" y="165406"/>
                </a:lnTo>
                <a:lnTo>
                  <a:pt x="9295882" y="122588"/>
                </a:lnTo>
                <a:lnTo>
                  <a:pt x="9271871" y="84820"/>
                </a:lnTo>
                <a:lnTo>
                  <a:pt x="9240373" y="53319"/>
                </a:lnTo>
                <a:lnTo>
                  <a:pt x="9202606" y="29309"/>
                </a:lnTo>
                <a:lnTo>
                  <a:pt x="9159792" y="14007"/>
                </a:lnTo>
                <a:lnTo>
                  <a:pt x="9113151" y="8635"/>
                </a:lnTo>
                <a:lnTo>
                  <a:pt x="7678547" y="8635"/>
                </a:lnTo>
                <a:lnTo>
                  <a:pt x="7631914" y="14007"/>
                </a:lnTo>
                <a:lnTo>
                  <a:pt x="7589105" y="29309"/>
                </a:lnTo>
                <a:lnTo>
                  <a:pt x="7551341" y="53319"/>
                </a:lnTo>
                <a:lnTo>
                  <a:pt x="7519842" y="84820"/>
                </a:lnTo>
                <a:lnTo>
                  <a:pt x="7495831" y="122588"/>
                </a:lnTo>
                <a:lnTo>
                  <a:pt x="7480528" y="165406"/>
                </a:lnTo>
                <a:lnTo>
                  <a:pt x="7475156" y="212051"/>
                </a:lnTo>
                <a:lnTo>
                  <a:pt x="7475156" y="1894535"/>
                </a:lnTo>
                <a:lnTo>
                  <a:pt x="7391679" y="1978012"/>
                </a:lnTo>
                <a:lnTo>
                  <a:pt x="7391679" y="1986788"/>
                </a:lnTo>
                <a:lnTo>
                  <a:pt x="7402512" y="1997621"/>
                </a:lnTo>
                <a:lnTo>
                  <a:pt x="7411288" y="1997621"/>
                </a:lnTo>
                <a:lnTo>
                  <a:pt x="7475156" y="1933765"/>
                </a:lnTo>
                <a:lnTo>
                  <a:pt x="7475156" y="3634104"/>
                </a:lnTo>
                <a:lnTo>
                  <a:pt x="7469210" y="3678341"/>
                </a:lnTo>
                <a:lnTo>
                  <a:pt x="7452431" y="3718094"/>
                </a:lnTo>
                <a:lnTo>
                  <a:pt x="7426405" y="3751776"/>
                </a:lnTo>
                <a:lnTo>
                  <a:pt x="7392721" y="3777801"/>
                </a:lnTo>
                <a:lnTo>
                  <a:pt x="7352964" y="3794580"/>
                </a:lnTo>
                <a:lnTo>
                  <a:pt x="7308723" y="3800525"/>
                </a:lnTo>
                <a:lnTo>
                  <a:pt x="5861773" y="3800525"/>
                </a:lnTo>
                <a:lnTo>
                  <a:pt x="5817534" y="3794580"/>
                </a:lnTo>
                <a:lnTo>
                  <a:pt x="5777782" y="3777801"/>
                </a:lnTo>
                <a:lnTo>
                  <a:pt x="5744103" y="3751776"/>
                </a:lnTo>
                <a:lnTo>
                  <a:pt x="5718084" y="3718094"/>
                </a:lnTo>
                <a:lnTo>
                  <a:pt x="5701309" y="3678341"/>
                </a:lnTo>
                <a:lnTo>
                  <a:pt x="5695365" y="3634104"/>
                </a:lnTo>
                <a:lnTo>
                  <a:pt x="5695365" y="1984616"/>
                </a:lnTo>
                <a:lnTo>
                  <a:pt x="5786488" y="1893481"/>
                </a:lnTo>
                <a:lnTo>
                  <a:pt x="5786488" y="1884705"/>
                </a:lnTo>
                <a:lnTo>
                  <a:pt x="5775655" y="1873872"/>
                </a:lnTo>
                <a:lnTo>
                  <a:pt x="5766879" y="1873872"/>
                </a:lnTo>
                <a:lnTo>
                  <a:pt x="5696877" y="1943874"/>
                </a:lnTo>
                <a:lnTo>
                  <a:pt x="5696877" y="1792439"/>
                </a:lnTo>
                <a:lnTo>
                  <a:pt x="5695365" y="1792439"/>
                </a:lnTo>
                <a:lnTo>
                  <a:pt x="5695365" y="204241"/>
                </a:lnTo>
                <a:lnTo>
                  <a:pt x="5689960" y="157472"/>
                </a:lnTo>
                <a:lnTo>
                  <a:pt x="5674568" y="114563"/>
                </a:lnTo>
                <a:lnTo>
                  <a:pt x="5650423" y="76741"/>
                </a:lnTo>
                <a:lnTo>
                  <a:pt x="5618761" y="45234"/>
                </a:lnTo>
                <a:lnTo>
                  <a:pt x="5580814" y="21271"/>
                </a:lnTo>
                <a:lnTo>
                  <a:pt x="5537819" y="6080"/>
                </a:lnTo>
                <a:lnTo>
                  <a:pt x="5491010" y="889"/>
                </a:lnTo>
                <a:lnTo>
                  <a:pt x="3997833" y="7747"/>
                </a:lnTo>
                <a:lnTo>
                  <a:pt x="3951364" y="13298"/>
                </a:lnTo>
                <a:lnTo>
                  <a:pt x="3908733" y="28709"/>
                </a:lnTo>
                <a:lnTo>
                  <a:pt x="3871145" y="52766"/>
                </a:lnTo>
                <a:lnTo>
                  <a:pt x="3839807" y="84255"/>
                </a:lnTo>
                <a:lnTo>
                  <a:pt x="3815928" y="121964"/>
                </a:lnTo>
                <a:lnTo>
                  <a:pt x="3800713" y="164679"/>
                </a:lnTo>
                <a:lnTo>
                  <a:pt x="3795369" y="211188"/>
                </a:lnTo>
                <a:lnTo>
                  <a:pt x="3795369" y="1876056"/>
                </a:lnTo>
                <a:lnTo>
                  <a:pt x="3702659" y="1968766"/>
                </a:lnTo>
                <a:lnTo>
                  <a:pt x="3702659" y="1977542"/>
                </a:lnTo>
                <a:lnTo>
                  <a:pt x="3713492" y="1988375"/>
                </a:lnTo>
                <a:lnTo>
                  <a:pt x="3722268" y="1988375"/>
                </a:lnTo>
                <a:lnTo>
                  <a:pt x="3792270" y="1918373"/>
                </a:lnTo>
                <a:lnTo>
                  <a:pt x="3792270" y="2069807"/>
                </a:lnTo>
                <a:lnTo>
                  <a:pt x="3795369" y="2069807"/>
                </a:lnTo>
                <a:lnTo>
                  <a:pt x="3795369" y="3641902"/>
                </a:lnTo>
                <a:lnTo>
                  <a:pt x="3789389" y="3686279"/>
                </a:lnTo>
                <a:lnTo>
                  <a:pt x="3772518" y="3726129"/>
                </a:lnTo>
                <a:lnTo>
                  <a:pt x="3746358" y="3759857"/>
                </a:lnTo>
                <a:lnTo>
                  <a:pt x="3712514" y="3785865"/>
                </a:lnTo>
                <a:lnTo>
                  <a:pt x="3672589" y="3802557"/>
                </a:lnTo>
                <a:lnTo>
                  <a:pt x="3628186" y="3808336"/>
                </a:lnTo>
                <a:lnTo>
                  <a:pt x="2116518" y="3801364"/>
                </a:lnTo>
                <a:lnTo>
                  <a:pt x="2072436" y="3795253"/>
                </a:lnTo>
                <a:lnTo>
                  <a:pt x="2032854" y="3778391"/>
                </a:lnTo>
                <a:lnTo>
                  <a:pt x="1999338" y="3752353"/>
                </a:lnTo>
                <a:lnTo>
                  <a:pt x="1973458" y="3718715"/>
                </a:lnTo>
                <a:lnTo>
                  <a:pt x="1956780" y="3679053"/>
                </a:lnTo>
                <a:lnTo>
                  <a:pt x="1950872" y="3634943"/>
                </a:lnTo>
                <a:lnTo>
                  <a:pt x="1950872" y="1975370"/>
                </a:lnTo>
                <a:lnTo>
                  <a:pt x="2032749" y="1893481"/>
                </a:lnTo>
                <a:lnTo>
                  <a:pt x="2032749" y="1884705"/>
                </a:lnTo>
                <a:lnTo>
                  <a:pt x="2021916" y="1873872"/>
                </a:lnTo>
                <a:lnTo>
                  <a:pt x="2013140" y="1873872"/>
                </a:lnTo>
                <a:lnTo>
                  <a:pt x="1950872" y="1936140"/>
                </a:lnTo>
                <a:lnTo>
                  <a:pt x="1950872" y="203377"/>
                </a:lnTo>
                <a:lnTo>
                  <a:pt x="1945500" y="156746"/>
                </a:lnTo>
                <a:lnTo>
                  <a:pt x="1930197" y="113938"/>
                </a:lnTo>
                <a:lnTo>
                  <a:pt x="1906184" y="76176"/>
                </a:lnTo>
                <a:lnTo>
                  <a:pt x="1874683" y="44680"/>
                </a:lnTo>
                <a:lnTo>
                  <a:pt x="1836913" y="20672"/>
                </a:lnTo>
                <a:lnTo>
                  <a:pt x="1794098" y="5371"/>
                </a:lnTo>
                <a:lnTo>
                  <a:pt x="1747456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90138" y="5126456"/>
            <a:ext cx="1395730" cy="10414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234950" marR="222885">
              <a:lnSpc>
                <a:spcPct val="104600"/>
              </a:lnSpc>
              <a:spcBef>
                <a:spcPts val="20"/>
              </a:spcBef>
            </a:pPr>
            <a:r>
              <a:rPr dirty="0" sz="1650" spc="-45" b="1">
                <a:solidFill>
                  <a:srgbClr val="272424"/>
                </a:solidFill>
                <a:latin typeface="Tahoma"/>
                <a:cs typeface="Tahoma"/>
              </a:rPr>
              <a:t>Purchase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Order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09100"/>
              </a:lnSpc>
              <a:spcBef>
                <a:spcPts val="525"/>
              </a:spcBef>
            </a:pPr>
            <a:r>
              <a:rPr dirty="0" sz="1300">
                <a:solidFill>
                  <a:srgbClr val="272424"/>
                </a:solidFill>
                <a:latin typeface="Tahoma"/>
                <a:cs typeface="Tahoma"/>
              </a:rPr>
              <a:t>Order</a:t>
            </a:r>
            <a:r>
              <a:rPr dirty="0" sz="13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272424"/>
                </a:solidFill>
                <a:latin typeface="Tahoma"/>
                <a:cs typeface="Tahoma"/>
              </a:rPr>
              <a:t>placed</a:t>
            </a:r>
            <a:r>
              <a:rPr dirty="0" sz="13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272424"/>
                </a:solidFill>
                <a:latin typeface="Tahoma"/>
                <a:cs typeface="Tahoma"/>
              </a:rPr>
              <a:t>with </a:t>
            </a:r>
            <a:r>
              <a:rPr dirty="0" sz="1300" spc="-1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1715" y="5342585"/>
            <a:ext cx="1281430" cy="8255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233679" marR="219710">
              <a:lnSpc>
                <a:spcPct val="104600"/>
              </a:lnSpc>
              <a:spcBef>
                <a:spcPts val="20"/>
              </a:spcBef>
            </a:pPr>
            <a:r>
              <a:rPr dirty="0" sz="1650" spc="-65" b="1">
                <a:latin typeface="Tahoma"/>
                <a:cs typeface="Tahoma"/>
              </a:rPr>
              <a:t>Supplier </a:t>
            </a:r>
            <a:r>
              <a:rPr dirty="0" sz="1650" spc="-10" b="1">
                <a:latin typeface="Tahoma"/>
                <a:cs typeface="Tahoma"/>
              </a:rPr>
              <a:t>Invoice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dirty="0" sz="130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Tahoma"/>
                <a:cs typeface="Tahoma"/>
              </a:rPr>
              <a:t>received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0383" y="2673929"/>
            <a:ext cx="1283335" cy="853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8400"/>
              </a:lnSpc>
              <a:spcBef>
                <a:spcPts val="95"/>
              </a:spcBef>
            </a:pP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Purchase </a:t>
            </a:r>
            <a:r>
              <a:rPr dirty="0" sz="1650" spc="-85" b="1">
                <a:solidFill>
                  <a:srgbClr val="272424"/>
                </a:solidFill>
                <a:latin typeface="Tahoma"/>
                <a:cs typeface="Tahoma"/>
              </a:rPr>
              <a:t>Requirement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dirty="0" sz="1300" spc="75">
                <a:solidFill>
                  <a:srgbClr val="272424"/>
                </a:solidFill>
                <a:latin typeface="Tahoma"/>
                <a:cs typeface="Tahoma"/>
              </a:rPr>
              <a:t>Need</a:t>
            </a:r>
            <a:r>
              <a:rPr dirty="0" sz="13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Tahoma"/>
                <a:cs typeface="Tahoma"/>
              </a:rPr>
              <a:t>identified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41079" y="2673929"/>
            <a:ext cx="1351915" cy="853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04470" marR="194310">
              <a:lnSpc>
                <a:spcPct val="108400"/>
              </a:lnSpc>
              <a:spcBef>
                <a:spcPts val="95"/>
              </a:spcBef>
            </a:pPr>
            <a:r>
              <a:rPr dirty="0" sz="1650" spc="-15" b="1">
                <a:solidFill>
                  <a:srgbClr val="272424"/>
                </a:solidFill>
                <a:latin typeface="Tahoma"/>
                <a:cs typeface="Tahoma"/>
              </a:rPr>
              <a:t>Accounts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Payable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dirty="0" sz="1300">
                <a:solidFill>
                  <a:srgbClr val="272424"/>
                </a:solidFill>
                <a:latin typeface="Tahoma"/>
                <a:cs typeface="Tahoma"/>
              </a:rPr>
              <a:t>Liability</a:t>
            </a:r>
            <a:r>
              <a:rPr dirty="0" sz="130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45">
                <a:solidFill>
                  <a:srgbClr val="272424"/>
                </a:solidFill>
                <a:latin typeface="Tahoma"/>
                <a:cs typeface="Tahoma"/>
              </a:rPr>
              <a:t>recorded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0675" y="2581138"/>
            <a:ext cx="1443990" cy="6832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650" spc="-30" b="1">
                <a:latin typeface="Tahoma"/>
                <a:cs typeface="Tahoma"/>
              </a:rPr>
              <a:t>Goods</a:t>
            </a:r>
            <a:r>
              <a:rPr dirty="0" sz="1650" spc="-165" b="1">
                <a:latin typeface="Tahoma"/>
                <a:cs typeface="Tahoma"/>
              </a:rPr>
              <a:t> </a:t>
            </a:r>
            <a:r>
              <a:rPr dirty="0" sz="1650" spc="-55" b="1">
                <a:latin typeface="Tahoma"/>
                <a:cs typeface="Tahoma"/>
              </a:rPr>
              <a:t>Receipt</a:t>
            </a:r>
            <a:endParaRPr sz="165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740"/>
              </a:spcBef>
            </a:pPr>
            <a:r>
              <a:rPr dirty="0" sz="1300" spc="10">
                <a:solidFill>
                  <a:srgbClr val="272424"/>
                </a:solidFill>
                <a:latin typeface="Tahoma"/>
                <a:cs typeface="Tahoma"/>
              </a:rPr>
              <a:t>Materials</a:t>
            </a:r>
            <a:r>
              <a:rPr dirty="0" sz="1300" spc="1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Tahoma"/>
                <a:cs typeface="Tahoma"/>
              </a:rPr>
              <a:t>received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8675" y="13706475"/>
            <a:ext cx="9772650" cy="1228725"/>
            <a:chOff x="828675" y="13706475"/>
            <a:chExt cx="9772650" cy="1228725"/>
          </a:xfrm>
        </p:grpSpPr>
        <p:sp>
          <p:nvSpPr>
            <p:cNvPr id="13" name="object 13"/>
            <p:cNvSpPr/>
            <p:nvPr/>
          </p:nvSpPr>
          <p:spPr>
            <a:xfrm>
              <a:off x="828675" y="13706475"/>
              <a:ext cx="9772650" cy="1228725"/>
            </a:xfrm>
            <a:custGeom>
              <a:avLst/>
              <a:gdLst/>
              <a:ahLst/>
              <a:cxnLst/>
              <a:rect l="l" t="t" r="r" b="b"/>
              <a:pathLst>
                <a:path w="9772650" h="1228725">
                  <a:moveTo>
                    <a:pt x="9716579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95" y="20358"/>
                  </a:lnTo>
                  <a:lnTo>
                    <a:pt x="0" y="56070"/>
                  </a:lnTo>
                  <a:lnTo>
                    <a:pt x="0" y="1168717"/>
                  </a:lnTo>
                  <a:lnTo>
                    <a:pt x="0" y="1172654"/>
                  </a:lnTo>
                  <a:lnTo>
                    <a:pt x="14795" y="1208366"/>
                  </a:lnTo>
                  <a:lnTo>
                    <a:pt x="52158" y="1228344"/>
                  </a:lnTo>
                  <a:lnTo>
                    <a:pt x="56070" y="1228725"/>
                  </a:lnTo>
                  <a:lnTo>
                    <a:pt x="9716579" y="1228725"/>
                  </a:lnTo>
                  <a:lnTo>
                    <a:pt x="9752291" y="1213929"/>
                  </a:lnTo>
                  <a:lnTo>
                    <a:pt x="9772269" y="1176566"/>
                  </a:lnTo>
                  <a:lnTo>
                    <a:pt x="9772650" y="1172654"/>
                  </a:lnTo>
                  <a:lnTo>
                    <a:pt x="9772650" y="56070"/>
                  </a:lnTo>
                  <a:lnTo>
                    <a:pt x="9757854" y="20358"/>
                  </a:lnTo>
                  <a:lnTo>
                    <a:pt x="9720478" y="381"/>
                  </a:lnTo>
                  <a:lnTo>
                    <a:pt x="971657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268" y="13955318"/>
              <a:ext cx="150025" cy="1500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15975" y="6698615"/>
            <a:ext cx="9688195" cy="800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0975">
              <a:lnSpc>
                <a:spcPct val="129600"/>
              </a:lnSpc>
              <a:spcBef>
                <a:spcPts val="100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Figure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3: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Simplified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procure-to-pay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showing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purchasing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transaction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flows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through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FICO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initial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requirement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final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reporting.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700" spc="-95" b="1">
                <a:latin typeface="Tahoma"/>
                <a:cs typeface="Tahoma"/>
              </a:rPr>
              <a:t>Step-</a:t>
            </a:r>
            <a:r>
              <a:rPr dirty="0" sz="2700" spc="-90" b="1">
                <a:latin typeface="Tahoma"/>
                <a:cs typeface="Tahoma"/>
              </a:rPr>
              <a:t>by-</a:t>
            </a:r>
            <a:r>
              <a:rPr dirty="0" sz="2700" spc="-100" b="1">
                <a:latin typeface="Tahoma"/>
                <a:cs typeface="Tahoma"/>
              </a:rPr>
              <a:t>Step</a:t>
            </a:r>
            <a:r>
              <a:rPr dirty="0" sz="2700" spc="-235" b="1">
                <a:latin typeface="Tahoma"/>
                <a:cs typeface="Tahoma"/>
              </a:rPr>
              <a:t> </a:t>
            </a:r>
            <a:r>
              <a:rPr dirty="0" sz="2700" spc="-40" b="1">
                <a:latin typeface="Tahoma"/>
                <a:cs typeface="Tahoma"/>
              </a:rPr>
              <a:t>Explanation</a:t>
            </a:r>
            <a:endParaRPr sz="2700">
              <a:latin typeface="Tahoma"/>
              <a:cs typeface="Tahoma"/>
            </a:endParaRPr>
          </a:p>
          <a:p>
            <a:pPr marL="12700" marR="21590">
              <a:lnSpc>
                <a:spcPct val="134300"/>
              </a:lnSpc>
              <a:spcBef>
                <a:spcPts val="1830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85" b="1">
                <a:solidFill>
                  <a:srgbClr val="272424"/>
                </a:solidFill>
                <a:latin typeface="Tahoma"/>
                <a:cs typeface="Tahoma"/>
              </a:rPr>
              <a:t>1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Purchase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272424"/>
                </a:solidFill>
                <a:latin typeface="Tahoma"/>
                <a:cs typeface="Tahoma"/>
              </a:rPr>
              <a:t>Requirement:</a:t>
            </a:r>
            <a:r>
              <a:rPr dirty="0" sz="13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production team identifies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raw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materials are needed.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 may trigger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purchase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requisition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system.</a:t>
            </a:r>
            <a:endParaRPr sz="1350">
              <a:latin typeface="Tahoma"/>
              <a:cs typeface="Tahoma"/>
            </a:endParaRPr>
          </a:p>
          <a:p>
            <a:pPr marL="12700" marR="438150">
              <a:lnSpc>
                <a:spcPct val="134300"/>
              </a:lnSpc>
              <a:spcBef>
                <a:spcPts val="1500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2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Purchase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Order:</a:t>
            </a:r>
            <a:r>
              <a:rPr dirty="0" sz="135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purchasing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creates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purchase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order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sends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stage,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no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entry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made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FI,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commitment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recorded.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3</a:t>
            </a: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Goods</a:t>
            </a: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Receipt:</a:t>
            </a:r>
            <a:r>
              <a:rPr dirty="0" sz="1350" spc="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materials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arrive,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warehouse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goods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receipt.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SAP,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create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an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accounting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entry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recognizes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inventory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provisional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liability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even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arrives.</a:t>
            </a:r>
            <a:endParaRPr sz="1350">
              <a:latin typeface="Tahoma"/>
              <a:cs typeface="Tahoma"/>
            </a:endParaRPr>
          </a:p>
          <a:p>
            <a:pPr marL="12700" marR="367665">
              <a:lnSpc>
                <a:spcPct val="134300"/>
              </a:lnSpc>
              <a:spcBef>
                <a:spcPts val="1495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 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4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272424"/>
                </a:solidFill>
                <a:latin typeface="Tahoma"/>
                <a:cs typeface="Tahoma"/>
              </a:rPr>
              <a:t>Invoice:</a:t>
            </a:r>
            <a:r>
              <a:rPr dirty="0" sz="135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supplier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sends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invoice.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enters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SAP,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updates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Accounts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Payable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confirms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liability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amount.</a:t>
            </a:r>
            <a:endParaRPr sz="1350">
              <a:latin typeface="Tahoma"/>
              <a:cs typeface="Tahoma"/>
            </a:endParaRPr>
          </a:p>
          <a:p>
            <a:pPr marL="12700" marR="90805">
              <a:lnSpc>
                <a:spcPct val="129600"/>
              </a:lnSpc>
              <a:spcBef>
                <a:spcPts val="1575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5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Accounts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Payable:</a:t>
            </a:r>
            <a:r>
              <a:rPr dirty="0" sz="135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invoice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now recorded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formal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liability.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knows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owes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amount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due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payment.</a:t>
            </a:r>
            <a:endParaRPr sz="1350">
              <a:latin typeface="Tahoma"/>
              <a:cs typeface="Tahoma"/>
            </a:endParaRPr>
          </a:p>
          <a:p>
            <a:pPr marL="12700" marR="459105">
              <a:lnSpc>
                <a:spcPct val="134300"/>
              </a:lnSpc>
              <a:spcBef>
                <a:spcPts val="1500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6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Supplier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Payment:</a:t>
            </a:r>
            <a:r>
              <a:rPr dirty="0" sz="135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payment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made,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bank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outflow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clears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liability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Accounts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Payable.</a:t>
            </a:r>
            <a:endParaRPr sz="1350">
              <a:latin typeface="Tahoma"/>
              <a:cs typeface="Tahoma"/>
            </a:endParaRPr>
          </a:p>
          <a:p>
            <a:pPr marL="12700" marR="49530">
              <a:lnSpc>
                <a:spcPct val="134300"/>
              </a:lnSpc>
              <a:spcBef>
                <a:spcPts val="1500"/>
              </a:spcBef>
            </a:pP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Step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7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General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Ledger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 and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Reporting:</a:t>
            </a:r>
            <a:r>
              <a:rPr dirty="0" sz="135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Every step above has updated the General Ledger. The finance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now 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see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inventory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value,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outflow,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expense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time.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5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may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also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have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recorded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against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relevant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center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order.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350">
              <a:latin typeface="Tahoma"/>
              <a:cs typeface="Tahoma"/>
            </a:endParaRPr>
          </a:p>
          <a:p>
            <a:pPr marL="569595" marR="242570">
              <a:lnSpc>
                <a:spcPct val="134300"/>
              </a:lnSpc>
            </a:pPr>
            <a:r>
              <a:rPr dirty="0" sz="1350">
                <a:latin typeface="Tahoma"/>
                <a:cs typeface="Tahoma"/>
              </a:rPr>
              <a:t>Note: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The exact accounting entries and steps </a:t>
            </a:r>
            <a:r>
              <a:rPr dirty="0" sz="1350" spc="45">
                <a:latin typeface="Tahoma"/>
                <a:cs typeface="Tahoma"/>
              </a:rPr>
              <a:t>described</a:t>
            </a:r>
            <a:r>
              <a:rPr dirty="0" sz="1350" spc="10">
                <a:latin typeface="Tahoma"/>
                <a:cs typeface="Tahoma"/>
              </a:rPr>
              <a:t> above depend on how the organization has configured </a:t>
            </a:r>
            <a:r>
              <a:rPr dirty="0" sz="1350" spc="-25">
                <a:latin typeface="Tahoma"/>
                <a:cs typeface="Tahoma"/>
              </a:rPr>
              <a:t>its </a:t>
            </a:r>
            <a:r>
              <a:rPr dirty="0" sz="1350" spc="90">
                <a:latin typeface="Tahoma"/>
                <a:cs typeface="Tahoma"/>
              </a:rPr>
              <a:t>SAP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system.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Different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companies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may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handle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certain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steps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differently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based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on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their</a:t>
            </a:r>
            <a:r>
              <a:rPr dirty="0" sz="1350" spc="-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business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requirements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and </a:t>
            </a:r>
            <a:r>
              <a:rPr dirty="0" sz="1350" spc="90">
                <a:latin typeface="Tahoma"/>
                <a:cs typeface="Tahoma"/>
              </a:rPr>
              <a:t>SAP</a:t>
            </a:r>
            <a:r>
              <a:rPr dirty="0" sz="1350" spc="-9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release.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675" y="476250"/>
            <a:ext cx="1123950" cy="257175"/>
          </a:xfrm>
          <a:custGeom>
            <a:avLst/>
            <a:gdLst/>
            <a:ahLst/>
            <a:cxnLst/>
            <a:rect l="l" t="t" r="r" b="b"/>
            <a:pathLst>
              <a:path w="1123950" h="257175">
                <a:moveTo>
                  <a:pt x="1082306" y="0"/>
                </a:moveTo>
                <a:lnTo>
                  <a:pt x="41643" y="0"/>
                </a:lnTo>
                <a:lnTo>
                  <a:pt x="35521" y="1269"/>
                </a:lnTo>
                <a:lnTo>
                  <a:pt x="1219" y="35559"/>
                </a:lnTo>
                <a:lnTo>
                  <a:pt x="0" y="41655"/>
                </a:lnTo>
                <a:lnTo>
                  <a:pt x="0" y="209169"/>
                </a:lnTo>
                <a:lnTo>
                  <a:pt x="0" y="215519"/>
                </a:lnTo>
                <a:lnTo>
                  <a:pt x="23749" y="251078"/>
                </a:lnTo>
                <a:lnTo>
                  <a:pt x="41643" y="257175"/>
                </a:lnTo>
                <a:lnTo>
                  <a:pt x="1082306" y="257175"/>
                </a:lnTo>
                <a:lnTo>
                  <a:pt x="1117854" y="233426"/>
                </a:lnTo>
                <a:lnTo>
                  <a:pt x="1123950" y="215519"/>
                </a:lnTo>
                <a:lnTo>
                  <a:pt x="1123950" y="41655"/>
                </a:lnTo>
                <a:lnTo>
                  <a:pt x="1100201" y="6096"/>
                </a:lnTo>
                <a:lnTo>
                  <a:pt x="1088428" y="1269"/>
                </a:lnTo>
                <a:lnTo>
                  <a:pt x="1082306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9" y="497840"/>
            <a:ext cx="9499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45">
                <a:solidFill>
                  <a:srgbClr val="272424"/>
                </a:solidFill>
                <a:latin typeface="Tahoma"/>
                <a:cs typeface="Tahoma"/>
              </a:rPr>
              <a:t>SECTIONS</a:t>
            </a:r>
            <a:r>
              <a:rPr dirty="0" sz="1050" spc="-40">
                <a:solidFill>
                  <a:srgbClr val="272424"/>
                </a:solidFill>
                <a:latin typeface="Tahoma"/>
                <a:cs typeface="Tahoma"/>
              </a:rPr>
              <a:t> 7–</a:t>
            </a:r>
            <a:r>
              <a:rPr dirty="0" sz="1050" spc="40">
                <a:solidFill>
                  <a:srgbClr val="272424"/>
                </a:solidFill>
                <a:latin typeface="Tahoma"/>
                <a:cs typeface="Tahoma"/>
              </a:rPr>
              <a:t>8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9"/>
              <a:t>Integration</a:t>
            </a:r>
            <a:r>
              <a:rPr dirty="0" spc="-330"/>
              <a:t> </a:t>
            </a:r>
            <a:r>
              <a:rPr dirty="0" spc="-190"/>
              <a:t>with</a:t>
            </a:r>
            <a:r>
              <a:rPr dirty="0" spc="-330"/>
              <a:t> </a:t>
            </a:r>
            <a:r>
              <a:rPr dirty="0" spc="-145"/>
              <a:t>Other</a:t>
            </a:r>
            <a:r>
              <a:rPr dirty="0" spc="-330"/>
              <a:t> </a:t>
            </a:r>
            <a:r>
              <a:rPr dirty="0"/>
              <a:t>SAP</a:t>
            </a:r>
            <a:r>
              <a:rPr dirty="0" spc="-330"/>
              <a:t> </a:t>
            </a:r>
            <a:r>
              <a:rPr dirty="0" spc="-10"/>
              <a:t>Modules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47955">
              <a:lnSpc>
                <a:spcPct val="134300"/>
              </a:lnSpc>
              <a:spcBef>
                <a:spcPts val="100"/>
              </a:spcBef>
            </a:pPr>
            <a:r>
              <a:rPr dirty="0" spc="90"/>
              <a:t>SAP</a:t>
            </a:r>
            <a:r>
              <a:rPr dirty="0" spc="-20"/>
              <a:t> </a:t>
            </a:r>
            <a:r>
              <a:rPr dirty="0"/>
              <a:t>FICO</a:t>
            </a:r>
            <a:r>
              <a:rPr dirty="0" spc="-20"/>
              <a:t> </a:t>
            </a:r>
            <a:r>
              <a:rPr dirty="0" spc="55"/>
              <a:t>does</a:t>
            </a:r>
            <a:r>
              <a:rPr dirty="0" spc="-15"/>
              <a:t> </a:t>
            </a:r>
            <a:r>
              <a:rPr dirty="0"/>
              <a:t>not</a:t>
            </a:r>
            <a:r>
              <a:rPr dirty="0" spc="-20"/>
              <a:t> </a:t>
            </a:r>
            <a:r>
              <a:rPr dirty="0"/>
              <a:t>operate</a:t>
            </a:r>
            <a:r>
              <a:rPr dirty="0" spc="-15"/>
              <a:t> </a:t>
            </a:r>
            <a:r>
              <a:rPr dirty="0"/>
              <a:t>alone.</a:t>
            </a:r>
            <a:r>
              <a:rPr dirty="0" spc="-20"/>
              <a:t> </a:t>
            </a:r>
            <a:r>
              <a:rPr dirty="0" spc="-85"/>
              <a:t>It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connected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every</a:t>
            </a:r>
            <a:r>
              <a:rPr dirty="0" spc="-15"/>
              <a:t> </a:t>
            </a:r>
            <a:r>
              <a:rPr dirty="0"/>
              <a:t>other</a:t>
            </a:r>
            <a:r>
              <a:rPr dirty="0" spc="-20"/>
              <a:t> </a:t>
            </a:r>
            <a:r>
              <a:rPr dirty="0"/>
              <a:t>major</a:t>
            </a:r>
            <a:r>
              <a:rPr dirty="0" spc="-20"/>
              <a:t> </a:t>
            </a:r>
            <a:r>
              <a:rPr dirty="0" spc="90"/>
              <a:t>SAP</a:t>
            </a:r>
            <a:r>
              <a:rPr dirty="0" spc="-15"/>
              <a:t> </a:t>
            </a:r>
            <a:r>
              <a:rPr dirty="0"/>
              <a:t>module</a:t>
            </a:r>
            <a:r>
              <a:rPr dirty="0" spc="-20"/>
              <a:t> </a:t>
            </a:r>
            <a:r>
              <a:rPr dirty="0" spc="55"/>
              <a:t>because</a:t>
            </a:r>
            <a:r>
              <a:rPr dirty="0" spc="-15"/>
              <a:t> </a:t>
            </a:r>
            <a:r>
              <a:rPr dirty="0"/>
              <a:t>almost</a:t>
            </a:r>
            <a:r>
              <a:rPr dirty="0" spc="-20"/>
              <a:t> </a:t>
            </a:r>
            <a:r>
              <a:rPr dirty="0"/>
              <a:t>every</a:t>
            </a:r>
            <a:r>
              <a:rPr dirty="0" spc="-15"/>
              <a:t> </a:t>
            </a:r>
            <a:r>
              <a:rPr dirty="0" spc="45"/>
              <a:t>business</a:t>
            </a:r>
            <a:r>
              <a:rPr dirty="0" spc="-20"/>
              <a:t> </a:t>
            </a:r>
            <a:r>
              <a:rPr dirty="0" spc="-10"/>
              <a:t>activity </a:t>
            </a:r>
            <a:r>
              <a:rPr dirty="0"/>
              <a:t>has</a:t>
            </a:r>
            <a:r>
              <a:rPr dirty="0" spc="55"/>
              <a:t> </a:t>
            </a:r>
            <a:r>
              <a:rPr dirty="0"/>
              <a:t>a</a:t>
            </a:r>
            <a:r>
              <a:rPr dirty="0" spc="55"/>
              <a:t> </a:t>
            </a:r>
            <a:r>
              <a:rPr dirty="0"/>
              <a:t>financial</a:t>
            </a:r>
            <a:r>
              <a:rPr dirty="0" spc="55"/>
              <a:t> </a:t>
            </a:r>
            <a:r>
              <a:rPr dirty="0"/>
              <a:t>effect.</a:t>
            </a:r>
            <a:r>
              <a:rPr dirty="0" spc="55"/>
              <a:t> </a:t>
            </a:r>
            <a:r>
              <a:rPr dirty="0"/>
              <a:t>When</a:t>
            </a:r>
            <a:r>
              <a:rPr dirty="0" spc="55"/>
              <a:t> </a:t>
            </a:r>
            <a:r>
              <a:rPr dirty="0"/>
              <a:t>another</a:t>
            </a:r>
            <a:r>
              <a:rPr dirty="0" spc="55"/>
              <a:t> </a:t>
            </a:r>
            <a:r>
              <a:rPr dirty="0"/>
              <a:t>module</a:t>
            </a:r>
            <a:r>
              <a:rPr dirty="0" spc="60"/>
              <a:t> </a:t>
            </a:r>
            <a:r>
              <a:rPr dirty="0"/>
              <a:t>completes</a:t>
            </a:r>
            <a:r>
              <a:rPr dirty="0" spc="55"/>
              <a:t> </a:t>
            </a:r>
            <a:r>
              <a:rPr dirty="0"/>
              <a:t>a</a:t>
            </a:r>
            <a:r>
              <a:rPr dirty="0" spc="55"/>
              <a:t> </a:t>
            </a:r>
            <a:r>
              <a:rPr dirty="0"/>
              <a:t>transaction,</a:t>
            </a:r>
            <a:r>
              <a:rPr dirty="0" spc="55"/>
              <a:t> </a:t>
            </a:r>
            <a:r>
              <a:rPr dirty="0"/>
              <a:t>FICO</a:t>
            </a:r>
            <a:r>
              <a:rPr dirty="0" spc="55"/>
              <a:t> </a:t>
            </a:r>
            <a:r>
              <a:rPr dirty="0"/>
              <a:t>automatically</a:t>
            </a:r>
            <a:r>
              <a:rPr dirty="0" spc="55"/>
              <a:t> </a:t>
            </a:r>
            <a:r>
              <a:rPr dirty="0"/>
              <a:t>records</a:t>
            </a:r>
            <a:r>
              <a:rPr dirty="0" spc="55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financial</a:t>
            </a:r>
            <a:r>
              <a:rPr dirty="0" spc="55"/>
              <a:t> </a:t>
            </a:r>
            <a:r>
              <a:rPr dirty="0" spc="-10"/>
              <a:t>impact.</a:t>
            </a:r>
          </a:p>
          <a:p>
            <a:pPr>
              <a:lnSpc>
                <a:spcPct val="100000"/>
              </a:lnSpc>
              <a:spcBef>
                <a:spcPts val="72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70" b="1">
                <a:solidFill>
                  <a:srgbClr val="000000"/>
                </a:solidFill>
                <a:latin typeface="Tahoma"/>
                <a:cs typeface="Tahoma"/>
              </a:rPr>
              <a:t>Why</a:t>
            </a:r>
            <a:r>
              <a:rPr dirty="0" sz="2700" spc="-254" b="1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700" spc="-195" b="1">
                <a:solidFill>
                  <a:srgbClr val="000000"/>
                </a:solidFill>
                <a:latin typeface="Tahoma"/>
                <a:cs typeface="Tahoma"/>
              </a:rPr>
              <a:t>Integration</a:t>
            </a:r>
            <a:r>
              <a:rPr dirty="0" sz="2700" spc="-250" b="1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700" spc="-10" b="1">
                <a:solidFill>
                  <a:srgbClr val="000000"/>
                </a:solidFill>
                <a:latin typeface="Tahoma"/>
                <a:cs typeface="Tahoma"/>
              </a:rPr>
              <a:t>Matters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1855"/>
              </a:spcBef>
            </a:pPr>
            <a:r>
              <a:rPr dirty="0"/>
              <a:t>Without</a:t>
            </a:r>
            <a:r>
              <a:rPr dirty="0" spc="-10"/>
              <a:t> </a:t>
            </a:r>
            <a:r>
              <a:rPr dirty="0"/>
              <a:t>integration,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finance</a:t>
            </a:r>
            <a:r>
              <a:rPr dirty="0" spc="-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would</a:t>
            </a:r>
            <a:r>
              <a:rPr dirty="0" spc="-10"/>
              <a:t> </a:t>
            </a:r>
            <a:r>
              <a:rPr dirty="0"/>
              <a:t>need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manually</a:t>
            </a:r>
            <a:r>
              <a:rPr dirty="0" spc="-5"/>
              <a:t> </a:t>
            </a:r>
            <a:r>
              <a:rPr dirty="0"/>
              <a:t>enter</a:t>
            </a:r>
            <a:r>
              <a:rPr dirty="0" spc="-5"/>
              <a:t> </a:t>
            </a:r>
            <a:r>
              <a:rPr dirty="0"/>
              <a:t>data</a:t>
            </a:r>
            <a:r>
              <a:rPr dirty="0" spc="-10"/>
              <a:t> </a:t>
            </a:r>
            <a:r>
              <a:rPr dirty="0"/>
              <a:t>from</a:t>
            </a:r>
            <a:r>
              <a:rPr dirty="0" spc="-5"/>
              <a:t> </a:t>
            </a:r>
            <a:r>
              <a:rPr dirty="0"/>
              <a:t>every</a:t>
            </a:r>
            <a:r>
              <a:rPr dirty="0" spc="-10"/>
              <a:t> </a:t>
            </a:r>
            <a:r>
              <a:rPr dirty="0"/>
              <a:t>other</a:t>
            </a:r>
            <a:r>
              <a:rPr dirty="0" spc="-5"/>
              <a:t> </a:t>
            </a:r>
            <a:r>
              <a:rPr dirty="0"/>
              <a:t>department</a:t>
            </a:r>
            <a:r>
              <a:rPr dirty="0" spc="-5"/>
              <a:t> </a:t>
            </a:r>
            <a:r>
              <a:rPr dirty="0" spc="120"/>
              <a:t>—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slow,</a:t>
            </a:r>
            <a:r>
              <a:rPr dirty="0" spc="-5"/>
              <a:t> </a:t>
            </a:r>
            <a:r>
              <a:rPr dirty="0"/>
              <a:t>error-</a:t>
            </a:r>
            <a:r>
              <a:rPr dirty="0" spc="-10"/>
              <a:t>prone </a:t>
            </a:r>
            <a:r>
              <a:rPr dirty="0" spc="10"/>
              <a:t>process.</a:t>
            </a:r>
            <a:r>
              <a:rPr dirty="0" spc="-30"/>
              <a:t> </a:t>
            </a:r>
            <a:r>
              <a:rPr dirty="0" spc="10"/>
              <a:t>With</a:t>
            </a:r>
            <a:r>
              <a:rPr dirty="0" spc="-30"/>
              <a:t> </a:t>
            </a:r>
            <a:r>
              <a:rPr dirty="0"/>
              <a:t>integration,</a:t>
            </a:r>
            <a:r>
              <a:rPr dirty="0" spc="-25"/>
              <a:t> </a:t>
            </a:r>
            <a:r>
              <a:rPr dirty="0" spc="10"/>
              <a:t>when</a:t>
            </a:r>
            <a:r>
              <a:rPr dirty="0" spc="-30"/>
              <a:t> </a:t>
            </a:r>
            <a:r>
              <a:rPr dirty="0" spc="10"/>
              <a:t>the</a:t>
            </a:r>
            <a:r>
              <a:rPr dirty="0" spc="-30"/>
              <a:t> </a:t>
            </a:r>
            <a:r>
              <a:rPr dirty="0" spc="10"/>
              <a:t>warehouse</a:t>
            </a:r>
            <a:r>
              <a:rPr dirty="0" spc="-25"/>
              <a:t> </a:t>
            </a:r>
            <a:r>
              <a:rPr dirty="0" spc="10"/>
              <a:t>team</a:t>
            </a:r>
            <a:r>
              <a:rPr dirty="0" spc="-30"/>
              <a:t> </a:t>
            </a:r>
            <a:r>
              <a:rPr dirty="0" spc="10"/>
              <a:t>records</a:t>
            </a:r>
            <a:r>
              <a:rPr dirty="0" spc="-30"/>
              <a:t> </a:t>
            </a:r>
            <a:r>
              <a:rPr dirty="0" spc="10"/>
              <a:t>a</a:t>
            </a:r>
            <a:r>
              <a:rPr dirty="0" spc="-25"/>
              <a:t> </a:t>
            </a:r>
            <a:r>
              <a:rPr dirty="0" spc="50"/>
              <a:t>goods</a:t>
            </a:r>
            <a:r>
              <a:rPr dirty="0" spc="-30"/>
              <a:t> </a:t>
            </a:r>
            <a:r>
              <a:rPr dirty="0" spc="10"/>
              <a:t>receipt</a:t>
            </a:r>
            <a:r>
              <a:rPr dirty="0" spc="-25"/>
              <a:t> </a:t>
            </a:r>
            <a:r>
              <a:rPr dirty="0" spc="10"/>
              <a:t>in</a:t>
            </a:r>
            <a:r>
              <a:rPr dirty="0" spc="-30"/>
              <a:t> </a:t>
            </a:r>
            <a:r>
              <a:rPr dirty="0" spc="90"/>
              <a:t>SAP</a:t>
            </a:r>
            <a:r>
              <a:rPr dirty="0" spc="-30"/>
              <a:t> </a:t>
            </a:r>
            <a:r>
              <a:rPr dirty="0" spc="85"/>
              <a:t>MM,</a:t>
            </a:r>
            <a:r>
              <a:rPr dirty="0" spc="-25"/>
              <a:t> </a:t>
            </a:r>
            <a:r>
              <a:rPr dirty="0" spc="10"/>
              <a:t>the</a:t>
            </a:r>
            <a:r>
              <a:rPr dirty="0" spc="-30"/>
              <a:t> </a:t>
            </a:r>
            <a:r>
              <a:rPr dirty="0" spc="10"/>
              <a:t>finance</a:t>
            </a:r>
            <a:r>
              <a:rPr dirty="0" spc="-30"/>
              <a:t> </a:t>
            </a:r>
            <a:r>
              <a:rPr dirty="0" spc="10"/>
              <a:t>team</a:t>
            </a:r>
            <a:r>
              <a:rPr dirty="0" spc="-25"/>
              <a:t> </a:t>
            </a:r>
            <a:r>
              <a:rPr dirty="0" spc="10"/>
              <a:t>immediately</a:t>
            </a:r>
            <a:r>
              <a:rPr dirty="0" spc="-30"/>
              <a:t> </a:t>
            </a:r>
            <a:r>
              <a:rPr dirty="0" spc="45"/>
              <a:t>sees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inventory</a:t>
            </a:r>
            <a:r>
              <a:rPr dirty="0" spc="5"/>
              <a:t> </a:t>
            </a:r>
            <a:r>
              <a:rPr dirty="0"/>
              <a:t>value</a:t>
            </a:r>
            <a:r>
              <a:rPr dirty="0" spc="5"/>
              <a:t> </a:t>
            </a:r>
            <a:r>
              <a:rPr dirty="0"/>
              <a:t>update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 spc="-50"/>
              <a:t>FI.</a:t>
            </a:r>
            <a:r>
              <a:rPr dirty="0" spc="5"/>
              <a:t> </a:t>
            </a:r>
            <a:r>
              <a:rPr dirty="0"/>
              <a:t>When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sales</a:t>
            </a:r>
            <a:r>
              <a:rPr dirty="0" spc="5"/>
              <a:t> </a:t>
            </a:r>
            <a:r>
              <a:rPr dirty="0"/>
              <a:t>team</a:t>
            </a:r>
            <a:r>
              <a:rPr dirty="0" spc="5"/>
              <a:t> </a:t>
            </a:r>
            <a:r>
              <a:rPr dirty="0"/>
              <a:t>creates</a:t>
            </a:r>
            <a:r>
              <a:rPr dirty="0" spc="5"/>
              <a:t> </a:t>
            </a:r>
            <a:r>
              <a:rPr dirty="0"/>
              <a:t>an</a:t>
            </a:r>
            <a:r>
              <a:rPr dirty="0" spc="5"/>
              <a:t> </a:t>
            </a:r>
            <a:r>
              <a:rPr dirty="0"/>
              <a:t>invoice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 spc="90"/>
              <a:t>SAP</a:t>
            </a:r>
            <a:r>
              <a:rPr dirty="0" spc="5"/>
              <a:t> </a:t>
            </a:r>
            <a:r>
              <a:rPr dirty="0"/>
              <a:t>SD,</a:t>
            </a:r>
            <a:r>
              <a:rPr dirty="0" spc="5"/>
              <a:t> </a:t>
            </a:r>
            <a:r>
              <a:rPr dirty="0" spc="-45"/>
              <a:t>FI</a:t>
            </a:r>
            <a:r>
              <a:rPr dirty="0" spc="5"/>
              <a:t> </a:t>
            </a:r>
            <a:r>
              <a:rPr dirty="0"/>
              <a:t>automatically</a:t>
            </a:r>
            <a:r>
              <a:rPr dirty="0" spc="5"/>
              <a:t> </a:t>
            </a:r>
            <a:r>
              <a:rPr dirty="0"/>
              <a:t>records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revenue</a:t>
            </a:r>
            <a:r>
              <a:rPr dirty="0" spc="5"/>
              <a:t> </a:t>
            </a:r>
            <a:r>
              <a:rPr dirty="0" spc="-25"/>
              <a:t>and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/>
              <a:t>customer</a:t>
            </a:r>
            <a:r>
              <a:rPr dirty="0" spc="50"/>
              <a:t> </a:t>
            </a:r>
            <a:r>
              <a:rPr dirty="0" spc="-10"/>
              <a:t>receivable.</a:t>
            </a:r>
          </a:p>
        </p:txBody>
      </p:sp>
      <p:sp>
        <p:nvSpPr>
          <p:cNvPr id="6" name="object 6"/>
          <p:cNvSpPr/>
          <p:nvPr/>
        </p:nvSpPr>
        <p:spPr>
          <a:xfrm>
            <a:off x="833437" y="4376737"/>
            <a:ext cx="9763125" cy="8505825"/>
          </a:xfrm>
          <a:custGeom>
            <a:avLst/>
            <a:gdLst/>
            <a:ahLst/>
            <a:cxnLst/>
            <a:rect l="l" t="t" r="r" b="b"/>
            <a:pathLst>
              <a:path w="9763125" h="8505825">
                <a:moveTo>
                  <a:pt x="0" y="8450580"/>
                </a:moveTo>
                <a:lnTo>
                  <a:pt x="0" y="55245"/>
                </a:lnTo>
                <a:lnTo>
                  <a:pt x="0" y="51612"/>
                </a:lnTo>
                <a:lnTo>
                  <a:pt x="355" y="48018"/>
                </a:lnTo>
                <a:lnTo>
                  <a:pt x="1066" y="44462"/>
                </a:lnTo>
                <a:lnTo>
                  <a:pt x="1765" y="40906"/>
                </a:lnTo>
                <a:lnTo>
                  <a:pt x="2819" y="37452"/>
                </a:lnTo>
                <a:lnTo>
                  <a:pt x="16179" y="16179"/>
                </a:lnTo>
                <a:lnTo>
                  <a:pt x="18745" y="13614"/>
                </a:lnTo>
                <a:lnTo>
                  <a:pt x="34099" y="4203"/>
                </a:lnTo>
                <a:lnTo>
                  <a:pt x="37452" y="2819"/>
                </a:lnTo>
                <a:lnTo>
                  <a:pt x="40906" y="1765"/>
                </a:lnTo>
                <a:lnTo>
                  <a:pt x="44462" y="1066"/>
                </a:lnTo>
                <a:lnTo>
                  <a:pt x="48018" y="355"/>
                </a:lnTo>
                <a:lnTo>
                  <a:pt x="51612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12" y="0"/>
                </a:lnTo>
                <a:lnTo>
                  <a:pt x="9715093" y="355"/>
                </a:lnTo>
                <a:lnTo>
                  <a:pt x="9718649" y="1066"/>
                </a:lnTo>
                <a:lnTo>
                  <a:pt x="9722218" y="1765"/>
                </a:lnTo>
                <a:lnTo>
                  <a:pt x="9746945" y="16179"/>
                </a:lnTo>
                <a:lnTo>
                  <a:pt x="9749510" y="18745"/>
                </a:lnTo>
                <a:lnTo>
                  <a:pt x="9762058" y="44462"/>
                </a:lnTo>
                <a:lnTo>
                  <a:pt x="9762769" y="48018"/>
                </a:lnTo>
                <a:lnTo>
                  <a:pt x="9763125" y="51612"/>
                </a:lnTo>
                <a:lnTo>
                  <a:pt x="9763125" y="55245"/>
                </a:lnTo>
                <a:lnTo>
                  <a:pt x="9763125" y="8450580"/>
                </a:lnTo>
                <a:lnTo>
                  <a:pt x="9763125" y="8454212"/>
                </a:lnTo>
                <a:lnTo>
                  <a:pt x="9762769" y="8457793"/>
                </a:lnTo>
                <a:lnTo>
                  <a:pt x="9762058" y="8461362"/>
                </a:lnTo>
                <a:lnTo>
                  <a:pt x="9761359" y="8464918"/>
                </a:lnTo>
                <a:lnTo>
                  <a:pt x="9746945" y="8489645"/>
                </a:lnTo>
                <a:lnTo>
                  <a:pt x="9744379" y="8492210"/>
                </a:lnTo>
                <a:lnTo>
                  <a:pt x="9718649" y="8504758"/>
                </a:lnTo>
                <a:lnTo>
                  <a:pt x="9715093" y="8505469"/>
                </a:lnTo>
                <a:lnTo>
                  <a:pt x="9711512" y="8505825"/>
                </a:lnTo>
                <a:lnTo>
                  <a:pt x="9707880" y="8505825"/>
                </a:lnTo>
                <a:lnTo>
                  <a:pt x="55244" y="8505825"/>
                </a:lnTo>
                <a:lnTo>
                  <a:pt x="51612" y="8505825"/>
                </a:lnTo>
                <a:lnTo>
                  <a:pt x="48018" y="8505469"/>
                </a:lnTo>
                <a:lnTo>
                  <a:pt x="44462" y="8504758"/>
                </a:lnTo>
                <a:lnTo>
                  <a:pt x="40906" y="8504059"/>
                </a:lnTo>
                <a:lnTo>
                  <a:pt x="16179" y="8489645"/>
                </a:lnTo>
                <a:lnTo>
                  <a:pt x="13614" y="8487079"/>
                </a:lnTo>
                <a:lnTo>
                  <a:pt x="1066" y="8461362"/>
                </a:lnTo>
                <a:lnTo>
                  <a:pt x="355" y="8457793"/>
                </a:lnTo>
                <a:lnTo>
                  <a:pt x="0" y="8454212"/>
                </a:lnTo>
                <a:lnTo>
                  <a:pt x="0" y="8450580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8200" y="4381500"/>
          <a:ext cx="9829800" cy="8495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3480"/>
                <a:gridCol w="2439035"/>
                <a:gridCol w="2439034"/>
                <a:gridCol w="2434590"/>
              </a:tblGrid>
              <a:tr h="50927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-13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4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</a:t>
                      </a:r>
                      <a:r>
                        <a:rPr dirty="0" sz="1350" spc="-10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4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Connection</a:t>
                      </a:r>
                      <a:r>
                        <a:rPr dirty="0" sz="1350" spc="-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8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350" spc="-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FICO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171450" marR="107505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1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MM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Materials Management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7622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Purchasing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inventory management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40029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Goods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receipt</a:t>
                      </a:r>
                      <a:r>
                        <a:rPr dirty="0" sz="1350" spc="-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updates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value;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supplier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invoice</a:t>
                      </a:r>
                      <a:r>
                        <a:rPr dirty="0" sz="1350" spc="1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1350" spc="1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payable</a:t>
                      </a:r>
                      <a:r>
                        <a:rPr dirty="0" sz="1350" spc="1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 FI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185420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Purchasing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500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kg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raw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material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inventory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asset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supplier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liability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2397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SD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Sales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Distribution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0129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Sales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orders,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delivery,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billing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2288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Billing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document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receivable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AR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0764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Selling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100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units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1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1350" spc="1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receivable</a:t>
                      </a:r>
                      <a:r>
                        <a:rPr dirty="0" sz="1350" spc="1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recognizes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sales</a:t>
                      </a:r>
                      <a:r>
                        <a:rPr dirty="0" sz="1350" spc="1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PP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Production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Planning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518159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Manufacturing</a:t>
                      </a:r>
                      <a:r>
                        <a:rPr dirty="0" sz="1350" spc="1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production</a:t>
                      </a:r>
                      <a:r>
                        <a:rPr dirty="0" sz="1350" spc="1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scheduling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4447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Production</a:t>
                      </a:r>
                      <a:r>
                        <a:rPr dirty="0" sz="1350" spc="1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(materials,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labor,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overhead)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captured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-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r>
                        <a:rPr dirty="0" sz="1350" spc="-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71450" marR="21653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Producing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500</a:t>
                      </a:r>
                      <a:r>
                        <a:rPr dirty="0" sz="1350" spc="6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televisions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material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labor 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against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1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HCM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SuccessFactors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53848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Human</a:t>
                      </a:r>
                      <a:r>
                        <a:rPr dirty="0" sz="13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resources</a:t>
                      </a:r>
                      <a:r>
                        <a:rPr dirty="0" sz="13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payroll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36854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Payroll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results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post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salary 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expenses</a:t>
                      </a:r>
                      <a:r>
                        <a:rPr dirty="0" sz="1350" spc="-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-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</a:t>
                      </a:r>
                      <a:r>
                        <a:rPr dirty="0" sz="1350" spc="-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assign 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centers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dirty="0" sz="1350" spc="8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Monthly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payroll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1350">
                        <a:latin typeface="Tahoma"/>
                        <a:cs typeface="Tahoma"/>
                      </a:endParaRPr>
                    </a:p>
                    <a:p>
                      <a:pPr marL="171450" marR="337185">
                        <a:lnSpc>
                          <a:spcPct val="131900"/>
                        </a:lnSpc>
                        <a:spcBef>
                          <a:spcPts val="4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₹12,00,000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posted</a:t>
                      </a: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salary</a:t>
                      </a:r>
                      <a:r>
                        <a:rPr dirty="0" sz="1350" spc="1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expense</a:t>
                      </a:r>
                      <a:r>
                        <a:rPr dirty="0" sz="1350" spc="1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across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1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PM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–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Plant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Maintenance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7338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Equipment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maintenance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repairs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07645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 spc="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Maintenance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350" spc="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(parts, labor,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services)</a:t>
                      </a:r>
                      <a:r>
                        <a:rPr dirty="0" sz="1350" spc="9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 spc="50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tracked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against</a:t>
                      </a:r>
                      <a:r>
                        <a:rPr dirty="0" sz="1350" spc="-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centers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orders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Repairing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dirty="0" sz="1350" spc="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endParaRPr sz="1350">
                        <a:latin typeface="Tahoma"/>
                        <a:cs typeface="Tahoma"/>
                      </a:endParaRPr>
                    </a:p>
                    <a:p>
                      <a:pPr algn="just" marL="171450" marR="314960">
                        <a:lnSpc>
                          <a:spcPct val="131900"/>
                        </a:lnSpc>
                        <a:spcBef>
                          <a:spcPts val="40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₹45,000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recorded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maintenance </a:t>
                      </a:r>
                      <a:r>
                        <a:rPr dirty="0" sz="1350" spc="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1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production</a:t>
                      </a:r>
                      <a:r>
                        <a:rPr dirty="0" sz="1350" spc="14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32842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S/4HANA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0" marR="252729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Next-generation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SAP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ERP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platform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0" marR="348615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unified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Universal</a:t>
                      </a:r>
                      <a:r>
                        <a:rPr dirty="0" sz="1350" spc="9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Journal</a:t>
                      </a:r>
                      <a:r>
                        <a:rPr dirty="0" sz="1350" spc="8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for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real-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time,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integrated reporting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0" marR="409575">
                        <a:lnSpc>
                          <a:spcPct val="132700"/>
                        </a:lnSpc>
                        <a:spcBef>
                          <a:spcPts val="555"/>
                        </a:spcBef>
                      </a:pPr>
                      <a:r>
                        <a:rPr dirty="0" sz="1350" spc="1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-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single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journal</a:t>
                      </a:r>
                      <a:r>
                        <a:rPr dirty="0" sz="1350" spc="-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entry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simultaneously</a:t>
                      </a:r>
                      <a:r>
                        <a:rPr dirty="0" sz="1350" spc="204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updates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both</a:t>
                      </a:r>
                      <a:r>
                        <a:rPr dirty="0" sz="1350" spc="3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3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controlling</a:t>
                      </a:r>
                      <a:r>
                        <a:rPr dirty="0" sz="1350" spc="75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04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15975" y="13013689"/>
            <a:ext cx="975931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these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integrations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eliminates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manual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entry,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reduces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errors,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ensures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always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up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date.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primary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reasons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organizations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invest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integrated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ERP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like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SAP.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850B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2026-09-10T12:55:00Z</dcterms:created>
  <dcterms:modified xsi:type="dcterms:W3CDTF">2026-09-10T12:55:00Z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