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png" ContentType="image/pn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1430000" cy="19075400"/>
  <p:notesSz cx="11430000" cy="19075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2716530"/>
            <a:ext cx="9715500" cy="1840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1B1B27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4907280"/>
            <a:ext cx="8001000" cy="2190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1B1B27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1B1B27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71500" y="2015490"/>
            <a:ext cx="4972050" cy="57835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886450" y="2015490"/>
            <a:ext cx="4972050" cy="57835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1B1B27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15975" y="444500"/>
            <a:ext cx="8479790" cy="539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1B1B27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00100" y="3943350"/>
            <a:ext cx="9829800" cy="50761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886200" y="8149590"/>
            <a:ext cx="3657600" cy="438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1500" y="8149590"/>
            <a:ext cx="2628900" cy="438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229600" y="8149590"/>
            <a:ext cx="2628900" cy="438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200"/>
              <a:t>Week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25"/>
              <a:t> </a:t>
            </a:r>
            <a:r>
              <a:rPr dirty="0"/>
              <a:t>Internship</a:t>
            </a:r>
            <a:r>
              <a:rPr dirty="0" spc="-25"/>
              <a:t> </a:t>
            </a:r>
            <a:r>
              <a:rPr dirty="0" spc="60"/>
              <a:t>Report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5975" y="1234122"/>
            <a:ext cx="9609455" cy="228028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1824989">
              <a:lnSpc>
                <a:spcPts val="5850"/>
              </a:lnSpc>
              <a:spcBef>
                <a:spcPts val="75"/>
              </a:spcBef>
            </a:pPr>
            <a:r>
              <a:rPr dirty="0" sz="4650" spc="265">
                <a:solidFill>
                  <a:srgbClr val="1B1B27"/>
                </a:solidFill>
                <a:latin typeface="Trebuchet MS"/>
                <a:cs typeface="Trebuchet MS"/>
              </a:rPr>
              <a:t>Case</a:t>
            </a:r>
            <a:r>
              <a:rPr dirty="0" sz="4650" spc="-170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4650">
                <a:solidFill>
                  <a:srgbClr val="1B1B27"/>
                </a:solidFill>
                <a:latin typeface="Trebuchet MS"/>
                <a:cs typeface="Trebuchet MS"/>
              </a:rPr>
              <a:t>Study:</a:t>
            </a:r>
            <a:r>
              <a:rPr dirty="0" sz="4650" spc="-165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4650" spc="200">
                <a:solidFill>
                  <a:srgbClr val="1B1B27"/>
                </a:solidFill>
                <a:latin typeface="Trebuchet MS"/>
                <a:cs typeface="Trebuchet MS"/>
              </a:rPr>
              <a:t>Successful </a:t>
            </a:r>
            <a:r>
              <a:rPr dirty="0" sz="4650" spc="55">
                <a:solidFill>
                  <a:srgbClr val="1B1B27"/>
                </a:solidFill>
                <a:latin typeface="Trebuchet MS"/>
                <a:cs typeface="Trebuchet MS"/>
              </a:rPr>
              <a:t>Implementation</a:t>
            </a:r>
            <a:r>
              <a:rPr dirty="0" sz="4650" spc="-195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4650">
                <a:solidFill>
                  <a:srgbClr val="1B1B27"/>
                </a:solidFill>
                <a:latin typeface="Trebuchet MS"/>
                <a:cs typeface="Trebuchet MS"/>
              </a:rPr>
              <a:t>of</a:t>
            </a:r>
            <a:r>
              <a:rPr dirty="0" sz="4650" spc="-295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4650" spc="400">
                <a:solidFill>
                  <a:srgbClr val="1B1B27"/>
                </a:solidFill>
                <a:latin typeface="Trebuchet MS"/>
                <a:cs typeface="Trebuchet MS"/>
              </a:rPr>
              <a:t>SAP</a:t>
            </a:r>
            <a:r>
              <a:rPr dirty="0" sz="4650" spc="-315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4650" spc="185">
                <a:solidFill>
                  <a:srgbClr val="1B1B27"/>
                </a:solidFill>
                <a:latin typeface="Trebuchet MS"/>
                <a:cs typeface="Trebuchet MS"/>
              </a:rPr>
              <a:t>FICO</a:t>
            </a:r>
            <a:endParaRPr sz="4650">
              <a:latin typeface="Trebuchet MS"/>
              <a:cs typeface="Trebuchet MS"/>
            </a:endParaRPr>
          </a:p>
          <a:p>
            <a:pPr marL="12700" marR="5080">
              <a:lnSpc>
                <a:spcPct val="134300"/>
              </a:lnSpc>
              <a:spcBef>
                <a:spcPts val="1725"/>
              </a:spcBef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detailed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study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of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how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b="1">
                <a:solidFill>
                  <a:srgbClr val="3B3838"/>
                </a:solidFill>
                <a:latin typeface="Roboto"/>
                <a:cs typeface="Roboto"/>
              </a:rPr>
              <a:t>Nestlé</a:t>
            </a:r>
            <a:r>
              <a:rPr dirty="0" sz="1350" spc="-30" b="1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b="1">
                <a:solidFill>
                  <a:srgbClr val="3B3838"/>
                </a:solidFill>
                <a:latin typeface="Roboto"/>
                <a:cs typeface="Roboto"/>
              </a:rPr>
              <a:t>S.A.</a:t>
            </a:r>
            <a:r>
              <a:rPr dirty="0" sz="1350" spc="-30" b="1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—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one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of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world's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largest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food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beverage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companies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—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implemented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SAP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Finance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to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transform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its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global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financial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operations.</a:t>
            </a:r>
            <a:r>
              <a:rPr dirty="0" sz="1350" spc="-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This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report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was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prepared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as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part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of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SAP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FICO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Internship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with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 b="1">
                <a:solidFill>
                  <a:srgbClr val="3B3838"/>
                </a:solidFill>
                <a:latin typeface="Roboto"/>
                <a:cs typeface="Roboto"/>
              </a:rPr>
              <a:t>Yuva</a:t>
            </a:r>
            <a:r>
              <a:rPr dirty="0" sz="1350" spc="-25" b="1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 b="1">
                <a:solidFill>
                  <a:srgbClr val="3B3838"/>
                </a:solidFill>
                <a:latin typeface="Roboto"/>
                <a:cs typeface="Roboto"/>
              </a:rPr>
              <a:t>Intern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.</a:t>
            </a:r>
            <a:endParaRPr sz="1350">
              <a:latin typeface="Roboto"/>
              <a:cs typeface="Robo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28675" y="3743325"/>
            <a:ext cx="4800600" cy="1009650"/>
            <a:chOff x="828675" y="3743325"/>
            <a:chExt cx="4800600" cy="1009650"/>
          </a:xfrm>
        </p:grpSpPr>
        <p:sp>
          <p:nvSpPr>
            <p:cNvPr id="5" name="object 5"/>
            <p:cNvSpPr/>
            <p:nvPr/>
          </p:nvSpPr>
          <p:spPr>
            <a:xfrm>
              <a:off x="833437" y="3748087"/>
              <a:ext cx="4791075" cy="1000125"/>
            </a:xfrm>
            <a:custGeom>
              <a:avLst/>
              <a:gdLst/>
              <a:ahLst/>
              <a:cxnLst/>
              <a:rect l="l" t="t" r="r" b="b"/>
              <a:pathLst>
                <a:path w="4791075" h="1000125">
                  <a:moveTo>
                    <a:pt x="4739459" y="1000124"/>
                  </a:moveTo>
                  <a:lnTo>
                    <a:pt x="51615" y="1000124"/>
                  </a:lnTo>
                  <a:lnTo>
                    <a:pt x="48025" y="999772"/>
                  </a:lnTo>
                  <a:lnTo>
                    <a:pt x="13611" y="981379"/>
                  </a:lnTo>
                  <a:lnTo>
                    <a:pt x="0" y="948509"/>
                  </a:lnTo>
                  <a:lnTo>
                    <a:pt x="0" y="944879"/>
                  </a:lnTo>
                  <a:lnTo>
                    <a:pt x="0" y="51615"/>
                  </a:lnTo>
                  <a:lnTo>
                    <a:pt x="18745" y="13611"/>
                  </a:lnTo>
                  <a:lnTo>
                    <a:pt x="51615" y="0"/>
                  </a:lnTo>
                  <a:lnTo>
                    <a:pt x="4739459" y="0"/>
                  </a:lnTo>
                  <a:lnTo>
                    <a:pt x="4777454" y="18745"/>
                  </a:lnTo>
                  <a:lnTo>
                    <a:pt x="4791075" y="51615"/>
                  </a:lnTo>
                  <a:lnTo>
                    <a:pt x="4791075" y="948509"/>
                  </a:lnTo>
                  <a:lnTo>
                    <a:pt x="4772329" y="986504"/>
                  </a:lnTo>
                  <a:lnTo>
                    <a:pt x="4743049" y="999772"/>
                  </a:lnTo>
                  <a:lnTo>
                    <a:pt x="4739459" y="1000124"/>
                  </a:lnTo>
                  <a:close/>
                </a:path>
              </a:pathLst>
            </a:custGeom>
            <a:solidFill>
              <a:srgbClr val="E0E0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833437" y="3748087"/>
              <a:ext cx="4791075" cy="1000125"/>
            </a:xfrm>
            <a:custGeom>
              <a:avLst/>
              <a:gdLst/>
              <a:ahLst/>
              <a:cxnLst/>
              <a:rect l="l" t="t" r="r" b="b"/>
              <a:pathLst>
                <a:path w="4791075" h="1000125">
                  <a:moveTo>
                    <a:pt x="0" y="944879"/>
                  </a:moveTo>
                  <a:lnTo>
                    <a:pt x="0" y="55244"/>
                  </a:lnTo>
                  <a:lnTo>
                    <a:pt x="0" y="51615"/>
                  </a:lnTo>
                  <a:lnTo>
                    <a:pt x="352" y="48025"/>
                  </a:lnTo>
                  <a:lnTo>
                    <a:pt x="16182" y="16182"/>
                  </a:lnTo>
                  <a:lnTo>
                    <a:pt x="18745" y="13611"/>
                  </a:lnTo>
                  <a:lnTo>
                    <a:pt x="51615" y="0"/>
                  </a:lnTo>
                  <a:lnTo>
                    <a:pt x="55244" y="0"/>
                  </a:lnTo>
                  <a:lnTo>
                    <a:pt x="4735830" y="0"/>
                  </a:lnTo>
                  <a:lnTo>
                    <a:pt x="4739459" y="0"/>
                  </a:lnTo>
                  <a:lnTo>
                    <a:pt x="4743049" y="352"/>
                  </a:lnTo>
                  <a:lnTo>
                    <a:pt x="4774892" y="16182"/>
                  </a:lnTo>
                  <a:lnTo>
                    <a:pt x="4777454" y="18745"/>
                  </a:lnTo>
                  <a:lnTo>
                    <a:pt x="4779749" y="21536"/>
                  </a:lnTo>
                  <a:lnTo>
                    <a:pt x="4781759" y="24555"/>
                  </a:lnTo>
                  <a:lnTo>
                    <a:pt x="4783778" y="27565"/>
                  </a:lnTo>
                  <a:lnTo>
                    <a:pt x="4785483" y="30756"/>
                  </a:lnTo>
                  <a:lnTo>
                    <a:pt x="4786864" y="34099"/>
                  </a:lnTo>
                  <a:lnTo>
                    <a:pt x="4788255" y="37452"/>
                  </a:lnTo>
                  <a:lnTo>
                    <a:pt x="4789303" y="40909"/>
                  </a:lnTo>
                  <a:lnTo>
                    <a:pt x="4790008" y="44462"/>
                  </a:lnTo>
                  <a:lnTo>
                    <a:pt x="4790722" y="48025"/>
                  </a:lnTo>
                  <a:lnTo>
                    <a:pt x="4791075" y="51615"/>
                  </a:lnTo>
                  <a:lnTo>
                    <a:pt x="4791075" y="55244"/>
                  </a:lnTo>
                  <a:lnTo>
                    <a:pt x="4791075" y="944879"/>
                  </a:lnTo>
                  <a:lnTo>
                    <a:pt x="4791075" y="948509"/>
                  </a:lnTo>
                  <a:lnTo>
                    <a:pt x="4790722" y="952099"/>
                  </a:lnTo>
                  <a:lnTo>
                    <a:pt x="4790008" y="955652"/>
                  </a:lnTo>
                  <a:lnTo>
                    <a:pt x="4789303" y="959215"/>
                  </a:lnTo>
                  <a:lnTo>
                    <a:pt x="4788255" y="962672"/>
                  </a:lnTo>
                  <a:lnTo>
                    <a:pt x="4786864" y="966025"/>
                  </a:lnTo>
                  <a:lnTo>
                    <a:pt x="4785483" y="969368"/>
                  </a:lnTo>
                  <a:lnTo>
                    <a:pt x="4774892" y="983942"/>
                  </a:lnTo>
                  <a:lnTo>
                    <a:pt x="4772329" y="986504"/>
                  </a:lnTo>
                  <a:lnTo>
                    <a:pt x="4769538" y="988799"/>
                  </a:lnTo>
                  <a:lnTo>
                    <a:pt x="4766519" y="990809"/>
                  </a:lnTo>
                  <a:lnTo>
                    <a:pt x="4763509" y="992828"/>
                  </a:lnTo>
                  <a:lnTo>
                    <a:pt x="4760318" y="994533"/>
                  </a:lnTo>
                  <a:lnTo>
                    <a:pt x="4756965" y="995914"/>
                  </a:lnTo>
                  <a:lnTo>
                    <a:pt x="4753622" y="997305"/>
                  </a:lnTo>
                  <a:lnTo>
                    <a:pt x="4750165" y="998353"/>
                  </a:lnTo>
                  <a:lnTo>
                    <a:pt x="4746602" y="999067"/>
                  </a:lnTo>
                  <a:lnTo>
                    <a:pt x="4743049" y="999772"/>
                  </a:lnTo>
                  <a:lnTo>
                    <a:pt x="4739459" y="1000124"/>
                  </a:lnTo>
                  <a:lnTo>
                    <a:pt x="4735830" y="1000124"/>
                  </a:lnTo>
                  <a:lnTo>
                    <a:pt x="55244" y="1000124"/>
                  </a:lnTo>
                  <a:lnTo>
                    <a:pt x="51615" y="1000124"/>
                  </a:lnTo>
                  <a:lnTo>
                    <a:pt x="48025" y="999772"/>
                  </a:lnTo>
                  <a:lnTo>
                    <a:pt x="44462" y="999067"/>
                  </a:lnTo>
                  <a:lnTo>
                    <a:pt x="40909" y="998353"/>
                  </a:lnTo>
                  <a:lnTo>
                    <a:pt x="37452" y="997305"/>
                  </a:lnTo>
                  <a:lnTo>
                    <a:pt x="34099" y="995914"/>
                  </a:lnTo>
                  <a:lnTo>
                    <a:pt x="30756" y="994533"/>
                  </a:lnTo>
                  <a:lnTo>
                    <a:pt x="27565" y="992828"/>
                  </a:lnTo>
                  <a:lnTo>
                    <a:pt x="24555" y="990809"/>
                  </a:lnTo>
                  <a:lnTo>
                    <a:pt x="21536" y="988799"/>
                  </a:lnTo>
                  <a:lnTo>
                    <a:pt x="18745" y="986504"/>
                  </a:lnTo>
                  <a:lnTo>
                    <a:pt x="16182" y="983942"/>
                  </a:lnTo>
                  <a:lnTo>
                    <a:pt x="13611" y="981379"/>
                  </a:lnTo>
                  <a:lnTo>
                    <a:pt x="0" y="948509"/>
                  </a:lnTo>
                  <a:lnTo>
                    <a:pt x="0" y="944879"/>
                  </a:lnTo>
                  <a:close/>
                </a:path>
              </a:pathLst>
            </a:custGeom>
            <a:ln w="9525">
              <a:solidFill>
                <a:srgbClr val="C6C6D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996950" y="3906837"/>
            <a:ext cx="1466215" cy="6267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55">
                <a:solidFill>
                  <a:srgbClr val="3B3838"/>
                </a:solidFill>
                <a:latin typeface="Trebuchet MS"/>
                <a:cs typeface="Trebuchet MS"/>
              </a:rPr>
              <a:t>Student</a:t>
            </a:r>
            <a:r>
              <a:rPr dirty="0" sz="1650" spc="-45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650" spc="114">
                <a:solidFill>
                  <a:srgbClr val="3B3838"/>
                </a:solidFill>
                <a:latin typeface="Trebuchet MS"/>
                <a:cs typeface="Trebuchet MS"/>
              </a:rPr>
              <a:t>Name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Ashish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Kumar</a:t>
            </a:r>
            <a:endParaRPr sz="1350">
              <a:latin typeface="Roboto"/>
              <a:cs typeface="Roboto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800725" y="3743325"/>
            <a:ext cx="4800600" cy="1009650"/>
            <a:chOff x="5800725" y="3743325"/>
            <a:chExt cx="4800600" cy="1009650"/>
          </a:xfrm>
        </p:grpSpPr>
        <p:sp>
          <p:nvSpPr>
            <p:cNvPr id="9" name="object 9"/>
            <p:cNvSpPr/>
            <p:nvPr/>
          </p:nvSpPr>
          <p:spPr>
            <a:xfrm>
              <a:off x="5805487" y="3748087"/>
              <a:ext cx="4791075" cy="1000125"/>
            </a:xfrm>
            <a:custGeom>
              <a:avLst/>
              <a:gdLst/>
              <a:ahLst/>
              <a:cxnLst/>
              <a:rect l="l" t="t" r="r" b="b"/>
              <a:pathLst>
                <a:path w="4791075" h="1000125">
                  <a:moveTo>
                    <a:pt x="4739459" y="1000124"/>
                  </a:moveTo>
                  <a:lnTo>
                    <a:pt x="51615" y="1000124"/>
                  </a:lnTo>
                  <a:lnTo>
                    <a:pt x="48025" y="999772"/>
                  </a:lnTo>
                  <a:lnTo>
                    <a:pt x="13611" y="981379"/>
                  </a:lnTo>
                  <a:lnTo>
                    <a:pt x="0" y="948509"/>
                  </a:lnTo>
                  <a:lnTo>
                    <a:pt x="0" y="944879"/>
                  </a:lnTo>
                  <a:lnTo>
                    <a:pt x="0" y="51615"/>
                  </a:lnTo>
                  <a:lnTo>
                    <a:pt x="18745" y="13611"/>
                  </a:lnTo>
                  <a:lnTo>
                    <a:pt x="51615" y="0"/>
                  </a:lnTo>
                  <a:lnTo>
                    <a:pt x="4739459" y="0"/>
                  </a:lnTo>
                  <a:lnTo>
                    <a:pt x="4777454" y="18745"/>
                  </a:lnTo>
                  <a:lnTo>
                    <a:pt x="4791075" y="51615"/>
                  </a:lnTo>
                  <a:lnTo>
                    <a:pt x="4791075" y="948509"/>
                  </a:lnTo>
                  <a:lnTo>
                    <a:pt x="4772329" y="986504"/>
                  </a:lnTo>
                  <a:lnTo>
                    <a:pt x="4743049" y="999772"/>
                  </a:lnTo>
                  <a:lnTo>
                    <a:pt x="4739459" y="1000124"/>
                  </a:lnTo>
                  <a:close/>
                </a:path>
              </a:pathLst>
            </a:custGeom>
            <a:solidFill>
              <a:srgbClr val="E0E0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5805487" y="3748087"/>
              <a:ext cx="4791075" cy="1000125"/>
            </a:xfrm>
            <a:custGeom>
              <a:avLst/>
              <a:gdLst/>
              <a:ahLst/>
              <a:cxnLst/>
              <a:rect l="l" t="t" r="r" b="b"/>
              <a:pathLst>
                <a:path w="4791075" h="1000125">
                  <a:moveTo>
                    <a:pt x="0" y="944879"/>
                  </a:moveTo>
                  <a:lnTo>
                    <a:pt x="0" y="55244"/>
                  </a:lnTo>
                  <a:lnTo>
                    <a:pt x="0" y="51615"/>
                  </a:lnTo>
                  <a:lnTo>
                    <a:pt x="352" y="48025"/>
                  </a:lnTo>
                  <a:lnTo>
                    <a:pt x="16182" y="16182"/>
                  </a:lnTo>
                  <a:lnTo>
                    <a:pt x="18745" y="13611"/>
                  </a:lnTo>
                  <a:lnTo>
                    <a:pt x="51615" y="0"/>
                  </a:lnTo>
                  <a:lnTo>
                    <a:pt x="55244" y="0"/>
                  </a:lnTo>
                  <a:lnTo>
                    <a:pt x="4735830" y="0"/>
                  </a:lnTo>
                  <a:lnTo>
                    <a:pt x="4739459" y="0"/>
                  </a:lnTo>
                  <a:lnTo>
                    <a:pt x="4743049" y="352"/>
                  </a:lnTo>
                  <a:lnTo>
                    <a:pt x="4774892" y="16182"/>
                  </a:lnTo>
                  <a:lnTo>
                    <a:pt x="4777454" y="18745"/>
                  </a:lnTo>
                  <a:lnTo>
                    <a:pt x="4786864" y="34099"/>
                  </a:lnTo>
                  <a:lnTo>
                    <a:pt x="4788255" y="37452"/>
                  </a:lnTo>
                  <a:lnTo>
                    <a:pt x="4789303" y="40909"/>
                  </a:lnTo>
                  <a:lnTo>
                    <a:pt x="4790017" y="44462"/>
                  </a:lnTo>
                  <a:lnTo>
                    <a:pt x="4790722" y="48025"/>
                  </a:lnTo>
                  <a:lnTo>
                    <a:pt x="4791075" y="51615"/>
                  </a:lnTo>
                  <a:lnTo>
                    <a:pt x="4791075" y="55244"/>
                  </a:lnTo>
                  <a:lnTo>
                    <a:pt x="4791075" y="944879"/>
                  </a:lnTo>
                  <a:lnTo>
                    <a:pt x="4791075" y="948509"/>
                  </a:lnTo>
                  <a:lnTo>
                    <a:pt x="4790722" y="952099"/>
                  </a:lnTo>
                  <a:lnTo>
                    <a:pt x="4790017" y="955652"/>
                  </a:lnTo>
                  <a:lnTo>
                    <a:pt x="4789303" y="959215"/>
                  </a:lnTo>
                  <a:lnTo>
                    <a:pt x="4788255" y="962672"/>
                  </a:lnTo>
                  <a:lnTo>
                    <a:pt x="4786864" y="966025"/>
                  </a:lnTo>
                  <a:lnTo>
                    <a:pt x="4785483" y="969368"/>
                  </a:lnTo>
                  <a:lnTo>
                    <a:pt x="4783778" y="972559"/>
                  </a:lnTo>
                  <a:lnTo>
                    <a:pt x="4781759" y="975569"/>
                  </a:lnTo>
                  <a:lnTo>
                    <a:pt x="4779749" y="978588"/>
                  </a:lnTo>
                  <a:lnTo>
                    <a:pt x="4777454" y="981379"/>
                  </a:lnTo>
                  <a:lnTo>
                    <a:pt x="4774892" y="983942"/>
                  </a:lnTo>
                  <a:lnTo>
                    <a:pt x="4772329" y="986504"/>
                  </a:lnTo>
                  <a:lnTo>
                    <a:pt x="4769538" y="988799"/>
                  </a:lnTo>
                  <a:lnTo>
                    <a:pt x="4766519" y="990809"/>
                  </a:lnTo>
                  <a:lnTo>
                    <a:pt x="4763500" y="992828"/>
                  </a:lnTo>
                  <a:lnTo>
                    <a:pt x="4760318" y="994533"/>
                  </a:lnTo>
                  <a:lnTo>
                    <a:pt x="4756975" y="995914"/>
                  </a:lnTo>
                  <a:lnTo>
                    <a:pt x="4753622" y="997305"/>
                  </a:lnTo>
                  <a:lnTo>
                    <a:pt x="4750165" y="998353"/>
                  </a:lnTo>
                  <a:lnTo>
                    <a:pt x="4746602" y="999067"/>
                  </a:lnTo>
                  <a:lnTo>
                    <a:pt x="4743049" y="999772"/>
                  </a:lnTo>
                  <a:lnTo>
                    <a:pt x="4739459" y="1000124"/>
                  </a:lnTo>
                  <a:lnTo>
                    <a:pt x="4735830" y="1000124"/>
                  </a:lnTo>
                  <a:lnTo>
                    <a:pt x="55244" y="1000124"/>
                  </a:lnTo>
                  <a:lnTo>
                    <a:pt x="51615" y="1000124"/>
                  </a:lnTo>
                  <a:lnTo>
                    <a:pt x="48025" y="999772"/>
                  </a:lnTo>
                  <a:lnTo>
                    <a:pt x="44462" y="999067"/>
                  </a:lnTo>
                  <a:lnTo>
                    <a:pt x="40909" y="998353"/>
                  </a:lnTo>
                  <a:lnTo>
                    <a:pt x="37452" y="997305"/>
                  </a:lnTo>
                  <a:lnTo>
                    <a:pt x="34099" y="995914"/>
                  </a:lnTo>
                  <a:lnTo>
                    <a:pt x="30746" y="994533"/>
                  </a:lnTo>
                  <a:lnTo>
                    <a:pt x="27565" y="992828"/>
                  </a:lnTo>
                  <a:lnTo>
                    <a:pt x="24555" y="990809"/>
                  </a:lnTo>
                  <a:lnTo>
                    <a:pt x="21536" y="988799"/>
                  </a:lnTo>
                  <a:lnTo>
                    <a:pt x="18745" y="986504"/>
                  </a:lnTo>
                  <a:lnTo>
                    <a:pt x="16182" y="983942"/>
                  </a:lnTo>
                  <a:lnTo>
                    <a:pt x="13611" y="981379"/>
                  </a:lnTo>
                  <a:lnTo>
                    <a:pt x="0" y="948509"/>
                  </a:lnTo>
                  <a:lnTo>
                    <a:pt x="0" y="944879"/>
                  </a:lnTo>
                  <a:close/>
                </a:path>
              </a:pathLst>
            </a:custGeom>
            <a:ln w="9525">
              <a:solidFill>
                <a:srgbClr val="C6C6D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5969000" y="3906837"/>
            <a:ext cx="1497330" cy="6267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>
                <a:solidFill>
                  <a:srgbClr val="3B3838"/>
                </a:solidFill>
                <a:latin typeface="Trebuchet MS"/>
                <a:cs typeface="Trebuchet MS"/>
              </a:rPr>
              <a:t>Roll</a:t>
            </a:r>
            <a:r>
              <a:rPr dirty="0" sz="1650" spc="40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650" spc="95">
                <a:solidFill>
                  <a:srgbClr val="3B3838"/>
                </a:solidFill>
                <a:latin typeface="Trebuchet MS"/>
                <a:cs typeface="Trebuchet MS"/>
              </a:rPr>
              <a:t>Number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25SCS1003003125</a:t>
            </a:r>
            <a:endParaRPr sz="1350">
              <a:latin typeface="Roboto"/>
              <a:cs typeface="Roboto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28675" y="4924425"/>
            <a:ext cx="4800600" cy="1009650"/>
            <a:chOff x="828675" y="4924425"/>
            <a:chExt cx="4800600" cy="1009650"/>
          </a:xfrm>
        </p:grpSpPr>
        <p:sp>
          <p:nvSpPr>
            <p:cNvPr id="13" name="object 13"/>
            <p:cNvSpPr/>
            <p:nvPr/>
          </p:nvSpPr>
          <p:spPr>
            <a:xfrm>
              <a:off x="833437" y="4929187"/>
              <a:ext cx="4791075" cy="1000125"/>
            </a:xfrm>
            <a:custGeom>
              <a:avLst/>
              <a:gdLst/>
              <a:ahLst/>
              <a:cxnLst/>
              <a:rect l="l" t="t" r="r" b="b"/>
              <a:pathLst>
                <a:path w="4791075" h="1000125">
                  <a:moveTo>
                    <a:pt x="4739459" y="1000124"/>
                  </a:moveTo>
                  <a:lnTo>
                    <a:pt x="51615" y="1000124"/>
                  </a:lnTo>
                  <a:lnTo>
                    <a:pt x="48025" y="999772"/>
                  </a:lnTo>
                  <a:lnTo>
                    <a:pt x="13611" y="981379"/>
                  </a:lnTo>
                  <a:lnTo>
                    <a:pt x="0" y="948509"/>
                  </a:lnTo>
                  <a:lnTo>
                    <a:pt x="0" y="944879"/>
                  </a:lnTo>
                  <a:lnTo>
                    <a:pt x="0" y="51615"/>
                  </a:lnTo>
                  <a:lnTo>
                    <a:pt x="18745" y="13611"/>
                  </a:lnTo>
                  <a:lnTo>
                    <a:pt x="51615" y="0"/>
                  </a:lnTo>
                  <a:lnTo>
                    <a:pt x="4739459" y="0"/>
                  </a:lnTo>
                  <a:lnTo>
                    <a:pt x="4777454" y="18745"/>
                  </a:lnTo>
                  <a:lnTo>
                    <a:pt x="4791075" y="51615"/>
                  </a:lnTo>
                  <a:lnTo>
                    <a:pt x="4791075" y="948509"/>
                  </a:lnTo>
                  <a:lnTo>
                    <a:pt x="4772329" y="986504"/>
                  </a:lnTo>
                  <a:lnTo>
                    <a:pt x="4743049" y="999772"/>
                  </a:lnTo>
                  <a:lnTo>
                    <a:pt x="4739459" y="1000124"/>
                  </a:lnTo>
                  <a:close/>
                </a:path>
              </a:pathLst>
            </a:custGeom>
            <a:solidFill>
              <a:srgbClr val="E0E0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833437" y="4929187"/>
              <a:ext cx="4791075" cy="1000125"/>
            </a:xfrm>
            <a:custGeom>
              <a:avLst/>
              <a:gdLst/>
              <a:ahLst/>
              <a:cxnLst/>
              <a:rect l="l" t="t" r="r" b="b"/>
              <a:pathLst>
                <a:path w="4791075" h="1000125">
                  <a:moveTo>
                    <a:pt x="0" y="944879"/>
                  </a:moveTo>
                  <a:lnTo>
                    <a:pt x="0" y="55244"/>
                  </a:lnTo>
                  <a:lnTo>
                    <a:pt x="0" y="51615"/>
                  </a:lnTo>
                  <a:lnTo>
                    <a:pt x="352" y="48025"/>
                  </a:lnTo>
                  <a:lnTo>
                    <a:pt x="16182" y="16182"/>
                  </a:lnTo>
                  <a:lnTo>
                    <a:pt x="18745" y="13611"/>
                  </a:lnTo>
                  <a:lnTo>
                    <a:pt x="51615" y="0"/>
                  </a:lnTo>
                  <a:lnTo>
                    <a:pt x="55244" y="0"/>
                  </a:lnTo>
                  <a:lnTo>
                    <a:pt x="4735830" y="0"/>
                  </a:lnTo>
                  <a:lnTo>
                    <a:pt x="4739459" y="0"/>
                  </a:lnTo>
                  <a:lnTo>
                    <a:pt x="4743049" y="352"/>
                  </a:lnTo>
                  <a:lnTo>
                    <a:pt x="4774892" y="16182"/>
                  </a:lnTo>
                  <a:lnTo>
                    <a:pt x="4777454" y="18745"/>
                  </a:lnTo>
                  <a:lnTo>
                    <a:pt x="4779749" y="21536"/>
                  </a:lnTo>
                  <a:lnTo>
                    <a:pt x="4781759" y="24555"/>
                  </a:lnTo>
                  <a:lnTo>
                    <a:pt x="4783778" y="27565"/>
                  </a:lnTo>
                  <a:lnTo>
                    <a:pt x="4785483" y="30756"/>
                  </a:lnTo>
                  <a:lnTo>
                    <a:pt x="4786864" y="34099"/>
                  </a:lnTo>
                  <a:lnTo>
                    <a:pt x="4788255" y="37452"/>
                  </a:lnTo>
                  <a:lnTo>
                    <a:pt x="4789303" y="40909"/>
                  </a:lnTo>
                  <a:lnTo>
                    <a:pt x="4790008" y="44462"/>
                  </a:lnTo>
                  <a:lnTo>
                    <a:pt x="4790722" y="48025"/>
                  </a:lnTo>
                  <a:lnTo>
                    <a:pt x="4791075" y="51615"/>
                  </a:lnTo>
                  <a:lnTo>
                    <a:pt x="4791075" y="55244"/>
                  </a:lnTo>
                  <a:lnTo>
                    <a:pt x="4791075" y="944879"/>
                  </a:lnTo>
                  <a:lnTo>
                    <a:pt x="4791075" y="948509"/>
                  </a:lnTo>
                  <a:lnTo>
                    <a:pt x="4790722" y="952099"/>
                  </a:lnTo>
                  <a:lnTo>
                    <a:pt x="4790008" y="955652"/>
                  </a:lnTo>
                  <a:lnTo>
                    <a:pt x="4789303" y="959215"/>
                  </a:lnTo>
                  <a:lnTo>
                    <a:pt x="4788255" y="962672"/>
                  </a:lnTo>
                  <a:lnTo>
                    <a:pt x="4786864" y="966015"/>
                  </a:lnTo>
                  <a:lnTo>
                    <a:pt x="4785483" y="969368"/>
                  </a:lnTo>
                  <a:lnTo>
                    <a:pt x="4774892" y="983942"/>
                  </a:lnTo>
                  <a:lnTo>
                    <a:pt x="4772329" y="986504"/>
                  </a:lnTo>
                  <a:lnTo>
                    <a:pt x="4769538" y="988799"/>
                  </a:lnTo>
                  <a:lnTo>
                    <a:pt x="4766519" y="990809"/>
                  </a:lnTo>
                  <a:lnTo>
                    <a:pt x="4763509" y="992828"/>
                  </a:lnTo>
                  <a:lnTo>
                    <a:pt x="4760318" y="994533"/>
                  </a:lnTo>
                  <a:lnTo>
                    <a:pt x="4756965" y="995914"/>
                  </a:lnTo>
                  <a:lnTo>
                    <a:pt x="4753622" y="997305"/>
                  </a:lnTo>
                  <a:lnTo>
                    <a:pt x="4750165" y="998353"/>
                  </a:lnTo>
                  <a:lnTo>
                    <a:pt x="4746602" y="999067"/>
                  </a:lnTo>
                  <a:lnTo>
                    <a:pt x="4743049" y="999772"/>
                  </a:lnTo>
                  <a:lnTo>
                    <a:pt x="4739459" y="1000124"/>
                  </a:lnTo>
                  <a:lnTo>
                    <a:pt x="4735830" y="1000124"/>
                  </a:lnTo>
                  <a:lnTo>
                    <a:pt x="55244" y="1000124"/>
                  </a:lnTo>
                  <a:lnTo>
                    <a:pt x="51615" y="1000124"/>
                  </a:lnTo>
                  <a:lnTo>
                    <a:pt x="48025" y="999772"/>
                  </a:lnTo>
                  <a:lnTo>
                    <a:pt x="44462" y="999067"/>
                  </a:lnTo>
                  <a:lnTo>
                    <a:pt x="40909" y="998353"/>
                  </a:lnTo>
                  <a:lnTo>
                    <a:pt x="37452" y="997305"/>
                  </a:lnTo>
                  <a:lnTo>
                    <a:pt x="34099" y="995914"/>
                  </a:lnTo>
                  <a:lnTo>
                    <a:pt x="30756" y="994533"/>
                  </a:lnTo>
                  <a:lnTo>
                    <a:pt x="27565" y="992828"/>
                  </a:lnTo>
                  <a:lnTo>
                    <a:pt x="24555" y="990809"/>
                  </a:lnTo>
                  <a:lnTo>
                    <a:pt x="21536" y="988799"/>
                  </a:lnTo>
                  <a:lnTo>
                    <a:pt x="18745" y="986504"/>
                  </a:lnTo>
                  <a:lnTo>
                    <a:pt x="16182" y="983942"/>
                  </a:lnTo>
                  <a:lnTo>
                    <a:pt x="13611" y="981379"/>
                  </a:lnTo>
                  <a:lnTo>
                    <a:pt x="0" y="948509"/>
                  </a:lnTo>
                  <a:lnTo>
                    <a:pt x="0" y="944879"/>
                  </a:lnTo>
                  <a:close/>
                </a:path>
              </a:pathLst>
            </a:custGeom>
            <a:ln w="9525">
              <a:solidFill>
                <a:srgbClr val="C6C6D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996950" y="5087937"/>
            <a:ext cx="2164080" cy="6267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90">
                <a:solidFill>
                  <a:srgbClr val="3B3838"/>
                </a:solidFill>
                <a:latin typeface="Trebuchet MS"/>
                <a:cs typeface="Trebuchet MS"/>
              </a:rPr>
              <a:t>Course</a:t>
            </a:r>
            <a:r>
              <a:rPr dirty="0" sz="1650" spc="-70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650" spc="155">
                <a:solidFill>
                  <a:srgbClr val="3B3838"/>
                </a:solidFill>
                <a:latin typeface="Trebuchet MS"/>
                <a:cs typeface="Trebuchet MS"/>
              </a:rPr>
              <a:t>/</a:t>
            </a:r>
            <a:r>
              <a:rPr dirty="0" sz="1650" spc="-65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650" spc="45">
                <a:solidFill>
                  <a:srgbClr val="3B3838"/>
                </a:solidFill>
                <a:latin typeface="Trebuchet MS"/>
                <a:cs typeface="Trebuchet MS"/>
              </a:rPr>
              <a:t>Department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B.Tech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(CSE)</a:t>
            </a:r>
            <a:endParaRPr sz="1350">
              <a:latin typeface="Roboto"/>
              <a:cs typeface="Roboto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800725" y="4924425"/>
            <a:ext cx="4800600" cy="1009650"/>
            <a:chOff x="5800725" y="4924425"/>
            <a:chExt cx="4800600" cy="1009650"/>
          </a:xfrm>
        </p:grpSpPr>
        <p:sp>
          <p:nvSpPr>
            <p:cNvPr id="17" name="object 17"/>
            <p:cNvSpPr/>
            <p:nvPr/>
          </p:nvSpPr>
          <p:spPr>
            <a:xfrm>
              <a:off x="5805487" y="4929187"/>
              <a:ext cx="4791075" cy="1000125"/>
            </a:xfrm>
            <a:custGeom>
              <a:avLst/>
              <a:gdLst/>
              <a:ahLst/>
              <a:cxnLst/>
              <a:rect l="l" t="t" r="r" b="b"/>
              <a:pathLst>
                <a:path w="4791075" h="1000125">
                  <a:moveTo>
                    <a:pt x="4739459" y="1000124"/>
                  </a:moveTo>
                  <a:lnTo>
                    <a:pt x="51615" y="1000124"/>
                  </a:lnTo>
                  <a:lnTo>
                    <a:pt x="48025" y="999772"/>
                  </a:lnTo>
                  <a:lnTo>
                    <a:pt x="13611" y="981379"/>
                  </a:lnTo>
                  <a:lnTo>
                    <a:pt x="0" y="948509"/>
                  </a:lnTo>
                  <a:lnTo>
                    <a:pt x="0" y="944879"/>
                  </a:lnTo>
                  <a:lnTo>
                    <a:pt x="0" y="51615"/>
                  </a:lnTo>
                  <a:lnTo>
                    <a:pt x="18745" y="13611"/>
                  </a:lnTo>
                  <a:lnTo>
                    <a:pt x="51615" y="0"/>
                  </a:lnTo>
                  <a:lnTo>
                    <a:pt x="4739459" y="0"/>
                  </a:lnTo>
                  <a:lnTo>
                    <a:pt x="4777454" y="18745"/>
                  </a:lnTo>
                  <a:lnTo>
                    <a:pt x="4791075" y="51615"/>
                  </a:lnTo>
                  <a:lnTo>
                    <a:pt x="4791075" y="948509"/>
                  </a:lnTo>
                  <a:lnTo>
                    <a:pt x="4772329" y="986504"/>
                  </a:lnTo>
                  <a:lnTo>
                    <a:pt x="4743049" y="999772"/>
                  </a:lnTo>
                  <a:lnTo>
                    <a:pt x="4739459" y="1000124"/>
                  </a:lnTo>
                  <a:close/>
                </a:path>
              </a:pathLst>
            </a:custGeom>
            <a:solidFill>
              <a:srgbClr val="E0E0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5805487" y="4929187"/>
              <a:ext cx="4791075" cy="1000125"/>
            </a:xfrm>
            <a:custGeom>
              <a:avLst/>
              <a:gdLst/>
              <a:ahLst/>
              <a:cxnLst/>
              <a:rect l="l" t="t" r="r" b="b"/>
              <a:pathLst>
                <a:path w="4791075" h="1000125">
                  <a:moveTo>
                    <a:pt x="0" y="944879"/>
                  </a:moveTo>
                  <a:lnTo>
                    <a:pt x="0" y="55244"/>
                  </a:lnTo>
                  <a:lnTo>
                    <a:pt x="0" y="51615"/>
                  </a:lnTo>
                  <a:lnTo>
                    <a:pt x="352" y="48025"/>
                  </a:lnTo>
                  <a:lnTo>
                    <a:pt x="16182" y="16182"/>
                  </a:lnTo>
                  <a:lnTo>
                    <a:pt x="18745" y="13611"/>
                  </a:lnTo>
                  <a:lnTo>
                    <a:pt x="51615" y="0"/>
                  </a:lnTo>
                  <a:lnTo>
                    <a:pt x="55244" y="0"/>
                  </a:lnTo>
                  <a:lnTo>
                    <a:pt x="4735830" y="0"/>
                  </a:lnTo>
                  <a:lnTo>
                    <a:pt x="4739459" y="0"/>
                  </a:lnTo>
                  <a:lnTo>
                    <a:pt x="4743049" y="352"/>
                  </a:lnTo>
                  <a:lnTo>
                    <a:pt x="4774892" y="16182"/>
                  </a:lnTo>
                  <a:lnTo>
                    <a:pt x="4777454" y="18745"/>
                  </a:lnTo>
                  <a:lnTo>
                    <a:pt x="4786864" y="34099"/>
                  </a:lnTo>
                  <a:lnTo>
                    <a:pt x="4788255" y="37452"/>
                  </a:lnTo>
                  <a:lnTo>
                    <a:pt x="4789303" y="40909"/>
                  </a:lnTo>
                  <a:lnTo>
                    <a:pt x="4790017" y="44462"/>
                  </a:lnTo>
                  <a:lnTo>
                    <a:pt x="4790722" y="48025"/>
                  </a:lnTo>
                  <a:lnTo>
                    <a:pt x="4791075" y="51615"/>
                  </a:lnTo>
                  <a:lnTo>
                    <a:pt x="4791075" y="55244"/>
                  </a:lnTo>
                  <a:lnTo>
                    <a:pt x="4791075" y="944879"/>
                  </a:lnTo>
                  <a:lnTo>
                    <a:pt x="4791075" y="948509"/>
                  </a:lnTo>
                  <a:lnTo>
                    <a:pt x="4790722" y="952099"/>
                  </a:lnTo>
                  <a:lnTo>
                    <a:pt x="4790017" y="955652"/>
                  </a:lnTo>
                  <a:lnTo>
                    <a:pt x="4789303" y="959215"/>
                  </a:lnTo>
                  <a:lnTo>
                    <a:pt x="4788255" y="962672"/>
                  </a:lnTo>
                  <a:lnTo>
                    <a:pt x="4786864" y="966015"/>
                  </a:lnTo>
                  <a:lnTo>
                    <a:pt x="4785483" y="969368"/>
                  </a:lnTo>
                  <a:lnTo>
                    <a:pt x="4783778" y="972559"/>
                  </a:lnTo>
                  <a:lnTo>
                    <a:pt x="4781759" y="975569"/>
                  </a:lnTo>
                  <a:lnTo>
                    <a:pt x="4779749" y="978588"/>
                  </a:lnTo>
                  <a:lnTo>
                    <a:pt x="4777454" y="981379"/>
                  </a:lnTo>
                  <a:lnTo>
                    <a:pt x="4774892" y="983942"/>
                  </a:lnTo>
                  <a:lnTo>
                    <a:pt x="4772329" y="986504"/>
                  </a:lnTo>
                  <a:lnTo>
                    <a:pt x="4769538" y="988799"/>
                  </a:lnTo>
                  <a:lnTo>
                    <a:pt x="4766519" y="990809"/>
                  </a:lnTo>
                  <a:lnTo>
                    <a:pt x="4763500" y="992828"/>
                  </a:lnTo>
                  <a:lnTo>
                    <a:pt x="4760318" y="994533"/>
                  </a:lnTo>
                  <a:lnTo>
                    <a:pt x="4756975" y="995914"/>
                  </a:lnTo>
                  <a:lnTo>
                    <a:pt x="4753622" y="997305"/>
                  </a:lnTo>
                  <a:lnTo>
                    <a:pt x="4750165" y="998353"/>
                  </a:lnTo>
                  <a:lnTo>
                    <a:pt x="4746602" y="999067"/>
                  </a:lnTo>
                  <a:lnTo>
                    <a:pt x="4743049" y="999772"/>
                  </a:lnTo>
                  <a:lnTo>
                    <a:pt x="4739459" y="1000124"/>
                  </a:lnTo>
                  <a:lnTo>
                    <a:pt x="4735830" y="1000124"/>
                  </a:lnTo>
                  <a:lnTo>
                    <a:pt x="55244" y="1000124"/>
                  </a:lnTo>
                  <a:lnTo>
                    <a:pt x="51615" y="1000124"/>
                  </a:lnTo>
                  <a:lnTo>
                    <a:pt x="48025" y="999772"/>
                  </a:lnTo>
                  <a:lnTo>
                    <a:pt x="44462" y="999067"/>
                  </a:lnTo>
                  <a:lnTo>
                    <a:pt x="40909" y="998353"/>
                  </a:lnTo>
                  <a:lnTo>
                    <a:pt x="37452" y="997305"/>
                  </a:lnTo>
                  <a:lnTo>
                    <a:pt x="34099" y="995914"/>
                  </a:lnTo>
                  <a:lnTo>
                    <a:pt x="30746" y="994533"/>
                  </a:lnTo>
                  <a:lnTo>
                    <a:pt x="27565" y="992828"/>
                  </a:lnTo>
                  <a:lnTo>
                    <a:pt x="24555" y="990809"/>
                  </a:lnTo>
                  <a:lnTo>
                    <a:pt x="21536" y="988799"/>
                  </a:lnTo>
                  <a:lnTo>
                    <a:pt x="18745" y="986504"/>
                  </a:lnTo>
                  <a:lnTo>
                    <a:pt x="16182" y="983942"/>
                  </a:lnTo>
                  <a:lnTo>
                    <a:pt x="13611" y="981379"/>
                  </a:lnTo>
                  <a:lnTo>
                    <a:pt x="0" y="948509"/>
                  </a:lnTo>
                  <a:lnTo>
                    <a:pt x="0" y="944879"/>
                  </a:lnTo>
                  <a:close/>
                </a:path>
              </a:pathLst>
            </a:custGeom>
            <a:ln w="9525">
              <a:solidFill>
                <a:srgbClr val="C6C6D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5969000" y="5087937"/>
            <a:ext cx="2249170" cy="6267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85">
                <a:solidFill>
                  <a:srgbClr val="3B3838"/>
                </a:solidFill>
                <a:latin typeface="Trebuchet MS"/>
                <a:cs typeface="Trebuchet MS"/>
              </a:rPr>
              <a:t>College</a:t>
            </a:r>
            <a:r>
              <a:rPr dirty="0" sz="1650" spc="-70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650" spc="155">
                <a:solidFill>
                  <a:srgbClr val="3B3838"/>
                </a:solidFill>
                <a:latin typeface="Trebuchet MS"/>
                <a:cs typeface="Trebuchet MS"/>
              </a:rPr>
              <a:t>/</a:t>
            </a:r>
            <a:r>
              <a:rPr dirty="0" sz="1650" spc="-65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650" spc="-10">
                <a:solidFill>
                  <a:srgbClr val="3B3838"/>
                </a:solidFill>
                <a:latin typeface="Trebuchet MS"/>
                <a:cs typeface="Trebuchet MS"/>
              </a:rPr>
              <a:t>University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IILM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University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Greater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Noida</a:t>
            </a:r>
            <a:endParaRPr sz="1350">
              <a:latin typeface="Roboto"/>
              <a:cs typeface="Roboto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828675" y="6105525"/>
            <a:ext cx="4800600" cy="1000125"/>
            <a:chOff x="828675" y="6105525"/>
            <a:chExt cx="4800600" cy="1000125"/>
          </a:xfrm>
        </p:grpSpPr>
        <p:sp>
          <p:nvSpPr>
            <p:cNvPr id="21" name="object 21"/>
            <p:cNvSpPr/>
            <p:nvPr/>
          </p:nvSpPr>
          <p:spPr>
            <a:xfrm>
              <a:off x="833437" y="6110287"/>
              <a:ext cx="4791075" cy="990600"/>
            </a:xfrm>
            <a:custGeom>
              <a:avLst/>
              <a:gdLst/>
              <a:ahLst/>
              <a:cxnLst/>
              <a:rect l="l" t="t" r="r" b="b"/>
              <a:pathLst>
                <a:path w="4791075" h="990600">
                  <a:moveTo>
                    <a:pt x="4739459" y="990599"/>
                  </a:moveTo>
                  <a:lnTo>
                    <a:pt x="51615" y="990599"/>
                  </a:lnTo>
                  <a:lnTo>
                    <a:pt x="48025" y="990247"/>
                  </a:lnTo>
                  <a:lnTo>
                    <a:pt x="13611" y="971854"/>
                  </a:lnTo>
                  <a:lnTo>
                    <a:pt x="0" y="938984"/>
                  </a:lnTo>
                  <a:lnTo>
                    <a:pt x="0" y="935354"/>
                  </a:lnTo>
                  <a:lnTo>
                    <a:pt x="0" y="51615"/>
                  </a:lnTo>
                  <a:lnTo>
                    <a:pt x="18745" y="13611"/>
                  </a:lnTo>
                  <a:lnTo>
                    <a:pt x="51615" y="0"/>
                  </a:lnTo>
                  <a:lnTo>
                    <a:pt x="4739459" y="0"/>
                  </a:lnTo>
                  <a:lnTo>
                    <a:pt x="4777454" y="18745"/>
                  </a:lnTo>
                  <a:lnTo>
                    <a:pt x="4791075" y="51615"/>
                  </a:lnTo>
                  <a:lnTo>
                    <a:pt x="4791075" y="938984"/>
                  </a:lnTo>
                  <a:lnTo>
                    <a:pt x="4772329" y="976979"/>
                  </a:lnTo>
                  <a:lnTo>
                    <a:pt x="4743049" y="990247"/>
                  </a:lnTo>
                  <a:lnTo>
                    <a:pt x="4739459" y="990599"/>
                  </a:lnTo>
                  <a:close/>
                </a:path>
              </a:pathLst>
            </a:custGeom>
            <a:solidFill>
              <a:srgbClr val="E0E0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833437" y="6110287"/>
              <a:ext cx="4791075" cy="990600"/>
            </a:xfrm>
            <a:custGeom>
              <a:avLst/>
              <a:gdLst/>
              <a:ahLst/>
              <a:cxnLst/>
              <a:rect l="l" t="t" r="r" b="b"/>
              <a:pathLst>
                <a:path w="4791075" h="990600">
                  <a:moveTo>
                    <a:pt x="0" y="935354"/>
                  </a:moveTo>
                  <a:lnTo>
                    <a:pt x="0" y="55244"/>
                  </a:lnTo>
                  <a:lnTo>
                    <a:pt x="0" y="51615"/>
                  </a:lnTo>
                  <a:lnTo>
                    <a:pt x="352" y="48025"/>
                  </a:lnTo>
                  <a:lnTo>
                    <a:pt x="16182" y="16182"/>
                  </a:lnTo>
                  <a:lnTo>
                    <a:pt x="18745" y="13611"/>
                  </a:lnTo>
                  <a:lnTo>
                    <a:pt x="51615" y="0"/>
                  </a:lnTo>
                  <a:lnTo>
                    <a:pt x="55244" y="0"/>
                  </a:lnTo>
                  <a:lnTo>
                    <a:pt x="4735830" y="0"/>
                  </a:lnTo>
                  <a:lnTo>
                    <a:pt x="4739459" y="0"/>
                  </a:lnTo>
                  <a:lnTo>
                    <a:pt x="4743049" y="352"/>
                  </a:lnTo>
                  <a:lnTo>
                    <a:pt x="4774892" y="16182"/>
                  </a:lnTo>
                  <a:lnTo>
                    <a:pt x="4777454" y="18745"/>
                  </a:lnTo>
                  <a:lnTo>
                    <a:pt x="4779749" y="21536"/>
                  </a:lnTo>
                  <a:lnTo>
                    <a:pt x="4781759" y="24555"/>
                  </a:lnTo>
                  <a:lnTo>
                    <a:pt x="4783778" y="27565"/>
                  </a:lnTo>
                  <a:lnTo>
                    <a:pt x="4785483" y="30756"/>
                  </a:lnTo>
                  <a:lnTo>
                    <a:pt x="4786864" y="34099"/>
                  </a:lnTo>
                  <a:lnTo>
                    <a:pt x="4788255" y="37452"/>
                  </a:lnTo>
                  <a:lnTo>
                    <a:pt x="4789303" y="40909"/>
                  </a:lnTo>
                  <a:lnTo>
                    <a:pt x="4790008" y="44462"/>
                  </a:lnTo>
                  <a:lnTo>
                    <a:pt x="4790722" y="48025"/>
                  </a:lnTo>
                  <a:lnTo>
                    <a:pt x="4791075" y="51615"/>
                  </a:lnTo>
                  <a:lnTo>
                    <a:pt x="4791075" y="55244"/>
                  </a:lnTo>
                  <a:lnTo>
                    <a:pt x="4791075" y="935354"/>
                  </a:lnTo>
                  <a:lnTo>
                    <a:pt x="4791075" y="938984"/>
                  </a:lnTo>
                  <a:lnTo>
                    <a:pt x="4790722" y="942574"/>
                  </a:lnTo>
                  <a:lnTo>
                    <a:pt x="4790008" y="946127"/>
                  </a:lnTo>
                  <a:lnTo>
                    <a:pt x="4789303" y="949690"/>
                  </a:lnTo>
                  <a:lnTo>
                    <a:pt x="4788255" y="953147"/>
                  </a:lnTo>
                  <a:lnTo>
                    <a:pt x="4786864" y="956490"/>
                  </a:lnTo>
                  <a:lnTo>
                    <a:pt x="4785483" y="959843"/>
                  </a:lnTo>
                  <a:lnTo>
                    <a:pt x="4774892" y="974417"/>
                  </a:lnTo>
                  <a:lnTo>
                    <a:pt x="4772329" y="976979"/>
                  </a:lnTo>
                  <a:lnTo>
                    <a:pt x="4769538" y="979274"/>
                  </a:lnTo>
                  <a:lnTo>
                    <a:pt x="4766519" y="981284"/>
                  </a:lnTo>
                  <a:lnTo>
                    <a:pt x="4763509" y="983303"/>
                  </a:lnTo>
                  <a:lnTo>
                    <a:pt x="4760318" y="985008"/>
                  </a:lnTo>
                  <a:lnTo>
                    <a:pt x="4756965" y="986389"/>
                  </a:lnTo>
                  <a:lnTo>
                    <a:pt x="4753622" y="987780"/>
                  </a:lnTo>
                  <a:lnTo>
                    <a:pt x="4750165" y="988828"/>
                  </a:lnTo>
                  <a:lnTo>
                    <a:pt x="4746602" y="989533"/>
                  </a:lnTo>
                  <a:lnTo>
                    <a:pt x="4743049" y="990247"/>
                  </a:lnTo>
                  <a:lnTo>
                    <a:pt x="4739459" y="990599"/>
                  </a:lnTo>
                  <a:lnTo>
                    <a:pt x="4735830" y="990599"/>
                  </a:lnTo>
                  <a:lnTo>
                    <a:pt x="55244" y="990599"/>
                  </a:lnTo>
                  <a:lnTo>
                    <a:pt x="51615" y="990599"/>
                  </a:lnTo>
                  <a:lnTo>
                    <a:pt x="48025" y="990247"/>
                  </a:lnTo>
                  <a:lnTo>
                    <a:pt x="44462" y="989533"/>
                  </a:lnTo>
                  <a:lnTo>
                    <a:pt x="40909" y="988828"/>
                  </a:lnTo>
                  <a:lnTo>
                    <a:pt x="37452" y="987780"/>
                  </a:lnTo>
                  <a:lnTo>
                    <a:pt x="34099" y="986389"/>
                  </a:lnTo>
                  <a:lnTo>
                    <a:pt x="30756" y="985008"/>
                  </a:lnTo>
                  <a:lnTo>
                    <a:pt x="27565" y="983303"/>
                  </a:lnTo>
                  <a:lnTo>
                    <a:pt x="24555" y="981284"/>
                  </a:lnTo>
                  <a:lnTo>
                    <a:pt x="21536" y="979274"/>
                  </a:lnTo>
                  <a:lnTo>
                    <a:pt x="18745" y="976979"/>
                  </a:lnTo>
                  <a:lnTo>
                    <a:pt x="16182" y="974417"/>
                  </a:lnTo>
                  <a:lnTo>
                    <a:pt x="13611" y="971854"/>
                  </a:lnTo>
                  <a:lnTo>
                    <a:pt x="0" y="938984"/>
                  </a:lnTo>
                  <a:lnTo>
                    <a:pt x="0" y="935354"/>
                  </a:lnTo>
                  <a:close/>
                </a:path>
              </a:pathLst>
            </a:custGeom>
            <a:ln w="9525">
              <a:solidFill>
                <a:srgbClr val="C6C6D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996950" y="6269037"/>
            <a:ext cx="2304415" cy="6267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>
                <a:solidFill>
                  <a:srgbClr val="3B3838"/>
                </a:solidFill>
                <a:latin typeface="Trebuchet MS"/>
                <a:cs typeface="Trebuchet MS"/>
              </a:rPr>
              <a:t>Internship</a:t>
            </a:r>
            <a:r>
              <a:rPr dirty="0" sz="1650" spc="160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650" spc="-10">
                <a:solidFill>
                  <a:srgbClr val="3B3838"/>
                </a:solidFill>
                <a:latin typeface="Trebuchet MS"/>
                <a:cs typeface="Trebuchet MS"/>
              </a:rPr>
              <a:t>Organisation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Yuva</a:t>
            </a:r>
            <a:r>
              <a:rPr dirty="0" sz="1350" spc="-6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Intern</a:t>
            </a:r>
            <a:endParaRPr sz="1350">
              <a:latin typeface="Roboto"/>
              <a:cs typeface="Roboto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800725" y="6105525"/>
            <a:ext cx="4800600" cy="1000125"/>
            <a:chOff x="5800725" y="6105525"/>
            <a:chExt cx="4800600" cy="1000125"/>
          </a:xfrm>
        </p:grpSpPr>
        <p:sp>
          <p:nvSpPr>
            <p:cNvPr id="25" name="object 25"/>
            <p:cNvSpPr/>
            <p:nvPr/>
          </p:nvSpPr>
          <p:spPr>
            <a:xfrm>
              <a:off x="5805487" y="6110287"/>
              <a:ext cx="4791075" cy="990600"/>
            </a:xfrm>
            <a:custGeom>
              <a:avLst/>
              <a:gdLst/>
              <a:ahLst/>
              <a:cxnLst/>
              <a:rect l="l" t="t" r="r" b="b"/>
              <a:pathLst>
                <a:path w="4791075" h="990600">
                  <a:moveTo>
                    <a:pt x="4739459" y="990599"/>
                  </a:moveTo>
                  <a:lnTo>
                    <a:pt x="51615" y="990599"/>
                  </a:lnTo>
                  <a:lnTo>
                    <a:pt x="48025" y="990247"/>
                  </a:lnTo>
                  <a:lnTo>
                    <a:pt x="13611" y="971854"/>
                  </a:lnTo>
                  <a:lnTo>
                    <a:pt x="0" y="938984"/>
                  </a:lnTo>
                  <a:lnTo>
                    <a:pt x="0" y="935354"/>
                  </a:lnTo>
                  <a:lnTo>
                    <a:pt x="0" y="51615"/>
                  </a:lnTo>
                  <a:lnTo>
                    <a:pt x="18745" y="13611"/>
                  </a:lnTo>
                  <a:lnTo>
                    <a:pt x="51615" y="0"/>
                  </a:lnTo>
                  <a:lnTo>
                    <a:pt x="4739459" y="0"/>
                  </a:lnTo>
                  <a:lnTo>
                    <a:pt x="4777454" y="18745"/>
                  </a:lnTo>
                  <a:lnTo>
                    <a:pt x="4791075" y="51615"/>
                  </a:lnTo>
                  <a:lnTo>
                    <a:pt x="4791075" y="938984"/>
                  </a:lnTo>
                  <a:lnTo>
                    <a:pt x="4772329" y="976979"/>
                  </a:lnTo>
                  <a:lnTo>
                    <a:pt x="4743049" y="990247"/>
                  </a:lnTo>
                  <a:lnTo>
                    <a:pt x="4739459" y="990599"/>
                  </a:lnTo>
                  <a:close/>
                </a:path>
              </a:pathLst>
            </a:custGeom>
            <a:solidFill>
              <a:srgbClr val="E0E0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5805487" y="6110287"/>
              <a:ext cx="4791075" cy="990600"/>
            </a:xfrm>
            <a:custGeom>
              <a:avLst/>
              <a:gdLst/>
              <a:ahLst/>
              <a:cxnLst/>
              <a:rect l="l" t="t" r="r" b="b"/>
              <a:pathLst>
                <a:path w="4791075" h="990600">
                  <a:moveTo>
                    <a:pt x="0" y="935354"/>
                  </a:moveTo>
                  <a:lnTo>
                    <a:pt x="0" y="55244"/>
                  </a:lnTo>
                  <a:lnTo>
                    <a:pt x="0" y="51615"/>
                  </a:lnTo>
                  <a:lnTo>
                    <a:pt x="352" y="48025"/>
                  </a:lnTo>
                  <a:lnTo>
                    <a:pt x="16182" y="16182"/>
                  </a:lnTo>
                  <a:lnTo>
                    <a:pt x="18745" y="13611"/>
                  </a:lnTo>
                  <a:lnTo>
                    <a:pt x="51615" y="0"/>
                  </a:lnTo>
                  <a:lnTo>
                    <a:pt x="55244" y="0"/>
                  </a:lnTo>
                  <a:lnTo>
                    <a:pt x="4735830" y="0"/>
                  </a:lnTo>
                  <a:lnTo>
                    <a:pt x="4739459" y="0"/>
                  </a:lnTo>
                  <a:lnTo>
                    <a:pt x="4743049" y="352"/>
                  </a:lnTo>
                  <a:lnTo>
                    <a:pt x="4774892" y="16182"/>
                  </a:lnTo>
                  <a:lnTo>
                    <a:pt x="4777454" y="18745"/>
                  </a:lnTo>
                  <a:lnTo>
                    <a:pt x="4786864" y="34099"/>
                  </a:lnTo>
                  <a:lnTo>
                    <a:pt x="4788255" y="37452"/>
                  </a:lnTo>
                  <a:lnTo>
                    <a:pt x="4789303" y="40909"/>
                  </a:lnTo>
                  <a:lnTo>
                    <a:pt x="4790017" y="44462"/>
                  </a:lnTo>
                  <a:lnTo>
                    <a:pt x="4790722" y="48025"/>
                  </a:lnTo>
                  <a:lnTo>
                    <a:pt x="4791075" y="51615"/>
                  </a:lnTo>
                  <a:lnTo>
                    <a:pt x="4791075" y="55244"/>
                  </a:lnTo>
                  <a:lnTo>
                    <a:pt x="4791075" y="935354"/>
                  </a:lnTo>
                  <a:lnTo>
                    <a:pt x="4791075" y="938984"/>
                  </a:lnTo>
                  <a:lnTo>
                    <a:pt x="4790722" y="942574"/>
                  </a:lnTo>
                  <a:lnTo>
                    <a:pt x="4790017" y="946127"/>
                  </a:lnTo>
                  <a:lnTo>
                    <a:pt x="4789303" y="949690"/>
                  </a:lnTo>
                  <a:lnTo>
                    <a:pt x="4788255" y="953147"/>
                  </a:lnTo>
                  <a:lnTo>
                    <a:pt x="4786864" y="956490"/>
                  </a:lnTo>
                  <a:lnTo>
                    <a:pt x="4785483" y="959843"/>
                  </a:lnTo>
                  <a:lnTo>
                    <a:pt x="4783778" y="963034"/>
                  </a:lnTo>
                  <a:lnTo>
                    <a:pt x="4781759" y="966044"/>
                  </a:lnTo>
                  <a:lnTo>
                    <a:pt x="4779749" y="969063"/>
                  </a:lnTo>
                  <a:lnTo>
                    <a:pt x="4777454" y="971854"/>
                  </a:lnTo>
                  <a:lnTo>
                    <a:pt x="4774892" y="974417"/>
                  </a:lnTo>
                  <a:lnTo>
                    <a:pt x="4772329" y="976979"/>
                  </a:lnTo>
                  <a:lnTo>
                    <a:pt x="4769538" y="979274"/>
                  </a:lnTo>
                  <a:lnTo>
                    <a:pt x="4766519" y="981284"/>
                  </a:lnTo>
                  <a:lnTo>
                    <a:pt x="4763500" y="983303"/>
                  </a:lnTo>
                  <a:lnTo>
                    <a:pt x="4760318" y="985008"/>
                  </a:lnTo>
                  <a:lnTo>
                    <a:pt x="4756975" y="986389"/>
                  </a:lnTo>
                  <a:lnTo>
                    <a:pt x="4753622" y="987780"/>
                  </a:lnTo>
                  <a:lnTo>
                    <a:pt x="4750165" y="988828"/>
                  </a:lnTo>
                  <a:lnTo>
                    <a:pt x="4746602" y="989533"/>
                  </a:lnTo>
                  <a:lnTo>
                    <a:pt x="4743049" y="990247"/>
                  </a:lnTo>
                  <a:lnTo>
                    <a:pt x="4739459" y="990599"/>
                  </a:lnTo>
                  <a:lnTo>
                    <a:pt x="4735830" y="990599"/>
                  </a:lnTo>
                  <a:lnTo>
                    <a:pt x="55244" y="990599"/>
                  </a:lnTo>
                  <a:lnTo>
                    <a:pt x="51615" y="990599"/>
                  </a:lnTo>
                  <a:lnTo>
                    <a:pt x="48025" y="990247"/>
                  </a:lnTo>
                  <a:lnTo>
                    <a:pt x="44462" y="989533"/>
                  </a:lnTo>
                  <a:lnTo>
                    <a:pt x="40909" y="988828"/>
                  </a:lnTo>
                  <a:lnTo>
                    <a:pt x="37452" y="987780"/>
                  </a:lnTo>
                  <a:lnTo>
                    <a:pt x="34099" y="986389"/>
                  </a:lnTo>
                  <a:lnTo>
                    <a:pt x="30746" y="985008"/>
                  </a:lnTo>
                  <a:lnTo>
                    <a:pt x="27565" y="983303"/>
                  </a:lnTo>
                  <a:lnTo>
                    <a:pt x="24555" y="981284"/>
                  </a:lnTo>
                  <a:lnTo>
                    <a:pt x="21536" y="979274"/>
                  </a:lnTo>
                  <a:lnTo>
                    <a:pt x="18745" y="976979"/>
                  </a:lnTo>
                  <a:lnTo>
                    <a:pt x="16182" y="974417"/>
                  </a:lnTo>
                  <a:lnTo>
                    <a:pt x="13611" y="971854"/>
                  </a:lnTo>
                  <a:lnTo>
                    <a:pt x="0" y="938984"/>
                  </a:lnTo>
                  <a:lnTo>
                    <a:pt x="0" y="935354"/>
                  </a:lnTo>
                  <a:close/>
                </a:path>
              </a:pathLst>
            </a:custGeom>
            <a:ln w="9525">
              <a:solidFill>
                <a:srgbClr val="C6C6D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5969000" y="6269037"/>
            <a:ext cx="1565275" cy="6267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>
                <a:solidFill>
                  <a:srgbClr val="3B3838"/>
                </a:solidFill>
                <a:latin typeface="Trebuchet MS"/>
                <a:cs typeface="Trebuchet MS"/>
              </a:rPr>
              <a:t>Internship</a:t>
            </a:r>
            <a:r>
              <a:rPr dirty="0" sz="1650" spc="110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650" spc="-10">
                <a:solidFill>
                  <a:srgbClr val="3B3838"/>
                </a:solidFill>
                <a:latin typeface="Trebuchet MS"/>
                <a:cs typeface="Trebuchet MS"/>
              </a:rPr>
              <a:t>Title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SAP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FICO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Internship</a:t>
            </a:r>
            <a:endParaRPr sz="1350">
              <a:latin typeface="Roboto"/>
              <a:cs typeface="Roboto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828675" y="7277100"/>
            <a:ext cx="4800600" cy="1009650"/>
            <a:chOff x="828675" y="7277100"/>
            <a:chExt cx="4800600" cy="1009650"/>
          </a:xfrm>
        </p:grpSpPr>
        <p:sp>
          <p:nvSpPr>
            <p:cNvPr id="29" name="object 29"/>
            <p:cNvSpPr/>
            <p:nvPr/>
          </p:nvSpPr>
          <p:spPr>
            <a:xfrm>
              <a:off x="833437" y="7281862"/>
              <a:ext cx="4791075" cy="1000125"/>
            </a:xfrm>
            <a:custGeom>
              <a:avLst/>
              <a:gdLst/>
              <a:ahLst/>
              <a:cxnLst/>
              <a:rect l="l" t="t" r="r" b="b"/>
              <a:pathLst>
                <a:path w="4791075" h="1000125">
                  <a:moveTo>
                    <a:pt x="4739459" y="1000124"/>
                  </a:moveTo>
                  <a:lnTo>
                    <a:pt x="51615" y="1000124"/>
                  </a:lnTo>
                  <a:lnTo>
                    <a:pt x="48025" y="999772"/>
                  </a:lnTo>
                  <a:lnTo>
                    <a:pt x="13611" y="981379"/>
                  </a:lnTo>
                  <a:lnTo>
                    <a:pt x="0" y="948509"/>
                  </a:lnTo>
                  <a:lnTo>
                    <a:pt x="0" y="944879"/>
                  </a:lnTo>
                  <a:lnTo>
                    <a:pt x="0" y="51615"/>
                  </a:lnTo>
                  <a:lnTo>
                    <a:pt x="18745" y="13611"/>
                  </a:lnTo>
                  <a:lnTo>
                    <a:pt x="51615" y="0"/>
                  </a:lnTo>
                  <a:lnTo>
                    <a:pt x="4739459" y="0"/>
                  </a:lnTo>
                  <a:lnTo>
                    <a:pt x="4777454" y="18745"/>
                  </a:lnTo>
                  <a:lnTo>
                    <a:pt x="4791075" y="51615"/>
                  </a:lnTo>
                  <a:lnTo>
                    <a:pt x="4791075" y="948509"/>
                  </a:lnTo>
                  <a:lnTo>
                    <a:pt x="4772329" y="986504"/>
                  </a:lnTo>
                  <a:lnTo>
                    <a:pt x="4743049" y="999772"/>
                  </a:lnTo>
                  <a:lnTo>
                    <a:pt x="4739459" y="1000124"/>
                  </a:lnTo>
                  <a:close/>
                </a:path>
              </a:pathLst>
            </a:custGeom>
            <a:solidFill>
              <a:srgbClr val="E0E0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833437" y="7281862"/>
              <a:ext cx="4791075" cy="1000125"/>
            </a:xfrm>
            <a:custGeom>
              <a:avLst/>
              <a:gdLst/>
              <a:ahLst/>
              <a:cxnLst/>
              <a:rect l="l" t="t" r="r" b="b"/>
              <a:pathLst>
                <a:path w="4791075" h="1000125">
                  <a:moveTo>
                    <a:pt x="0" y="944879"/>
                  </a:moveTo>
                  <a:lnTo>
                    <a:pt x="0" y="55244"/>
                  </a:lnTo>
                  <a:lnTo>
                    <a:pt x="0" y="51615"/>
                  </a:lnTo>
                  <a:lnTo>
                    <a:pt x="352" y="48025"/>
                  </a:lnTo>
                  <a:lnTo>
                    <a:pt x="16182" y="16182"/>
                  </a:lnTo>
                  <a:lnTo>
                    <a:pt x="18745" y="13611"/>
                  </a:lnTo>
                  <a:lnTo>
                    <a:pt x="51615" y="0"/>
                  </a:lnTo>
                  <a:lnTo>
                    <a:pt x="55244" y="0"/>
                  </a:lnTo>
                  <a:lnTo>
                    <a:pt x="4735830" y="0"/>
                  </a:lnTo>
                  <a:lnTo>
                    <a:pt x="4739459" y="0"/>
                  </a:lnTo>
                  <a:lnTo>
                    <a:pt x="4743049" y="352"/>
                  </a:lnTo>
                  <a:lnTo>
                    <a:pt x="4774892" y="16182"/>
                  </a:lnTo>
                  <a:lnTo>
                    <a:pt x="4777454" y="18745"/>
                  </a:lnTo>
                  <a:lnTo>
                    <a:pt x="4779749" y="21536"/>
                  </a:lnTo>
                  <a:lnTo>
                    <a:pt x="4781759" y="24555"/>
                  </a:lnTo>
                  <a:lnTo>
                    <a:pt x="4783778" y="27565"/>
                  </a:lnTo>
                  <a:lnTo>
                    <a:pt x="4785483" y="30756"/>
                  </a:lnTo>
                  <a:lnTo>
                    <a:pt x="4786864" y="34099"/>
                  </a:lnTo>
                  <a:lnTo>
                    <a:pt x="4788255" y="37452"/>
                  </a:lnTo>
                  <a:lnTo>
                    <a:pt x="4789303" y="40909"/>
                  </a:lnTo>
                  <a:lnTo>
                    <a:pt x="4790008" y="44462"/>
                  </a:lnTo>
                  <a:lnTo>
                    <a:pt x="4790722" y="48025"/>
                  </a:lnTo>
                  <a:lnTo>
                    <a:pt x="4791075" y="51615"/>
                  </a:lnTo>
                  <a:lnTo>
                    <a:pt x="4791075" y="55244"/>
                  </a:lnTo>
                  <a:lnTo>
                    <a:pt x="4791075" y="944879"/>
                  </a:lnTo>
                  <a:lnTo>
                    <a:pt x="4791075" y="948509"/>
                  </a:lnTo>
                  <a:lnTo>
                    <a:pt x="4790722" y="952099"/>
                  </a:lnTo>
                  <a:lnTo>
                    <a:pt x="4790008" y="955652"/>
                  </a:lnTo>
                  <a:lnTo>
                    <a:pt x="4789303" y="959215"/>
                  </a:lnTo>
                  <a:lnTo>
                    <a:pt x="4788255" y="962672"/>
                  </a:lnTo>
                  <a:lnTo>
                    <a:pt x="4786864" y="966015"/>
                  </a:lnTo>
                  <a:lnTo>
                    <a:pt x="4785483" y="969368"/>
                  </a:lnTo>
                  <a:lnTo>
                    <a:pt x="4774892" y="983942"/>
                  </a:lnTo>
                  <a:lnTo>
                    <a:pt x="4772329" y="986504"/>
                  </a:lnTo>
                  <a:lnTo>
                    <a:pt x="4769538" y="988799"/>
                  </a:lnTo>
                  <a:lnTo>
                    <a:pt x="4766519" y="990809"/>
                  </a:lnTo>
                  <a:lnTo>
                    <a:pt x="4763509" y="992828"/>
                  </a:lnTo>
                  <a:lnTo>
                    <a:pt x="4760318" y="994533"/>
                  </a:lnTo>
                  <a:lnTo>
                    <a:pt x="4756965" y="995914"/>
                  </a:lnTo>
                  <a:lnTo>
                    <a:pt x="4753622" y="997305"/>
                  </a:lnTo>
                  <a:lnTo>
                    <a:pt x="4750165" y="998353"/>
                  </a:lnTo>
                  <a:lnTo>
                    <a:pt x="4746602" y="999067"/>
                  </a:lnTo>
                  <a:lnTo>
                    <a:pt x="4743049" y="999772"/>
                  </a:lnTo>
                  <a:lnTo>
                    <a:pt x="4739459" y="1000124"/>
                  </a:lnTo>
                  <a:lnTo>
                    <a:pt x="4735830" y="1000124"/>
                  </a:lnTo>
                  <a:lnTo>
                    <a:pt x="55244" y="1000124"/>
                  </a:lnTo>
                  <a:lnTo>
                    <a:pt x="51615" y="1000124"/>
                  </a:lnTo>
                  <a:lnTo>
                    <a:pt x="48025" y="999772"/>
                  </a:lnTo>
                  <a:lnTo>
                    <a:pt x="44462" y="999058"/>
                  </a:lnTo>
                  <a:lnTo>
                    <a:pt x="40909" y="998353"/>
                  </a:lnTo>
                  <a:lnTo>
                    <a:pt x="37452" y="997305"/>
                  </a:lnTo>
                  <a:lnTo>
                    <a:pt x="34099" y="995914"/>
                  </a:lnTo>
                  <a:lnTo>
                    <a:pt x="30756" y="994533"/>
                  </a:lnTo>
                  <a:lnTo>
                    <a:pt x="27565" y="992828"/>
                  </a:lnTo>
                  <a:lnTo>
                    <a:pt x="24555" y="990809"/>
                  </a:lnTo>
                  <a:lnTo>
                    <a:pt x="21536" y="988799"/>
                  </a:lnTo>
                  <a:lnTo>
                    <a:pt x="18745" y="986504"/>
                  </a:lnTo>
                  <a:lnTo>
                    <a:pt x="16182" y="983942"/>
                  </a:lnTo>
                  <a:lnTo>
                    <a:pt x="13611" y="981379"/>
                  </a:lnTo>
                  <a:lnTo>
                    <a:pt x="0" y="948509"/>
                  </a:lnTo>
                  <a:lnTo>
                    <a:pt x="0" y="944879"/>
                  </a:lnTo>
                  <a:close/>
                </a:path>
              </a:pathLst>
            </a:custGeom>
            <a:ln w="9525">
              <a:solidFill>
                <a:srgbClr val="C6C6D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996950" y="7440612"/>
            <a:ext cx="600710" cy="6267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95">
                <a:solidFill>
                  <a:srgbClr val="3B3838"/>
                </a:solidFill>
                <a:latin typeface="Trebuchet MS"/>
                <a:cs typeface="Trebuchet MS"/>
              </a:rPr>
              <a:t>Week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3</a:t>
            </a:r>
            <a:endParaRPr sz="1350">
              <a:latin typeface="Roboto"/>
              <a:cs typeface="Roboto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5800725" y="7277100"/>
            <a:ext cx="4800600" cy="1009650"/>
            <a:chOff x="5800725" y="7277100"/>
            <a:chExt cx="4800600" cy="1009650"/>
          </a:xfrm>
        </p:grpSpPr>
        <p:sp>
          <p:nvSpPr>
            <p:cNvPr id="33" name="object 33"/>
            <p:cNvSpPr/>
            <p:nvPr/>
          </p:nvSpPr>
          <p:spPr>
            <a:xfrm>
              <a:off x="5805487" y="7281862"/>
              <a:ext cx="4791075" cy="1000125"/>
            </a:xfrm>
            <a:custGeom>
              <a:avLst/>
              <a:gdLst/>
              <a:ahLst/>
              <a:cxnLst/>
              <a:rect l="l" t="t" r="r" b="b"/>
              <a:pathLst>
                <a:path w="4791075" h="1000125">
                  <a:moveTo>
                    <a:pt x="4739459" y="1000124"/>
                  </a:moveTo>
                  <a:lnTo>
                    <a:pt x="51615" y="1000124"/>
                  </a:lnTo>
                  <a:lnTo>
                    <a:pt x="48025" y="999772"/>
                  </a:lnTo>
                  <a:lnTo>
                    <a:pt x="13611" y="981379"/>
                  </a:lnTo>
                  <a:lnTo>
                    <a:pt x="0" y="948509"/>
                  </a:lnTo>
                  <a:lnTo>
                    <a:pt x="0" y="944879"/>
                  </a:lnTo>
                  <a:lnTo>
                    <a:pt x="0" y="51615"/>
                  </a:lnTo>
                  <a:lnTo>
                    <a:pt x="18745" y="13611"/>
                  </a:lnTo>
                  <a:lnTo>
                    <a:pt x="51615" y="0"/>
                  </a:lnTo>
                  <a:lnTo>
                    <a:pt x="4739459" y="0"/>
                  </a:lnTo>
                  <a:lnTo>
                    <a:pt x="4777454" y="18745"/>
                  </a:lnTo>
                  <a:lnTo>
                    <a:pt x="4791075" y="51615"/>
                  </a:lnTo>
                  <a:lnTo>
                    <a:pt x="4791075" y="948509"/>
                  </a:lnTo>
                  <a:lnTo>
                    <a:pt x="4772329" y="986504"/>
                  </a:lnTo>
                  <a:lnTo>
                    <a:pt x="4743049" y="999772"/>
                  </a:lnTo>
                  <a:lnTo>
                    <a:pt x="4739459" y="1000124"/>
                  </a:lnTo>
                  <a:close/>
                </a:path>
              </a:pathLst>
            </a:custGeom>
            <a:solidFill>
              <a:srgbClr val="E0E0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5805487" y="7281862"/>
              <a:ext cx="4791075" cy="1000125"/>
            </a:xfrm>
            <a:custGeom>
              <a:avLst/>
              <a:gdLst/>
              <a:ahLst/>
              <a:cxnLst/>
              <a:rect l="l" t="t" r="r" b="b"/>
              <a:pathLst>
                <a:path w="4791075" h="1000125">
                  <a:moveTo>
                    <a:pt x="0" y="944879"/>
                  </a:moveTo>
                  <a:lnTo>
                    <a:pt x="0" y="55244"/>
                  </a:lnTo>
                  <a:lnTo>
                    <a:pt x="0" y="51615"/>
                  </a:lnTo>
                  <a:lnTo>
                    <a:pt x="352" y="48025"/>
                  </a:lnTo>
                  <a:lnTo>
                    <a:pt x="16182" y="16182"/>
                  </a:lnTo>
                  <a:lnTo>
                    <a:pt x="18745" y="13611"/>
                  </a:lnTo>
                  <a:lnTo>
                    <a:pt x="51615" y="0"/>
                  </a:lnTo>
                  <a:lnTo>
                    <a:pt x="55244" y="0"/>
                  </a:lnTo>
                  <a:lnTo>
                    <a:pt x="4735830" y="0"/>
                  </a:lnTo>
                  <a:lnTo>
                    <a:pt x="4739459" y="0"/>
                  </a:lnTo>
                  <a:lnTo>
                    <a:pt x="4743049" y="352"/>
                  </a:lnTo>
                  <a:lnTo>
                    <a:pt x="4774892" y="16182"/>
                  </a:lnTo>
                  <a:lnTo>
                    <a:pt x="4777454" y="18745"/>
                  </a:lnTo>
                  <a:lnTo>
                    <a:pt x="4786864" y="34099"/>
                  </a:lnTo>
                  <a:lnTo>
                    <a:pt x="4788255" y="37452"/>
                  </a:lnTo>
                  <a:lnTo>
                    <a:pt x="4789303" y="40909"/>
                  </a:lnTo>
                  <a:lnTo>
                    <a:pt x="4790017" y="44462"/>
                  </a:lnTo>
                  <a:lnTo>
                    <a:pt x="4790722" y="48025"/>
                  </a:lnTo>
                  <a:lnTo>
                    <a:pt x="4791075" y="51615"/>
                  </a:lnTo>
                  <a:lnTo>
                    <a:pt x="4791075" y="55244"/>
                  </a:lnTo>
                  <a:lnTo>
                    <a:pt x="4791075" y="944879"/>
                  </a:lnTo>
                  <a:lnTo>
                    <a:pt x="4791075" y="948509"/>
                  </a:lnTo>
                  <a:lnTo>
                    <a:pt x="4790722" y="952099"/>
                  </a:lnTo>
                  <a:lnTo>
                    <a:pt x="4790017" y="955652"/>
                  </a:lnTo>
                  <a:lnTo>
                    <a:pt x="4789303" y="959215"/>
                  </a:lnTo>
                  <a:lnTo>
                    <a:pt x="4788255" y="962672"/>
                  </a:lnTo>
                  <a:lnTo>
                    <a:pt x="4786864" y="966015"/>
                  </a:lnTo>
                  <a:lnTo>
                    <a:pt x="4785483" y="969368"/>
                  </a:lnTo>
                  <a:lnTo>
                    <a:pt x="4783778" y="972559"/>
                  </a:lnTo>
                  <a:lnTo>
                    <a:pt x="4781759" y="975569"/>
                  </a:lnTo>
                  <a:lnTo>
                    <a:pt x="4779749" y="978588"/>
                  </a:lnTo>
                  <a:lnTo>
                    <a:pt x="4777454" y="981379"/>
                  </a:lnTo>
                  <a:lnTo>
                    <a:pt x="4774892" y="983942"/>
                  </a:lnTo>
                  <a:lnTo>
                    <a:pt x="4772329" y="986504"/>
                  </a:lnTo>
                  <a:lnTo>
                    <a:pt x="4769538" y="988799"/>
                  </a:lnTo>
                  <a:lnTo>
                    <a:pt x="4766519" y="990809"/>
                  </a:lnTo>
                  <a:lnTo>
                    <a:pt x="4763500" y="992828"/>
                  </a:lnTo>
                  <a:lnTo>
                    <a:pt x="4760318" y="994533"/>
                  </a:lnTo>
                  <a:lnTo>
                    <a:pt x="4756975" y="995914"/>
                  </a:lnTo>
                  <a:lnTo>
                    <a:pt x="4753622" y="997305"/>
                  </a:lnTo>
                  <a:lnTo>
                    <a:pt x="4750165" y="998353"/>
                  </a:lnTo>
                  <a:lnTo>
                    <a:pt x="4746602" y="999067"/>
                  </a:lnTo>
                  <a:lnTo>
                    <a:pt x="4743049" y="999772"/>
                  </a:lnTo>
                  <a:lnTo>
                    <a:pt x="4739459" y="1000124"/>
                  </a:lnTo>
                  <a:lnTo>
                    <a:pt x="4735830" y="1000124"/>
                  </a:lnTo>
                  <a:lnTo>
                    <a:pt x="55244" y="1000124"/>
                  </a:lnTo>
                  <a:lnTo>
                    <a:pt x="51615" y="1000124"/>
                  </a:lnTo>
                  <a:lnTo>
                    <a:pt x="48025" y="999772"/>
                  </a:lnTo>
                  <a:lnTo>
                    <a:pt x="44462" y="999058"/>
                  </a:lnTo>
                  <a:lnTo>
                    <a:pt x="40909" y="998353"/>
                  </a:lnTo>
                  <a:lnTo>
                    <a:pt x="37452" y="997305"/>
                  </a:lnTo>
                  <a:lnTo>
                    <a:pt x="34099" y="995914"/>
                  </a:lnTo>
                  <a:lnTo>
                    <a:pt x="30746" y="994533"/>
                  </a:lnTo>
                  <a:lnTo>
                    <a:pt x="27565" y="992828"/>
                  </a:lnTo>
                  <a:lnTo>
                    <a:pt x="24555" y="990809"/>
                  </a:lnTo>
                  <a:lnTo>
                    <a:pt x="21536" y="988799"/>
                  </a:lnTo>
                  <a:lnTo>
                    <a:pt x="18745" y="986504"/>
                  </a:lnTo>
                  <a:lnTo>
                    <a:pt x="16182" y="983942"/>
                  </a:lnTo>
                  <a:lnTo>
                    <a:pt x="13611" y="981379"/>
                  </a:lnTo>
                  <a:lnTo>
                    <a:pt x="0" y="948509"/>
                  </a:lnTo>
                  <a:lnTo>
                    <a:pt x="0" y="944879"/>
                  </a:lnTo>
                  <a:close/>
                </a:path>
              </a:pathLst>
            </a:custGeom>
            <a:ln w="9525">
              <a:solidFill>
                <a:srgbClr val="C6C6D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5969000" y="7440612"/>
            <a:ext cx="1684020" cy="6267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85">
                <a:solidFill>
                  <a:srgbClr val="3B3838"/>
                </a:solidFill>
                <a:latin typeface="Trebuchet MS"/>
                <a:cs typeface="Trebuchet MS"/>
              </a:rPr>
              <a:t>Submission</a:t>
            </a:r>
            <a:r>
              <a:rPr dirty="0" sz="1650" spc="-35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650" spc="30">
                <a:solidFill>
                  <a:srgbClr val="3B3838"/>
                </a:solidFill>
                <a:latin typeface="Trebuchet MS"/>
                <a:cs typeface="Trebuchet MS"/>
              </a:rPr>
              <a:t>Date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06/09/2026</a:t>
            </a:r>
            <a:endParaRPr sz="13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Table</a:t>
            </a:r>
            <a:r>
              <a:rPr dirty="0" spc="-85"/>
              <a:t> </a:t>
            </a:r>
            <a:r>
              <a:rPr dirty="0"/>
              <a:t>of</a:t>
            </a:r>
            <a:r>
              <a:rPr dirty="0" spc="-160"/>
              <a:t> </a:t>
            </a:r>
            <a:r>
              <a:rPr dirty="0" spc="75"/>
              <a:t>Contents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5975" y="1288414"/>
            <a:ext cx="9713595" cy="12827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135"/>
              </a:spcBef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This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report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covers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complete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journey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of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Nestlé's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SAP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Finance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implementation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—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from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business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challenges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that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triggered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it,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through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implementation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process,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to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results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achieved.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Each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section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builds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on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previous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one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to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tell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connected,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real-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world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story.</a:t>
            </a:r>
            <a:endParaRPr sz="13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3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tabLst>
                <a:tab pos="3326765" algn="l"/>
                <a:tab pos="6641465" algn="l"/>
              </a:tabLst>
            </a:pPr>
            <a:r>
              <a:rPr dirty="0" sz="1350" spc="-25">
                <a:solidFill>
                  <a:srgbClr val="3B3838"/>
                </a:solidFill>
                <a:latin typeface="Trebuchet MS"/>
                <a:cs typeface="Trebuchet MS"/>
              </a:rPr>
              <a:t>01</a:t>
            </a:r>
            <a:r>
              <a:rPr dirty="0" sz="1350">
                <a:solidFill>
                  <a:srgbClr val="3B3838"/>
                </a:solidFill>
                <a:latin typeface="Trebuchet MS"/>
                <a:cs typeface="Trebuchet MS"/>
              </a:rPr>
              <a:t>	</a:t>
            </a:r>
            <a:r>
              <a:rPr dirty="0" sz="1350" spc="-25">
                <a:solidFill>
                  <a:srgbClr val="3B3838"/>
                </a:solidFill>
                <a:latin typeface="Trebuchet MS"/>
                <a:cs typeface="Trebuchet MS"/>
              </a:rPr>
              <a:t>02</a:t>
            </a:r>
            <a:r>
              <a:rPr dirty="0" sz="1350">
                <a:solidFill>
                  <a:srgbClr val="3B3838"/>
                </a:solidFill>
                <a:latin typeface="Trebuchet MS"/>
                <a:cs typeface="Trebuchet MS"/>
              </a:rPr>
              <a:t>	</a:t>
            </a:r>
            <a:r>
              <a:rPr dirty="0" sz="1350" spc="30">
                <a:solidFill>
                  <a:srgbClr val="3B3838"/>
                </a:solidFill>
                <a:latin typeface="Trebuchet MS"/>
                <a:cs typeface="Trebuchet MS"/>
              </a:rPr>
              <a:t>03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28675" y="2638425"/>
            <a:ext cx="3143250" cy="19050"/>
          </a:xfrm>
          <a:custGeom>
            <a:avLst/>
            <a:gdLst/>
            <a:ahLst/>
            <a:cxnLst/>
            <a:rect l="l" t="t" r="r" b="b"/>
            <a:pathLst>
              <a:path w="3143250" h="19050">
                <a:moveTo>
                  <a:pt x="3143250" y="19050"/>
                </a:moveTo>
                <a:lnTo>
                  <a:pt x="0" y="19050"/>
                </a:lnTo>
                <a:lnTo>
                  <a:pt x="0" y="0"/>
                </a:lnTo>
                <a:lnTo>
                  <a:pt x="3143250" y="0"/>
                </a:lnTo>
                <a:lnTo>
                  <a:pt x="3143250" y="19050"/>
                </a:lnTo>
                <a:close/>
              </a:path>
            </a:pathLst>
          </a:custGeom>
          <a:solidFill>
            <a:srgbClr val="1B1B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143375" y="2638425"/>
            <a:ext cx="3143250" cy="19050"/>
          </a:xfrm>
          <a:custGeom>
            <a:avLst/>
            <a:gdLst/>
            <a:ahLst/>
            <a:cxnLst/>
            <a:rect l="l" t="t" r="r" b="b"/>
            <a:pathLst>
              <a:path w="3143250" h="19050">
                <a:moveTo>
                  <a:pt x="3143250" y="19050"/>
                </a:moveTo>
                <a:lnTo>
                  <a:pt x="0" y="19050"/>
                </a:lnTo>
                <a:lnTo>
                  <a:pt x="0" y="0"/>
                </a:lnTo>
                <a:lnTo>
                  <a:pt x="3143250" y="0"/>
                </a:lnTo>
                <a:lnTo>
                  <a:pt x="3143250" y="19050"/>
                </a:lnTo>
                <a:close/>
              </a:path>
            </a:pathLst>
          </a:custGeom>
          <a:solidFill>
            <a:srgbClr val="1B1B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458075" y="2638425"/>
            <a:ext cx="3143250" cy="19050"/>
          </a:xfrm>
          <a:custGeom>
            <a:avLst/>
            <a:gdLst/>
            <a:ahLst/>
            <a:cxnLst/>
            <a:rect l="l" t="t" r="r" b="b"/>
            <a:pathLst>
              <a:path w="3143250" h="19050">
                <a:moveTo>
                  <a:pt x="3143250" y="19050"/>
                </a:moveTo>
                <a:lnTo>
                  <a:pt x="0" y="19050"/>
                </a:lnTo>
                <a:lnTo>
                  <a:pt x="0" y="0"/>
                </a:lnTo>
                <a:lnTo>
                  <a:pt x="3143250" y="0"/>
                </a:lnTo>
                <a:lnTo>
                  <a:pt x="3143250" y="19050"/>
                </a:lnTo>
                <a:close/>
              </a:path>
            </a:pathLst>
          </a:custGeom>
          <a:solidFill>
            <a:srgbClr val="1B1B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815975" y="2744787"/>
            <a:ext cx="3050540" cy="90296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10">
                <a:solidFill>
                  <a:srgbClr val="3B3838"/>
                </a:solidFill>
                <a:latin typeface="Trebuchet MS"/>
                <a:cs typeface="Trebuchet MS"/>
              </a:rPr>
              <a:t>Introduction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What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SAP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FICO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is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why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case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studies matter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30675" y="2744787"/>
            <a:ext cx="3156585" cy="90296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10">
                <a:solidFill>
                  <a:srgbClr val="3B3838"/>
                </a:solidFill>
                <a:latin typeface="Trebuchet MS"/>
                <a:cs typeface="Trebuchet MS"/>
              </a:rPr>
              <a:t>Company</a:t>
            </a:r>
            <a:r>
              <a:rPr dirty="0" sz="1650" spc="-95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650" spc="75">
                <a:solidFill>
                  <a:srgbClr val="3B3838"/>
                </a:solidFill>
                <a:latin typeface="Trebuchet MS"/>
                <a:cs typeface="Trebuchet MS"/>
              </a:rPr>
              <a:t>Background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Nestlé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S.A.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—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who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they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are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what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they 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do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445375" y="2744787"/>
            <a:ext cx="3086735" cy="1169670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 marR="5080">
              <a:lnSpc>
                <a:spcPct val="106100"/>
              </a:lnSpc>
              <a:spcBef>
                <a:spcPts val="15"/>
              </a:spcBef>
            </a:pPr>
            <a:r>
              <a:rPr dirty="0" sz="1650">
                <a:solidFill>
                  <a:srgbClr val="3B3838"/>
                </a:solidFill>
                <a:latin typeface="Trebuchet MS"/>
                <a:cs typeface="Trebuchet MS"/>
              </a:rPr>
              <a:t>Existing</a:t>
            </a:r>
            <a:r>
              <a:rPr dirty="0" sz="1650" spc="35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650" spc="95">
                <a:solidFill>
                  <a:srgbClr val="3B3838"/>
                </a:solidFill>
                <a:latin typeface="Trebuchet MS"/>
                <a:cs typeface="Trebuchet MS"/>
              </a:rPr>
              <a:t>Business</a:t>
            </a:r>
            <a:r>
              <a:rPr dirty="0" sz="1650" spc="35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650" spc="80">
                <a:solidFill>
                  <a:srgbClr val="3B3838"/>
                </a:solidFill>
                <a:latin typeface="Trebuchet MS"/>
                <a:cs typeface="Trebuchet MS"/>
              </a:rPr>
              <a:t>and</a:t>
            </a:r>
            <a:r>
              <a:rPr dirty="0" sz="1650" spc="35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650" spc="-10">
                <a:solidFill>
                  <a:srgbClr val="3B3838"/>
                </a:solidFill>
                <a:latin typeface="Trebuchet MS"/>
                <a:cs typeface="Trebuchet MS"/>
              </a:rPr>
              <a:t>Financial </a:t>
            </a:r>
            <a:r>
              <a:rPr dirty="0" sz="1650" spc="75">
                <a:solidFill>
                  <a:srgbClr val="3B3838"/>
                </a:solidFill>
                <a:latin typeface="Trebuchet MS"/>
                <a:cs typeface="Trebuchet MS"/>
              </a:rPr>
              <a:t>Challenges</a:t>
            </a:r>
            <a:endParaRPr sz="1650">
              <a:latin typeface="Trebuchet MS"/>
              <a:cs typeface="Trebuchet MS"/>
            </a:endParaRPr>
          </a:p>
          <a:p>
            <a:pPr marL="12700" marR="878205">
              <a:lnSpc>
                <a:spcPct val="134300"/>
              </a:lnSpc>
              <a:spcBef>
                <a:spcPts val="540"/>
              </a:spcBef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Problems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that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led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to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SAP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implementation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15975" y="4225925"/>
            <a:ext cx="22225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30">
                <a:solidFill>
                  <a:srgbClr val="3B3838"/>
                </a:solidFill>
                <a:latin typeface="Trebuchet MS"/>
                <a:cs typeface="Trebuchet MS"/>
              </a:rPr>
              <a:t>04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30675" y="4225925"/>
            <a:ext cx="22352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35">
                <a:solidFill>
                  <a:srgbClr val="3B3838"/>
                </a:solidFill>
                <a:latin typeface="Trebuchet MS"/>
                <a:cs typeface="Trebuchet MS"/>
              </a:rPr>
              <a:t>05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445375" y="4225925"/>
            <a:ext cx="23304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60">
                <a:solidFill>
                  <a:srgbClr val="3B3838"/>
                </a:solidFill>
                <a:latin typeface="Trebuchet MS"/>
                <a:cs typeface="Trebuchet MS"/>
              </a:rPr>
              <a:t>06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28675" y="4524375"/>
            <a:ext cx="3143250" cy="19050"/>
          </a:xfrm>
          <a:custGeom>
            <a:avLst/>
            <a:gdLst/>
            <a:ahLst/>
            <a:cxnLst/>
            <a:rect l="l" t="t" r="r" b="b"/>
            <a:pathLst>
              <a:path w="3143250" h="19050">
                <a:moveTo>
                  <a:pt x="3143250" y="19050"/>
                </a:moveTo>
                <a:lnTo>
                  <a:pt x="0" y="19050"/>
                </a:lnTo>
                <a:lnTo>
                  <a:pt x="0" y="0"/>
                </a:lnTo>
                <a:lnTo>
                  <a:pt x="3143250" y="0"/>
                </a:lnTo>
                <a:lnTo>
                  <a:pt x="3143250" y="19050"/>
                </a:lnTo>
                <a:close/>
              </a:path>
            </a:pathLst>
          </a:custGeom>
          <a:solidFill>
            <a:srgbClr val="1B1B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143375" y="4524375"/>
            <a:ext cx="3143250" cy="19050"/>
          </a:xfrm>
          <a:custGeom>
            <a:avLst/>
            <a:gdLst/>
            <a:ahLst/>
            <a:cxnLst/>
            <a:rect l="l" t="t" r="r" b="b"/>
            <a:pathLst>
              <a:path w="3143250" h="19050">
                <a:moveTo>
                  <a:pt x="3143250" y="19050"/>
                </a:moveTo>
                <a:lnTo>
                  <a:pt x="0" y="19050"/>
                </a:lnTo>
                <a:lnTo>
                  <a:pt x="0" y="0"/>
                </a:lnTo>
                <a:lnTo>
                  <a:pt x="3143250" y="0"/>
                </a:lnTo>
                <a:lnTo>
                  <a:pt x="3143250" y="19050"/>
                </a:lnTo>
                <a:close/>
              </a:path>
            </a:pathLst>
          </a:custGeom>
          <a:solidFill>
            <a:srgbClr val="1B1B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458075" y="4524375"/>
            <a:ext cx="3143250" cy="19050"/>
          </a:xfrm>
          <a:custGeom>
            <a:avLst/>
            <a:gdLst/>
            <a:ahLst/>
            <a:cxnLst/>
            <a:rect l="l" t="t" r="r" b="b"/>
            <a:pathLst>
              <a:path w="3143250" h="19050">
                <a:moveTo>
                  <a:pt x="3143250" y="19050"/>
                </a:moveTo>
                <a:lnTo>
                  <a:pt x="0" y="19050"/>
                </a:lnTo>
                <a:lnTo>
                  <a:pt x="0" y="0"/>
                </a:lnTo>
                <a:lnTo>
                  <a:pt x="3143250" y="0"/>
                </a:lnTo>
                <a:lnTo>
                  <a:pt x="3143250" y="19050"/>
                </a:lnTo>
                <a:close/>
              </a:path>
            </a:pathLst>
          </a:custGeom>
          <a:solidFill>
            <a:srgbClr val="1B1B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815975" y="4630737"/>
            <a:ext cx="3073400" cy="893444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 marR="715645">
              <a:lnSpc>
                <a:spcPct val="106100"/>
              </a:lnSpc>
              <a:spcBef>
                <a:spcPts val="15"/>
              </a:spcBef>
            </a:pPr>
            <a:r>
              <a:rPr dirty="0" sz="1650" spc="165">
                <a:solidFill>
                  <a:srgbClr val="3B3838"/>
                </a:solidFill>
                <a:latin typeface="Trebuchet MS"/>
                <a:cs typeface="Trebuchet MS"/>
              </a:rPr>
              <a:t>Why</a:t>
            </a:r>
            <a:r>
              <a:rPr dirty="0" sz="1650" spc="-75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3B3838"/>
                </a:solidFill>
                <a:latin typeface="Trebuchet MS"/>
                <a:cs typeface="Trebuchet MS"/>
              </a:rPr>
              <a:t>the</a:t>
            </a:r>
            <a:r>
              <a:rPr dirty="0" sz="1650" spc="-25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650" spc="100">
                <a:solidFill>
                  <a:srgbClr val="3B3838"/>
                </a:solidFill>
                <a:latin typeface="Trebuchet MS"/>
                <a:cs typeface="Trebuchet MS"/>
              </a:rPr>
              <a:t>Company </a:t>
            </a:r>
            <a:r>
              <a:rPr dirty="0" sz="1650" spc="65">
                <a:solidFill>
                  <a:srgbClr val="3B3838"/>
                </a:solidFill>
                <a:latin typeface="Trebuchet MS"/>
                <a:cs typeface="Trebuchet MS"/>
              </a:rPr>
              <a:t>Implemented</a:t>
            </a:r>
            <a:r>
              <a:rPr dirty="0" sz="1650" spc="-60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650" spc="165">
                <a:solidFill>
                  <a:srgbClr val="3B3838"/>
                </a:solidFill>
                <a:latin typeface="Trebuchet MS"/>
                <a:cs typeface="Trebuchet MS"/>
              </a:rPr>
              <a:t>SAP</a:t>
            </a:r>
            <a:r>
              <a:rPr dirty="0" sz="1650" spc="-100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650" spc="75">
                <a:solidFill>
                  <a:srgbClr val="3B3838"/>
                </a:solidFill>
                <a:latin typeface="Trebuchet MS"/>
                <a:cs typeface="Trebuchet MS"/>
              </a:rPr>
              <a:t>FICO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Confirmed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reasons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general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benefits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130675" y="4630737"/>
            <a:ext cx="2882900" cy="89344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65">
                <a:solidFill>
                  <a:srgbClr val="3B3838"/>
                </a:solidFill>
                <a:latin typeface="Trebuchet MS"/>
                <a:cs typeface="Trebuchet MS"/>
              </a:rPr>
              <a:t>SAP</a:t>
            </a:r>
            <a:r>
              <a:rPr dirty="0" sz="1650" spc="-110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650" spc="95">
                <a:solidFill>
                  <a:srgbClr val="3B3838"/>
                </a:solidFill>
                <a:latin typeface="Trebuchet MS"/>
                <a:cs typeface="Trebuchet MS"/>
              </a:rPr>
              <a:t>FICO</a:t>
            </a:r>
            <a:r>
              <a:rPr dirty="0" sz="1650" spc="-60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650" spc="50">
                <a:solidFill>
                  <a:srgbClr val="3B3838"/>
                </a:solidFill>
                <a:latin typeface="Trebuchet MS"/>
                <a:cs typeface="Trebuchet MS"/>
              </a:rPr>
              <a:t>Solution</a:t>
            </a:r>
            <a:r>
              <a:rPr dirty="0" sz="1650" spc="-65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650" spc="60">
                <a:solidFill>
                  <a:srgbClr val="3B3838"/>
                </a:solidFill>
                <a:latin typeface="Trebuchet MS"/>
                <a:cs typeface="Trebuchet MS"/>
              </a:rPr>
              <a:t>Selected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29600"/>
              </a:lnSpc>
              <a:spcBef>
                <a:spcPts val="615"/>
              </a:spcBef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SAP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S/4HANA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Finance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key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FI/CO components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445375" y="4630737"/>
            <a:ext cx="2813050" cy="6267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20">
                <a:solidFill>
                  <a:srgbClr val="3B3838"/>
                </a:solidFill>
                <a:latin typeface="Trebuchet MS"/>
                <a:cs typeface="Trebuchet MS"/>
              </a:rPr>
              <a:t>Implementation</a:t>
            </a:r>
            <a:r>
              <a:rPr dirty="0" sz="1650" spc="254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650" spc="80">
                <a:solidFill>
                  <a:srgbClr val="3B3838"/>
                </a:solidFill>
                <a:latin typeface="Trebuchet MS"/>
                <a:cs typeface="Trebuchet MS"/>
              </a:rPr>
              <a:t>Process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350" spc="-55">
                <a:solidFill>
                  <a:srgbClr val="3B3838"/>
                </a:solidFill>
                <a:latin typeface="Roboto"/>
                <a:cs typeface="Roboto"/>
              </a:rPr>
              <a:t>Step-</a:t>
            </a:r>
            <a:r>
              <a:rPr dirty="0" sz="1350" spc="-65">
                <a:solidFill>
                  <a:srgbClr val="3B3838"/>
                </a:solidFill>
                <a:latin typeface="Roboto"/>
                <a:cs typeface="Roboto"/>
              </a:rPr>
              <a:t>by-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step</a:t>
            </a:r>
            <a:r>
              <a:rPr dirty="0" sz="1350" spc="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implementation</a:t>
            </a:r>
            <a:r>
              <a:rPr dirty="0" sz="1350" spc="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journey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15975" y="5845175"/>
            <a:ext cx="21971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25">
                <a:solidFill>
                  <a:srgbClr val="3B3838"/>
                </a:solidFill>
                <a:latin typeface="Trebuchet MS"/>
                <a:cs typeface="Trebuchet MS"/>
              </a:rPr>
              <a:t>07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130675" y="5845175"/>
            <a:ext cx="23114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65">
                <a:solidFill>
                  <a:srgbClr val="3B3838"/>
                </a:solidFill>
                <a:latin typeface="Trebuchet MS"/>
                <a:cs typeface="Trebuchet MS"/>
              </a:rPr>
              <a:t>08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445375" y="5845175"/>
            <a:ext cx="230504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65">
                <a:solidFill>
                  <a:srgbClr val="3B3838"/>
                </a:solidFill>
                <a:latin typeface="Trebuchet MS"/>
                <a:cs typeface="Trebuchet MS"/>
              </a:rPr>
              <a:t>09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28675" y="6134100"/>
            <a:ext cx="3143250" cy="19050"/>
          </a:xfrm>
          <a:custGeom>
            <a:avLst/>
            <a:gdLst/>
            <a:ahLst/>
            <a:cxnLst/>
            <a:rect l="l" t="t" r="r" b="b"/>
            <a:pathLst>
              <a:path w="3143250" h="19050">
                <a:moveTo>
                  <a:pt x="3143250" y="19050"/>
                </a:moveTo>
                <a:lnTo>
                  <a:pt x="0" y="19050"/>
                </a:lnTo>
                <a:lnTo>
                  <a:pt x="0" y="0"/>
                </a:lnTo>
                <a:lnTo>
                  <a:pt x="3143250" y="0"/>
                </a:lnTo>
                <a:lnTo>
                  <a:pt x="3143250" y="19050"/>
                </a:lnTo>
                <a:close/>
              </a:path>
            </a:pathLst>
          </a:custGeom>
          <a:solidFill>
            <a:srgbClr val="1B1B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143375" y="6134100"/>
            <a:ext cx="3143250" cy="19050"/>
          </a:xfrm>
          <a:custGeom>
            <a:avLst/>
            <a:gdLst/>
            <a:ahLst/>
            <a:cxnLst/>
            <a:rect l="l" t="t" r="r" b="b"/>
            <a:pathLst>
              <a:path w="3143250" h="19050">
                <a:moveTo>
                  <a:pt x="3143250" y="19050"/>
                </a:moveTo>
                <a:lnTo>
                  <a:pt x="0" y="19050"/>
                </a:lnTo>
                <a:lnTo>
                  <a:pt x="0" y="0"/>
                </a:lnTo>
                <a:lnTo>
                  <a:pt x="3143250" y="0"/>
                </a:lnTo>
                <a:lnTo>
                  <a:pt x="3143250" y="19050"/>
                </a:lnTo>
                <a:close/>
              </a:path>
            </a:pathLst>
          </a:custGeom>
          <a:solidFill>
            <a:srgbClr val="1B1B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458075" y="6134100"/>
            <a:ext cx="3143250" cy="19050"/>
          </a:xfrm>
          <a:custGeom>
            <a:avLst/>
            <a:gdLst/>
            <a:ahLst/>
            <a:cxnLst/>
            <a:rect l="l" t="t" r="r" b="b"/>
            <a:pathLst>
              <a:path w="3143250" h="19050">
                <a:moveTo>
                  <a:pt x="3143250" y="19050"/>
                </a:moveTo>
                <a:lnTo>
                  <a:pt x="0" y="19050"/>
                </a:lnTo>
                <a:lnTo>
                  <a:pt x="0" y="0"/>
                </a:lnTo>
                <a:lnTo>
                  <a:pt x="3143250" y="0"/>
                </a:lnTo>
                <a:lnTo>
                  <a:pt x="3143250" y="19050"/>
                </a:lnTo>
                <a:close/>
              </a:path>
            </a:pathLst>
          </a:custGeom>
          <a:solidFill>
            <a:srgbClr val="1B1B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815975" y="6240462"/>
            <a:ext cx="2917825" cy="1169670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 marR="134620">
              <a:lnSpc>
                <a:spcPct val="106100"/>
              </a:lnSpc>
              <a:spcBef>
                <a:spcPts val="15"/>
              </a:spcBef>
            </a:pPr>
            <a:r>
              <a:rPr dirty="0" sz="1650" spc="165">
                <a:solidFill>
                  <a:srgbClr val="3B3838"/>
                </a:solidFill>
                <a:latin typeface="Trebuchet MS"/>
                <a:cs typeface="Trebuchet MS"/>
              </a:rPr>
              <a:t>SAP</a:t>
            </a:r>
            <a:r>
              <a:rPr dirty="0" sz="1650" spc="-5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650" spc="95">
                <a:solidFill>
                  <a:srgbClr val="3B3838"/>
                </a:solidFill>
                <a:latin typeface="Trebuchet MS"/>
                <a:cs typeface="Trebuchet MS"/>
              </a:rPr>
              <a:t>FICO</a:t>
            </a:r>
            <a:r>
              <a:rPr dirty="0" sz="1650" spc="55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650" spc="10">
                <a:solidFill>
                  <a:srgbClr val="3B3838"/>
                </a:solidFill>
                <a:latin typeface="Trebuchet MS"/>
                <a:cs typeface="Trebuchet MS"/>
              </a:rPr>
              <a:t>Configuration</a:t>
            </a:r>
            <a:r>
              <a:rPr dirty="0" sz="1650" spc="60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650" spc="55">
                <a:solidFill>
                  <a:srgbClr val="3B3838"/>
                </a:solidFill>
                <a:latin typeface="Trebuchet MS"/>
                <a:cs typeface="Trebuchet MS"/>
              </a:rPr>
              <a:t>and </a:t>
            </a:r>
            <a:r>
              <a:rPr dirty="0" sz="1650" spc="-10">
                <a:solidFill>
                  <a:srgbClr val="3B3838"/>
                </a:solidFill>
                <a:latin typeface="Trebuchet MS"/>
                <a:cs typeface="Trebuchet MS"/>
              </a:rPr>
              <a:t>Integration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How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SAP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FICO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connected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to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business processes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130675" y="6240462"/>
            <a:ext cx="2919730" cy="1169670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 marR="1066800">
              <a:lnSpc>
                <a:spcPct val="106100"/>
              </a:lnSpc>
              <a:spcBef>
                <a:spcPts val="15"/>
              </a:spcBef>
            </a:pPr>
            <a:r>
              <a:rPr dirty="0" sz="1650" spc="85">
                <a:solidFill>
                  <a:srgbClr val="3B3838"/>
                </a:solidFill>
                <a:latin typeface="Trebuchet MS"/>
                <a:cs typeface="Trebuchet MS"/>
              </a:rPr>
              <a:t>Challenges</a:t>
            </a:r>
            <a:r>
              <a:rPr dirty="0" sz="1650" spc="-50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650" spc="60">
                <a:solidFill>
                  <a:srgbClr val="3B3838"/>
                </a:solidFill>
                <a:latin typeface="Trebuchet MS"/>
                <a:cs typeface="Trebuchet MS"/>
              </a:rPr>
              <a:t>During </a:t>
            </a:r>
            <a:r>
              <a:rPr dirty="0" sz="1650" spc="-10">
                <a:solidFill>
                  <a:srgbClr val="3B3838"/>
                </a:solidFill>
                <a:latin typeface="Trebuchet MS"/>
                <a:cs typeface="Trebuchet MS"/>
              </a:rPr>
              <a:t>Implementation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Documented</a:t>
            </a:r>
            <a:r>
              <a:rPr dirty="0" sz="1350" spc="-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challenges</a:t>
            </a:r>
            <a:r>
              <a:rPr dirty="0" sz="1350" spc="-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how</a:t>
            </a:r>
            <a:r>
              <a:rPr dirty="0" sz="1350" spc="-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they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were</a:t>
            </a:r>
            <a:r>
              <a:rPr dirty="0" sz="1350" spc="-6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addressed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445375" y="6240462"/>
            <a:ext cx="3058160" cy="6267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>
                <a:solidFill>
                  <a:srgbClr val="3B3838"/>
                </a:solidFill>
                <a:latin typeface="Trebuchet MS"/>
                <a:cs typeface="Trebuchet MS"/>
              </a:rPr>
              <a:t>Benefits</a:t>
            </a:r>
            <a:r>
              <a:rPr dirty="0" sz="1650" spc="90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650" spc="80">
                <a:solidFill>
                  <a:srgbClr val="3B3838"/>
                </a:solidFill>
                <a:latin typeface="Trebuchet MS"/>
                <a:cs typeface="Trebuchet MS"/>
              </a:rPr>
              <a:t>and</a:t>
            </a:r>
            <a:r>
              <a:rPr dirty="0" sz="1650" spc="95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650" spc="55">
                <a:solidFill>
                  <a:srgbClr val="3B3838"/>
                </a:solidFill>
                <a:latin typeface="Trebuchet MS"/>
                <a:cs typeface="Trebuchet MS"/>
              </a:rPr>
              <a:t>Results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Verified</a:t>
            </a:r>
            <a:r>
              <a:rPr dirty="0" sz="1350" spc="-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outcomes</a:t>
            </a:r>
            <a:r>
              <a:rPr dirty="0" sz="1350" spc="-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after</a:t>
            </a:r>
            <a:r>
              <a:rPr dirty="0" sz="1350" spc="-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implementation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15975" y="7721600"/>
            <a:ext cx="20066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25">
                <a:solidFill>
                  <a:srgbClr val="3B3838"/>
                </a:solidFill>
                <a:latin typeface="Trebuchet MS"/>
                <a:cs typeface="Trebuchet MS"/>
              </a:rPr>
              <a:t>10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130675" y="7721600"/>
            <a:ext cx="16573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35">
                <a:solidFill>
                  <a:srgbClr val="3B3838"/>
                </a:solidFill>
                <a:latin typeface="Trebuchet MS"/>
                <a:cs typeface="Trebuchet MS"/>
              </a:rPr>
              <a:t>11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445375" y="7721600"/>
            <a:ext cx="18288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75">
                <a:solidFill>
                  <a:srgbClr val="3B3838"/>
                </a:solidFill>
                <a:latin typeface="Trebuchet MS"/>
                <a:cs typeface="Trebuchet MS"/>
              </a:rPr>
              <a:t>12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28675" y="8020050"/>
            <a:ext cx="3143250" cy="19050"/>
          </a:xfrm>
          <a:custGeom>
            <a:avLst/>
            <a:gdLst/>
            <a:ahLst/>
            <a:cxnLst/>
            <a:rect l="l" t="t" r="r" b="b"/>
            <a:pathLst>
              <a:path w="3143250" h="19050">
                <a:moveTo>
                  <a:pt x="3143250" y="19050"/>
                </a:moveTo>
                <a:lnTo>
                  <a:pt x="0" y="19050"/>
                </a:lnTo>
                <a:lnTo>
                  <a:pt x="0" y="0"/>
                </a:lnTo>
                <a:lnTo>
                  <a:pt x="3143250" y="0"/>
                </a:lnTo>
                <a:lnTo>
                  <a:pt x="3143250" y="19050"/>
                </a:lnTo>
                <a:close/>
              </a:path>
            </a:pathLst>
          </a:custGeom>
          <a:solidFill>
            <a:srgbClr val="1B1B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143375" y="8020050"/>
            <a:ext cx="3143250" cy="19050"/>
          </a:xfrm>
          <a:custGeom>
            <a:avLst/>
            <a:gdLst/>
            <a:ahLst/>
            <a:cxnLst/>
            <a:rect l="l" t="t" r="r" b="b"/>
            <a:pathLst>
              <a:path w="3143250" h="19050">
                <a:moveTo>
                  <a:pt x="3143250" y="19050"/>
                </a:moveTo>
                <a:lnTo>
                  <a:pt x="0" y="19050"/>
                </a:lnTo>
                <a:lnTo>
                  <a:pt x="0" y="0"/>
                </a:lnTo>
                <a:lnTo>
                  <a:pt x="3143250" y="0"/>
                </a:lnTo>
                <a:lnTo>
                  <a:pt x="3143250" y="19050"/>
                </a:lnTo>
                <a:close/>
              </a:path>
            </a:pathLst>
          </a:custGeom>
          <a:solidFill>
            <a:srgbClr val="1B1B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7458075" y="8020050"/>
            <a:ext cx="3143250" cy="19050"/>
          </a:xfrm>
          <a:custGeom>
            <a:avLst/>
            <a:gdLst/>
            <a:ahLst/>
            <a:cxnLst/>
            <a:rect l="l" t="t" r="r" b="b"/>
            <a:pathLst>
              <a:path w="3143250" h="19050">
                <a:moveTo>
                  <a:pt x="3143250" y="19050"/>
                </a:moveTo>
                <a:lnTo>
                  <a:pt x="0" y="19050"/>
                </a:lnTo>
                <a:lnTo>
                  <a:pt x="0" y="0"/>
                </a:lnTo>
                <a:lnTo>
                  <a:pt x="3143250" y="0"/>
                </a:lnTo>
                <a:lnTo>
                  <a:pt x="3143250" y="19050"/>
                </a:lnTo>
                <a:close/>
              </a:path>
            </a:pathLst>
          </a:custGeom>
          <a:solidFill>
            <a:srgbClr val="1B1B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815975" y="8126412"/>
            <a:ext cx="2860675" cy="6267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>
                <a:solidFill>
                  <a:srgbClr val="3B3838"/>
                </a:solidFill>
                <a:latin typeface="Trebuchet MS"/>
                <a:cs typeface="Trebuchet MS"/>
              </a:rPr>
              <a:t>Before</a:t>
            </a:r>
            <a:r>
              <a:rPr dirty="0" sz="1650" spc="-45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650" spc="100">
                <a:solidFill>
                  <a:srgbClr val="3B3838"/>
                </a:solidFill>
                <a:latin typeface="Trebuchet MS"/>
                <a:cs typeface="Trebuchet MS"/>
              </a:rPr>
              <a:t>vs</a:t>
            </a:r>
            <a:r>
              <a:rPr dirty="0" sz="1650" spc="-45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3B3838"/>
                </a:solidFill>
                <a:latin typeface="Trebuchet MS"/>
                <a:cs typeface="Trebuchet MS"/>
              </a:rPr>
              <a:t>After</a:t>
            </a:r>
            <a:r>
              <a:rPr dirty="0" sz="1650" spc="-35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650" spc="165">
                <a:solidFill>
                  <a:srgbClr val="3B3838"/>
                </a:solidFill>
                <a:latin typeface="Trebuchet MS"/>
                <a:cs typeface="Trebuchet MS"/>
              </a:rPr>
              <a:t>SAP</a:t>
            </a:r>
            <a:r>
              <a:rPr dirty="0" sz="1650" spc="-40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650" spc="75">
                <a:solidFill>
                  <a:srgbClr val="3B3838"/>
                </a:solidFill>
                <a:latin typeface="Trebuchet MS"/>
                <a:cs typeface="Trebuchet MS"/>
              </a:rPr>
              <a:t>FICO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350" spc="-55">
                <a:solidFill>
                  <a:srgbClr val="3B3838"/>
                </a:solidFill>
                <a:latin typeface="Roboto"/>
                <a:cs typeface="Roboto"/>
              </a:rPr>
              <a:t>Side-</a:t>
            </a:r>
            <a:r>
              <a:rPr dirty="0" sz="1350" spc="-65">
                <a:solidFill>
                  <a:srgbClr val="3B3838"/>
                </a:solidFill>
                <a:latin typeface="Roboto"/>
                <a:cs typeface="Roboto"/>
              </a:rPr>
              <a:t>by-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side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comparison</a:t>
            </a:r>
            <a:r>
              <a:rPr dirty="0" sz="135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of</a:t>
            </a:r>
            <a:r>
              <a:rPr dirty="0" sz="135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key</a:t>
            </a:r>
            <a:r>
              <a:rPr dirty="0" sz="135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areas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130675" y="8126412"/>
            <a:ext cx="2821940" cy="90296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>
                <a:solidFill>
                  <a:srgbClr val="3B3838"/>
                </a:solidFill>
                <a:latin typeface="Trebuchet MS"/>
                <a:cs typeface="Trebuchet MS"/>
              </a:rPr>
              <a:t>Real-</a:t>
            </a:r>
            <a:r>
              <a:rPr dirty="0" sz="1650" spc="80">
                <a:solidFill>
                  <a:srgbClr val="3B3838"/>
                </a:solidFill>
                <a:latin typeface="Trebuchet MS"/>
                <a:cs typeface="Trebuchet MS"/>
              </a:rPr>
              <a:t>World</a:t>
            </a:r>
            <a:r>
              <a:rPr dirty="0" sz="1650" spc="60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650" spc="95">
                <a:solidFill>
                  <a:srgbClr val="3B3838"/>
                </a:solidFill>
                <a:latin typeface="Trebuchet MS"/>
                <a:cs typeface="Trebuchet MS"/>
              </a:rPr>
              <a:t>Business</a:t>
            </a:r>
            <a:r>
              <a:rPr dirty="0" sz="1650" spc="60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650" spc="40">
                <a:solidFill>
                  <a:srgbClr val="3B3838"/>
                </a:solidFill>
                <a:latin typeface="Trebuchet MS"/>
                <a:cs typeface="Trebuchet MS"/>
              </a:rPr>
              <a:t>Impact</a:t>
            </a:r>
            <a:endParaRPr sz="1650">
              <a:latin typeface="Trebuchet MS"/>
              <a:cs typeface="Trebuchet MS"/>
            </a:endParaRPr>
          </a:p>
          <a:p>
            <a:pPr marL="12700" marR="167005">
              <a:lnSpc>
                <a:spcPct val="134300"/>
              </a:lnSpc>
              <a:spcBef>
                <a:spcPts val="540"/>
              </a:spcBef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How</a:t>
            </a:r>
            <a:r>
              <a:rPr dirty="0" sz="1350" spc="-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SAP FICO affected</a:t>
            </a:r>
            <a:r>
              <a:rPr dirty="0" sz="1350" spc="-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70">
                <a:solidFill>
                  <a:srgbClr val="3B3838"/>
                </a:solidFill>
                <a:latin typeface="Roboto"/>
                <a:cs typeface="Roboto"/>
              </a:rPr>
              <a:t>day-</a:t>
            </a:r>
            <a:r>
              <a:rPr dirty="0" sz="1350" spc="-80">
                <a:solidFill>
                  <a:srgbClr val="3B3838"/>
                </a:solidFill>
                <a:latin typeface="Roboto"/>
                <a:cs typeface="Roboto"/>
              </a:rPr>
              <a:t>to-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day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operations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445375" y="8126412"/>
            <a:ext cx="2702560" cy="1169670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 marR="5080">
              <a:lnSpc>
                <a:spcPct val="106100"/>
              </a:lnSpc>
              <a:spcBef>
                <a:spcPts val="15"/>
              </a:spcBef>
            </a:pPr>
            <a:r>
              <a:rPr dirty="0" sz="1650" spc="75">
                <a:solidFill>
                  <a:srgbClr val="3B3838"/>
                </a:solidFill>
                <a:latin typeface="Trebuchet MS"/>
                <a:cs typeface="Trebuchet MS"/>
              </a:rPr>
              <a:t>Key</a:t>
            </a:r>
            <a:r>
              <a:rPr dirty="0" sz="1650" spc="-60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650" spc="120">
                <a:solidFill>
                  <a:srgbClr val="3B3838"/>
                </a:solidFill>
                <a:latin typeface="Trebuchet MS"/>
                <a:cs typeface="Trebuchet MS"/>
              </a:rPr>
              <a:t>Lessons</a:t>
            </a:r>
            <a:r>
              <a:rPr dirty="0" sz="1650" spc="-10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3B3838"/>
                </a:solidFill>
                <a:latin typeface="Trebuchet MS"/>
                <a:cs typeface="Trebuchet MS"/>
              </a:rPr>
              <a:t>from</a:t>
            </a:r>
            <a:r>
              <a:rPr dirty="0" sz="1650" spc="-5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3B3838"/>
                </a:solidFill>
                <a:latin typeface="Trebuchet MS"/>
                <a:cs typeface="Trebuchet MS"/>
              </a:rPr>
              <a:t>the</a:t>
            </a:r>
            <a:r>
              <a:rPr dirty="0" sz="1650" spc="-10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650" spc="90">
                <a:solidFill>
                  <a:srgbClr val="3B3838"/>
                </a:solidFill>
                <a:latin typeface="Trebuchet MS"/>
                <a:cs typeface="Trebuchet MS"/>
              </a:rPr>
              <a:t>Case </a:t>
            </a:r>
            <a:r>
              <a:rPr dirty="0" sz="1650" spc="75">
                <a:solidFill>
                  <a:srgbClr val="3B3838"/>
                </a:solidFill>
                <a:latin typeface="Trebuchet MS"/>
                <a:cs typeface="Trebuchet MS"/>
              </a:rPr>
              <a:t>Study</a:t>
            </a:r>
            <a:endParaRPr sz="1650">
              <a:latin typeface="Trebuchet MS"/>
              <a:cs typeface="Trebuchet MS"/>
            </a:endParaRPr>
          </a:p>
          <a:p>
            <a:pPr marL="12700" marR="396875">
              <a:lnSpc>
                <a:spcPct val="134300"/>
              </a:lnSpc>
              <a:spcBef>
                <a:spcPts val="540"/>
              </a:spcBef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What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can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be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learned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from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this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implementation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15975" y="9607550"/>
            <a:ext cx="18605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55">
                <a:solidFill>
                  <a:srgbClr val="3B3838"/>
                </a:solidFill>
                <a:latin typeface="Trebuchet MS"/>
                <a:cs typeface="Trebuchet MS"/>
              </a:rPr>
              <a:t>13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130675" y="9607550"/>
            <a:ext cx="18732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50">
                <a:solidFill>
                  <a:srgbClr val="3B3838"/>
                </a:solidFill>
                <a:latin typeface="Trebuchet MS"/>
                <a:cs typeface="Trebuchet MS"/>
              </a:rPr>
              <a:t>14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445375" y="9607550"/>
            <a:ext cx="18859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45">
                <a:solidFill>
                  <a:srgbClr val="3B3838"/>
                </a:solidFill>
                <a:latin typeface="Trebuchet MS"/>
                <a:cs typeface="Trebuchet MS"/>
              </a:rPr>
              <a:t>15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828675" y="9906000"/>
            <a:ext cx="3143250" cy="19050"/>
          </a:xfrm>
          <a:custGeom>
            <a:avLst/>
            <a:gdLst/>
            <a:ahLst/>
            <a:cxnLst/>
            <a:rect l="l" t="t" r="r" b="b"/>
            <a:pathLst>
              <a:path w="3143250" h="19050">
                <a:moveTo>
                  <a:pt x="3143250" y="19050"/>
                </a:moveTo>
                <a:lnTo>
                  <a:pt x="0" y="19050"/>
                </a:lnTo>
                <a:lnTo>
                  <a:pt x="0" y="0"/>
                </a:lnTo>
                <a:lnTo>
                  <a:pt x="3143250" y="0"/>
                </a:lnTo>
                <a:lnTo>
                  <a:pt x="3143250" y="19050"/>
                </a:lnTo>
                <a:close/>
              </a:path>
            </a:pathLst>
          </a:custGeom>
          <a:solidFill>
            <a:srgbClr val="1B1B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4143375" y="9906000"/>
            <a:ext cx="3143250" cy="19050"/>
          </a:xfrm>
          <a:custGeom>
            <a:avLst/>
            <a:gdLst/>
            <a:ahLst/>
            <a:cxnLst/>
            <a:rect l="l" t="t" r="r" b="b"/>
            <a:pathLst>
              <a:path w="3143250" h="19050">
                <a:moveTo>
                  <a:pt x="3143250" y="19050"/>
                </a:moveTo>
                <a:lnTo>
                  <a:pt x="0" y="19050"/>
                </a:lnTo>
                <a:lnTo>
                  <a:pt x="0" y="0"/>
                </a:lnTo>
                <a:lnTo>
                  <a:pt x="3143250" y="0"/>
                </a:lnTo>
                <a:lnTo>
                  <a:pt x="3143250" y="19050"/>
                </a:lnTo>
                <a:close/>
              </a:path>
            </a:pathLst>
          </a:custGeom>
          <a:solidFill>
            <a:srgbClr val="1B1B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7458075" y="9906000"/>
            <a:ext cx="3143250" cy="19050"/>
          </a:xfrm>
          <a:custGeom>
            <a:avLst/>
            <a:gdLst/>
            <a:ahLst/>
            <a:cxnLst/>
            <a:rect l="l" t="t" r="r" b="b"/>
            <a:pathLst>
              <a:path w="3143250" h="19050">
                <a:moveTo>
                  <a:pt x="3143250" y="19050"/>
                </a:moveTo>
                <a:lnTo>
                  <a:pt x="0" y="19050"/>
                </a:lnTo>
                <a:lnTo>
                  <a:pt x="0" y="0"/>
                </a:lnTo>
                <a:lnTo>
                  <a:pt x="3143250" y="0"/>
                </a:lnTo>
                <a:lnTo>
                  <a:pt x="3143250" y="19050"/>
                </a:lnTo>
                <a:close/>
              </a:path>
            </a:pathLst>
          </a:custGeom>
          <a:solidFill>
            <a:srgbClr val="1B1B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815975" y="10012363"/>
            <a:ext cx="2481580" cy="6267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55">
                <a:solidFill>
                  <a:srgbClr val="3B3838"/>
                </a:solidFill>
                <a:latin typeface="Trebuchet MS"/>
                <a:cs typeface="Trebuchet MS"/>
              </a:rPr>
              <a:t>Learning</a:t>
            </a:r>
            <a:r>
              <a:rPr dirty="0" sz="1650" spc="-60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650" spc="85">
                <a:solidFill>
                  <a:srgbClr val="3B3838"/>
                </a:solidFill>
                <a:latin typeface="Trebuchet MS"/>
                <a:cs typeface="Trebuchet MS"/>
              </a:rPr>
              <a:t>Outcomes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Personal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reflections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as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an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intern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130675" y="10012363"/>
            <a:ext cx="2969260" cy="90296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65">
                <a:solidFill>
                  <a:srgbClr val="3B3838"/>
                </a:solidFill>
                <a:latin typeface="Trebuchet MS"/>
                <a:cs typeface="Trebuchet MS"/>
              </a:rPr>
              <a:t>Conclusion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Summary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connection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to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internship learning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445375" y="10012363"/>
            <a:ext cx="3093085" cy="6267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50">
                <a:solidFill>
                  <a:srgbClr val="3B3838"/>
                </a:solidFill>
                <a:latin typeface="Trebuchet MS"/>
                <a:cs typeface="Trebuchet MS"/>
              </a:rPr>
              <a:t>References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Sources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citations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used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in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this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report</a:t>
            </a:r>
            <a:endParaRPr sz="13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5975" y="1288414"/>
            <a:ext cx="9777730" cy="26066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137795">
              <a:lnSpc>
                <a:spcPct val="131900"/>
              </a:lnSpc>
              <a:spcBef>
                <a:spcPts val="135"/>
              </a:spcBef>
            </a:pPr>
            <a:r>
              <a:rPr dirty="0" sz="1350" b="1">
                <a:solidFill>
                  <a:srgbClr val="3B3838"/>
                </a:solidFill>
                <a:latin typeface="Roboto"/>
                <a:cs typeface="Roboto"/>
              </a:rPr>
              <a:t>SAP</a:t>
            </a:r>
            <a:r>
              <a:rPr dirty="0" sz="1350" spc="-30" b="1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b="1">
                <a:solidFill>
                  <a:srgbClr val="3B3838"/>
                </a:solidFill>
                <a:latin typeface="Roboto"/>
                <a:cs typeface="Roboto"/>
              </a:rPr>
              <a:t>FICO</a:t>
            </a:r>
            <a:r>
              <a:rPr dirty="0" sz="1350" spc="-30" b="1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зtandз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for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b="1">
                <a:solidFill>
                  <a:srgbClr val="3B3838"/>
                </a:solidFill>
                <a:latin typeface="Roboto"/>
                <a:cs typeface="Roboto"/>
              </a:rPr>
              <a:t>Financial</a:t>
            </a:r>
            <a:r>
              <a:rPr dirty="0" sz="1350" spc="-30" b="1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b="1">
                <a:solidFill>
                  <a:srgbClr val="3B3838"/>
                </a:solidFill>
                <a:latin typeface="Roboto"/>
                <a:cs typeface="Roboto"/>
              </a:rPr>
              <a:t>Accounting</a:t>
            </a:r>
            <a:r>
              <a:rPr dirty="0" sz="1350" spc="-25" b="1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b="1">
                <a:solidFill>
                  <a:srgbClr val="3B3838"/>
                </a:solidFill>
                <a:latin typeface="Roboto"/>
                <a:cs typeface="Roboto"/>
              </a:rPr>
              <a:t>(FI)</a:t>
            </a:r>
            <a:r>
              <a:rPr dirty="0" sz="1350" spc="-30" b="1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b="1">
                <a:solidFill>
                  <a:srgbClr val="3B3838"/>
                </a:solidFill>
                <a:latin typeface="Roboto"/>
                <a:cs typeface="Roboto"/>
              </a:rPr>
              <a:t>Controlling</a:t>
            </a:r>
            <a:r>
              <a:rPr dirty="0" sz="1350" spc="-25" b="1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b="1">
                <a:solidFill>
                  <a:srgbClr val="3B3838"/>
                </a:solidFill>
                <a:latin typeface="Roboto"/>
                <a:cs typeface="Roboto"/>
              </a:rPr>
              <a:t>(CO)</a:t>
            </a:r>
            <a:r>
              <a:rPr dirty="0" sz="1350" spc="-30" b="1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—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two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core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moduleз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of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SAP'з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enterpriзe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reзource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planning зyзtem.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FI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handleз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external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financial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reporting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зuch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aз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balance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зheetз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profit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&amp;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loзз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зtatementз,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while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CO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focuзeз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on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internal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coзt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management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deciзion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зupport.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Together,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they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give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company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complete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picture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of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itз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financial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health.</a:t>
            </a:r>
            <a:endParaRPr sz="1350">
              <a:latin typeface="Roboto"/>
              <a:cs typeface="Roboto"/>
            </a:endParaRPr>
          </a:p>
          <a:p>
            <a:pPr marL="12700" marR="73025">
              <a:lnSpc>
                <a:spcPct val="134300"/>
              </a:lnSpc>
              <a:spcBef>
                <a:spcPts val="1500"/>
              </a:spcBef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Companieз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uзe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SAP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FICO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becauзe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it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bringз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all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financial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data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into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one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place,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automateз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routine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accounting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taзkз,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provideз 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real-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time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reporting.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Inзtead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of</a:t>
            </a:r>
            <a:r>
              <a:rPr dirty="0" sz="135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having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зeparate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 зyзtemз</a:t>
            </a:r>
            <a:r>
              <a:rPr dirty="0" sz="135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for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accountз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payable,</a:t>
            </a:r>
            <a:r>
              <a:rPr dirty="0" sz="135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receivable,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coзt</a:t>
            </a:r>
            <a:r>
              <a:rPr dirty="0" sz="135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tracking,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 everything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connectз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in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зingle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platform.</a:t>
            </a:r>
            <a:r>
              <a:rPr dirty="0" sz="1350" spc="-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Thiз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reduceз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errorз,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зaveз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time,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helpз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management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make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faзter,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better-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informed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deciзionз.</a:t>
            </a:r>
            <a:endParaRPr sz="1350">
              <a:latin typeface="Roboto"/>
              <a:cs typeface="Roboto"/>
            </a:endParaRPr>
          </a:p>
          <a:p>
            <a:pPr marL="12700" marR="5080">
              <a:lnSpc>
                <a:spcPct val="134300"/>
              </a:lnSpc>
              <a:spcBef>
                <a:spcPts val="1500"/>
              </a:spcBef>
            </a:pP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Real-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world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caзe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зtudieз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are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eзpecially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uзeful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becauзe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they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зhow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how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SAP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FICO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workз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in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practice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—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not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juзt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in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theory.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Studying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a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company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like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Neзtlé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helpз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underзtand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actual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challengeз,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deciзionз,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outcomeз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involved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in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large-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зcale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implementation.</a:t>
            </a:r>
            <a:endParaRPr sz="1350">
              <a:latin typeface="Roboto"/>
              <a:cs typeface="Robo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047878" y="4305351"/>
            <a:ext cx="9330055" cy="3817620"/>
            <a:chOff x="1047878" y="4305351"/>
            <a:chExt cx="9330055" cy="3817620"/>
          </a:xfrm>
        </p:grpSpPr>
        <p:sp>
          <p:nvSpPr>
            <p:cNvPr id="5" name="object 5"/>
            <p:cNvSpPr/>
            <p:nvPr/>
          </p:nvSpPr>
          <p:spPr>
            <a:xfrm>
              <a:off x="1053238" y="7203318"/>
              <a:ext cx="9319260" cy="914400"/>
            </a:xfrm>
            <a:custGeom>
              <a:avLst/>
              <a:gdLst/>
              <a:ahLst/>
              <a:cxnLst/>
              <a:rect l="l" t="t" r="r" b="b"/>
              <a:pathLst>
                <a:path w="9319260" h="914400">
                  <a:moveTo>
                    <a:pt x="8852801" y="914016"/>
                  </a:moveTo>
                  <a:lnTo>
                    <a:pt x="8852801" y="801331"/>
                  </a:lnTo>
                  <a:lnTo>
                    <a:pt x="0" y="801331"/>
                  </a:lnTo>
                  <a:lnTo>
                    <a:pt x="0" y="117268"/>
                  </a:lnTo>
                  <a:lnTo>
                    <a:pt x="8852801" y="117268"/>
                  </a:lnTo>
                  <a:lnTo>
                    <a:pt x="8852801" y="0"/>
                  </a:lnTo>
                  <a:lnTo>
                    <a:pt x="9319058" y="457013"/>
                  </a:lnTo>
                  <a:lnTo>
                    <a:pt x="8852801" y="914016"/>
                  </a:lnTo>
                  <a:close/>
                </a:path>
              </a:pathLst>
            </a:custGeom>
            <a:solidFill>
              <a:srgbClr val="7070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053236" y="7203322"/>
              <a:ext cx="9319260" cy="914400"/>
            </a:xfrm>
            <a:custGeom>
              <a:avLst/>
              <a:gdLst/>
              <a:ahLst/>
              <a:cxnLst/>
              <a:rect l="l" t="t" r="r" b="b"/>
              <a:pathLst>
                <a:path w="9319260" h="914400">
                  <a:moveTo>
                    <a:pt x="9319059" y="457009"/>
                  </a:moveTo>
                  <a:lnTo>
                    <a:pt x="8852800" y="914009"/>
                  </a:lnTo>
                  <a:lnTo>
                    <a:pt x="8852800" y="801328"/>
                  </a:lnTo>
                  <a:lnTo>
                    <a:pt x="0" y="801328"/>
                  </a:lnTo>
                  <a:lnTo>
                    <a:pt x="0" y="117262"/>
                  </a:lnTo>
                  <a:lnTo>
                    <a:pt x="8852800" y="117262"/>
                  </a:lnTo>
                  <a:lnTo>
                    <a:pt x="8852800" y="0"/>
                  </a:lnTo>
                  <a:lnTo>
                    <a:pt x="9319059" y="457009"/>
                  </a:lnTo>
                  <a:close/>
                </a:path>
              </a:pathLst>
            </a:custGeom>
            <a:ln w="10715">
              <a:solidFill>
                <a:srgbClr val="C6C6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053238" y="6238759"/>
              <a:ext cx="8439785" cy="914400"/>
            </a:xfrm>
            <a:custGeom>
              <a:avLst/>
              <a:gdLst/>
              <a:ahLst/>
              <a:cxnLst/>
              <a:rect l="l" t="t" r="r" b="b"/>
              <a:pathLst>
                <a:path w="8439785" h="914400">
                  <a:moveTo>
                    <a:pt x="7973290" y="914016"/>
                  </a:moveTo>
                  <a:lnTo>
                    <a:pt x="7973290" y="798429"/>
                  </a:lnTo>
                  <a:lnTo>
                    <a:pt x="0" y="798429"/>
                  </a:lnTo>
                  <a:lnTo>
                    <a:pt x="0" y="114365"/>
                  </a:lnTo>
                  <a:lnTo>
                    <a:pt x="7973290" y="114365"/>
                  </a:lnTo>
                  <a:lnTo>
                    <a:pt x="7973290" y="0"/>
                  </a:lnTo>
                  <a:lnTo>
                    <a:pt x="8439548" y="457003"/>
                  </a:lnTo>
                  <a:lnTo>
                    <a:pt x="7973290" y="914016"/>
                  </a:lnTo>
                  <a:close/>
                </a:path>
              </a:pathLst>
            </a:custGeom>
            <a:solidFill>
              <a:srgbClr val="5B5B8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053236" y="6238762"/>
              <a:ext cx="8439785" cy="914400"/>
            </a:xfrm>
            <a:custGeom>
              <a:avLst/>
              <a:gdLst/>
              <a:ahLst/>
              <a:cxnLst/>
              <a:rect l="l" t="t" r="r" b="b"/>
              <a:pathLst>
                <a:path w="8439785" h="914400">
                  <a:moveTo>
                    <a:pt x="8439549" y="456999"/>
                  </a:moveTo>
                  <a:lnTo>
                    <a:pt x="7973291" y="914009"/>
                  </a:lnTo>
                  <a:lnTo>
                    <a:pt x="7973291" y="798423"/>
                  </a:lnTo>
                  <a:lnTo>
                    <a:pt x="0" y="798423"/>
                  </a:lnTo>
                  <a:lnTo>
                    <a:pt x="0" y="114366"/>
                  </a:lnTo>
                  <a:lnTo>
                    <a:pt x="7973291" y="114366"/>
                  </a:lnTo>
                  <a:lnTo>
                    <a:pt x="7973291" y="0"/>
                  </a:lnTo>
                  <a:lnTo>
                    <a:pt x="8439549" y="456999"/>
                  </a:lnTo>
                  <a:close/>
                </a:path>
              </a:pathLst>
            </a:custGeom>
            <a:ln w="10715">
              <a:solidFill>
                <a:srgbClr val="C6C6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053238" y="5275881"/>
              <a:ext cx="7658100" cy="914400"/>
            </a:xfrm>
            <a:custGeom>
              <a:avLst/>
              <a:gdLst/>
              <a:ahLst/>
              <a:cxnLst/>
              <a:rect l="l" t="t" r="r" b="b"/>
              <a:pathLst>
                <a:path w="7658100" h="914400">
                  <a:moveTo>
                    <a:pt x="7191503" y="914016"/>
                  </a:moveTo>
                  <a:lnTo>
                    <a:pt x="7191503" y="801331"/>
                  </a:lnTo>
                  <a:lnTo>
                    <a:pt x="0" y="801331"/>
                  </a:lnTo>
                  <a:lnTo>
                    <a:pt x="0" y="117268"/>
                  </a:lnTo>
                  <a:lnTo>
                    <a:pt x="7191503" y="117268"/>
                  </a:lnTo>
                  <a:lnTo>
                    <a:pt x="7191503" y="0"/>
                  </a:lnTo>
                  <a:lnTo>
                    <a:pt x="7657761" y="457003"/>
                  </a:lnTo>
                  <a:lnTo>
                    <a:pt x="7191503" y="914016"/>
                  </a:lnTo>
                  <a:close/>
                </a:path>
              </a:pathLst>
            </a:custGeom>
            <a:solidFill>
              <a:srgbClr val="4747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053242" y="5275884"/>
              <a:ext cx="7658100" cy="914400"/>
            </a:xfrm>
            <a:custGeom>
              <a:avLst/>
              <a:gdLst/>
              <a:ahLst/>
              <a:cxnLst/>
              <a:rect l="l" t="t" r="r" b="b"/>
              <a:pathLst>
                <a:path w="7658100" h="914400">
                  <a:moveTo>
                    <a:pt x="7657756" y="456999"/>
                  </a:moveTo>
                  <a:lnTo>
                    <a:pt x="7191498" y="914009"/>
                  </a:lnTo>
                  <a:lnTo>
                    <a:pt x="7191498" y="801328"/>
                  </a:lnTo>
                  <a:lnTo>
                    <a:pt x="0" y="801328"/>
                  </a:lnTo>
                  <a:lnTo>
                    <a:pt x="0" y="117262"/>
                  </a:lnTo>
                  <a:lnTo>
                    <a:pt x="7191498" y="117262"/>
                  </a:lnTo>
                  <a:lnTo>
                    <a:pt x="7191498" y="0"/>
                  </a:lnTo>
                  <a:lnTo>
                    <a:pt x="7657756" y="456999"/>
                  </a:lnTo>
                  <a:close/>
                </a:path>
              </a:pathLst>
            </a:custGeom>
            <a:ln w="10715">
              <a:solidFill>
                <a:srgbClr val="C6C6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053247" y="4310706"/>
              <a:ext cx="6866255" cy="914400"/>
            </a:xfrm>
            <a:custGeom>
              <a:avLst/>
              <a:gdLst/>
              <a:ahLst/>
              <a:cxnLst/>
              <a:rect l="l" t="t" r="r" b="b"/>
              <a:pathLst>
                <a:path w="6866255" h="914400">
                  <a:moveTo>
                    <a:pt x="6399943" y="914016"/>
                  </a:moveTo>
                  <a:lnTo>
                    <a:pt x="6399943" y="799045"/>
                  </a:lnTo>
                  <a:lnTo>
                    <a:pt x="0" y="799045"/>
                  </a:lnTo>
                  <a:lnTo>
                    <a:pt x="0" y="114981"/>
                  </a:lnTo>
                  <a:lnTo>
                    <a:pt x="6399943" y="114981"/>
                  </a:lnTo>
                  <a:lnTo>
                    <a:pt x="6399943" y="0"/>
                  </a:lnTo>
                  <a:lnTo>
                    <a:pt x="6866201" y="457013"/>
                  </a:lnTo>
                  <a:lnTo>
                    <a:pt x="6399943" y="914016"/>
                  </a:lnTo>
                  <a:close/>
                </a:path>
              </a:pathLst>
            </a:custGeom>
            <a:solidFill>
              <a:srgbClr val="3434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053248" y="4310709"/>
              <a:ext cx="6866255" cy="914400"/>
            </a:xfrm>
            <a:custGeom>
              <a:avLst/>
              <a:gdLst/>
              <a:ahLst/>
              <a:cxnLst/>
              <a:rect l="l" t="t" r="r" b="b"/>
              <a:pathLst>
                <a:path w="6866255" h="914400">
                  <a:moveTo>
                    <a:pt x="6866200" y="457009"/>
                  </a:moveTo>
                  <a:lnTo>
                    <a:pt x="6399942" y="914009"/>
                  </a:lnTo>
                  <a:lnTo>
                    <a:pt x="6399942" y="799042"/>
                  </a:lnTo>
                  <a:lnTo>
                    <a:pt x="0" y="799042"/>
                  </a:lnTo>
                  <a:lnTo>
                    <a:pt x="0" y="114976"/>
                  </a:lnTo>
                  <a:lnTo>
                    <a:pt x="6399942" y="114976"/>
                  </a:lnTo>
                  <a:lnTo>
                    <a:pt x="6399942" y="0"/>
                  </a:lnTo>
                  <a:lnTo>
                    <a:pt x="6866200" y="457009"/>
                  </a:lnTo>
                  <a:close/>
                </a:path>
              </a:pathLst>
            </a:custGeom>
            <a:ln w="10715">
              <a:solidFill>
                <a:srgbClr val="C6C6D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1506260" y="4605735"/>
            <a:ext cx="1956435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 spc="90">
                <a:solidFill>
                  <a:srgbClr val="FFFFFF"/>
                </a:solidFill>
                <a:latin typeface="Trebuchet MS"/>
                <a:cs typeface="Trebuchet MS"/>
              </a:rPr>
              <a:t>Business</a:t>
            </a:r>
            <a:r>
              <a:rPr dirty="0" sz="1700" spc="-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65">
                <a:solidFill>
                  <a:srgbClr val="FFFFFF"/>
                </a:solidFill>
                <a:latin typeface="Trebuchet MS"/>
                <a:cs typeface="Trebuchet MS"/>
              </a:rPr>
              <a:t>Problems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06260" y="5573228"/>
            <a:ext cx="1937385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 spc="130">
                <a:solidFill>
                  <a:srgbClr val="FFFFFF"/>
                </a:solidFill>
                <a:latin typeface="Trebuchet MS"/>
                <a:cs typeface="Trebuchet MS"/>
              </a:rPr>
              <a:t>Need</a:t>
            </a:r>
            <a:r>
              <a:rPr dirty="0" sz="1700" spc="-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-20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dirty="0" sz="1700" spc="-1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165">
                <a:solidFill>
                  <a:srgbClr val="FFFFFF"/>
                </a:solidFill>
                <a:latin typeface="Trebuchet MS"/>
                <a:cs typeface="Trebuchet MS"/>
              </a:rPr>
              <a:t>SAP</a:t>
            </a:r>
            <a:r>
              <a:rPr dirty="0" sz="1700" spc="-10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75">
                <a:solidFill>
                  <a:srgbClr val="FFFFFF"/>
                </a:solidFill>
                <a:latin typeface="Trebuchet MS"/>
                <a:cs typeface="Trebuchet MS"/>
              </a:rPr>
              <a:t>FICO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06260" y="6530947"/>
            <a:ext cx="2553335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solidFill>
                  <a:srgbClr val="FFFFFF"/>
                </a:solidFill>
                <a:latin typeface="Trebuchet MS"/>
                <a:cs typeface="Trebuchet MS"/>
              </a:rPr>
              <a:t>Integrated</a:t>
            </a:r>
            <a:r>
              <a:rPr dirty="0" sz="1700" spc="204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FFFFFF"/>
                </a:solidFill>
                <a:latin typeface="Trebuchet MS"/>
                <a:cs typeface="Trebuchet MS"/>
              </a:rPr>
              <a:t>Financial</a:t>
            </a:r>
            <a:r>
              <a:rPr dirty="0" sz="1700" spc="1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-20">
                <a:solidFill>
                  <a:srgbClr val="FFFFFF"/>
                </a:solidFill>
                <a:latin typeface="Trebuchet MS"/>
                <a:cs typeface="Trebuchet MS"/>
              </a:rPr>
              <a:t>Data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06260" y="7498440"/>
            <a:ext cx="1677035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solidFill>
                  <a:srgbClr val="FFFFFF"/>
                </a:solidFill>
                <a:latin typeface="Trebuchet MS"/>
                <a:cs typeface="Trebuchet MS"/>
              </a:rPr>
              <a:t>Better</a:t>
            </a:r>
            <a:r>
              <a:rPr dirty="0" sz="1700" spc="-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55">
                <a:solidFill>
                  <a:srgbClr val="FFFFFF"/>
                </a:solidFill>
                <a:latin typeface="Trebuchet MS"/>
                <a:cs typeface="Trebuchet MS"/>
              </a:rPr>
              <a:t>Decisions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15975" y="8432165"/>
            <a:ext cx="9771380" cy="854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Thiз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caзe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зtudy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examineз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how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Neзtlé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S.A.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—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company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operating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in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over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190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countrieз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—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implemented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SAP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Finance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to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addreзз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real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financial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management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challengeз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at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global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зcale.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aim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iз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to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underзtand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implementation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journey,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configuration deciзionз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made,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benefitз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achieved.</a:t>
            </a:r>
            <a:endParaRPr sz="13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185"/>
              <a:t>Company</a:t>
            </a:r>
            <a:r>
              <a:rPr dirty="0" spc="-210"/>
              <a:t> </a:t>
            </a:r>
            <a:r>
              <a:rPr dirty="0" spc="145"/>
              <a:t>Background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5975" y="1288414"/>
            <a:ext cx="9794875" cy="2416175"/>
          </a:xfrm>
          <a:prstGeom prst="rect">
            <a:avLst/>
          </a:prstGeom>
        </p:spPr>
        <p:txBody>
          <a:bodyPr wrap="square" lIns="0" tIns="831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dirty="0" sz="1350" b="1">
                <a:solidFill>
                  <a:srgbClr val="3B3838"/>
                </a:solidFill>
                <a:latin typeface="Roboto"/>
                <a:cs typeface="Roboto"/>
              </a:rPr>
              <a:t>Nestlé</a:t>
            </a:r>
            <a:r>
              <a:rPr dirty="0" sz="1350" spc="-35" b="1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b="1">
                <a:solidFill>
                  <a:srgbClr val="3B3838"/>
                </a:solidFill>
                <a:latin typeface="Roboto"/>
                <a:cs typeface="Roboto"/>
              </a:rPr>
              <a:t>S.A.</a:t>
            </a:r>
            <a:r>
              <a:rPr dirty="0" sz="1350" spc="-30" b="1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is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Swiss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multinational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food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beverage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corporation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headquartered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in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Vevey,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Switzerland.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Founded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in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1866,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it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is</a:t>
            </a:r>
            <a:endParaRPr sz="1350">
              <a:latin typeface="Roboto"/>
              <a:cs typeface="Roboto"/>
            </a:endParaRPr>
          </a:p>
          <a:p>
            <a:pPr marL="12700" marR="5080">
              <a:lnSpc>
                <a:spcPct val="134300"/>
              </a:lnSpc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one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of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largest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food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companies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in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world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by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revenue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product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range.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Nestlé's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portfolio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includes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well-known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brands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such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as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Nescafé,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KitKat,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Maggi,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Purina,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Gerber,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spanning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categories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from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coffee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confectionery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to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infant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nutrition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pet</a:t>
            </a:r>
            <a:endParaRPr sz="13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care.</a:t>
            </a:r>
            <a:endParaRPr sz="1350">
              <a:latin typeface="Roboto"/>
              <a:cs typeface="Roboto"/>
            </a:endParaRPr>
          </a:p>
          <a:p>
            <a:pPr marL="12700" marR="379095">
              <a:lnSpc>
                <a:spcPct val="131900"/>
              </a:lnSpc>
              <a:spcBef>
                <a:spcPts val="1535"/>
              </a:spcBef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With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operations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in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over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b="1">
                <a:solidFill>
                  <a:srgbClr val="3B3838"/>
                </a:solidFill>
                <a:latin typeface="Roboto"/>
                <a:cs typeface="Roboto"/>
              </a:rPr>
              <a:t>190</a:t>
            </a:r>
            <a:r>
              <a:rPr dirty="0" sz="1350" spc="-30" b="1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b="1">
                <a:solidFill>
                  <a:srgbClr val="3B3838"/>
                </a:solidFill>
                <a:latin typeface="Roboto"/>
                <a:cs typeface="Roboto"/>
              </a:rPr>
              <a:t>countries</a:t>
            </a:r>
            <a:r>
              <a:rPr dirty="0" sz="1350" spc="-35" b="1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more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than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b="1">
                <a:solidFill>
                  <a:srgbClr val="3B3838"/>
                </a:solidFill>
                <a:latin typeface="Roboto"/>
                <a:cs typeface="Roboto"/>
              </a:rPr>
              <a:t>2,000</a:t>
            </a:r>
            <a:r>
              <a:rPr dirty="0" sz="1350" spc="-35" b="1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b="1">
                <a:solidFill>
                  <a:srgbClr val="3B3838"/>
                </a:solidFill>
                <a:latin typeface="Roboto"/>
                <a:cs typeface="Roboto"/>
              </a:rPr>
              <a:t>factories</a:t>
            </a:r>
            <a:r>
              <a:rPr dirty="0" sz="1350" spc="-25" b="1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worldwide,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Nestlé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manages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an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extraordinarily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complex supply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chain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financial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structure.</a:t>
            </a:r>
            <a:r>
              <a:rPr dirty="0" sz="1350" spc="-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company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employs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approximately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b="1">
                <a:solidFill>
                  <a:srgbClr val="3B3838"/>
                </a:solidFill>
                <a:latin typeface="Roboto"/>
                <a:cs typeface="Roboto"/>
              </a:rPr>
              <a:t>273,000</a:t>
            </a:r>
            <a:r>
              <a:rPr dirty="0" sz="1350" spc="-30" b="1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b="1">
                <a:solidFill>
                  <a:srgbClr val="3B3838"/>
                </a:solidFill>
                <a:latin typeface="Roboto"/>
                <a:cs typeface="Roboto"/>
              </a:rPr>
              <a:t>people</a:t>
            </a:r>
            <a:r>
              <a:rPr dirty="0" sz="1350" spc="-35" b="1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globally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reported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annual revenues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of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over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b="1">
                <a:solidFill>
                  <a:srgbClr val="3B3838"/>
                </a:solidFill>
                <a:latin typeface="Roboto"/>
                <a:cs typeface="Roboto"/>
              </a:rPr>
              <a:t>CHF</a:t>
            </a:r>
            <a:r>
              <a:rPr dirty="0" sz="1350" spc="-40" b="1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b="1">
                <a:solidFill>
                  <a:srgbClr val="3B3838"/>
                </a:solidFill>
                <a:latin typeface="Roboto"/>
                <a:cs typeface="Roboto"/>
              </a:rPr>
              <a:t>93</a:t>
            </a:r>
            <a:r>
              <a:rPr dirty="0" sz="1350" spc="-40" b="1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b="1">
                <a:solidFill>
                  <a:srgbClr val="3B3838"/>
                </a:solidFill>
                <a:latin typeface="Roboto"/>
                <a:cs typeface="Roboto"/>
              </a:rPr>
              <a:t>billion</a:t>
            </a:r>
            <a:r>
              <a:rPr dirty="0" sz="1350" spc="-40" b="1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in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2023.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Managing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finances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across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so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many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markets,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currencies,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business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units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is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a</a:t>
            </a:r>
            <a:endParaRPr sz="13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significant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challenge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—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which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is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precisely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why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Nestlé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is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compelling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SAP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FICO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case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study.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33437" y="3938587"/>
            <a:ext cx="9763125" cy="5086350"/>
          </a:xfrm>
          <a:custGeom>
            <a:avLst/>
            <a:gdLst/>
            <a:ahLst/>
            <a:cxnLst/>
            <a:rect l="l" t="t" r="r" b="b"/>
            <a:pathLst>
              <a:path w="9763125" h="5086350">
                <a:moveTo>
                  <a:pt x="0" y="5031105"/>
                </a:moveTo>
                <a:lnTo>
                  <a:pt x="0" y="55245"/>
                </a:lnTo>
                <a:lnTo>
                  <a:pt x="0" y="51615"/>
                </a:lnTo>
                <a:lnTo>
                  <a:pt x="352" y="48025"/>
                </a:lnTo>
                <a:lnTo>
                  <a:pt x="16182" y="16182"/>
                </a:lnTo>
                <a:lnTo>
                  <a:pt x="18745" y="13611"/>
                </a:lnTo>
                <a:lnTo>
                  <a:pt x="51615" y="0"/>
                </a:lnTo>
                <a:lnTo>
                  <a:pt x="55244" y="0"/>
                </a:lnTo>
                <a:lnTo>
                  <a:pt x="9707880" y="0"/>
                </a:lnTo>
                <a:lnTo>
                  <a:pt x="9711509" y="0"/>
                </a:lnTo>
                <a:lnTo>
                  <a:pt x="9715099" y="352"/>
                </a:lnTo>
                <a:lnTo>
                  <a:pt x="9746942" y="16182"/>
                </a:lnTo>
                <a:lnTo>
                  <a:pt x="9749504" y="18745"/>
                </a:lnTo>
                <a:lnTo>
                  <a:pt x="9758914" y="34099"/>
                </a:lnTo>
                <a:lnTo>
                  <a:pt x="9760305" y="37452"/>
                </a:lnTo>
                <a:lnTo>
                  <a:pt x="9761353" y="40909"/>
                </a:lnTo>
                <a:lnTo>
                  <a:pt x="9762067" y="44462"/>
                </a:lnTo>
                <a:lnTo>
                  <a:pt x="9762772" y="48025"/>
                </a:lnTo>
                <a:lnTo>
                  <a:pt x="9763125" y="51615"/>
                </a:lnTo>
                <a:lnTo>
                  <a:pt x="9763125" y="55245"/>
                </a:lnTo>
                <a:lnTo>
                  <a:pt x="9763125" y="5031105"/>
                </a:lnTo>
                <a:lnTo>
                  <a:pt x="9763125" y="5034734"/>
                </a:lnTo>
                <a:lnTo>
                  <a:pt x="9762772" y="5038324"/>
                </a:lnTo>
                <a:lnTo>
                  <a:pt x="9762067" y="5041877"/>
                </a:lnTo>
                <a:lnTo>
                  <a:pt x="9761353" y="5045440"/>
                </a:lnTo>
                <a:lnTo>
                  <a:pt x="9760305" y="5048897"/>
                </a:lnTo>
                <a:lnTo>
                  <a:pt x="9758914" y="5052240"/>
                </a:lnTo>
                <a:lnTo>
                  <a:pt x="9757533" y="5055593"/>
                </a:lnTo>
                <a:lnTo>
                  <a:pt x="9755828" y="5058784"/>
                </a:lnTo>
                <a:lnTo>
                  <a:pt x="9753809" y="5061794"/>
                </a:lnTo>
                <a:lnTo>
                  <a:pt x="9751799" y="5064813"/>
                </a:lnTo>
                <a:lnTo>
                  <a:pt x="9738569" y="5077034"/>
                </a:lnTo>
                <a:lnTo>
                  <a:pt x="9735550" y="5079053"/>
                </a:lnTo>
                <a:lnTo>
                  <a:pt x="9732368" y="5080758"/>
                </a:lnTo>
                <a:lnTo>
                  <a:pt x="9729025" y="5082139"/>
                </a:lnTo>
                <a:lnTo>
                  <a:pt x="9725672" y="5083530"/>
                </a:lnTo>
                <a:lnTo>
                  <a:pt x="9722215" y="5084578"/>
                </a:lnTo>
                <a:lnTo>
                  <a:pt x="9718652" y="5085283"/>
                </a:lnTo>
                <a:lnTo>
                  <a:pt x="9715099" y="5085997"/>
                </a:lnTo>
                <a:lnTo>
                  <a:pt x="9711509" y="5086350"/>
                </a:lnTo>
                <a:lnTo>
                  <a:pt x="9707880" y="5086350"/>
                </a:lnTo>
                <a:lnTo>
                  <a:pt x="55244" y="5086350"/>
                </a:lnTo>
                <a:lnTo>
                  <a:pt x="51615" y="5086350"/>
                </a:lnTo>
                <a:lnTo>
                  <a:pt x="48025" y="5085997"/>
                </a:lnTo>
                <a:lnTo>
                  <a:pt x="44462" y="5085283"/>
                </a:lnTo>
                <a:lnTo>
                  <a:pt x="40909" y="5084578"/>
                </a:lnTo>
                <a:lnTo>
                  <a:pt x="37452" y="5083530"/>
                </a:lnTo>
                <a:lnTo>
                  <a:pt x="34099" y="5082139"/>
                </a:lnTo>
                <a:lnTo>
                  <a:pt x="30756" y="5080758"/>
                </a:lnTo>
                <a:lnTo>
                  <a:pt x="27565" y="5079053"/>
                </a:lnTo>
                <a:lnTo>
                  <a:pt x="24555" y="5077034"/>
                </a:lnTo>
                <a:lnTo>
                  <a:pt x="21536" y="5075024"/>
                </a:lnTo>
                <a:lnTo>
                  <a:pt x="18745" y="5072729"/>
                </a:lnTo>
                <a:lnTo>
                  <a:pt x="16182" y="5070167"/>
                </a:lnTo>
                <a:lnTo>
                  <a:pt x="13611" y="5067604"/>
                </a:lnTo>
                <a:lnTo>
                  <a:pt x="0" y="5034734"/>
                </a:lnTo>
                <a:lnTo>
                  <a:pt x="0" y="5031105"/>
                </a:lnTo>
                <a:close/>
              </a:path>
            </a:pathLst>
          </a:custGeom>
          <a:ln w="9525">
            <a:solidFill>
              <a:srgbClr val="B3B3B3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38200" y="3943350"/>
          <a:ext cx="9829800" cy="50761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81880"/>
                <a:gridCol w="4872355"/>
              </a:tblGrid>
              <a:tr h="509270"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1350" spc="-10" b="1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Category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33350"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1350" spc="-10" b="1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Details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33350">
                    <a:lnL w="9525">
                      <a:solidFill>
                        <a:srgbClr val="B3B3B3"/>
                      </a:solidFill>
                      <a:prstDash val="solid"/>
                    </a:lnL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Company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28270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Nestlé</a:t>
                      </a:r>
                      <a:r>
                        <a:rPr dirty="0" sz="1350" spc="-4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2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S.A.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28270">
                    <a:lnL w="9525">
                      <a:solidFill>
                        <a:srgbClr val="B3B3B3"/>
                      </a:solidFill>
                      <a:prstDash val="solid"/>
                    </a:lnL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Industry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37795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Food</a:t>
                      </a:r>
                      <a:r>
                        <a:rPr dirty="0" sz="1350" spc="-2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&amp;</a:t>
                      </a:r>
                      <a:r>
                        <a:rPr dirty="0" sz="1350" spc="-1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Beverage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37795">
                    <a:lnL w="9525">
                      <a:solidFill>
                        <a:srgbClr val="B3B3B3"/>
                      </a:solidFill>
                      <a:prstDash val="solid"/>
                    </a:lnL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Headquarters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37795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-2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Vevey,</a:t>
                      </a:r>
                      <a:r>
                        <a:rPr dirty="0" sz="1350" spc="-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Switzerland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37795">
                    <a:lnL w="9525">
                      <a:solidFill>
                        <a:srgbClr val="B3B3B3"/>
                      </a:solidFill>
                      <a:prstDash val="solid"/>
                    </a:lnL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Founded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37795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-2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1866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37795">
                    <a:lnL w="9525">
                      <a:solidFill>
                        <a:srgbClr val="B3B3B3"/>
                      </a:solidFill>
                      <a:prstDash val="solid"/>
                    </a:lnL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Main</a:t>
                      </a:r>
                      <a:r>
                        <a:rPr dirty="0" sz="1350" spc="-4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Business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37795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Food,</a:t>
                      </a:r>
                      <a:r>
                        <a:rPr dirty="0" sz="1350" spc="-3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beverages,</a:t>
                      </a:r>
                      <a:r>
                        <a:rPr dirty="0" sz="1350" spc="-3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nutrition,</a:t>
                      </a:r>
                      <a:r>
                        <a:rPr dirty="0" sz="1350" spc="-3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and</a:t>
                      </a:r>
                      <a:r>
                        <a:rPr dirty="0" sz="1350" spc="-3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pet</a:t>
                      </a:r>
                      <a:r>
                        <a:rPr dirty="0" sz="1350" spc="-3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care</a:t>
                      </a:r>
                      <a:r>
                        <a:rPr dirty="0" sz="1350" spc="-3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products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37795">
                    <a:lnL w="9525">
                      <a:solidFill>
                        <a:srgbClr val="B3B3B3"/>
                      </a:solidFill>
                      <a:prstDash val="solid"/>
                    </a:lnL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Global</a:t>
                      </a:r>
                      <a:r>
                        <a:rPr dirty="0" sz="1350" spc="-4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Presence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28270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Operations</a:t>
                      </a:r>
                      <a:r>
                        <a:rPr dirty="0" sz="1350" spc="-2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in</a:t>
                      </a:r>
                      <a:r>
                        <a:rPr dirty="0" sz="1350" spc="-2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190+</a:t>
                      </a:r>
                      <a:r>
                        <a:rPr dirty="0" sz="1350" spc="-2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countries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28270">
                    <a:lnL w="9525">
                      <a:solidFill>
                        <a:srgbClr val="B3B3B3"/>
                      </a:solidFill>
                      <a:prstDash val="solid"/>
                    </a:lnL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Employees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37795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~273,000</a:t>
                      </a:r>
                      <a:r>
                        <a:rPr dirty="0" sz="1350" spc="-6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(2023)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37795">
                    <a:lnL w="9525">
                      <a:solidFill>
                        <a:srgbClr val="B3B3B3"/>
                      </a:solidFill>
                      <a:prstDash val="solid"/>
                    </a:lnL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Annual</a:t>
                      </a:r>
                      <a:r>
                        <a:rPr dirty="0" sz="1350" spc="-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Revenue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37795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CHF</a:t>
                      </a:r>
                      <a:r>
                        <a:rPr dirty="0" sz="1350" spc="-3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93+</a:t>
                      </a:r>
                      <a:r>
                        <a:rPr dirty="0" sz="1350" spc="-3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billion</a:t>
                      </a:r>
                      <a:r>
                        <a:rPr dirty="0" sz="1350" spc="-3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(2023)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37795">
                    <a:lnL w="9525">
                      <a:solidFill>
                        <a:srgbClr val="B3B3B3"/>
                      </a:solidFill>
                      <a:prstDash val="solid"/>
                    </a:lnL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499745"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SAP</a:t>
                      </a:r>
                      <a:r>
                        <a:rPr dirty="0" sz="1350" spc="-3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Implementation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37795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SAP</a:t>
                      </a:r>
                      <a:r>
                        <a:rPr dirty="0" sz="1350" spc="-2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S/4HANA</a:t>
                      </a:r>
                      <a:r>
                        <a:rPr dirty="0" sz="1350" spc="-2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Finance</a:t>
                      </a:r>
                      <a:r>
                        <a:rPr dirty="0" sz="1350" spc="-2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(ongoing</a:t>
                      </a:r>
                      <a:r>
                        <a:rPr dirty="0" sz="1350" spc="-1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transformation)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37795">
                    <a:lnL w="9525">
                      <a:solidFill>
                        <a:srgbClr val="B3B3B3"/>
                      </a:solidFill>
                      <a:prstDash val="solid"/>
                    </a:lnL>
                    <a:lnT w="9525">
                      <a:solidFill>
                        <a:srgbClr val="B3B3B3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828675" y="9220200"/>
            <a:ext cx="9772650" cy="1238250"/>
            <a:chOff x="828675" y="9220200"/>
            <a:chExt cx="9772650" cy="1238250"/>
          </a:xfrm>
        </p:grpSpPr>
        <p:sp>
          <p:nvSpPr>
            <p:cNvPr id="7" name="object 7"/>
            <p:cNvSpPr/>
            <p:nvPr/>
          </p:nvSpPr>
          <p:spPr>
            <a:xfrm>
              <a:off x="828675" y="9220200"/>
              <a:ext cx="9772650" cy="1238250"/>
            </a:xfrm>
            <a:custGeom>
              <a:avLst/>
              <a:gdLst/>
              <a:ahLst/>
              <a:cxnLst/>
              <a:rect l="l" t="t" r="r" b="b"/>
              <a:pathLst>
                <a:path w="9772650" h="1238250">
                  <a:moveTo>
                    <a:pt x="9716585" y="1238249"/>
                  </a:moveTo>
                  <a:lnTo>
                    <a:pt x="56064" y="1238249"/>
                  </a:lnTo>
                  <a:lnTo>
                    <a:pt x="52168" y="1237868"/>
                  </a:lnTo>
                  <a:lnTo>
                    <a:pt x="14792" y="1217885"/>
                  </a:lnTo>
                  <a:lnTo>
                    <a:pt x="0" y="1182185"/>
                  </a:lnTo>
                  <a:lnTo>
                    <a:pt x="0" y="1178242"/>
                  </a:lnTo>
                  <a:lnTo>
                    <a:pt x="0" y="56064"/>
                  </a:lnTo>
                  <a:lnTo>
                    <a:pt x="14792" y="20364"/>
                  </a:lnTo>
                  <a:lnTo>
                    <a:pt x="52168" y="380"/>
                  </a:lnTo>
                  <a:lnTo>
                    <a:pt x="56064" y="0"/>
                  </a:lnTo>
                  <a:lnTo>
                    <a:pt x="9716585" y="0"/>
                  </a:lnTo>
                  <a:lnTo>
                    <a:pt x="9752285" y="14792"/>
                  </a:lnTo>
                  <a:lnTo>
                    <a:pt x="9772259" y="52168"/>
                  </a:lnTo>
                  <a:lnTo>
                    <a:pt x="9772650" y="56064"/>
                  </a:lnTo>
                  <a:lnTo>
                    <a:pt x="9772650" y="1182185"/>
                  </a:lnTo>
                  <a:lnTo>
                    <a:pt x="9757857" y="1217885"/>
                  </a:lnTo>
                  <a:lnTo>
                    <a:pt x="9720481" y="1237868"/>
                  </a:lnTo>
                  <a:lnTo>
                    <a:pt x="9716585" y="1238249"/>
                  </a:lnTo>
                  <a:close/>
                </a:path>
              </a:pathLst>
            </a:custGeom>
            <a:solidFill>
              <a:srgbClr val="E0E0E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2271" y="9469040"/>
              <a:ext cx="150018" cy="150018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373187" y="9375140"/>
            <a:ext cx="8789035" cy="8445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135"/>
              </a:spcBef>
            </a:pPr>
            <a:r>
              <a:rPr dirty="0" sz="1350" spc="-20">
                <a:latin typeface="Roboto"/>
                <a:cs typeface="Roboto"/>
              </a:rPr>
              <a:t>Nestlé's</a:t>
            </a:r>
            <a:r>
              <a:rPr dirty="0" sz="1350" spc="-25">
                <a:latin typeface="Roboto"/>
                <a:cs typeface="Roboto"/>
              </a:rPr>
              <a:t> </a:t>
            </a:r>
            <a:r>
              <a:rPr dirty="0" sz="1350">
                <a:latin typeface="Roboto"/>
                <a:cs typeface="Roboto"/>
              </a:rPr>
              <a:t>SAP</a:t>
            </a:r>
            <a:r>
              <a:rPr dirty="0" sz="1350" spc="-20">
                <a:latin typeface="Roboto"/>
                <a:cs typeface="Roboto"/>
              </a:rPr>
              <a:t> </a:t>
            </a:r>
            <a:r>
              <a:rPr dirty="0" sz="1350">
                <a:latin typeface="Roboto"/>
                <a:cs typeface="Roboto"/>
              </a:rPr>
              <a:t>S/4HANA</a:t>
            </a:r>
            <a:r>
              <a:rPr dirty="0" sz="1350" spc="-25">
                <a:latin typeface="Roboto"/>
                <a:cs typeface="Roboto"/>
              </a:rPr>
              <a:t> </a:t>
            </a:r>
            <a:r>
              <a:rPr dirty="0" sz="1350" spc="-10">
                <a:latin typeface="Roboto"/>
                <a:cs typeface="Roboto"/>
              </a:rPr>
              <a:t>Finance</a:t>
            </a:r>
            <a:r>
              <a:rPr dirty="0" sz="1350" spc="-20">
                <a:latin typeface="Roboto"/>
                <a:cs typeface="Roboto"/>
              </a:rPr>
              <a:t> </a:t>
            </a:r>
            <a:r>
              <a:rPr dirty="0" sz="1350" spc="-10">
                <a:latin typeface="Roboto"/>
                <a:cs typeface="Roboto"/>
              </a:rPr>
              <a:t>transformation</a:t>
            </a:r>
            <a:r>
              <a:rPr dirty="0" sz="1350" spc="-20">
                <a:latin typeface="Roboto"/>
                <a:cs typeface="Roboto"/>
              </a:rPr>
              <a:t> </a:t>
            </a:r>
            <a:r>
              <a:rPr dirty="0" sz="1350">
                <a:latin typeface="Roboto"/>
                <a:cs typeface="Roboto"/>
              </a:rPr>
              <a:t>is</a:t>
            </a:r>
            <a:r>
              <a:rPr dirty="0" sz="1350" spc="-25">
                <a:latin typeface="Roboto"/>
                <a:cs typeface="Roboto"/>
              </a:rPr>
              <a:t> </a:t>
            </a:r>
            <a:r>
              <a:rPr dirty="0" sz="1350">
                <a:latin typeface="Roboto"/>
                <a:cs typeface="Roboto"/>
              </a:rPr>
              <a:t>one</a:t>
            </a:r>
            <a:r>
              <a:rPr dirty="0" sz="1350" spc="-20">
                <a:latin typeface="Roboto"/>
                <a:cs typeface="Roboto"/>
              </a:rPr>
              <a:t> </a:t>
            </a:r>
            <a:r>
              <a:rPr dirty="0" sz="1350">
                <a:latin typeface="Roboto"/>
                <a:cs typeface="Roboto"/>
              </a:rPr>
              <a:t>of</a:t>
            </a:r>
            <a:r>
              <a:rPr dirty="0" sz="1350" spc="-20">
                <a:latin typeface="Roboto"/>
                <a:cs typeface="Roboto"/>
              </a:rPr>
              <a:t> </a:t>
            </a:r>
            <a:r>
              <a:rPr dirty="0" sz="1350">
                <a:latin typeface="Roboto"/>
                <a:cs typeface="Roboto"/>
              </a:rPr>
              <a:t>the</a:t>
            </a:r>
            <a:r>
              <a:rPr dirty="0" sz="1350" spc="-25">
                <a:latin typeface="Roboto"/>
                <a:cs typeface="Roboto"/>
              </a:rPr>
              <a:t> </a:t>
            </a:r>
            <a:r>
              <a:rPr dirty="0" sz="1350">
                <a:latin typeface="Roboto"/>
                <a:cs typeface="Roboto"/>
              </a:rPr>
              <a:t>largest</a:t>
            </a:r>
            <a:r>
              <a:rPr dirty="0" sz="1350" spc="-20">
                <a:latin typeface="Roboto"/>
                <a:cs typeface="Roboto"/>
              </a:rPr>
              <a:t> </a:t>
            </a:r>
            <a:r>
              <a:rPr dirty="0" sz="1350">
                <a:latin typeface="Roboto"/>
                <a:cs typeface="Roboto"/>
              </a:rPr>
              <a:t>ERP</a:t>
            </a:r>
            <a:r>
              <a:rPr dirty="0" sz="1350" spc="-20">
                <a:latin typeface="Roboto"/>
                <a:cs typeface="Roboto"/>
              </a:rPr>
              <a:t> </a:t>
            </a:r>
            <a:r>
              <a:rPr dirty="0" sz="1350" spc="-10">
                <a:latin typeface="Roboto"/>
                <a:cs typeface="Roboto"/>
              </a:rPr>
              <a:t>modernisation</a:t>
            </a:r>
            <a:r>
              <a:rPr dirty="0" sz="1350" spc="-25">
                <a:latin typeface="Roboto"/>
                <a:cs typeface="Roboto"/>
              </a:rPr>
              <a:t> </a:t>
            </a:r>
            <a:r>
              <a:rPr dirty="0" sz="1350">
                <a:latin typeface="Roboto"/>
                <a:cs typeface="Roboto"/>
              </a:rPr>
              <a:t>projects</a:t>
            </a:r>
            <a:r>
              <a:rPr dirty="0" sz="1350" spc="-20">
                <a:latin typeface="Roboto"/>
                <a:cs typeface="Roboto"/>
              </a:rPr>
              <a:t> </a:t>
            </a:r>
            <a:r>
              <a:rPr dirty="0" sz="1350">
                <a:latin typeface="Roboto"/>
                <a:cs typeface="Roboto"/>
              </a:rPr>
              <a:t>in</a:t>
            </a:r>
            <a:r>
              <a:rPr dirty="0" sz="1350" spc="-20">
                <a:latin typeface="Roboto"/>
                <a:cs typeface="Roboto"/>
              </a:rPr>
              <a:t> </a:t>
            </a:r>
            <a:r>
              <a:rPr dirty="0" sz="1350">
                <a:latin typeface="Roboto"/>
                <a:cs typeface="Roboto"/>
              </a:rPr>
              <a:t>the</a:t>
            </a:r>
            <a:r>
              <a:rPr dirty="0" sz="1350" spc="-25">
                <a:latin typeface="Roboto"/>
                <a:cs typeface="Roboto"/>
              </a:rPr>
              <a:t> </a:t>
            </a:r>
            <a:r>
              <a:rPr dirty="0" sz="1350" spc="-10">
                <a:latin typeface="Roboto"/>
                <a:cs typeface="Roboto"/>
              </a:rPr>
              <a:t>consumer </a:t>
            </a:r>
            <a:r>
              <a:rPr dirty="0" sz="1350">
                <a:latin typeface="Roboto"/>
                <a:cs typeface="Roboto"/>
              </a:rPr>
              <a:t>goods</a:t>
            </a:r>
            <a:r>
              <a:rPr dirty="0" sz="1350" spc="-50">
                <a:latin typeface="Roboto"/>
                <a:cs typeface="Roboto"/>
              </a:rPr>
              <a:t> </a:t>
            </a:r>
            <a:r>
              <a:rPr dirty="0" sz="1350" spc="-25">
                <a:latin typeface="Roboto"/>
                <a:cs typeface="Roboto"/>
              </a:rPr>
              <a:t>industry.</a:t>
            </a:r>
            <a:r>
              <a:rPr dirty="0" sz="1350" spc="-60">
                <a:latin typeface="Roboto"/>
                <a:cs typeface="Roboto"/>
              </a:rPr>
              <a:t> </a:t>
            </a:r>
            <a:r>
              <a:rPr dirty="0" sz="1350">
                <a:latin typeface="Roboto"/>
                <a:cs typeface="Roboto"/>
              </a:rPr>
              <a:t>The</a:t>
            </a:r>
            <a:r>
              <a:rPr dirty="0" sz="1350" spc="-40">
                <a:latin typeface="Roboto"/>
                <a:cs typeface="Roboto"/>
              </a:rPr>
              <a:t> </a:t>
            </a:r>
            <a:r>
              <a:rPr dirty="0" sz="1350">
                <a:latin typeface="Roboto"/>
                <a:cs typeface="Roboto"/>
              </a:rPr>
              <a:t>company</a:t>
            </a:r>
            <a:r>
              <a:rPr dirty="0" sz="1350" spc="-40">
                <a:latin typeface="Roboto"/>
                <a:cs typeface="Roboto"/>
              </a:rPr>
              <a:t> </a:t>
            </a:r>
            <a:r>
              <a:rPr dirty="0" sz="1350">
                <a:latin typeface="Roboto"/>
                <a:cs typeface="Roboto"/>
              </a:rPr>
              <a:t>has</a:t>
            </a:r>
            <a:r>
              <a:rPr dirty="0" sz="1350" spc="-45">
                <a:latin typeface="Roboto"/>
                <a:cs typeface="Roboto"/>
              </a:rPr>
              <a:t> </a:t>
            </a:r>
            <a:r>
              <a:rPr dirty="0" sz="1350" spc="-10">
                <a:latin typeface="Roboto"/>
                <a:cs typeface="Roboto"/>
              </a:rPr>
              <a:t>publicly</a:t>
            </a:r>
            <a:r>
              <a:rPr dirty="0" sz="1350" spc="-40">
                <a:latin typeface="Roboto"/>
                <a:cs typeface="Roboto"/>
              </a:rPr>
              <a:t> </a:t>
            </a:r>
            <a:r>
              <a:rPr dirty="0" sz="1350">
                <a:latin typeface="Roboto"/>
                <a:cs typeface="Roboto"/>
              </a:rPr>
              <a:t>shared</a:t>
            </a:r>
            <a:r>
              <a:rPr dirty="0" sz="1350" spc="-40">
                <a:latin typeface="Roboto"/>
                <a:cs typeface="Roboto"/>
              </a:rPr>
              <a:t> </a:t>
            </a:r>
            <a:r>
              <a:rPr dirty="0" sz="1350">
                <a:latin typeface="Roboto"/>
                <a:cs typeface="Roboto"/>
              </a:rPr>
              <a:t>aspects</a:t>
            </a:r>
            <a:r>
              <a:rPr dirty="0" sz="1350" spc="-45">
                <a:latin typeface="Roboto"/>
                <a:cs typeface="Roboto"/>
              </a:rPr>
              <a:t> </a:t>
            </a:r>
            <a:r>
              <a:rPr dirty="0" sz="1350">
                <a:latin typeface="Roboto"/>
                <a:cs typeface="Roboto"/>
              </a:rPr>
              <a:t>of</a:t>
            </a:r>
            <a:r>
              <a:rPr dirty="0" sz="1350" spc="-40">
                <a:latin typeface="Roboto"/>
                <a:cs typeface="Roboto"/>
              </a:rPr>
              <a:t> </a:t>
            </a:r>
            <a:r>
              <a:rPr dirty="0" sz="1350">
                <a:latin typeface="Roboto"/>
                <a:cs typeface="Roboto"/>
              </a:rPr>
              <a:t>this</a:t>
            </a:r>
            <a:r>
              <a:rPr dirty="0" sz="1350" spc="-40">
                <a:latin typeface="Roboto"/>
                <a:cs typeface="Roboto"/>
              </a:rPr>
              <a:t> </a:t>
            </a:r>
            <a:r>
              <a:rPr dirty="0" sz="1350" spc="-10">
                <a:latin typeface="Roboto"/>
                <a:cs typeface="Roboto"/>
              </a:rPr>
              <a:t>journey</a:t>
            </a:r>
            <a:r>
              <a:rPr dirty="0" sz="1350" spc="-45">
                <a:latin typeface="Roboto"/>
                <a:cs typeface="Roboto"/>
              </a:rPr>
              <a:t> </a:t>
            </a:r>
            <a:r>
              <a:rPr dirty="0" sz="1350" spc="-10">
                <a:latin typeface="Roboto"/>
                <a:cs typeface="Roboto"/>
              </a:rPr>
              <a:t>through</a:t>
            </a:r>
            <a:r>
              <a:rPr dirty="0" sz="1350" spc="-40">
                <a:latin typeface="Roboto"/>
                <a:cs typeface="Roboto"/>
              </a:rPr>
              <a:t> </a:t>
            </a:r>
            <a:r>
              <a:rPr dirty="0" sz="1350">
                <a:latin typeface="Roboto"/>
                <a:cs typeface="Roboto"/>
              </a:rPr>
              <a:t>SAP</a:t>
            </a:r>
            <a:r>
              <a:rPr dirty="0" sz="1350" spc="-40">
                <a:latin typeface="Roboto"/>
                <a:cs typeface="Roboto"/>
              </a:rPr>
              <a:t> </a:t>
            </a:r>
            <a:r>
              <a:rPr dirty="0" sz="1350">
                <a:latin typeface="Roboto"/>
                <a:cs typeface="Roboto"/>
              </a:rPr>
              <a:t>customer</a:t>
            </a:r>
            <a:r>
              <a:rPr dirty="0" sz="1350" spc="-40">
                <a:latin typeface="Roboto"/>
                <a:cs typeface="Roboto"/>
              </a:rPr>
              <a:t> </a:t>
            </a:r>
            <a:r>
              <a:rPr dirty="0" sz="1350">
                <a:latin typeface="Roboto"/>
                <a:cs typeface="Roboto"/>
              </a:rPr>
              <a:t>stories</a:t>
            </a:r>
            <a:r>
              <a:rPr dirty="0" sz="1350" spc="-45">
                <a:latin typeface="Roboto"/>
                <a:cs typeface="Roboto"/>
              </a:rPr>
              <a:t> </a:t>
            </a:r>
            <a:r>
              <a:rPr dirty="0" sz="1350">
                <a:latin typeface="Roboto"/>
                <a:cs typeface="Roboto"/>
              </a:rPr>
              <a:t>and</a:t>
            </a:r>
            <a:r>
              <a:rPr dirty="0" sz="1350" spc="-40">
                <a:latin typeface="Roboto"/>
                <a:cs typeface="Roboto"/>
              </a:rPr>
              <a:t> </a:t>
            </a:r>
            <a:r>
              <a:rPr dirty="0" sz="1350">
                <a:latin typeface="Roboto"/>
                <a:cs typeface="Roboto"/>
              </a:rPr>
              <a:t>its</a:t>
            </a:r>
            <a:r>
              <a:rPr dirty="0" sz="1350" spc="-40">
                <a:latin typeface="Roboto"/>
                <a:cs typeface="Roboto"/>
              </a:rPr>
              <a:t> </a:t>
            </a:r>
            <a:r>
              <a:rPr dirty="0" sz="1350" spc="-25">
                <a:latin typeface="Roboto"/>
                <a:cs typeface="Roboto"/>
              </a:rPr>
              <a:t>own </a:t>
            </a:r>
            <a:r>
              <a:rPr dirty="0" sz="1350" spc="-10">
                <a:latin typeface="Roboto"/>
                <a:cs typeface="Roboto"/>
              </a:rPr>
              <a:t>annual</a:t>
            </a:r>
            <a:r>
              <a:rPr dirty="0" sz="1350" spc="-30">
                <a:latin typeface="Roboto"/>
                <a:cs typeface="Roboto"/>
              </a:rPr>
              <a:t> </a:t>
            </a:r>
            <a:r>
              <a:rPr dirty="0" sz="1350" spc="-10">
                <a:latin typeface="Roboto"/>
                <a:cs typeface="Roboto"/>
              </a:rPr>
              <a:t>reports.</a:t>
            </a:r>
            <a:endParaRPr sz="13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55"/>
              <a:t>Existing</a:t>
            </a:r>
            <a:r>
              <a:rPr dirty="0" spc="-75"/>
              <a:t> </a:t>
            </a:r>
            <a:r>
              <a:rPr dirty="0" spc="170"/>
              <a:t>Business</a:t>
            </a:r>
            <a:r>
              <a:rPr dirty="0" spc="-75"/>
              <a:t> </a:t>
            </a:r>
            <a:r>
              <a:rPr dirty="0" spc="145"/>
              <a:t>and</a:t>
            </a:r>
            <a:r>
              <a:rPr dirty="0" spc="-75"/>
              <a:t> </a:t>
            </a:r>
            <a:r>
              <a:rPr dirty="0"/>
              <a:t>Financial</a:t>
            </a:r>
            <a:r>
              <a:rPr dirty="0" spc="-185"/>
              <a:t> </a:t>
            </a:r>
            <a:r>
              <a:rPr dirty="0" spc="130"/>
              <a:t>Challenges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5975" y="1288414"/>
            <a:ext cx="9503410" cy="844550"/>
          </a:xfrm>
          <a:prstGeom prst="rect">
            <a:avLst/>
          </a:prstGeom>
        </p:spPr>
        <p:txBody>
          <a:bodyPr wrap="square" lIns="0" tIns="831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Before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itз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SAP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tranзformation,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Neзtlé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—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like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many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large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multinationalз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—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faced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зignificant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financial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management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challengeз.</a:t>
            </a:r>
            <a:endParaRPr sz="1350">
              <a:latin typeface="Roboto"/>
              <a:cs typeface="Roboto"/>
            </a:endParaRPr>
          </a:p>
          <a:p>
            <a:pPr marL="12700" marR="340995">
              <a:lnSpc>
                <a:spcPct val="129600"/>
              </a:lnSpc>
              <a:spcBef>
                <a:spcPts val="75"/>
              </a:spcBef>
            </a:pP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Operating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acroзз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190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countrieз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meant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dealing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with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multiple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local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accounting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зyзtemз,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different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reporting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зtandardз,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and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fragmented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data.</a:t>
            </a:r>
            <a:r>
              <a:rPr dirty="0" sz="1350" spc="-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Theзe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challengeз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are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documented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in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Neзtlé'з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own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communicationз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SAP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cuзtomer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caзe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materialз.</a:t>
            </a:r>
            <a:endParaRPr sz="1350">
              <a:latin typeface="Roboto"/>
              <a:cs typeface="Roboto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7649" y="2538758"/>
            <a:ext cx="9106506" cy="193591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665358" y="4871952"/>
            <a:ext cx="940435" cy="5924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735" marR="5080" indent="-26670">
              <a:lnSpc>
                <a:spcPct val="109400"/>
              </a:lnSpc>
              <a:spcBef>
                <a:spcPts val="90"/>
              </a:spcBef>
            </a:pPr>
            <a:r>
              <a:rPr dirty="0" sz="1700" spc="40">
                <a:solidFill>
                  <a:srgbClr val="3B3838"/>
                </a:solidFill>
                <a:latin typeface="Trebuchet MS"/>
                <a:cs typeface="Trebuchet MS"/>
              </a:rPr>
              <a:t>Separate </a:t>
            </a:r>
            <a:r>
              <a:rPr dirty="0" sz="1700" spc="85">
                <a:solidFill>
                  <a:srgbClr val="3B3838"/>
                </a:solidFill>
                <a:latin typeface="Trebuchet MS"/>
                <a:cs typeface="Trebuchet MS"/>
              </a:rPr>
              <a:t>Systems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74339" y="4871952"/>
            <a:ext cx="1177290" cy="5924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340995">
              <a:lnSpc>
                <a:spcPct val="109400"/>
              </a:lnSpc>
              <a:spcBef>
                <a:spcPts val="90"/>
              </a:spcBef>
            </a:pPr>
            <a:r>
              <a:rPr dirty="0" sz="1700" spc="-20">
                <a:solidFill>
                  <a:srgbClr val="3B3838"/>
                </a:solidFill>
                <a:latin typeface="Trebuchet MS"/>
                <a:cs typeface="Trebuchet MS"/>
              </a:rPr>
              <a:t>Data </a:t>
            </a:r>
            <a:r>
              <a:rPr dirty="0" sz="1700" spc="-10">
                <a:solidFill>
                  <a:srgbClr val="3B3838"/>
                </a:solidFill>
                <a:latin typeface="Trebuchet MS"/>
                <a:cs typeface="Trebuchet MS"/>
              </a:rPr>
              <a:t>Duplication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39233" y="4871952"/>
            <a:ext cx="1024255" cy="5924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77470">
              <a:lnSpc>
                <a:spcPct val="109400"/>
              </a:lnSpc>
              <a:spcBef>
                <a:spcPts val="90"/>
              </a:spcBef>
            </a:pPr>
            <a:r>
              <a:rPr dirty="0" sz="1700" spc="65">
                <a:solidFill>
                  <a:srgbClr val="3B3838"/>
                </a:solidFill>
                <a:latin typeface="Trebuchet MS"/>
                <a:cs typeface="Trebuchet MS"/>
              </a:rPr>
              <a:t>Delayed </a:t>
            </a:r>
            <a:r>
              <a:rPr dirty="0" sz="1700" spc="-10">
                <a:solidFill>
                  <a:srgbClr val="3B3838"/>
                </a:solidFill>
                <a:latin typeface="Trebuchet MS"/>
                <a:cs typeface="Trebuchet MS"/>
              </a:rPr>
              <a:t>Reporting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08997" y="4871952"/>
            <a:ext cx="861060" cy="5924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35560">
              <a:lnSpc>
                <a:spcPct val="109400"/>
              </a:lnSpc>
              <a:spcBef>
                <a:spcPts val="90"/>
              </a:spcBef>
            </a:pPr>
            <a:r>
              <a:rPr dirty="0" sz="1700" spc="-10">
                <a:solidFill>
                  <a:srgbClr val="3B3838"/>
                </a:solidFill>
                <a:latin typeface="Trebuchet MS"/>
                <a:cs typeface="Trebuchet MS"/>
              </a:rPr>
              <a:t>Limited Visibility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646813" y="4871952"/>
            <a:ext cx="1382395" cy="5924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57480" marR="5080" indent="-145415">
              <a:lnSpc>
                <a:spcPct val="109400"/>
              </a:lnSpc>
              <a:spcBef>
                <a:spcPts val="90"/>
              </a:spcBef>
            </a:pPr>
            <a:r>
              <a:rPr dirty="0" sz="1700" spc="90">
                <a:solidFill>
                  <a:srgbClr val="3B3838"/>
                </a:solidFill>
                <a:latin typeface="Trebuchet MS"/>
                <a:cs typeface="Trebuchet MS"/>
              </a:rPr>
              <a:t>Management </a:t>
            </a:r>
            <a:r>
              <a:rPr dirty="0" sz="1700" spc="-10">
                <a:solidFill>
                  <a:srgbClr val="3B3838"/>
                </a:solidFill>
                <a:latin typeface="Trebuchet MS"/>
                <a:cs typeface="Trebuchet MS"/>
              </a:rPr>
              <a:t>Difficulties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8200" y="6115050"/>
            <a:ext cx="4781550" cy="2381250"/>
          </a:xfrm>
          <a:custGeom>
            <a:avLst/>
            <a:gdLst/>
            <a:ahLst/>
            <a:cxnLst/>
            <a:rect l="l" t="t" r="r" b="b"/>
            <a:pathLst>
              <a:path w="4781550" h="2381250">
                <a:moveTo>
                  <a:pt x="0" y="2314575"/>
                </a:moveTo>
                <a:lnTo>
                  <a:pt x="0" y="66675"/>
                </a:lnTo>
                <a:lnTo>
                  <a:pt x="0" y="62293"/>
                </a:lnTo>
                <a:lnTo>
                  <a:pt x="428" y="57959"/>
                </a:lnTo>
                <a:lnTo>
                  <a:pt x="11239" y="29632"/>
                </a:lnTo>
                <a:lnTo>
                  <a:pt x="13668" y="25993"/>
                </a:lnTo>
                <a:lnTo>
                  <a:pt x="16430" y="22621"/>
                </a:lnTo>
                <a:lnTo>
                  <a:pt x="19526" y="19526"/>
                </a:lnTo>
                <a:lnTo>
                  <a:pt x="22621" y="16430"/>
                </a:lnTo>
                <a:lnTo>
                  <a:pt x="25993" y="13668"/>
                </a:lnTo>
                <a:lnTo>
                  <a:pt x="29632" y="11239"/>
                </a:lnTo>
                <a:lnTo>
                  <a:pt x="33270" y="8801"/>
                </a:lnTo>
                <a:lnTo>
                  <a:pt x="62293" y="0"/>
                </a:lnTo>
                <a:lnTo>
                  <a:pt x="66675" y="0"/>
                </a:lnTo>
                <a:lnTo>
                  <a:pt x="4731067" y="0"/>
                </a:lnTo>
                <a:lnTo>
                  <a:pt x="4734382" y="0"/>
                </a:lnTo>
                <a:lnTo>
                  <a:pt x="4737668" y="323"/>
                </a:lnTo>
                <a:lnTo>
                  <a:pt x="4740916" y="971"/>
                </a:lnTo>
                <a:lnTo>
                  <a:pt x="4744164" y="1619"/>
                </a:lnTo>
                <a:lnTo>
                  <a:pt x="4759109" y="8505"/>
                </a:lnTo>
                <a:lnTo>
                  <a:pt x="4761871" y="10344"/>
                </a:lnTo>
                <a:lnTo>
                  <a:pt x="4777701" y="31165"/>
                </a:lnTo>
                <a:lnTo>
                  <a:pt x="4778978" y="34223"/>
                </a:lnTo>
                <a:lnTo>
                  <a:pt x="4779930" y="37385"/>
                </a:lnTo>
                <a:lnTo>
                  <a:pt x="4780578" y="40633"/>
                </a:lnTo>
                <a:lnTo>
                  <a:pt x="4781226" y="43881"/>
                </a:lnTo>
                <a:lnTo>
                  <a:pt x="4781550" y="47167"/>
                </a:lnTo>
                <a:lnTo>
                  <a:pt x="4781550" y="50482"/>
                </a:lnTo>
                <a:lnTo>
                  <a:pt x="4781550" y="2330767"/>
                </a:lnTo>
                <a:lnTo>
                  <a:pt x="4781550" y="2334082"/>
                </a:lnTo>
                <a:lnTo>
                  <a:pt x="4781226" y="2337368"/>
                </a:lnTo>
                <a:lnTo>
                  <a:pt x="4780578" y="2340616"/>
                </a:lnTo>
                <a:lnTo>
                  <a:pt x="4779930" y="2343864"/>
                </a:lnTo>
                <a:lnTo>
                  <a:pt x="4778978" y="2347026"/>
                </a:lnTo>
                <a:lnTo>
                  <a:pt x="4777701" y="2350084"/>
                </a:lnTo>
                <a:lnTo>
                  <a:pt x="4776435" y="2353151"/>
                </a:lnTo>
                <a:lnTo>
                  <a:pt x="4750384" y="2377401"/>
                </a:lnTo>
                <a:lnTo>
                  <a:pt x="4747326" y="2378678"/>
                </a:lnTo>
                <a:lnTo>
                  <a:pt x="4744164" y="2379630"/>
                </a:lnTo>
                <a:lnTo>
                  <a:pt x="4740916" y="2380278"/>
                </a:lnTo>
                <a:lnTo>
                  <a:pt x="4737668" y="2380926"/>
                </a:lnTo>
                <a:lnTo>
                  <a:pt x="4734382" y="2381250"/>
                </a:lnTo>
                <a:lnTo>
                  <a:pt x="4731067" y="2381250"/>
                </a:lnTo>
                <a:lnTo>
                  <a:pt x="66675" y="2381250"/>
                </a:lnTo>
                <a:lnTo>
                  <a:pt x="62293" y="2381250"/>
                </a:lnTo>
                <a:lnTo>
                  <a:pt x="57959" y="2380821"/>
                </a:lnTo>
                <a:lnTo>
                  <a:pt x="53663" y="2379964"/>
                </a:lnTo>
                <a:lnTo>
                  <a:pt x="49377" y="2379116"/>
                </a:lnTo>
                <a:lnTo>
                  <a:pt x="29632" y="2370010"/>
                </a:lnTo>
                <a:lnTo>
                  <a:pt x="25993" y="2367581"/>
                </a:lnTo>
                <a:lnTo>
                  <a:pt x="11239" y="2351617"/>
                </a:lnTo>
                <a:lnTo>
                  <a:pt x="8801" y="2347979"/>
                </a:lnTo>
                <a:lnTo>
                  <a:pt x="0" y="2318956"/>
                </a:lnTo>
                <a:lnTo>
                  <a:pt x="0" y="2314575"/>
                </a:lnTo>
                <a:close/>
              </a:path>
            </a:pathLst>
          </a:custGeom>
          <a:ln w="19050">
            <a:solidFill>
              <a:srgbClr val="C6C6D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828675" y="6105525"/>
            <a:ext cx="76200" cy="2400300"/>
          </a:xfrm>
          <a:custGeom>
            <a:avLst/>
            <a:gdLst/>
            <a:ahLst/>
            <a:cxnLst/>
            <a:rect l="l" t="t" r="r" b="b"/>
            <a:pathLst>
              <a:path w="76200" h="2400300">
                <a:moveTo>
                  <a:pt x="76200" y="2400299"/>
                </a:moveTo>
                <a:lnTo>
                  <a:pt x="56064" y="2400299"/>
                </a:lnTo>
                <a:lnTo>
                  <a:pt x="52168" y="2399918"/>
                </a:lnTo>
                <a:lnTo>
                  <a:pt x="14792" y="2379935"/>
                </a:lnTo>
                <a:lnTo>
                  <a:pt x="0" y="2344235"/>
                </a:lnTo>
                <a:lnTo>
                  <a:pt x="0" y="2340292"/>
                </a:lnTo>
                <a:lnTo>
                  <a:pt x="0" y="56064"/>
                </a:lnTo>
                <a:lnTo>
                  <a:pt x="14792" y="20364"/>
                </a:lnTo>
                <a:lnTo>
                  <a:pt x="52168" y="380"/>
                </a:lnTo>
                <a:lnTo>
                  <a:pt x="56064" y="0"/>
                </a:lnTo>
                <a:lnTo>
                  <a:pt x="76200" y="0"/>
                </a:lnTo>
                <a:lnTo>
                  <a:pt x="76200" y="2400299"/>
                </a:lnTo>
                <a:close/>
              </a:path>
            </a:pathLst>
          </a:custGeom>
          <a:solidFill>
            <a:srgbClr val="1B1B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082675" y="6278562"/>
            <a:ext cx="4195445" cy="19983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>
                <a:solidFill>
                  <a:srgbClr val="3B3838"/>
                </a:solidFill>
                <a:latin typeface="Trebuchet MS"/>
                <a:cs typeface="Trebuchet MS"/>
              </a:rPr>
              <a:t>Multiple</a:t>
            </a:r>
            <a:r>
              <a:rPr dirty="0" sz="1650" spc="130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650" spc="110">
                <a:solidFill>
                  <a:srgbClr val="3B3838"/>
                </a:solidFill>
                <a:latin typeface="Trebuchet MS"/>
                <a:cs typeface="Trebuchet MS"/>
              </a:rPr>
              <a:t>Legacy</a:t>
            </a:r>
            <a:r>
              <a:rPr dirty="0" sz="1650" spc="65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650" spc="95">
                <a:solidFill>
                  <a:srgbClr val="3B3838"/>
                </a:solidFill>
                <a:latin typeface="Trebuchet MS"/>
                <a:cs typeface="Trebuchet MS"/>
              </a:rPr>
              <a:t>Systems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Neзtlé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operated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with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numerouз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local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financial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зyзtemз acroзз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itз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marketз.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Each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зyзtem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had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itз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own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data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formatз</a:t>
            </a:r>
            <a:r>
              <a:rPr dirty="0" sz="1350" spc="-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reporting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ruleз,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making</a:t>
            </a:r>
            <a:r>
              <a:rPr dirty="0" sz="1350" spc="-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conзolidation</a:t>
            </a:r>
            <a:endParaRPr sz="1350">
              <a:latin typeface="Roboto"/>
              <a:cs typeface="Roboto"/>
            </a:endParaRPr>
          </a:p>
          <a:p>
            <a:pPr marL="12700" marR="403225">
              <a:lnSpc>
                <a:spcPct val="129600"/>
              </a:lnSpc>
              <a:spcBef>
                <a:spcPts val="75"/>
              </a:spcBef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difficult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time-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conзuming.</a:t>
            </a:r>
            <a:r>
              <a:rPr dirty="0" sz="1350" spc="-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Thiз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iз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confirmed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in 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Neзtlé'з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public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deзcriptionз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of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their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digital</a:t>
            </a:r>
            <a:endParaRPr sz="13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tranзformation</a:t>
            </a:r>
            <a:r>
              <a:rPr dirty="0" sz="1350" spc="-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journey.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810250" y="6115050"/>
            <a:ext cx="4781550" cy="2381250"/>
          </a:xfrm>
          <a:custGeom>
            <a:avLst/>
            <a:gdLst/>
            <a:ahLst/>
            <a:cxnLst/>
            <a:rect l="l" t="t" r="r" b="b"/>
            <a:pathLst>
              <a:path w="4781550" h="2381250">
                <a:moveTo>
                  <a:pt x="0" y="2314575"/>
                </a:moveTo>
                <a:lnTo>
                  <a:pt x="0" y="66675"/>
                </a:lnTo>
                <a:lnTo>
                  <a:pt x="0" y="62293"/>
                </a:lnTo>
                <a:lnTo>
                  <a:pt x="428" y="57959"/>
                </a:lnTo>
                <a:lnTo>
                  <a:pt x="11239" y="29632"/>
                </a:lnTo>
                <a:lnTo>
                  <a:pt x="13668" y="25993"/>
                </a:lnTo>
                <a:lnTo>
                  <a:pt x="16430" y="22621"/>
                </a:lnTo>
                <a:lnTo>
                  <a:pt x="19526" y="19526"/>
                </a:lnTo>
                <a:lnTo>
                  <a:pt x="22621" y="16430"/>
                </a:lnTo>
                <a:lnTo>
                  <a:pt x="25993" y="13668"/>
                </a:lnTo>
                <a:lnTo>
                  <a:pt x="29632" y="11239"/>
                </a:lnTo>
                <a:lnTo>
                  <a:pt x="33270" y="8801"/>
                </a:lnTo>
                <a:lnTo>
                  <a:pt x="62293" y="0"/>
                </a:lnTo>
                <a:lnTo>
                  <a:pt x="66675" y="0"/>
                </a:lnTo>
                <a:lnTo>
                  <a:pt x="4731067" y="0"/>
                </a:lnTo>
                <a:lnTo>
                  <a:pt x="4734382" y="0"/>
                </a:lnTo>
                <a:lnTo>
                  <a:pt x="4737668" y="323"/>
                </a:lnTo>
                <a:lnTo>
                  <a:pt x="4740916" y="971"/>
                </a:lnTo>
                <a:lnTo>
                  <a:pt x="4744164" y="1619"/>
                </a:lnTo>
                <a:lnTo>
                  <a:pt x="4774882" y="25193"/>
                </a:lnTo>
                <a:lnTo>
                  <a:pt x="4777701" y="31165"/>
                </a:lnTo>
                <a:lnTo>
                  <a:pt x="4778978" y="34223"/>
                </a:lnTo>
                <a:lnTo>
                  <a:pt x="4779930" y="37385"/>
                </a:lnTo>
                <a:lnTo>
                  <a:pt x="4780578" y="40633"/>
                </a:lnTo>
                <a:lnTo>
                  <a:pt x="4781226" y="43881"/>
                </a:lnTo>
                <a:lnTo>
                  <a:pt x="4781550" y="47167"/>
                </a:lnTo>
                <a:lnTo>
                  <a:pt x="4781550" y="50482"/>
                </a:lnTo>
                <a:lnTo>
                  <a:pt x="4781550" y="2330767"/>
                </a:lnTo>
                <a:lnTo>
                  <a:pt x="4781550" y="2334082"/>
                </a:lnTo>
                <a:lnTo>
                  <a:pt x="4781226" y="2337368"/>
                </a:lnTo>
                <a:lnTo>
                  <a:pt x="4780578" y="2340616"/>
                </a:lnTo>
                <a:lnTo>
                  <a:pt x="4779930" y="2343864"/>
                </a:lnTo>
                <a:lnTo>
                  <a:pt x="4778978" y="2347026"/>
                </a:lnTo>
                <a:lnTo>
                  <a:pt x="4777701" y="2350084"/>
                </a:lnTo>
                <a:lnTo>
                  <a:pt x="4776435" y="2353151"/>
                </a:lnTo>
                <a:lnTo>
                  <a:pt x="4750384" y="2377401"/>
                </a:lnTo>
                <a:lnTo>
                  <a:pt x="4747326" y="2378678"/>
                </a:lnTo>
                <a:lnTo>
                  <a:pt x="4744164" y="2379630"/>
                </a:lnTo>
                <a:lnTo>
                  <a:pt x="4740916" y="2380278"/>
                </a:lnTo>
                <a:lnTo>
                  <a:pt x="4737668" y="2380926"/>
                </a:lnTo>
                <a:lnTo>
                  <a:pt x="4734382" y="2381250"/>
                </a:lnTo>
                <a:lnTo>
                  <a:pt x="4731067" y="2381250"/>
                </a:lnTo>
                <a:lnTo>
                  <a:pt x="66675" y="2381250"/>
                </a:lnTo>
                <a:lnTo>
                  <a:pt x="62293" y="2381250"/>
                </a:lnTo>
                <a:lnTo>
                  <a:pt x="57959" y="2380821"/>
                </a:lnTo>
                <a:lnTo>
                  <a:pt x="53663" y="2379964"/>
                </a:lnTo>
                <a:lnTo>
                  <a:pt x="49377" y="2379116"/>
                </a:lnTo>
                <a:lnTo>
                  <a:pt x="29632" y="2370010"/>
                </a:lnTo>
                <a:lnTo>
                  <a:pt x="25993" y="2367581"/>
                </a:lnTo>
                <a:lnTo>
                  <a:pt x="11239" y="2351617"/>
                </a:lnTo>
                <a:lnTo>
                  <a:pt x="8801" y="2347979"/>
                </a:lnTo>
                <a:lnTo>
                  <a:pt x="0" y="2318956"/>
                </a:lnTo>
                <a:lnTo>
                  <a:pt x="0" y="2314575"/>
                </a:lnTo>
                <a:close/>
              </a:path>
            </a:pathLst>
          </a:custGeom>
          <a:ln w="19050">
            <a:solidFill>
              <a:srgbClr val="C6C6D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800725" y="6105525"/>
            <a:ext cx="76200" cy="2400300"/>
          </a:xfrm>
          <a:custGeom>
            <a:avLst/>
            <a:gdLst/>
            <a:ahLst/>
            <a:cxnLst/>
            <a:rect l="l" t="t" r="r" b="b"/>
            <a:pathLst>
              <a:path w="76200" h="2400300">
                <a:moveTo>
                  <a:pt x="76200" y="2400299"/>
                </a:moveTo>
                <a:lnTo>
                  <a:pt x="56064" y="2400299"/>
                </a:lnTo>
                <a:lnTo>
                  <a:pt x="52168" y="2399918"/>
                </a:lnTo>
                <a:lnTo>
                  <a:pt x="14792" y="2379935"/>
                </a:lnTo>
                <a:lnTo>
                  <a:pt x="0" y="2344235"/>
                </a:lnTo>
                <a:lnTo>
                  <a:pt x="0" y="2340292"/>
                </a:lnTo>
                <a:lnTo>
                  <a:pt x="0" y="56064"/>
                </a:lnTo>
                <a:lnTo>
                  <a:pt x="14792" y="20364"/>
                </a:lnTo>
                <a:lnTo>
                  <a:pt x="52168" y="380"/>
                </a:lnTo>
                <a:lnTo>
                  <a:pt x="56064" y="0"/>
                </a:lnTo>
                <a:lnTo>
                  <a:pt x="76200" y="0"/>
                </a:lnTo>
                <a:lnTo>
                  <a:pt x="76200" y="2400299"/>
                </a:lnTo>
                <a:close/>
              </a:path>
            </a:pathLst>
          </a:custGeom>
          <a:solidFill>
            <a:srgbClr val="1B1B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6054725" y="6278562"/>
            <a:ext cx="4340860" cy="14554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90">
                <a:solidFill>
                  <a:srgbClr val="3B3838"/>
                </a:solidFill>
                <a:latin typeface="Trebuchet MS"/>
                <a:cs typeface="Trebuchet MS"/>
              </a:rPr>
              <a:t>Lack</a:t>
            </a:r>
            <a:r>
              <a:rPr dirty="0" sz="1650" spc="75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3B3838"/>
                </a:solidFill>
                <a:latin typeface="Trebuchet MS"/>
                <a:cs typeface="Trebuchet MS"/>
              </a:rPr>
              <a:t>of</a:t>
            </a:r>
            <a:r>
              <a:rPr dirty="0" sz="1650" spc="35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3B3838"/>
                </a:solidFill>
                <a:latin typeface="Trebuchet MS"/>
                <a:cs typeface="Trebuchet MS"/>
              </a:rPr>
              <a:t>Real-Time</a:t>
            </a:r>
            <a:r>
              <a:rPr dirty="0" sz="1650" spc="5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650" spc="-10">
                <a:solidFill>
                  <a:srgbClr val="3B3838"/>
                </a:solidFill>
                <a:latin typeface="Trebuchet MS"/>
                <a:cs typeface="Trebuchet MS"/>
              </a:rPr>
              <a:t>Visibility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Financial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data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waз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often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available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only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after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lengthy 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month-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end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cloзing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proceззeз.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Management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did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not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 have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immediate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acceзз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to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conзolidated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financial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information,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which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зlowed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deciзion-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making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at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corporate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level.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8200" y="8686800"/>
            <a:ext cx="4781550" cy="2105025"/>
          </a:xfrm>
          <a:custGeom>
            <a:avLst/>
            <a:gdLst/>
            <a:ahLst/>
            <a:cxnLst/>
            <a:rect l="l" t="t" r="r" b="b"/>
            <a:pathLst>
              <a:path w="4781550" h="2105025">
                <a:moveTo>
                  <a:pt x="0" y="2038350"/>
                </a:moveTo>
                <a:lnTo>
                  <a:pt x="0" y="66675"/>
                </a:lnTo>
                <a:lnTo>
                  <a:pt x="0" y="62293"/>
                </a:lnTo>
                <a:lnTo>
                  <a:pt x="428" y="57959"/>
                </a:lnTo>
                <a:lnTo>
                  <a:pt x="11239" y="29632"/>
                </a:lnTo>
                <a:lnTo>
                  <a:pt x="13668" y="25993"/>
                </a:lnTo>
                <a:lnTo>
                  <a:pt x="16430" y="22621"/>
                </a:lnTo>
                <a:lnTo>
                  <a:pt x="19526" y="19526"/>
                </a:lnTo>
                <a:lnTo>
                  <a:pt x="22621" y="16430"/>
                </a:lnTo>
                <a:lnTo>
                  <a:pt x="25993" y="13668"/>
                </a:lnTo>
                <a:lnTo>
                  <a:pt x="29632" y="11239"/>
                </a:lnTo>
                <a:lnTo>
                  <a:pt x="33270" y="8801"/>
                </a:lnTo>
                <a:lnTo>
                  <a:pt x="62293" y="0"/>
                </a:lnTo>
                <a:lnTo>
                  <a:pt x="66675" y="0"/>
                </a:lnTo>
                <a:lnTo>
                  <a:pt x="4731067" y="0"/>
                </a:lnTo>
                <a:lnTo>
                  <a:pt x="4734382" y="0"/>
                </a:lnTo>
                <a:lnTo>
                  <a:pt x="4737668" y="323"/>
                </a:lnTo>
                <a:lnTo>
                  <a:pt x="4740916" y="971"/>
                </a:lnTo>
                <a:lnTo>
                  <a:pt x="4744164" y="1619"/>
                </a:lnTo>
                <a:lnTo>
                  <a:pt x="4747326" y="2571"/>
                </a:lnTo>
                <a:lnTo>
                  <a:pt x="4750384" y="3838"/>
                </a:lnTo>
                <a:lnTo>
                  <a:pt x="4753451" y="5105"/>
                </a:lnTo>
                <a:lnTo>
                  <a:pt x="4756356" y="6667"/>
                </a:lnTo>
                <a:lnTo>
                  <a:pt x="4759109" y="8505"/>
                </a:lnTo>
                <a:lnTo>
                  <a:pt x="4761871" y="10344"/>
                </a:lnTo>
                <a:lnTo>
                  <a:pt x="4777701" y="31165"/>
                </a:lnTo>
                <a:lnTo>
                  <a:pt x="4778978" y="34223"/>
                </a:lnTo>
                <a:lnTo>
                  <a:pt x="4779930" y="37385"/>
                </a:lnTo>
                <a:lnTo>
                  <a:pt x="4780578" y="40633"/>
                </a:lnTo>
                <a:lnTo>
                  <a:pt x="4781226" y="43881"/>
                </a:lnTo>
                <a:lnTo>
                  <a:pt x="4781550" y="47167"/>
                </a:lnTo>
                <a:lnTo>
                  <a:pt x="4781550" y="50482"/>
                </a:lnTo>
                <a:lnTo>
                  <a:pt x="4781550" y="2054542"/>
                </a:lnTo>
                <a:lnTo>
                  <a:pt x="4781550" y="2057857"/>
                </a:lnTo>
                <a:lnTo>
                  <a:pt x="4781226" y="2061143"/>
                </a:lnTo>
                <a:lnTo>
                  <a:pt x="4780578" y="2064391"/>
                </a:lnTo>
                <a:lnTo>
                  <a:pt x="4779930" y="2067639"/>
                </a:lnTo>
                <a:lnTo>
                  <a:pt x="4778978" y="2070792"/>
                </a:lnTo>
                <a:lnTo>
                  <a:pt x="4777701" y="2073859"/>
                </a:lnTo>
                <a:lnTo>
                  <a:pt x="4776435" y="2076926"/>
                </a:lnTo>
                <a:lnTo>
                  <a:pt x="4750384" y="2101176"/>
                </a:lnTo>
                <a:lnTo>
                  <a:pt x="4747326" y="2102453"/>
                </a:lnTo>
                <a:lnTo>
                  <a:pt x="4744164" y="2103405"/>
                </a:lnTo>
                <a:lnTo>
                  <a:pt x="4740916" y="2104053"/>
                </a:lnTo>
                <a:lnTo>
                  <a:pt x="4737668" y="2104701"/>
                </a:lnTo>
                <a:lnTo>
                  <a:pt x="4734382" y="2105025"/>
                </a:lnTo>
                <a:lnTo>
                  <a:pt x="4731067" y="2105025"/>
                </a:lnTo>
                <a:lnTo>
                  <a:pt x="66675" y="2105025"/>
                </a:lnTo>
                <a:lnTo>
                  <a:pt x="62293" y="2105025"/>
                </a:lnTo>
                <a:lnTo>
                  <a:pt x="57959" y="2104596"/>
                </a:lnTo>
                <a:lnTo>
                  <a:pt x="53663" y="2103739"/>
                </a:lnTo>
                <a:lnTo>
                  <a:pt x="49377" y="2102891"/>
                </a:lnTo>
                <a:lnTo>
                  <a:pt x="29632" y="2093785"/>
                </a:lnTo>
                <a:lnTo>
                  <a:pt x="25993" y="2091356"/>
                </a:lnTo>
                <a:lnTo>
                  <a:pt x="11239" y="2075392"/>
                </a:lnTo>
                <a:lnTo>
                  <a:pt x="8801" y="2071754"/>
                </a:lnTo>
                <a:lnTo>
                  <a:pt x="0" y="2042731"/>
                </a:lnTo>
                <a:lnTo>
                  <a:pt x="0" y="2038350"/>
                </a:lnTo>
                <a:close/>
              </a:path>
            </a:pathLst>
          </a:custGeom>
          <a:ln w="19050">
            <a:solidFill>
              <a:srgbClr val="C6C6D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828675" y="8677275"/>
            <a:ext cx="76200" cy="2124075"/>
          </a:xfrm>
          <a:custGeom>
            <a:avLst/>
            <a:gdLst/>
            <a:ahLst/>
            <a:cxnLst/>
            <a:rect l="l" t="t" r="r" b="b"/>
            <a:pathLst>
              <a:path w="76200" h="2124075">
                <a:moveTo>
                  <a:pt x="76200" y="2124074"/>
                </a:moveTo>
                <a:lnTo>
                  <a:pt x="56064" y="2124074"/>
                </a:lnTo>
                <a:lnTo>
                  <a:pt x="52168" y="2123693"/>
                </a:lnTo>
                <a:lnTo>
                  <a:pt x="14792" y="2103710"/>
                </a:lnTo>
                <a:lnTo>
                  <a:pt x="0" y="2068010"/>
                </a:lnTo>
                <a:lnTo>
                  <a:pt x="0" y="2064067"/>
                </a:lnTo>
                <a:lnTo>
                  <a:pt x="0" y="56064"/>
                </a:lnTo>
                <a:lnTo>
                  <a:pt x="14792" y="20364"/>
                </a:lnTo>
                <a:lnTo>
                  <a:pt x="52168" y="380"/>
                </a:lnTo>
                <a:lnTo>
                  <a:pt x="56064" y="0"/>
                </a:lnTo>
                <a:lnTo>
                  <a:pt x="76200" y="0"/>
                </a:lnTo>
                <a:lnTo>
                  <a:pt x="76200" y="2124074"/>
                </a:lnTo>
                <a:close/>
              </a:path>
            </a:pathLst>
          </a:custGeom>
          <a:solidFill>
            <a:srgbClr val="1B1B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082675" y="8850312"/>
            <a:ext cx="4223385" cy="17221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85">
                <a:solidFill>
                  <a:srgbClr val="3B3838"/>
                </a:solidFill>
                <a:latin typeface="Trebuchet MS"/>
                <a:cs typeface="Trebuchet MS"/>
              </a:rPr>
              <a:t>Manual</a:t>
            </a:r>
            <a:r>
              <a:rPr dirty="0" sz="1650" spc="-70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650" spc="95">
                <a:solidFill>
                  <a:srgbClr val="3B3838"/>
                </a:solidFill>
                <a:latin typeface="Trebuchet MS"/>
                <a:cs typeface="Trebuchet MS"/>
              </a:rPr>
              <a:t>Processes</a:t>
            </a:r>
            <a:r>
              <a:rPr dirty="0" sz="1650" spc="-15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650" spc="80">
                <a:solidFill>
                  <a:srgbClr val="3B3838"/>
                </a:solidFill>
                <a:latin typeface="Trebuchet MS"/>
                <a:cs typeface="Trebuchet MS"/>
              </a:rPr>
              <a:t>and</a:t>
            </a:r>
            <a:r>
              <a:rPr dirty="0" sz="1650" spc="-15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3B3838"/>
                </a:solidFill>
                <a:latin typeface="Trebuchet MS"/>
                <a:cs typeface="Trebuchet MS"/>
              </a:rPr>
              <a:t>Data</a:t>
            </a:r>
            <a:r>
              <a:rPr dirty="0" sz="1650" spc="-10">
                <a:solidFill>
                  <a:srgbClr val="3B3838"/>
                </a:solidFill>
                <a:latin typeface="Trebuchet MS"/>
                <a:cs typeface="Trebuchet MS"/>
              </a:rPr>
              <a:t> Duplication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3100"/>
              </a:lnSpc>
              <a:spcBef>
                <a:spcPts val="560"/>
              </a:spcBef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Many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financial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proceззeз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required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manual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intervention, increaзing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riзk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of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errorз.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Data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waз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often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re-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entered acroзз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зyзtemз,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leading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to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inconзiзtencieз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and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reconciliation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challengeз.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Thiз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iз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common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iззue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in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companieз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with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fragmented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IT</a:t>
            </a:r>
            <a:r>
              <a:rPr dirty="0" sz="1350" spc="-7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landзcapeз.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810250" y="8686800"/>
            <a:ext cx="4781550" cy="2105025"/>
          </a:xfrm>
          <a:custGeom>
            <a:avLst/>
            <a:gdLst/>
            <a:ahLst/>
            <a:cxnLst/>
            <a:rect l="l" t="t" r="r" b="b"/>
            <a:pathLst>
              <a:path w="4781550" h="2105025">
                <a:moveTo>
                  <a:pt x="0" y="2038350"/>
                </a:moveTo>
                <a:lnTo>
                  <a:pt x="0" y="66675"/>
                </a:lnTo>
                <a:lnTo>
                  <a:pt x="0" y="62293"/>
                </a:lnTo>
                <a:lnTo>
                  <a:pt x="428" y="57959"/>
                </a:lnTo>
                <a:lnTo>
                  <a:pt x="11239" y="29632"/>
                </a:lnTo>
                <a:lnTo>
                  <a:pt x="13668" y="25993"/>
                </a:lnTo>
                <a:lnTo>
                  <a:pt x="16430" y="22621"/>
                </a:lnTo>
                <a:lnTo>
                  <a:pt x="19526" y="19526"/>
                </a:lnTo>
                <a:lnTo>
                  <a:pt x="22621" y="16430"/>
                </a:lnTo>
                <a:lnTo>
                  <a:pt x="25993" y="13668"/>
                </a:lnTo>
                <a:lnTo>
                  <a:pt x="29632" y="11239"/>
                </a:lnTo>
                <a:lnTo>
                  <a:pt x="33270" y="8801"/>
                </a:lnTo>
                <a:lnTo>
                  <a:pt x="62293" y="0"/>
                </a:lnTo>
                <a:lnTo>
                  <a:pt x="66675" y="0"/>
                </a:lnTo>
                <a:lnTo>
                  <a:pt x="4731067" y="0"/>
                </a:lnTo>
                <a:lnTo>
                  <a:pt x="4734382" y="0"/>
                </a:lnTo>
                <a:lnTo>
                  <a:pt x="4737668" y="323"/>
                </a:lnTo>
                <a:lnTo>
                  <a:pt x="4740916" y="971"/>
                </a:lnTo>
                <a:lnTo>
                  <a:pt x="4744164" y="1619"/>
                </a:lnTo>
                <a:lnTo>
                  <a:pt x="4747326" y="2571"/>
                </a:lnTo>
                <a:lnTo>
                  <a:pt x="4750384" y="3838"/>
                </a:lnTo>
                <a:lnTo>
                  <a:pt x="4753451" y="5105"/>
                </a:lnTo>
                <a:lnTo>
                  <a:pt x="4777701" y="31165"/>
                </a:lnTo>
                <a:lnTo>
                  <a:pt x="4778978" y="34223"/>
                </a:lnTo>
                <a:lnTo>
                  <a:pt x="4779930" y="37385"/>
                </a:lnTo>
                <a:lnTo>
                  <a:pt x="4780578" y="40633"/>
                </a:lnTo>
                <a:lnTo>
                  <a:pt x="4781226" y="43881"/>
                </a:lnTo>
                <a:lnTo>
                  <a:pt x="4781550" y="47167"/>
                </a:lnTo>
                <a:lnTo>
                  <a:pt x="4781550" y="50482"/>
                </a:lnTo>
                <a:lnTo>
                  <a:pt x="4781550" y="2054542"/>
                </a:lnTo>
                <a:lnTo>
                  <a:pt x="4781550" y="2057857"/>
                </a:lnTo>
                <a:lnTo>
                  <a:pt x="4781226" y="2061143"/>
                </a:lnTo>
                <a:lnTo>
                  <a:pt x="4780578" y="2064391"/>
                </a:lnTo>
                <a:lnTo>
                  <a:pt x="4779930" y="2067639"/>
                </a:lnTo>
                <a:lnTo>
                  <a:pt x="4778978" y="2070792"/>
                </a:lnTo>
                <a:lnTo>
                  <a:pt x="4777701" y="2073859"/>
                </a:lnTo>
                <a:lnTo>
                  <a:pt x="4776435" y="2076926"/>
                </a:lnTo>
                <a:lnTo>
                  <a:pt x="4750384" y="2101176"/>
                </a:lnTo>
                <a:lnTo>
                  <a:pt x="4747326" y="2102453"/>
                </a:lnTo>
                <a:lnTo>
                  <a:pt x="4744164" y="2103405"/>
                </a:lnTo>
                <a:lnTo>
                  <a:pt x="4740916" y="2104053"/>
                </a:lnTo>
                <a:lnTo>
                  <a:pt x="4737668" y="2104701"/>
                </a:lnTo>
                <a:lnTo>
                  <a:pt x="4734382" y="2105025"/>
                </a:lnTo>
                <a:lnTo>
                  <a:pt x="4731067" y="2105025"/>
                </a:lnTo>
                <a:lnTo>
                  <a:pt x="66675" y="2105025"/>
                </a:lnTo>
                <a:lnTo>
                  <a:pt x="62293" y="2105025"/>
                </a:lnTo>
                <a:lnTo>
                  <a:pt x="57959" y="2104596"/>
                </a:lnTo>
                <a:lnTo>
                  <a:pt x="53663" y="2103739"/>
                </a:lnTo>
                <a:lnTo>
                  <a:pt x="49377" y="2102891"/>
                </a:lnTo>
                <a:lnTo>
                  <a:pt x="29632" y="2093785"/>
                </a:lnTo>
                <a:lnTo>
                  <a:pt x="25993" y="2091356"/>
                </a:lnTo>
                <a:lnTo>
                  <a:pt x="11239" y="2075392"/>
                </a:lnTo>
                <a:lnTo>
                  <a:pt x="8801" y="2071754"/>
                </a:lnTo>
                <a:lnTo>
                  <a:pt x="0" y="2042731"/>
                </a:lnTo>
                <a:lnTo>
                  <a:pt x="0" y="2038350"/>
                </a:lnTo>
                <a:close/>
              </a:path>
            </a:pathLst>
          </a:custGeom>
          <a:ln w="19050">
            <a:solidFill>
              <a:srgbClr val="C6C6D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800725" y="8677275"/>
            <a:ext cx="76200" cy="2124075"/>
          </a:xfrm>
          <a:custGeom>
            <a:avLst/>
            <a:gdLst/>
            <a:ahLst/>
            <a:cxnLst/>
            <a:rect l="l" t="t" r="r" b="b"/>
            <a:pathLst>
              <a:path w="76200" h="2124075">
                <a:moveTo>
                  <a:pt x="76200" y="2124074"/>
                </a:moveTo>
                <a:lnTo>
                  <a:pt x="56064" y="2124074"/>
                </a:lnTo>
                <a:lnTo>
                  <a:pt x="52168" y="2123693"/>
                </a:lnTo>
                <a:lnTo>
                  <a:pt x="14792" y="2103710"/>
                </a:lnTo>
                <a:lnTo>
                  <a:pt x="0" y="2068010"/>
                </a:lnTo>
                <a:lnTo>
                  <a:pt x="0" y="2064067"/>
                </a:lnTo>
                <a:lnTo>
                  <a:pt x="0" y="56064"/>
                </a:lnTo>
                <a:lnTo>
                  <a:pt x="14792" y="20364"/>
                </a:lnTo>
                <a:lnTo>
                  <a:pt x="52168" y="380"/>
                </a:lnTo>
                <a:lnTo>
                  <a:pt x="56064" y="0"/>
                </a:lnTo>
                <a:lnTo>
                  <a:pt x="76200" y="0"/>
                </a:lnTo>
                <a:lnTo>
                  <a:pt x="76200" y="2124074"/>
                </a:lnTo>
                <a:close/>
              </a:path>
            </a:pathLst>
          </a:custGeom>
          <a:solidFill>
            <a:srgbClr val="1B1B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6054725" y="8850312"/>
            <a:ext cx="4344035" cy="17221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85">
                <a:solidFill>
                  <a:srgbClr val="3B3838"/>
                </a:solidFill>
                <a:latin typeface="Trebuchet MS"/>
                <a:cs typeface="Trebuchet MS"/>
              </a:rPr>
              <a:t>Complex</a:t>
            </a:r>
            <a:r>
              <a:rPr dirty="0" sz="1650" spc="-65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650" spc="-10">
                <a:solidFill>
                  <a:srgbClr val="3B3838"/>
                </a:solidFill>
                <a:latin typeface="Trebuchet MS"/>
                <a:cs typeface="Trebuchet MS"/>
              </a:rPr>
              <a:t>Consolidation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With</a:t>
            </a:r>
            <a:r>
              <a:rPr dirty="0" sz="135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hundredз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of</a:t>
            </a:r>
            <a:r>
              <a:rPr dirty="0" sz="135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зubзidiarieз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135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joint ventureз,</a:t>
            </a:r>
            <a:endParaRPr sz="1350">
              <a:latin typeface="Roboto"/>
              <a:cs typeface="Roboto"/>
            </a:endParaRPr>
          </a:p>
          <a:p>
            <a:pPr marL="12700" marR="474980">
              <a:lnSpc>
                <a:spcPct val="134300"/>
              </a:lnSpc>
            </a:pP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conзolidating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financial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зtatementз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waз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complex, 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reзource-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intenзive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taзk.</a:t>
            </a:r>
            <a:r>
              <a:rPr dirty="0" sz="135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Different</a:t>
            </a:r>
            <a:r>
              <a:rPr dirty="0" sz="135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local</a:t>
            </a:r>
            <a:r>
              <a:rPr dirty="0" sz="135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GAAP</a:t>
            </a:r>
            <a:endParaRPr sz="1350">
              <a:latin typeface="Roboto"/>
              <a:cs typeface="Roboto"/>
            </a:endParaRPr>
          </a:p>
          <a:p>
            <a:pPr marL="12700" marR="5080">
              <a:lnSpc>
                <a:spcPts val="2180"/>
              </a:lnSpc>
              <a:spcBef>
                <a:spcPts val="15"/>
              </a:spcBef>
            </a:pP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requirementз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currencieз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added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further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complexity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to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proceзз.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3437" y="10996613"/>
            <a:ext cx="9763125" cy="3095625"/>
          </a:xfrm>
          <a:custGeom>
            <a:avLst/>
            <a:gdLst/>
            <a:ahLst/>
            <a:cxnLst/>
            <a:rect l="l" t="t" r="r" b="b"/>
            <a:pathLst>
              <a:path w="9763125" h="3095625">
                <a:moveTo>
                  <a:pt x="0" y="3040379"/>
                </a:moveTo>
                <a:lnTo>
                  <a:pt x="0" y="55244"/>
                </a:lnTo>
                <a:lnTo>
                  <a:pt x="0" y="51615"/>
                </a:lnTo>
                <a:lnTo>
                  <a:pt x="352" y="48025"/>
                </a:lnTo>
                <a:lnTo>
                  <a:pt x="16182" y="16182"/>
                </a:lnTo>
                <a:lnTo>
                  <a:pt x="18745" y="13611"/>
                </a:lnTo>
                <a:lnTo>
                  <a:pt x="51615" y="0"/>
                </a:lnTo>
                <a:lnTo>
                  <a:pt x="55244" y="0"/>
                </a:lnTo>
                <a:lnTo>
                  <a:pt x="9707880" y="0"/>
                </a:lnTo>
                <a:lnTo>
                  <a:pt x="9711509" y="0"/>
                </a:lnTo>
                <a:lnTo>
                  <a:pt x="9715099" y="352"/>
                </a:lnTo>
                <a:lnTo>
                  <a:pt x="9746942" y="16182"/>
                </a:lnTo>
                <a:lnTo>
                  <a:pt x="9749504" y="18745"/>
                </a:lnTo>
                <a:lnTo>
                  <a:pt x="9758914" y="34099"/>
                </a:lnTo>
                <a:lnTo>
                  <a:pt x="9760305" y="37452"/>
                </a:lnTo>
                <a:lnTo>
                  <a:pt x="9761353" y="40909"/>
                </a:lnTo>
                <a:lnTo>
                  <a:pt x="9762067" y="44472"/>
                </a:lnTo>
                <a:lnTo>
                  <a:pt x="9762772" y="48025"/>
                </a:lnTo>
                <a:lnTo>
                  <a:pt x="9763125" y="51615"/>
                </a:lnTo>
                <a:lnTo>
                  <a:pt x="9763125" y="55244"/>
                </a:lnTo>
                <a:lnTo>
                  <a:pt x="9763125" y="3040379"/>
                </a:lnTo>
                <a:lnTo>
                  <a:pt x="9763125" y="3044009"/>
                </a:lnTo>
                <a:lnTo>
                  <a:pt x="9762772" y="3047599"/>
                </a:lnTo>
                <a:lnTo>
                  <a:pt x="9762067" y="3051152"/>
                </a:lnTo>
                <a:lnTo>
                  <a:pt x="9761353" y="3054715"/>
                </a:lnTo>
                <a:lnTo>
                  <a:pt x="9760305" y="3058163"/>
                </a:lnTo>
                <a:lnTo>
                  <a:pt x="9758914" y="3061515"/>
                </a:lnTo>
                <a:lnTo>
                  <a:pt x="9757533" y="3064868"/>
                </a:lnTo>
                <a:lnTo>
                  <a:pt x="9755828" y="3068050"/>
                </a:lnTo>
                <a:lnTo>
                  <a:pt x="9753809" y="3071069"/>
                </a:lnTo>
                <a:lnTo>
                  <a:pt x="9751799" y="3074088"/>
                </a:lnTo>
                <a:lnTo>
                  <a:pt x="9738569" y="3086309"/>
                </a:lnTo>
                <a:lnTo>
                  <a:pt x="9735550" y="3088328"/>
                </a:lnTo>
                <a:lnTo>
                  <a:pt x="9732368" y="3090033"/>
                </a:lnTo>
                <a:lnTo>
                  <a:pt x="9729025" y="3091414"/>
                </a:lnTo>
                <a:lnTo>
                  <a:pt x="9725672" y="3092805"/>
                </a:lnTo>
                <a:lnTo>
                  <a:pt x="9722215" y="3093853"/>
                </a:lnTo>
                <a:lnTo>
                  <a:pt x="9718652" y="3094567"/>
                </a:lnTo>
                <a:lnTo>
                  <a:pt x="9715099" y="3095272"/>
                </a:lnTo>
                <a:lnTo>
                  <a:pt x="9711509" y="3095624"/>
                </a:lnTo>
                <a:lnTo>
                  <a:pt x="9707880" y="3095624"/>
                </a:lnTo>
                <a:lnTo>
                  <a:pt x="55244" y="3095624"/>
                </a:lnTo>
                <a:lnTo>
                  <a:pt x="51615" y="3095624"/>
                </a:lnTo>
                <a:lnTo>
                  <a:pt x="48025" y="3095272"/>
                </a:lnTo>
                <a:lnTo>
                  <a:pt x="44462" y="3094567"/>
                </a:lnTo>
                <a:lnTo>
                  <a:pt x="40909" y="3093853"/>
                </a:lnTo>
                <a:lnTo>
                  <a:pt x="37452" y="3092805"/>
                </a:lnTo>
                <a:lnTo>
                  <a:pt x="34099" y="3091414"/>
                </a:lnTo>
                <a:lnTo>
                  <a:pt x="30756" y="3090033"/>
                </a:lnTo>
                <a:lnTo>
                  <a:pt x="27565" y="3088328"/>
                </a:lnTo>
                <a:lnTo>
                  <a:pt x="24555" y="3086309"/>
                </a:lnTo>
                <a:lnTo>
                  <a:pt x="21536" y="3084299"/>
                </a:lnTo>
                <a:lnTo>
                  <a:pt x="18745" y="3082004"/>
                </a:lnTo>
                <a:lnTo>
                  <a:pt x="16182" y="3079442"/>
                </a:lnTo>
                <a:lnTo>
                  <a:pt x="13611" y="3076879"/>
                </a:lnTo>
                <a:lnTo>
                  <a:pt x="0" y="3044009"/>
                </a:lnTo>
                <a:lnTo>
                  <a:pt x="0" y="3040379"/>
                </a:lnTo>
                <a:close/>
              </a:path>
            </a:pathLst>
          </a:custGeom>
          <a:ln w="9525">
            <a:solidFill>
              <a:srgbClr val="B3B3B3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838200" y="11147114"/>
          <a:ext cx="9829800" cy="27813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15260"/>
                <a:gridCol w="3515360"/>
                <a:gridCol w="3522979"/>
              </a:tblGrid>
              <a:tr h="363220">
                <a:tc>
                  <a:txBody>
                    <a:bodyPr/>
                    <a:lstStyle/>
                    <a:p>
                      <a:pPr marL="172720">
                        <a:lnSpc>
                          <a:spcPts val="1520"/>
                        </a:lnSpc>
                      </a:pPr>
                      <a:r>
                        <a:rPr dirty="0" sz="1350" b="1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Challenge</a:t>
                      </a:r>
                      <a:r>
                        <a:rPr dirty="0" sz="1350" spc="55" b="1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20" b="1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Area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0"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7390">
                        <a:lnSpc>
                          <a:spcPts val="1520"/>
                        </a:lnSpc>
                      </a:pPr>
                      <a:r>
                        <a:rPr dirty="0" sz="1350" spc="-10" b="1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Impact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0"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2595">
                        <a:lnSpc>
                          <a:spcPts val="1520"/>
                        </a:lnSpc>
                      </a:pPr>
                      <a:r>
                        <a:rPr dirty="0" sz="1350" b="1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Source</a:t>
                      </a:r>
                      <a:r>
                        <a:rPr dirty="0" sz="1350" spc="5" b="1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 b="1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Status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0"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Multiple</a:t>
                      </a:r>
                      <a:r>
                        <a:rPr dirty="0" sz="1350" spc="-5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legacy</a:t>
                      </a:r>
                      <a:r>
                        <a:rPr dirty="0" sz="1350" spc="-5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зyзtemз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28270"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7390" marR="843915">
                        <a:lnSpc>
                          <a:spcPct val="134300"/>
                        </a:lnSpc>
                        <a:spcBef>
                          <a:spcPts val="455"/>
                        </a:spcBef>
                      </a:pP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Fragmented</a:t>
                      </a:r>
                      <a:r>
                        <a:rPr dirty="0" sz="1350" spc="-4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data,</a:t>
                      </a:r>
                      <a:r>
                        <a:rPr dirty="0" sz="1350" spc="-4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difficult conзolidation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57785"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2595" marR="1058545">
                        <a:lnSpc>
                          <a:spcPct val="134300"/>
                        </a:lnSpc>
                        <a:spcBef>
                          <a:spcPts val="455"/>
                        </a:spcBef>
                      </a:pP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Confirmed</a:t>
                      </a:r>
                      <a:r>
                        <a:rPr dirty="0" sz="1350" spc="-4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—</a:t>
                      </a:r>
                      <a:r>
                        <a:rPr dirty="0" sz="1350" spc="-3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Neзtlé</a:t>
                      </a:r>
                      <a:r>
                        <a:rPr dirty="0" sz="1350" spc="-3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public communicationз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57785"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Delayed</a:t>
                      </a:r>
                      <a:r>
                        <a:rPr dirty="0" sz="1350" spc="-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reporting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37795"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739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Slow</a:t>
                      </a:r>
                      <a:r>
                        <a:rPr dirty="0" sz="1350" spc="-2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management</a:t>
                      </a:r>
                      <a:r>
                        <a:rPr dirty="0" sz="1350" spc="-2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deciзionз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37795"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259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Confirmed</a:t>
                      </a:r>
                      <a:r>
                        <a:rPr dirty="0" sz="1350" spc="-3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—</a:t>
                      </a:r>
                      <a:r>
                        <a:rPr dirty="0" sz="1350" spc="-3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SAP</a:t>
                      </a:r>
                      <a:r>
                        <a:rPr dirty="0" sz="1350" spc="-3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cuзtomer</a:t>
                      </a:r>
                      <a:r>
                        <a:rPr dirty="0" sz="1350" spc="-2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materialз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37795"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Manual</a:t>
                      </a:r>
                      <a:r>
                        <a:rPr dirty="0" sz="1350" spc="-4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proceззeз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37795"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739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Errorз,</a:t>
                      </a:r>
                      <a:r>
                        <a:rPr dirty="0" sz="1350" spc="-2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inefficiency,</a:t>
                      </a:r>
                      <a:r>
                        <a:rPr dirty="0" sz="1350" spc="-2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duplication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37795"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259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General</a:t>
                      </a:r>
                      <a:r>
                        <a:rPr dirty="0" sz="1350" spc="-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ERP</a:t>
                      </a:r>
                      <a:r>
                        <a:rPr dirty="0" sz="1350" spc="-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implementation</a:t>
                      </a:r>
                      <a:r>
                        <a:rPr dirty="0" sz="1350" spc="-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context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37795"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617855"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Complex</a:t>
                      </a:r>
                      <a:r>
                        <a:rPr dirty="0" sz="1350" spc="-1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conзolidation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28270">
                    <a:lnT w="9525">
                      <a:solidFill>
                        <a:srgbClr val="B3B3B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07390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1350" spc="-3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Reзource-intenзive,</a:t>
                      </a:r>
                      <a:r>
                        <a:rPr dirty="0" sz="1350" spc="10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4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error-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prone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28270">
                    <a:lnT w="9525">
                      <a:solidFill>
                        <a:srgbClr val="B3B3B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42595" marR="915035">
                        <a:lnSpc>
                          <a:spcPct val="134300"/>
                        </a:lnSpc>
                        <a:spcBef>
                          <a:spcPts val="415"/>
                        </a:spcBef>
                      </a:pP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Confirmed</a:t>
                      </a:r>
                      <a:r>
                        <a:rPr dirty="0" sz="1350" spc="-4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—</a:t>
                      </a:r>
                      <a:r>
                        <a:rPr dirty="0" sz="1350" spc="-4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Neзtlé</a:t>
                      </a:r>
                      <a:r>
                        <a:rPr dirty="0" sz="1350" spc="-4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зcale</a:t>
                      </a:r>
                      <a:r>
                        <a:rPr dirty="0" sz="1350" spc="-4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2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of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operationз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52705">
                    <a:lnT w="9525">
                      <a:solidFill>
                        <a:srgbClr val="B3B3B3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15975" y="444500"/>
            <a:ext cx="8743315" cy="107315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pc="300"/>
              <a:t>Why</a:t>
            </a:r>
            <a:r>
              <a:rPr dirty="0" spc="-225"/>
              <a:t> </a:t>
            </a:r>
            <a:r>
              <a:rPr dirty="0" spc="114"/>
              <a:t>Nestlé</a:t>
            </a:r>
            <a:r>
              <a:rPr dirty="0" spc="-135"/>
              <a:t> </a:t>
            </a:r>
            <a:r>
              <a:rPr dirty="0" spc="100"/>
              <a:t>Implemented</a:t>
            </a:r>
            <a:r>
              <a:rPr dirty="0" spc="-130"/>
              <a:t> </a:t>
            </a:r>
            <a:r>
              <a:rPr dirty="0" spc="305"/>
              <a:t>SAP</a:t>
            </a:r>
            <a:r>
              <a:rPr dirty="0" spc="-225"/>
              <a:t> </a:t>
            </a:r>
            <a:r>
              <a:rPr dirty="0" spc="165"/>
              <a:t>FICO</a:t>
            </a:r>
            <a:r>
              <a:rPr dirty="0" spc="-130"/>
              <a:t> </a:t>
            </a:r>
            <a:r>
              <a:rPr dirty="0" spc="145"/>
              <a:t>and</a:t>
            </a:r>
            <a:r>
              <a:rPr dirty="0" spc="-130"/>
              <a:t> </a:t>
            </a:r>
            <a:r>
              <a:rPr dirty="0" spc="-25"/>
              <a:t>the </a:t>
            </a:r>
            <a:r>
              <a:rPr dirty="0" spc="75"/>
              <a:t>Solution</a:t>
            </a:r>
            <a:r>
              <a:rPr dirty="0" spc="-145"/>
              <a:t> </a:t>
            </a:r>
            <a:r>
              <a:rPr dirty="0" spc="110"/>
              <a:t>Selected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5975" y="1821814"/>
            <a:ext cx="9535160" cy="854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Neзtlé'з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deciзion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to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implement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ЅAP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Finance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waз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driven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by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clear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зtrategic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need: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to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moderniзe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itз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financial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infraзtructure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and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create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зingle,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unified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platform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for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global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financial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management.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company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зelected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b="1">
                <a:solidFill>
                  <a:srgbClr val="3B3838"/>
                </a:solidFill>
                <a:latin typeface="Roboto"/>
                <a:cs typeface="Roboto"/>
              </a:rPr>
              <a:t>SAP</a:t>
            </a:r>
            <a:r>
              <a:rPr dirty="0" sz="1350" spc="-30" b="1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b="1">
                <a:solidFill>
                  <a:srgbClr val="3B3838"/>
                </a:solidFill>
                <a:latin typeface="Roboto"/>
                <a:cs typeface="Roboto"/>
              </a:rPr>
              <a:t>S/4HANA</a:t>
            </a:r>
            <a:r>
              <a:rPr dirty="0" sz="1350" spc="-25" b="1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b="1">
                <a:solidFill>
                  <a:srgbClr val="3B3838"/>
                </a:solidFill>
                <a:latin typeface="Roboto"/>
                <a:cs typeface="Roboto"/>
              </a:rPr>
              <a:t>Finance</a:t>
            </a:r>
            <a:r>
              <a:rPr dirty="0" sz="1350" spc="-25" b="1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aз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the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foundation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of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itз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tranзformation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—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next-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generation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ERP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finance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зolution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built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on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 ЅAP'з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in-memory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HANA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databaзe.</a:t>
            </a:r>
            <a:endParaRPr sz="1350">
              <a:latin typeface="Roboto"/>
              <a:cs typeface="Robo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04850" y="2905125"/>
            <a:ext cx="4924425" cy="3371850"/>
            <a:chOff x="704850" y="2905125"/>
            <a:chExt cx="4924425" cy="3371850"/>
          </a:xfrm>
        </p:grpSpPr>
        <p:sp>
          <p:nvSpPr>
            <p:cNvPr id="5" name="object 5"/>
            <p:cNvSpPr/>
            <p:nvPr/>
          </p:nvSpPr>
          <p:spPr>
            <a:xfrm>
              <a:off x="704850" y="2905125"/>
              <a:ext cx="4924425" cy="3371850"/>
            </a:xfrm>
            <a:custGeom>
              <a:avLst/>
              <a:gdLst/>
              <a:ahLst/>
              <a:cxnLst/>
              <a:rect l="l" t="t" r="r" b="b"/>
              <a:pathLst>
                <a:path w="4924425" h="3371850">
                  <a:moveTo>
                    <a:pt x="4828308" y="3371850"/>
                  </a:moveTo>
                  <a:lnTo>
                    <a:pt x="96116" y="3371850"/>
                  </a:lnTo>
                  <a:lnTo>
                    <a:pt x="89430" y="3371192"/>
                  </a:lnTo>
                  <a:lnTo>
                    <a:pt x="51330" y="3358267"/>
                  </a:lnTo>
                  <a:lnTo>
                    <a:pt x="21088" y="3331749"/>
                  </a:lnTo>
                  <a:lnTo>
                    <a:pt x="3295" y="3295669"/>
                  </a:lnTo>
                  <a:lnTo>
                    <a:pt x="0" y="3275733"/>
                  </a:lnTo>
                  <a:lnTo>
                    <a:pt x="0" y="3268979"/>
                  </a:lnTo>
                  <a:lnTo>
                    <a:pt x="0" y="96116"/>
                  </a:lnTo>
                  <a:lnTo>
                    <a:pt x="10410" y="57264"/>
                  </a:lnTo>
                  <a:lnTo>
                    <a:pt x="34909" y="25355"/>
                  </a:lnTo>
                  <a:lnTo>
                    <a:pt x="69742" y="5248"/>
                  </a:lnTo>
                  <a:lnTo>
                    <a:pt x="96116" y="0"/>
                  </a:lnTo>
                  <a:lnTo>
                    <a:pt x="4828308" y="0"/>
                  </a:lnTo>
                  <a:lnTo>
                    <a:pt x="4867160" y="10410"/>
                  </a:lnTo>
                  <a:lnTo>
                    <a:pt x="4899069" y="34909"/>
                  </a:lnTo>
                  <a:lnTo>
                    <a:pt x="4919176" y="69742"/>
                  </a:lnTo>
                  <a:lnTo>
                    <a:pt x="4924425" y="96116"/>
                  </a:lnTo>
                  <a:lnTo>
                    <a:pt x="4924425" y="3275733"/>
                  </a:lnTo>
                  <a:lnTo>
                    <a:pt x="4914004" y="3314585"/>
                  </a:lnTo>
                  <a:lnTo>
                    <a:pt x="4889515" y="3346494"/>
                  </a:lnTo>
                  <a:lnTo>
                    <a:pt x="4854682" y="3366601"/>
                  </a:lnTo>
                  <a:lnTo>
                    <a:pt x="4834994" y="3371192"/>
                  </a:lnTo>
                  <a:lnTo>
                    <a:pt x="4828308" y="3371850"/>
                  </a:lnTo>
                  <a:close/>
                </a:path>
              </a:pathLst>
            </a:custGeom>
            <a:solidFill>
              <a:srgbClr val="1B1B27">
                <a:alpha val="948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914400" y="3629037"/>
              <a:ext cx="57150" cy="2486025"/>
            </a:xfrm>
            <a:custGeom>
              <a:avLst/>
              <a:gdLst/>
              <a:ahLst/>
              <a:cxnLst/>
              <a:rect l="l" t="t" r="r" b="b"/>
              <a:pathLst>
                <a:path w="57150" h="2486025">
                  <a:moveTo>
                    <a:pt x="57150" y="2453652"/>
                  </a:moveTo>
                  <a:lnTo>
                    <a:pt x="32359" y="2428875"/>
                  </a:lnTo>
                  <a:lnTo>
                    <a:pt x="24777" y="2428875"/>
                  </a:lnTo>
                  <a:lnTo>
                    <a:pt x="0" y="2453652"/>
                  </a:lnTo>
                  <a:lnTo>
                    <a:pt x="0" y="2461234"/>
                  </a:lnTo>
                  <a:lnTo>
                    <a:pt x="24777" y="2486025"/>
                  </a:lnTo>
                  <a:lnTo>
                    <a:pt x="32359" y="2486025"/>
                  </a:lnTo>
                  <a:lnTo>
                    <a:pt x="57150" y="2461234"/>
                  </a:lnTo>
                  <a:lnTo>
                    <a:pt x="57150" y="2457450"/>
                  </a:lnTo>
                  <a:lnTo>
                    <a:pt x="57150" y="2453652"/>
                  </a:lnTo>
                  <a:close/>
                </a:path>
                <a:path w="57150" h="2486025">
                  <a:moveTo>
                    <a:pt x="57150" y="1844052"/>
                  </a:moveTo>
                  <a:lnTo>
                    <a:pt x="32359" y="1819275"/>
                  </a:lnTo>
                  <a:lnTo>
                    <a:pt x="24777" y="1819275"/>
                  </a:lnTo>
                  <a:lnTo>
                    <a:pt x="0" y="1844052"/>
                  </a:lnTo>
                  <a:lnTo>
                    <a:pt x="0" y="1851634"/>
                  </a:lnTo>
                  <a:lnTo>
                    <a:pt x="24777" y="1876425"/>
                  </a:lnTo>
                  <a:lnTo>
                    <a:pt x="32359" y="1876425"/>
                  </a:lnTo>
                  <a:lnTo>
                    <a:pt x="57150" y="1851634"/>
                  </a:lnTo>
                  <a:lnTo>
                    <a:pt x="57150" y="1847850"/>
                  </a:lnTo>
                  <a:lnTo>
                    <a:pt x="57150" y="1844052"/>
                  </a:lnTo>
                  <a:close/>
                </a:path>
                <a:path w="57150" h="2486025">
                  <a:moveTo>
                    <a:pt x="57150" y="1243977"/>
                  </a:moveTo>
                  <a:lnTo>
                    <a:pt x="32359" y="1219200"/>
                  </a:lnTo>
                  <a:lnTo>
                    <a:pt x="24777" y="1219200"/>
                  </a:lnTo>
                  <a:lnTo>
                    <a:pt x="0" y="1243977"/>
                  </a:lnTo>
                  <a:lnTo>
                    <a:pt x="0" y="1251559"/>
                  </a:lnTo>
                  <a:lnTo>
                    <a:pt x="24777" y="1276350"/>
                  </a:lnTo>
                  <a:lnTo>
                    <a:pt x="32359" y="1276350"/>
                  </a:lnTo>
                  <a:lnTo>
                    <a:pt x="57150" y="1251559"/>
                  </a:lnTo>
                  <a:lnTo>
                    <a:pt x="57150" y="1247775"/>
                  </a:lnTo>
                  <a:lnTo>
                    <a:pt x="57150" y="1243977"/>
                  </a:lnTo>
                  <a:close/>
                </a:path>
                <a:path w="57150" h="2486025">
                  <a:moveTo>
                    <a:pt x="57150" y="634377"/>
                  </a:moveTo>
                  <a:lnTo>
                    <a:pt x="32359" y="609600"/>
                  </a:lnTo>
                  <a:lnTo>
                    <a:pt x="24777" y="609600"/>
                  </a:lnTo>
                  <a:lnTo>
                    <a:pt x="0" y="634377"/>
                  </a:lnTo>
                  <a:lnTo>
                    <a:pt x="0" y="641959"/>
                  </a:lnTo>
                  <a:lnTo>
                    <a:pt x="24777" y="666750"/>
                  </a:lnTo>
                  <a:lnTo>
                    <a:pt x="32359" y="666750"/>
                  </a:lnTo>
                  <a:lnTo>
                    <a:pt x="57150" y="641959"/>
                  </a:lnTo>
                  <a:lnTo>
                    <a:pt x="57150" y="638175"/>
                  </a:lnTo>
                  <a:lnTo>
                    <a:pt x="57150" y="634377"/>
                  </a:lnTo>
                  <a:close/>
                </a:path>
                <a:path w="57150" h="2486025">
                  <a:moveTo>
                    <a:pt x="57150" y="24777"/>
                  </a:moveTo>
                  <a:lnTo>
                    <a:pt x="32359" y="0"/>
                  </a:lnTo>
                  <a:lnTo>
                    <a:pt x="24777" y="0"/>
                  </a:lnTo>
                  <a:lnTo>
                    <a:pt x="0" y="24777"/>
                  </a:lnTo>
                  <a:lnTo>
                    <a:pt x="0" y="32359"/>
                  </a:lnTo>
                  <a:lnTo>
                    <a:pt x="24777" y="57150"/>
                  </a:lnTo>
                  <a:lnTo>
                    <a:pt x="32359" y="57150"/>
                  </a:lnTo>
                  <a:lnTo>
                    <a:pt x="57150" y="32359"/>
                  </a:lnTo>
                  <a:lnTo>
                    <a:pt x="57150" y="28575"/>
                  </a:lnTo>
                  <a:lnTo>
                    <a:pt x="57150" y="247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864047" y="3059112"/>
            <a:ext cx="4443095" cy="31222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70">
                <a:solidFill>
                  <a:srgbClr val="FFFFFF"/>
                </a:solidFill>
                <a:latin typeface="Trebuchet MS"/>
                <a:cs typeface="Trebuchet MS"/>
              </a:rPr>
              <a:t>A.</a:t>
            </a:r>
            <a:r>
              <a:rPr dirty="0" sz="1650" spc="-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50" spc="100">
                <a:solidFill>
                  <a:srgbClr val="FFFFFF"/>
                </a:solidFill>
                <a:latin typeface="Trebuchet MS"/>
                <a:cs typeface="Trebuchet MS"/>
              </a:rPr>
              <a:t>Company-</a:t>
            </a:r>
            <a:r>
              <a:rPr dirty="0" sz="1650" spc="55">
                <a:solidFill>
                  <a:srgbClr val="FFFFFF"/>
                </a:solidFill>
                <a:latin typeface="Trebuchet MS"/>
                <a:cs typeface="Trebuchet MS"/>
              </a:rPr>
              <a:t>Specific</a:t>
            </a:r>
            <a:r>
              <a:rPr dirty="0" sz="165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50" spc="105">
                <a:solidFill>
                  <a:srgbClr val="FFFFFF"/>
                </a:solidFill>
                <a:latin typeface="Trebuchet MS"/>
                <a:cs typeface="Trebuchet MS"/>
              </a:rPr>
              <a:t>Reasons</a:t>
            </a:r>
            <a:r>
              <a:rPr dirty="0" sz="1650" spc="-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50" spc="-10">
                <a:solidFill>
                  <a:srgbClr val="FFFFFF"/>
                </a:solidFill>
                <a:latin typeface="Trebuchet MS"/>
                <a:cs typeface="Trebuchet MS"/>
              </a:rPr>
              <a:t>(Confirmed)</a:t>
            </a:r>
            <a:endParaRPr sz="1650">
              <a:latin typeface="Trebuchet MS"/>
              <a:cs typeface="Trebuchet MS"/>
            </a:endParaRPr>
          </a:p>
          <a:p>
            <a:pPr marL="286385" marR="162560">
              <a:lnSpc>
                <a:spcPct val="134300"/>
              </a:lnSpc>
              <a:spcBef>
                <a:spcPts val="1065"/>
              </a:spcBef>
            </a:pPr>
            <a:r>
              <a:rPr dirty="0" sz="1350">
                <a:solidFill>
                  <a:srgbClr val="FFFFFF"/>
                </a:solidFill>
                <a:latin typeface="Roboto"/>
                <a:cs typeface="Roboto"/>
              </a:rPr>
              <a:t>Need</a:t>
            </a:r>
            <a:r>
              <a:rPr dirty="0" sz="1350" spc="-3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FFFFFF"/>
                </a:solidFill>
                <a:latin typeface="Roboto"/>
                <a:cs typeface="Roboto"/>
              </a:rPr>
              <a:t>for</a:t>
            </a:r>
            <a:r>
              <a:rPr dirty="0" sz="1350" spc="-3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FFFFFF"/>
                </a:solidFill>
                <a:latin typeface="Roboto"/>
                <a:cs typeface="Roboto"/>
              </a:rPr>
              <a:t>a</a:t>
            </a:r>
            <a:r>
              <a:rPr dirty="0" sz="1350" spc="-3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FFFFFF"/>
                </a:solidFill>
                <a:latin typeface="Roboto"/>
                <a:cs typeface="Roboto"/>
              </a:rPr>
              <a:t>single</a:t>
            </a:r>
            <a:r>
              <a:rPr dirty="0" sz="1350" spc="-3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FFFFFF"/>
                </a:solidFill>
                <a:latin typeface="Roboto"/>
                <a:cs typeface="Roboto"/>
              </a:rPr>
              <a:t>global</a:t>
            </a:r>
            <a:r>
              <a:rPr dirty="0" sz="1350" spc="-3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FFFFFF"/>
                </a:solidFill>
                <a:latin typeface="Roboto"/>
                <a:cs typeface="Roboto"/>
              </a:rPr>
              <a:t>financial</a:t>
            </a:r>
            <a:r>
              <a:rPr dirty="0" sz="1350" spc="-3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FFFFFF"/>
                </a:solidFill>
                <a:latin typeface="Roboto"/>
                <a:cs typeface="Roboto"/>
              </a:rPr>
              <a:t>platform</a:t>
            </a:r>
            <a:r>
              <a:rPr dirty="0" sz="1350" spc="-3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FFFFFF"/>
                </a:solidFill>
                <a:latin typeface="Roboto"/>
                <a:cs typeface="Roboto"/>
              </a:rPr>
              <a:t>to</a:t>
            </a:r>
            <a:r>
              <a:rPr dirty="0" sz="1350" spc="-3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FFFFFF"/>
                </a:solidFill>
                <a:latin typeface="Roboto"/>
                <a:cs typeface="Roboto"/>
              </a:rPr>
              <a:t>replace fragmented</a:t>
            </a:r>
            <a:r>
              <a:rPr dirty="0" sz="1350" spc="-4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FFFFFF"/>
                </a:solidFill>
                <a:latin typeface="Roboto"/>
                <a:cs typeface="Roboto"/>
              </a:rPr>
              <a:t>legacy</a:t>
            </a:r>
            <a:r>
              <a:rPr dirty="0" sz="1350" spc="-4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FFFFFF"/>
                </a:solidFill>
                <a:latin typeface="Roboto"/>
                <a:cs typeface="Roboto"/>
              </a:rPr>
              <a:t>systems</a:t>
            </a:r>
            <a:endParaRPr sz="1350">
              <a:latin typeface="Roboto"/>
              <a:cs typeface="Roboto"/>
            </a:endParaRPr>
          </a:p>
          <a:p>
            <a:pPr marL="286385" marR="5080">
              <a:lnSpc>
                <a:spcPct val="129600"/>
              </a:lnSpc>
              <a:spcBef>
                <a:spcPts val="525"/>
              </a:spcBef>
            </a:pPr>
            <a:r>
              <a:rPr dirty="0" sz="1350" spc="-10">
                <a:solidFill>
                  <a:srgbClr val="FFFFFF"/>
                </a:solidFill>
                <a:latin typeface="Roboto"/>
                <a:cs typeface="Roboto"/>
              </a:rPr>
              <a:t>Requirement</a:t>
            </a:r>
            <a:r>
              <a:rPr dirty="0" sz="1350" spc="-3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FFFFFF"/>
                </a:solidFill>
                <a:latin typeface="Roboto"/>
                <a:cs typeface="Roboto"/>
              </a:rPr>
              <a:t>for</a:t>
            </a:r>
            <a:r>
              <a:rPr dirty="0" sz="1350" spc="-3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50" spc="-40">
                <a:solidFill>
                  <a:srgbClr val="FFFFFF"/>
                </a:solidFill>
                <a:latin typeface="Roboto"/>
                <a:cs typeface="Roboto"/>
              </a:rPr>
              <a:t>real-</a:t>
            </a:r>
            <a:r>
              <a:rPr dirty="0" sz="1350" spc="-20">
                <a:solidFill>
                  <a:srgbClr val="FFFFFF"/>
                </a:solidFill>
                <a:latin typeface="Roboto"/>
                <a:cs typeface="Roboto"/>
              </a:rPr>
              <a:t>time</a:t>
            </a:r>
            <a:r>
              <a:rPr dirty="0" sz="1350" spc="-3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FFFFFF"/>
                </a:solidFill>
                <a:latin typeface="Roboto"/>
                <a:cs typeface="Roboto"/>
              </a:rPr>
              <a:t>financial</a:t>
            </a:r>
            <a:r>
              <a:rPr dirty="0" sz="1350" spc="-3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FFFFFF"/>
                </a:solidFill>
                <a:latin typeface="Roboto"/>
                <a:cs typeface="Roboto"/>
              </a:rPr>
              <a:t>reporting</a:t>
            </a:r>
            <a:r>
              <a:rPr dirty="0" sz="1350" spc="-3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FFFFFF"/>
                </a:solidFill>
                <a:latin typeface="Roboto"/>
                <a:cs typeface="Roboto"/>
              </a:rPr>
              <a:t>across</a:t>
            </a:r>
            <a:r>
              <a:rPr dirty="0" sz="1350" spc="-3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FFFFFF"/>
                </a:solidFill>
                <a:latin typeface="Roboto"/>
                <a:cs typeface="Roboto"/>
              </a:rPr>
              <a:t>all </a:t>
            </a:r>
            <a:r>
              <a:rPr dirty="0" sz="1350" spc="-10">
                <a:solidFill>
                  <a:srgbClr val="FFFFFF"/>
                </a:solidFill>
                <a:latin typeface="Roboto"/>
                <a:cs typeface="Roboto"/>
              </a:rPr>
              <a:t>markets</a:t>
            </a:r>
            <a:endParaRPr sz="1350">
              <a:latin typeface="Roboto"/>
              <a:cs typeface="Roboto"/>
            </a:endParaRPr>
          </a:p>
          <a:p>
            <a:pPr marL="286385" marR="145415">
              <a:lnSpc>
                <a:spcPct val="129600"/>
              </a:lnSpc>
              <a:spcBef>
                <a:spcPts val="600"/>
              </a:spcBef>
            </a:pPr>
            <a:r>
              <a:rPr dirty="0" sz="1350">
                <a:solidFill>
                  <a:srgbClr val="FFFFFF"/>
                </a:solidFill>
                <a:latin typeface="Roboto"/>
                <a:cs typeface="Roboto"/>
              </a:rPr>
              <a:t>Support</a:t>
            </a:r>
            <a:r>
              <a:rPr dirty="0" sz="1350" spc="-4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FFFFFF"/>
                </a:solidFill>
                <a:latin typeface="Roboto"/>
                <a:cs typeface="Roboto"/>
              </a:rPr>
              <a:t>for</a:t>
            </a:r>
            <a:r>
              <a:rPr dirty="0" sz="1350" spc="-3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FFFFFF"/>
                </a:solidFill>
                <a:latin typeface="Roboto"/>
                <a:cs typeface="Roboto"/>
              </a:rPr>
              <a:t>Nestlé's</a:t>
            </a:r>
            <a:r>
              <a:rPr dirty="0" sz="1350" spc="-3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FFFFFF"/>
                </a:solidFill>
                <a:latin typeface="Roboto"/>
                <a:cs typeface="Roboto"/>
              </a:rPr>
              <a:t>"Creating</a:t>
            </a:r>
            <a:r>
              <a:rPr dirty="0" sz="1350" spc="-4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FFFFFF"/>
                </a:solidFill>
                <a:latin typeface="Roboto"/>
                <a:cs typeface="Roboto"/>
              </a:rPr>
              <a:t>Shared</a:t>
            </a:r>
            <a:r>
              <a:rPr dirty="0" sz="1350" spc="-3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FFFFFF"/>
                </a:solidFill>
                <a:latin typeface="Roboto"/>
                <a:cs typeface="Roboto"/>
              </a:rPr>
              <a:t>Value"</a:t>
            </a:r>
            <a:r>
              <a:rPr dirty="0" sz="1350" spc="-3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FFFFFF"/>
                </a:solidFill>
                <a:latin typeface="Roboto"/>
                <a:cs typeface="Roboto"/>
              </a:rPr>
              <a:t>strategy through</a:t>
            </a:r>
            <a:r>
              <a:rPr dirty="0" sz="1350" spc="-5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FFFFFF"/>
                </a:solidFill>
                <a:latin typeface="Roboto"/>
                <a:cs typeface="Roboto"/>
              </a:rPr>
              <a:t>better</a:t>
            </a:r>
            <a:r>
              <a:rPr dirty="0" sz="1350" spc="-5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FFFFFF"/>
                </a:solidFill>
                <a:latin typeface="Roboto"/>
                <a:cs typeface="Roboto"/>
              </a:rPr>
              <a:t>data</a:t>
            </a:r>
            <a:endParaRPr sz="1350">
              <a:latin typeface="Roboto"/>
              <a:cs typeface="Roboto"/>
            </a:endParaRPr>
          </a:p>
          <a:p>
            <a:pPr marL="286385" marR="104139">
              <a:lnSpc>
                <a:spcPct val="134300"/>
              </a:lnSpc>
              <a:spcBef>
                <a:spcPts val="450"/>
              </a:spcBef>
            </a:pPr>
            <a:r>
              <a:rPr dirty="0" sz="1350">
                <a:solidFill>
                  <a:srgbClr val="FFFFFF"/>
                </a:solidFill>
                <a:latin typeface="Roboto"/>
                <a:cs typeface="Roboto"/>
              </a:rPr>
              <a:t>Need</a:t>
            </a:r>
            <a:r>
              <a:rPr dirty="0" sz="1350" spc="-2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FFFFFF"/>
                </a:solidFill>
                <a:latin typeface="Roboto"/>
                <a:cs typeface="Roboto"/>
              </a:rPr>
              <a:t>to</a:t>
            </a:r>
            <a:r>
              <a:rPr dirty="0" sz="1350" spc="-2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FFFFFF"/>
                </a:solidFill>
                <a:latin typeface="Roboto"/>
                <a:cs typeface="Roboto"/>
              </a:rPr>
              <a:t>standardise</a:t>
            </a:r>
            <a:r>
              <a:rPr dirty="0" sz="1350" spc="-2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FFFFFF"/>
                </a:solidFill>
                <a:latin typeface="Roboto"/>
                <a:cs typeface="Roboto"/>
              </a:rPr>
              <a:t>financial</a:t>
            </a:r>
            <a:r>
              <a:rPr dirty="0" sz="1350" spc="-2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FFFFFF"/>
                </a:solidFill>
                <a:latin typeface="Roboto"/>
                <a:cs typeface="Roboto"/>
              </a:rPr>
              <a:t>processes</a:t>
            </a:r>
            <a:r>
              <a:rPr dirty="0" sz="1350" spc="-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FFFFFF"/>
                </a:solidFill>
                <a:latin typeface="Roboto"/>
                <a:cs typeface="Roboto"/>
              </a:rPr>
              <a:t>across</a:t>
            </a:r>
            <a:r>
              <a:rPr dirty="0" sz="1350" spc="-2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FFFFFF"/>
                </a:solidFill>
                <a:latin typeface="Roboto"/>
                <a:cs typeface="Roboto"/>
              </a:rPr>
              <a:t>190+ </a:t>
            </a:r>
            <a:r>
              <a:rPr dirty="0" sz="1350" spc="-10">
                <a:solidFill>
                  <a:srgbClr val="FFFFFF"/>
                </a:solidFill>
                <a:latin typeface="Roboto"/>
                <a:cs typeface="Roboto"/>
              </a:rPr>
              <a:t>countries</a:t>
            </a:r>
            <a:endParaRPr sz="1350">
              <a:latin typeface="Roboto"/>
              <a:cs typeface="Roboto"/>
            </a:endParaRPr>
          </a:p>
          <a:p>
            <a:pPr marL="286385">
              <a:lnSpc>
                <a:spcPct val="100000"/>
              </a:lnSpc>
              <a:spcBef>
                <a:spcPts val="1005"/>
              </a:spcBef>
            </a:pPr>
            <a:r>
              <a:rPr dirty="0" sz="1350" spc="-10">
                <a:solidFill>
                  <a:srgbClr val="FFFFFF"/>
                </a:solidFill>
                <a:latin typeface="Roboto"/>
                <a:cs typeface="Roboto"/>
              </a:rPr>
              <a:t>Improved</a:t>
            </a:r>
            <a:r>
              <a:rPr dirty="0" sz="1350" spc="-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FFFFFF"/>
                </a:solidFill>
                <a:latin typeface="Roboto"/>
                <a:cs typeface="Roboto"/>
              </a:rPr>
              <a:t>financial</a:t>
            </a:r>
            <a:r>
              <a:rPr dirty="0" sz="1350" spc="-1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FFFFFF"/>
                </a:solidFill>
                <a:latin typeface="Roboto"/>
                <a:cs typeface="Roboto"/>
              </a:rPr>
              <a:t>consolidation</a:t>
            </a:r>
            <a:r>
              <a:rPr dirty="0" sz="1350" spc="-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FFFFFF"/>
                </a:solidFill>
                <a:latin typeface="Roboto"/>
                <a:cs typeface="Roboto"/>
              </a:rPr>
              <a:t>for</a:t>
            </a:r>
            <a:r>
              <a:rPr dirty="0" sz="1350" spc="-1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FFFFFF"/>
                </a:solidFill>
                <a:latin typeface="Roboto"/>
                <a:cs typeface="Roboto"/>
              </a:rPr>
              <a:t>group</a:t>
            </a:r>
            <a:r>
              <a:rPr dirty="0" sz="1350" spc="-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FFFFFF"/>
                </a:solidFill>
                <a:latin typeface="Roboto"/>
                <a:cs typeface="Roboto"/>
              </a:rPr>
              <a:t>reporting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972175" y="36290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5" y="57150"/>
                </a:moveTo>
                <a:lnTo>
                  <a:pt x="24784" y="57150"/>
                </a:lnTo>
                <a:lnTo>
                  <a:pt x="21135" y="56426"/>
                </a:lnTo>
                <a:lnTo>
                  <a:pt x="0" y="32365"/>
                </a:lnTo>
                <a:lnTo>
                  <a:pt x="0" y="24784"/>
                </a:lnTo>
                <a:lnTo>
                  <a:pt x="24784" y="0"/>
                </a:lnTo>
                <a:lnTo>
                  <a:pt x="32365" y="0"/>
                </a:lnTo>
                <a:lnTo>
                  <a:pt x="57150" y="24784"/>
                </a:lnTo>
                <a:lnTo>
                  <a:pt x="57150" y="28575"/>
                </a:lnTo>
                <a:lnTo>
                  <a:pt x="57150" y="32365"/>
                </a:lnTo>
                <a:lnTo>
                  <a:pt x="36004" y="56426"/>
                </a:lnTo>
                <a:lnTo>
                  <a:pt x="32365" y="57150"/>
                </a:lnTo>
                <a:close/>
              </a:path>
            </a:pathLst>
          </a:custGeom>
          <a:solidFill>
            <a:srgbClr val="3B38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972175" y="396240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5" y="57150"/>
                </a:moveTo>
                <a:lnTo>
                  <a:pt x="24784" y="57150"/>
                </a:lnTo>
                <a:lnTo>
                  <a:pt x="21135" y="56426"/>
                </a:lnTo>
                <a:lnTo>
                  <a:pt x="0" y="32365"/>
                </a:lnTo>
                <a:lnTo>
                  <a:pt x="0" y="24784"/>
                </a:lnTo>
                <a:lnTo>
                  <a:pt x="24784" y="0"/>
                </a:lnTo>
                <a:lnTo>
                  <a:pt x="32365" y="0"/>
                </a:lnTo>
                <a:lnTo>
                  <a:pt x="57150" y="24784"/>
                </a:lnTo>
                <a:lnTo>
                  <a:pt x="57150" y="28575"/>
                </a:lnTo>
                <a:lnTo>
                  <a:pt x="57150" y="32365"/>
                </a:lnTo>
                <a:lnTo>
                  <a:pt x="36004" y="56426"/>
                </a:lnTo>
                <a:lnTo>
                  <a:pt x="32365" y="57150"/>
                </a:lnTo>
                <a:close/>
              </a:path>
            </a:pathLst>
          </a:custGeom>
          <a:solidFill>
            <a:srgbClr val="3B38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972175" y="42957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5" y="57150"/>
                </a:moveTo>
                <a:lnTo>
                  <a:pt x="24784" y="57150"/>
                </a:lnTo>
                <a:lnTo>
                  <a:pt x="21135" y="56426"/>
                </a:lnTo>
                <a:lnTo>
                  <a:pt x="0" y="32365"/>
                </a:lnTo>
                <a:lnTo>
                  <a:pt x="0" y="24784"/>
                </a:lnTo>
                <a:lnTo>
                  <a:pt x="24784" y="0"/>
                </a:lnTo>
                <a:lnTo>
                  <a:pt x="32365" y="0"/>
                </a:lnTo>
                <a:lnTo>
                  <a:pt x="57150" y="24784"/>
                </a:lnTo>
                <a:lnTo>
                  <a:pt x="57150" y="28575"/>
                </a:lnTo>
                <a:lnTo>
                  <a:pt x="57150" y="32365"/>
                </a:lnTo>
                <a:lnTo>
                  <a:pt x="36004" y="56426"/>
                </a:lnTo>
                <a:lnTo>
                  <a:pt x="32365" y="57150"/>
                </a:lnTo>
                <a:close/>
              </a:path>
            </a:pathLst>
          </a:custGeom>
          <a:solidFill>
            <a:srgbClr val="3B38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972175" y="462915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5" y="57150"/>
                </a:moveTo>
                <a:lnTo>
                  <a:pt x="24784" y="57150"/>
                </a:lnTo>
                <a:lnTo>
                  <a:pt x="21135" y="56426"/>
                </a:lnTo>
                <a:lnTo>
                  <a:pt x="0" y="32365"/>
                </a:lnTo>
                <a:lnTo>
                  <a:pt x="0" y="24784"/>
                </a:lnTo>
                <a:lnTo>
                  <a:pt x="24784" y="0"/>
                </a:lnTo>
                <a:lnTo>
                  <a:pt x="32365" y="0"/>
                </a:lnTo>
                <a:lnTo>
                  <a:pt x="57150" y="24784"/>
                </a:lnTo>
                <a:lnTo>
                  <a:pt x="57150" y="28575"/>
                </a:lnTo>
                <a:lnTo>
                  <a:pt x="57150" y="32365"/>
                </a:lnTo>
                <a:lnTo>
                  <a:pt x="36004" y="56426"/>
                </a:lnTo>
                <a:lnTo>
                  <a:pt x="32365" y="57150"/>
                </a:lnTo>
                <a:close/>
              </a:path>
            </a:pathLst>
          </a:custGeom>
          <a:solidFill>
            <a:srgbClr val="3B38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972175" y="49625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5" y="57150"/>
                </a:moveTo>
                <a:lnTo>
                  <a:pt x="24784" y="57150"/>
                </a:lnTo>
                <a:lnTo>
                  <a:pt x="21135" y="56426"/>
                </a:lnTo>
                <a:lnTo>
                  <a:pt x="0" y="32365"/>
                </a:lnTo>
                <a:lnTo>
                  <a:pt x="0" y="24784"/>
                </a:lnTo>
                <a:lnTo>
                  <a:pt x="24784" y="0"/>
                </a:lnTo>
                <a:lnTo>
                  <a:pt x="32365" y="0"/>
                </a:lnTo>
                <a:lnTo>
                  <a:pt x="57150" y="24784"/>
                </a:lnTo>
                <a:lnTo>
                  <a:pt x="57150" y="28575"/>
                </a:lnTo>
                <a:lnTo>
                  <a:pt x="57150" y="32365"/>
                </a:lnTo>
                <a:lnTo>
                  <a:pt x="36004" y="56426"/>
                </a:lnTo>
                <a:lnTo>
                  <a:pt x="32365" y="57150"/>
                </a:lnTo>
                <a:close/>
              </a:path>
            </a:pathLst>
          </a:custGeom>
          <a:solidFill>
            <a:srgbClr val="3B38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5920928" y="3059112"/>
            <a:ext cx="4353560" cy="20269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55">
                <a:solidFill>
                  <a:srgbClr val="1B1B27"/>
                </a:solidFill>
                <a:latin typeface="Trebuchet MS"/>
                <a:cs typeface="Trebuchet MS"/>
              </a:rPr>
              <a:t>B.</a:t>
            </a:r>
            <a:r>
              <a:rPr dirty="0" sz="1650" spc="20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1B1B27"/>
                </a:solidFill>
                <a:latin typeface="Trebuchet MS"/>
                <a:cs typeface="Trebuchet MS"/>
              </a:rPr>
              <a:t>General</a:t>
            </a:r>
            <a:r>
              <a:rPr dirty="0" sz="1650" spc="-40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1650" spc="165">
                <a:solidFill>
                  <a:srgbClr val="1B1B27"/>
                </a:solidFill>
                <a:latin typeface="Trebuchet MS"/>
                <a:cs typeface="Trebuchet MS"/>
              </a:rPr>
              <a:t>SAP</a:t>
            </a:r>
            <a:r>
              <a:rPr dirty="0" sz="1650" spc="-35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1650" spc="95">
                <a:solidFill>
                  <a:srgbClr val="1B1B27"/>
                </a:solidFill>
                <a:latin typeface="Trebuchet MS"/>
                <a:cs typeface="Trebuchet MS"/>
              </a:rPr>
              <a:t>FICO</a:t>
            </a:r>
            <a:r>
              <a:rPr dirty="0" sz="1650" spc="20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1650" spc="-10">
                <a:solidFill>
                  <a:srgbClr val="1B1B27"/>
                </a:solidFill>
                <a:latin typeface="Trebuchet MS"/>
                <a:cs typeface="Trebuchet MS"/>
              </a:rPr>
              <a:t>Benefits</a:t>
            </a:r>
            <a:endParaRPr sz="1650">
              <a:latin typeface="Trebuchet MS"/>
              <a:cs typeface="Trebuchet MS"/>
            </a:endParaRPr>
          </a:p>
          <a:p>
            <a:pPr marL="286385" marR="473709">
              <a:lnSpc>
                <a:spcPct val="162000"/>
              </a:lnSpc>
              <a:spcBef>
                <a:spcPts val="615"/>
              </a:spcBef>
            </a:pP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Centraliзed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financial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information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in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one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зyзtem Faзter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acceзз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to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real-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time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financial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data</a:t>
            </a:r>
            <a:endParaRPr sz="1350">
              <a:latin typeface="Roboto"/>
              <a:cs typeface="Roboto"/>
            </a:endParaRPr>
          </a:p>
          <a:p>
            <a:pPr marL="286385">
              <a:lnSpc>
                <a:spcPct val="100000"/>
              </a:lnSpc>
              <a:spcBef>
                <a:spcPts val="1005"/>
              </a:spcBef>
            </a:pP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Improved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coзt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management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internal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controlз</a:t>
            </a:r>
            <a:endParaRPr sz="1350">
              <a:latin typeface="Roboto"/>
              <a:cs typeface="Roboto"/>
            </a:endParaRPr>
          </a:p>
          <a:p>
            <a:pPr marL="286385" marR="5080">
              <a:lnSpc>
                <a:spcPct val="162000"/>
              </a:lnSpc>
            </a:pP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Integration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with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зupply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chain,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HR,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зaleз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functionз Ѕtandardiзed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proceззeз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зupporting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buзineзз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growth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15978" y="6511925"/>
            <a:ext cx="9730740" cy="14979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229">
                <a:solidFill>
                  <a:srgbClr val="1B1B27"/>
                </a:solidFill>
                <a:latin typeface="Trebuchet MS"/>
                <a:cs typeface="Trebuchet MS"/>
              </a:rPr>
              <a:t>SAP</a:t>
            </a:r>
            <a:r>
              <a:rPr dirty="0" sz="2700" spc="-15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2700">
                <a:solidFill>
                  <a:srgbClr val="1B1B27"/>
                </a:solidFill>
                <a:latin typeface="Trebuchet MS"/>
                <a:cs typeface="Trebuchet MS"/>
              </a:rPr>
              <a:t>Solution</a:t>
            </a:r>
            <a:r>
              <a:rPr dirty="0" sz="2700" spc="90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2700" spc="75">
                <a:solidFill>
                  <a:srgbClr val="1B1B27"/>
                </a:solidFill>
                <a:latin typeface="Trebuchet MS"/>
                <a:cs typeface="Trebuchet MS"/>
              </a:rPr>
              <a:t>Selected</a:t>
            </a:r>
            <a:endParaRPr sz="2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385"/>
              </a:spcBef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Neзtlé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implemented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b="1">
                <a:solidFill>
                  <a:srgbClr val="3B3838"/>
                </a:solidFill>
                <a:latin typeface="Roboto"/>
                <a:cs typeface="Roboto"/>
              </a:rPr>
              <a:t>SAP</a:t>
            </a:r>
            <a:r>
              <a:rPr dirty="0" sz="1350" spc="-35" b="1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b="1">
                <a:solidFill>
                  <a:srgbClr val="3B3838"/>
                </a:solidFill>
                <a:latin typeface="Roboto"/>
                <a:cs typeface="Roboto"/>
              </a:rPr>
              <a:t>S/4HANA</a:t>
            </a:r>
            <a:r>
              <a:rPr dirty="0" sz="1350" spc="-30" b="1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b="1">
                <a:solidFill>
                  <a:srgbClr val="3B3838"/>
                </a:solidFill>
                <a:latin typeface="Roboto"/>
                <a:cs typeface="Roboto"/>
              </a:rPr>
              <a:t>Finance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,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which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encompaззeз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both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FI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(Financial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Accounting)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CO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(Controlling)</a:t>
            </a:r>
            <a:endParaRPr sz="1350">
              <a:latin typeface="Roboto"/>
              <a:cs typeface="Roboto"/>
            </a:endParaRPr>
          </a:p>
          <a:p>
            <a:pPr marL="12700" marR="5080">
              <a:lnSpc>
                <a:spcPct val="134300"/>
              </a:lnSpc>
            </a:pP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capabilitieз.</a:t>
            </a:r>
            <a:r>
              <a:rPr dirty="0" sz="1350" spc="-6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Thiз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iз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next-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generation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verзion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of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ЅAP'з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finance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зuite,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offering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real-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time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proceззing,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зimplified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data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modelз,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and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embedded</a:t>
            </a:r>
            <a:r>
              <a:rPr dirty="0" sz="1350" spc="-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analyticз.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3437" y="8243888"/>
            <a:ext cx="9763125" cy="4581525"/>
          </a:xfrm>
          <a:custGeom>
            <a:avLst/>
            <a:gdLst/>
            <a:ahLst/>
            <a:cxnLst/>
            <a:rect l="l" t="t" r="r" b="b"/>
            <a:pathLst>
              <a:path w="9763125" h="4581525">
                <a:moveTo>
                  <a:pt x="0" y="4526280"/>
                </a:moveTo>
                <a:lnTo>
                  <a:pt x="0" y="55245"/>
                </a:lnTo>
                <a:lnTo>
                  <a:pt x="0" y="51615"/>
                </a:lnTo>
                <a:lnTo>
                  <a:pt x="352" y="48025"/>
                </a:lnTo>
                <a:lnTo>
                  <a:pt x="16182" y="16182"/>
                </a:lnTo>
                <a:lnTo>
                  <a:pt x="18745" y="13611"/>
                </a:lnTo>
                <a:lnTo>
                  <a:pt x="51615" y="0"/>
                </a:lnTo>
                <a:lnTo>
                  <a:pt x="55244" y="0"/>
                </a:lnTo>
                <a:lnTo>
                  <a:pt x="9707880" y="0"/>
                </a:lnTo>
                <a:lnTo>
                  <a:pt x="9711509" y="0"/>
                </a:lnTo>
                <a:lnTo>
                  <a:pt x="9715099" y="352"/>
                </a:lnTo>
                <a:lnTo>
                  <a:pt x="9746942" y="16182"/>
                </a:lnTo>
                <a:lnTo>
                  <a:pt x="9749504" y="18745"/>
                </a:lnTo>
                <a:lnTo>
                  <a:pt x="9758914" y="34099"/>
                </a:lnTo>
                <a:lnTo>
                  <a:pt x="9760305" y="37452"/>
                </a:lnTo>
                <a:lnTo>
                  <a:pt x="9761353" y="40909"/>
                </a:lnTo>
                <a:lnTo>
                  <a:pt x="9762067" y="44462"/>
                </a:lnTo>
                <a:lnTo>
                  <a:pt x="9762772" y="48025"/>
                </a:lnTo>
                <a:lnTo>
                  <a:pt x="9763125" y="51615"/>
                </a:lnTo>
                <a:lnTo>
                  <a:pt x="9763125" y="55245"/>
                </a:lnTo>
                <a:lnTo>
                  <a:pt x="9763125" y="4526280"/>
                </a:lnTo>
                <a:lnTo>
                  <a:pt x="9763125" y="4529909"/>
                </a:lnTo>
                <a:lnTo>
                  <a:pt x="9762772" y="4533499"/>
                </a:lnTo>
                <a:lnTo>
                  <a:pt x="9762067" y="4537052"/>
                </a:lnTo>
                <a:lnTo>
                  <a:pt x="9761353" y="4540615"/>
                </a:lnTo>
                <a:lnTo>
                  <a:pt x="9760305" y="4544072"/>
                </a:lnTo>
                <a:lnTo>
                  <a:pt x="9758914" y="4547415"/>
                </a:lnTo>
                <a:lnTo>
                  <a:pt x="9757533" y="4550768"/>
                </a:lnTo>
                <a:lnTo>
                  <a:pt x="9755828" y="4553959"/>
                </a:lnTo>
                <a:lnTo>
                  <a:pt x="9753809" y="4556969"/>
                </a:lnTo>
                <a:lnTo>
                  <a:pt x="9751799" y="4559988"/>
                </a:lnTo>
                <a:lnTo>
                  <a:pt x="9738569" y="4572209"/>
                </a:lnTo>
                <a:lnTo>
                  <a:pt x="9735550" y="4574228"/>
                </a:lnTo>
                <a:lnTo>
                  <a:pt x="9732368" y="4575933"/>
                </a:lnTo>
                <a:lnTo>
                  <a:pt x="9729025" y="4577314"/>
                </a:lnTo>
                <a:lnTo>
                  <a:pt x="9725672" y="4578705"/>
                </a:lnTo>
                <a:lnTo>
                  <a:pt x="9722215" y="4579753"/>
                </a:lnTo>
                <a:lnTo>
                  <a:pt x="9718652" y="4580458"/>
                </a:lnTo>
                <a:lnTo>
                  <a:pt x="9715099" y="4581172"/>
                </a:lnTo>
                <a:lnTo>
                  <a:pt x="9711509" y="4581525"/>
                </a:lnTo>
                <a:lnTo>
                  <a:pt x="9707880" y="4581525"/>
                </a:lnTo>
                <a:lnTo>
                  <a:pt x="55244" y="4581525"/>
                </a:lnTo>
                <a:lnTo>
                  <a:pt x="51615" y="4581525"/>
                </a:lnTo>
                <a:lnTo>
                  <a:pt x="48025" y="4581172"/>
                </a:lnTo>
                <a:lnTo>
                  <a:pt x="44462" y="4580458"/>
                </a:lnTo>
                <a:lnTo>
                  <a:pt x="40909" y="4579753"/>
                </a:lnTo>
                <a:lnTo>
                  <a:pt x="37452" y="4578705"/>
                </a:lnTo>
                <a:lnTo>
                  <a:pt x="34099" y="4577314"/>
                </a:lnTo>
                <a:lnTo>
                  <a:pt x="30756" y="4575933"/>
                </a:lnTo>
                <a:lnTo>
                  <a:pt x="27565" y="4574228"/>
                </a:lnTo>
                <a:lnTo>
                  <a:pt x="24555" y="4572209"/>
                </a:lnTo>
                <a:lnTo>
                  <a:pt x="21536" y="4570199"/>
                </a:lnTo>
                <a:lnTo>
                  <a:pt x="18745" y="4567904"/>
                </a:lnTo>
                <a:lnTo>
                  <a:pt x="16182" y="4565342"/>
                </a:lnTo>
                <a:lnTo>
                  <a:pt x="13611" y="4562779"/>
                </a:lnTo>
                <a:lnTo>
                  <a:pt x="0" y="4529909"/>
                </a:lnTo>
                <a:lnTo>
                  <a:pt x="0" y="4526280"/>
                </a:lnTo>
                <a:close/>
              </a:path>
            </a:pathLst>
          </a:custGeom>
          <a:ln w="9525">
            <a:solidFill>
              <a:srgbClr val="B3B3B3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838200" y="8248650"/>
          <a:ext cx="9829800" cy="4571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81880"/>
                <a:gridCol w="4872355"/>
              </a:tblGrid>
              <a:tr h="499745"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1350" b="1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SAP</a:t>
                      </a:r>
                      <a:r>
                        <a:rPr dirty="0" sz="1350" spc="20" b="1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 b="1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Component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33350"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1350" spc="-10" b="1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Purpose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33350">
                    <a:lnL w="9525">
                      <a:solidFill>
                        <a:srgbClr val="B3B3B3"/>
                      </a:solidFill>
                      <a:prstDash val="solid"/>
                    </a:lnL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General</a:t>
                      </a:r>
                      <a:r>
                        <a:rPr dirty="0" sz="1350" spc="-2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Ledger</a:t>
                      </a:r>
                      <a:r>
                        <a:rPr dirty="0" sz="1350" spc="-2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4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(FI-</a:t>
                      </a:r>
                      <a:r>
                        <a:rPr dirty="0" sz="1350" spc="-2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GL)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37795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Central</a:t>
                      </a:r>
                      <a:r>
                        <a:rPr dirty="0" sz="1350" spc="-2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record</a:t>
                      </a:r>
                      <a:r>
                        <a:rPr dirty="0" sz="1350" spc="-1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of</a:t>
                      </a:r>
                      <a:r>
                        <a:rPr dirty="0" sz="1350" spc="-1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all</a:t>
                      </a:r>
                      <a:r>
                        <a:rPr dirty="0" sz="1350" spc="-1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financial</a:t>
                      </a:r>
                      <a:r>
                        <a:rPr dirty="0" sz="1350" spc="-1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tranзactionз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37795">
                    <a:lnL w="9525">
                      <a:solidFill>
                        <a:srgbClr val="B3B3B3"/>
                      </a:solidFill>
                      <a:prstDash val="solid"/>
                    </a:lnL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Accountз</a:t>
                      </a:r>
                      <a:r>
                        <a:rPr dirty="0" sz="1350" spc="-4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Payable</a:t>
                      </a:r>
                      <a:r>
                        <a:rPr dirty="0" sz="1350" spc="-4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3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(FI-</a:t>
                      </a:r>
                      <a:r>
                        <a:rPr dirty="0" sz="1350" spc="-2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AP)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37795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Managing</a:t>
                      </a:r>
                      <a:r>
                        <a:rPr dirty="0" sz="1350" spc="-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paymentз</a:t>
                      </a:r>
                      <a:r>
                        <a:rPr dirty="0" sz="1350" spc="-4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to</a:t>
                      </a:r>
                      <a:r>
                        <a:rPr dirty="0" sz="1350" spc="-4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зupplierз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37795">
                    <a:lnL w="9525">
                      <a:solidFill>
                        <a:srgbClr val="B3B3B3"/>
                      </a:solidFill>
                      <a:prstDash val="solid"/>
                    </a:lnL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Accountз</a:t>
                      </a:r>
                      <a:r>
                        <a:rPr dirty="0" sz="1350" spc="-3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Receivable</a:t>
                      </a:r>
                      <a:r>
                        <a:rPr dirty="0" sz="1350" spc="-2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4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(FI-</a:t>
                      </a:r>
                      <a:r>
                        <a:rPr dirty="0" sz="1350" spc="-2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AR)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37795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Managing</a:t>
                      </a:r>
                      <a:r>
                        <a:rPr dirty="0" sz="1350" spc="-4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cuзtomer</a:t>
                      </a:r>
                      <a:r>
                        <a:rPr dirty="0" sz="1350" spc="-4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paymentз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37795">
                    <a:lnL w="9525">
                      <a:solidFill>
                        <a:srgbClr val="B3B3B3"/>
                      </a:solidFill>
                      <a:prstDash val="solid"/>
                    </a:lnL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Aззet</a:t>
                      </a:r>
                      <a:r>
                        <a:rPr dirty="0" sz="1350" spc="-4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Accounting</a:t>
                      </a:r>
                      <a:r>
                        <a:rPr dirty="0" sz="1350" spc="-4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3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(FI-</a:t>
                      </a:r>
                      <a:r>
                        <a:rPr dirty="0" sz="1350" spc="-2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AA)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28270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1350" spc="-2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Tracking</a:t>
                      </a:r>
                      <a:r>
                        <a:rPr dirty="0" sz="1350" spc="-4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fixed</a:t>
                      </a:r>
                      <a:r>
                        <a:rPr dirty="0" sz="1350" spc="-3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aззetз</a:t>
                      </a:r>
                      <a:r>
                        <a:rPr dirty="0" sz="1350" spc="-4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and</a:t>
                      </a:r>
                      <a:r>
                        <a:rPr dirty="0" sz="1350" spc="-3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depreciation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28270">
                    <a:lnL w="9525">
                      <a:solidFill>
                        <a:srgbClr val="B3B3B3"/>
                      </a:solidFill>
                      <a:prstDash val="solid"/>
                    </a:lnL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Coзt</a:t>
                      </a:r>
                      <a:r>
                        <a:rPr dirty="0" sz="1350" spc="-4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Center</a:t>
                      </a:r>
                      <a:r>
                        <a:rPr dirty="0" sz="1350" spc="-4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Accounting</a:t>
                      </a:r>
                      <a:r>
                        <a:rPr dirty="0" sz="1350" spc="-4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3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(CO-</a:t>
                      </a:r>
                      <a:r>
                        <a:rPr dirty="0" sz="1350" spc="-2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OM)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37795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-2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Tracking</a:t>
                      </a:r>
                      <a:r>
                        <a:rPr dirty="0" sz="1350" spc="-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coзtз</a:t>
                      </a:r>
                      <a:r>
                        <a:rPr dirty="0" sz="1350" spc="-4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by</a:t>
                      </a:r>
                      <a:r>
                        <a:rPr dirty="0" sz="1350" spc="-4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department</a:t>
                      </a:r>
                      <a:r>
                        <a:rPr dirty="0" sz="1350" spc="-4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or</a:t>
                      </a:r>
                      <a:r>
                        <a:rPr dirty="0" sz="1350" spc="-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function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37795">
                    <a:lnL w="9525">
                      <a:solidFill>
                        <a:srgbClr val="B3B3B3"/>
                      </a:solidFill>
                      <a:prstDash val="solid"/>
                    </a:lnL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Profit</a:t>
                      </a:r>
                      <a:r>
                        <a:rPr dirty="0" sz="1350" spc="-5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Center</a:t>
                      </a:r>
                      <a:r>
                        <a:rPr dirty="0" sz="1350" spc="-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Accounting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37795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Analyзing</a:t>
                      </a:r>
                      <a:r>
                        <a:rPr dirty="0" sz="1350" spc="-4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profitability</a:t>
                      </a:r>
                      <a:r>
                        <a:rPr dirty="0" sz="1350" spc="-3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by</a:t>
                      </a:r>
                      <a:r>
                        <a:rPr dirty="0" sz="1350" spc="-3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2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buзineзз</a:t>
                      </a:r>
                      <a:r>
                        <a:rPr dirty="0" sz="1350" spc="-3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2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unit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37795">
                    <a:lnL w="9525">
                      <a:solidFill>
                        <a:srgbClr val="B3B3B3"/>
                      </a:solidFill>
                      <a:prstDash val="solid"/>
                    </a:lnL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Internal</a:t>
                      </a:r>
                      <a:r>
                        <a:rPr dirty="0" sz="1350" spc="-2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Orderз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37795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-2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Tracking</a:t>
                      </a:r>
                      <a:r>
                        <a:rPr dirty="0" sz="1350" spc="-4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coзtз</a:t>
                      </a:r>
                      <a:r>
                        <a:rPr dirty="0" sz="1350" spc="-3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for</a:t>
                      </a:r>
                      <a:r>
                        <a:rPr dirty="0" sz="1350" spc="-3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зpecific</a:t>
                      </a:r>
                      <a:r>
                        <a:rPr dirty="0" sz="1350" spc="-4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projectз</a:t>
                      </a:r>
                      <a:r>
                        <a:rPr dirty="0" sz="1350" spc="-3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or</a:t>
                      </a:r>
                      <a:r>
                        <a:rPr dirty="0" sz="1350" spc="-3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activitieз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37795">
                    <a:lnL w="9525">
                      <a:solidFill>
                        <a:srgbClr val="B3B3B3"/>
                      </a:solidFill>
                      <a:prstDash val="solid"/>
                    </a:lnL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509270"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Profitability</a:t>
                      </a:r>
                      <a:r>
                        <a:rPr dirty="0" sz="1350" spc="-2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Analyзiз</a:t>
                      </a:r>
                      <a:r>
                        <a:rPr dirty="0" sz="1350" spc="-2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(CO-</a:t>
                      </a:r>
                      <a:r>
                        <a:rPr dirty="0" sz="1350" spc="-2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PA)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37795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Analyзing</a:t>
                      </a:r>
                      <a:r>
                        <a:rPr dirty="0" sz="1350" spc="-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profitability</a:t>
                      </a:r>
                      <a:r>
                        <a:rPr dirty="0" sz="1350" spc="-4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by</a:t>
                      </a:r>
                      <a:r>
                        <a:rPr dirty="0" sz="1350" spc="-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market</a:t>
                      </a:r>
                      <a:r>
                        <a:rPr dirty="0" sz="1350" spc="-4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зegment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37795">
                    <a:lnL w="9525">
                      <a:solidFill>
                        <a:srgbClr val="B3B3B3"/>
                      </a:solidFill>
                      <a:prstDash val="solid"/>
                    </a:lnL>
                    <a:lnT w="9525">
                      <a:solidFill>
                        <a:srgbClr val="B3B3B3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55"/>
              <a:t>Implementation</a:t>
            </a:r>
            <a:r>
              <a:rPr dirty="0" spc="-105"/>
              <a:t> </a:t>
            </a:r>
            <a:r>
              <a:rPr dirty="0" spc="140"/>
              <a:t>Process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23317" y="2366367"/>
            <a:ext cx="9783445" cy="696595"/>
            <a:chOff x="823317" y="2366367"/>
            <a:chExt cx="9783445" cy="696595"/>
          </a:xfrm>
        </p:grpSpPr>
        <p:sp>
          <p:nvSpPr>
            <p:cNvPr id="4" name="object 4"/>
            <p:cNvSpPr/>
            <p:nvPr/>
          </p:nvSpPr>
          <p:spPr>
            <a:xfrm>
              <a:off x="828675" y="2371725"/>
              <a:ext cx="3257550" cy="685800"/>
            </a:xfrm>
            <a:custGeom>
              <a:avLst/>
              <a:gdLst/>
              <a:ahLst/>
              <a:cxnLst/>
              <a:rect l="l" t="t" r="r" b="b"/>
              <a:pathLst>
                <a:path w="3257550" h="685800">
                  <a:moveTo>
                    <a:pt x="3086100" y="685800"/>
                  </a:moveTo>
                  <a:lnTo>
                    <a:pt x="0" y="685800"/>
                  </a:lnTo>
                  <a:lnTo>
                    <a:pt x="171450" y="342900"/>
                  </a:lnTo>
                  <a:lnTo>
                    <a:pt x="0" y="0"/>
                  </a:lnTo>
                  <a:lnTo>
                    <a:pt x="3086100" y="0"/>
                  </a:lnTo>
                  <a:lnTo>
                    <a:pt x="3257550" y="342900"/>
                  </a:lnTo>
                  <a:lnTo>
                    <a:pt x="3086100" y="685800"/>
                  </a:lnTo>
                  <a:close/>
                </a:path>
              </a:pathLst>
            </a:custGeom>
            <a:solidFill>
              <a:srgbClr val="E0E0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828675" y="2371725"/>
              <a:ext cx="3257550" cy="685800"/>
            </a:xfrm>
            <a:custGeom>
              <a:avLst/>
              <a:gdLst/>
              <a:ahLst/>
              <a:cxnLst/>
              <a:rect l="l" t="t" r="r" b="b"/>
              <a:pathLst>
                <a:path w="3257550" h="685800">
                  <a:moveTo>
                    <a:pt x="3086100" y="0"/>
                  </a:moveTo>
                  <a:lnTo>
                    <a:pt x="3257550" y="342900"/>
                  </a:lnTo>
                  <a:lnTo>
                    <a:pt x="3086100" y="685800"/>
                  </a:lnTo>
                  <a:lnTo>
                    <a:pt x="0" y="685800"/>
                  </a:lnTo>
                  <a:lnTo>
                    <a:pt x="171450" y="342900"/>
                  </a:lnTo>
                  <a:lnTo>
                    <a:pt x="0" y="0"/>
                  </a:lnTo>
                  <a:lnTo>
                    <a:pt x="3086100" y="0"/>
                  </a:lnTo>
                  <a:close/>
                </a:path>
              </a:pathLst>
            </a:custGeom>
            <a:ln w="10715">
              <a:solidFill>
                <a:srgbClr val="C6C6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086225" y="2371725"/>
              <a:ext cx="3257550" cy="685800"/>
            </a:xfrm>
            <a:custGeom>
              <a:avLst/>
              <a:gdLst/>
              <a:ahLst/>
              <a:cxnLst/>
              <a:rect l="l" t="t" r="r" b="b"/>
              <a:pathLst>
                <a:path w="3257550" h="685800">
                  <a:moveTo>
                    <a:pt x="3086100" y="685800"/>
                  </a:moveTo>
                  <a:lnTo>
                    <a:pt x="0" y="685800"/>
                  </a:lnTo>
                  <a:lnTo>
                    <a:pt x="171450" y="342900"/>
                  </a:lnTo>
                  <a:lnTo>
                    <a:pt x="0" y="0"/>
                  </a:lnTo>
                  <a:lnTo>
                    <a:pt x="3086100" y="0"/>
                  </a:lnTo>
                  <a:lnTo>
                    <a:pt x="3257550" y="342900"/>
                  </a:lnTo>
                  <a:lnTo>
                    <a:pt x="3086100" y="685800"/>
                  </a:lnTo>
                  <a:close/>
                </a:path>
              </a:pathLst>
            </a:custGeom>
            <a:solidFill>
              <a:srgbClr val="E0E0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086225" y="2371725"/>
              <a:ext cx="3257550" cy="685800"/>
            </a:xfrm>
            <a:custGeom>
              <a:avLst/>
              <a:gdLst/>
              <a:ahLst/>
              <a:cxnLst/>
              <a:rect l="l" t="t" r="r" b="b"/>
              <a:pathLst>
                <a:path w="3257550" h="685800">
                  <a:moveTo>
                    <a:pt x="3086100" y="0"/>
                  </a:moveTo>
                  <a:lnTo>
                    <a:pt x="3257550" y="342900"/>
                  </a:lnTo>
                  <a:lnTo>
                    <a:pt x="3086100" y="685800"/>
                  </a:lnTo>
                  <a:lnTo>
                    <a:pt x="0" y="685800"/>
                  </a:lnTo>
                  <a:lnTo>
                    <a:pt x="171450" y="342900"/>
                  </a:lnTo>
                  <a:lnTo>
                    <a:pt x="0" y="0"/>
                  </a:lnTo>
                  <a:lnTo>
                    <a:pt x="3086100" y="0"/>
                  </a:lnTo>
                  <a:close/>
                </a:path>
              </a:pathLst>
            </a:custGeom>
            <a:ln w="10715">
              <a:solidFill>
                <a:srgbClr val="C6C6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343775" y="2371725"/>
              <a:ext cx="3257550" cy="685800"/>
            </a:xfrm>
            <a:custGeom>
              <a:avLst/>
              <a:gdLst/>
              <a:ahLst/>
              <a:cxnLst/>
              <a:rect l="l" t="t" r="r" b="b"/>
              <a:pathLst>
                <a:path w="3257550" h="685800">
                  <a:moveTo>
                    <a:pt x="3086100" y="685800"/>
                  </a:moveTo>
                  <a:lnTo>
                    <a:pt x="0" y="685800"/>
                  </a:lnTo>
                  <a:lnTo>
                    <a:pt x="171450" y="342900"/>
                  </a:lnTo>
                  <a:lnTo>
                    <a:pt x="0" y="0"/>
                  </a:lnTo>
                  <a:lnTo>
                    <a:pt x="3086100" y="0"/>
                  </a:lnTo>
                  <a:lnTo>
                    <a:pt x="3257550" y="342900"/>
                  </a:lnTo>
                  <a:lnTo>
                    <a:pt x="3086100" y="685800"/>
                  </a:lnTo>
                  <a:close/>
                </a:path>
              </a:pathLst>
            </a:custGeom>
            <a:solidFill>
              <a:srgbClr val="E0E0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7343775" y="2371725"/>
              <a:ext cx="3257550" cy="685800"/>
            </a:xfrm>
            <a:custGeom>
              <a:avLst/>
              <a:gdLst/>
              <a:ahLst/>
              <a:cxnLst/>
              <a:rect l="l" t="t" r="r" b="b"/>
              <a:pathLst>
                <a:path w="3257550" h="685800">
                  <a:moveTo>
                    <a:pt x="3086100" y="0"/>
                  </a:moveTo>
                  <a:lnTo>
                    <a:pt x="3257550" y="342900"/>
                  </a:lnTo>
                  <a:lnTo>
                    <a:pt x="3086100" y="685800"/>
                  </a:lnTo>
                  <a:lnTo>
                    <a:pt x="0" y="685800"/>
                  </a:lnTo>
                  <a:lnTo>
                    <a:pt x="171450" y="342900"/>
                  </a:lnTo>
                  <a:lnTo>
                    <a:pt x="0" y="0"/>
                  </a:lnTo>
                  <a:lnTo>
                    <a:pt x="3086100" y="0"/>
                  </a:lnTo>
                  <a:close/>
                </a:path>
              </a:pathLst>
            </a:custGeom>
            <a:ln w="10715">
              <a:solidFill>
                <a:srgbClr val="C6C6D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815975" y="1288414"/>
            <a:ext cx="9763760" cy="15760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Large-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зсale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SAP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implementationз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follow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зtruсtured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methodology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to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manage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сomplexity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riзk.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While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Neзtlé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haз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not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publiсly diзсloзed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every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detail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of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itз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internal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projeсt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timeline,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general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SAP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implementation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approaсh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—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сombined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with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publiсly</a:t>
            </a:r>
            <a:endParaRPr sz="13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available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information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about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Neзtlé'з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tranзformation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—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provideз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сlear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piсture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of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how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зuсh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projeсt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unfoldз.</a:t>
            </a:r>
            <a:endParaRPr sz="135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3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1350">
              <a:latin typeface="Roboto"/>
              <a:cs typeface="Roboto"/>
            </a:endParaRPr>
          </a:p>
          <a:p>
            <a:pPr marL="1586230">
              <a:lnSpc>
                <a:spcPct val="100000"/>
              </a:lnSpc>
              <a:tabLst>
                <a:tab pos="4831715" algn="l"/>
                <a:tab pos="8087359" algn="l"/>
              </a:tabLst>
            </a:pPr>
            <a:r>
              <a:rPr dirty="0" sz="2000" spc="-50">
                <a:solidFill>
                  <a:srgbClr val="3B3838"/>
                </a:solidFill>
                <a:latin typeface="Trebuchet MS"/>
                <a:cs typeface="Trebuchet MS"/>
              </a:rPr>
              <a:t>1</a:t>
            </a:r>
            <a:r>
              <a:rPr dirty="0" sz="2000">
                <a:solidFill>
                  <a:srgbClr val="3B3838"/>
                </a:solidFill>
                <a:latin typeface="Trebuchet MS"/>
                <a:cs typeface="Trebuchet MS"/>
              </a:rPr>
              <a:t>	</a:t>
            </a:r>
            <a:r>
              <a:rPr dirty="0" sz="2000" spc="-50">
                <a:solidFill>
                  <a:srgbClr val="3B3838"/>
                </a:solidFill>
                <a:latin typeface="Trebuchet MS"/>
                <a:cs typeface="Trebuchet MS"/>
              </a:rPr>
              <a:t>2</a:t>
            </a:r>
            <a:r>
              <a:rPr dirty="0" sz="2000">
                <a:solidFill>
                  <a:srgbClr val="3B3838"/>
                </a:solidFill>
                <a:latin typeface="Trebuchet MS"/>
                <a:cs typeface="Trebuchet MS"/>
              </a:rPr>
              <a:t>	</a:t>
            </a:r>
            <a:r>
              <a:rPr dirty="0" sz="2000" spc="-50">
                <a:solidFill>
                  <a:srgbClr val="3B3838"/>
                </a:solidFill>
                <a:latin typeface="Trebuchet MS"/>
                <a:cs typeface="Trebuchet MS"/>
              </a:rPr>
              <a:t>3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87423" y="3211512"/>
            <a:ext cx="2571750" cy="89344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55">
                <a:solidFill>
                  <a:srgbClr val="3B3838"/>
                </a:solidFill>
                <a:latin typeface="Trebuchet MS"/>
                <a:cs typeface="Trebuchet MS"/>
              </a:rPr>
              <a:t>Requirements</a:t>
            </a:r>
            <a:r>
              <a:rPr dirty="0" sz="1650" spc="-90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650" spc="50">
                <a:solidFill>
                  <a:srgbClr val="3B3838"/>
                </a:solidFill>
                <a:latin typeface="Trebuchet MS"/>
                <a:cs typeface="Trebuchet MS"/>
              </a:rPr>
              <a:t>Analysis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4300"/>
              </a:lnSpc>
              <a:spcBef>
                <a:spcPts val="465"/>
              </a:spcBef>
            </a:pP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Identifying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buзineзз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finanсial requirementз</a:t>
            </a:r>
            <a:r>
              <a:rPr dirty="0" sz="1350" spc="-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aсroзз</a:t>
            </a:r>
            <a:r>
              <a:rPr dirty="0" sz="1350" spc="-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marketз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44975" y="3211512"/>
            <a:ext cx="2779395" cy="89344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50">
                <a:solidFill>
                  <a:srgbClr val="3B3838"/>
                </a:solidFill>
                <a:latin typeface="Trebuchet MS"/>
                <a:cs typeface="Trebuchet MS"/>
              </a:rPr>
              <a:t>Planning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4300"/>
              </a:lnSpc>
              <a:spcBef>
                <a:spcPts val="465"/>
              </a:spcBef>
            </a:pP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Defining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projeсt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зсope,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timeline,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and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objeсtiveз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502527" y="3211512"/>
            <a:ext cx="2849245" cy="89344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90">
                <a:solidFill>
                  <a:srgbClr val="3B3838"/>
                </a:solidFill>
                <a:latin typeface="Trebuchet MS"/>
                <a:cs typeface="Trebuchet MS"/>
              </a:rPr>
              <a:t>Process</a:t>
            </a:r>
            <a:r>
              <a:rPr dirty="0" sz="1650" spc="-114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650" spc="50">
                <a:solidFill>
                  <a:srgbClr val="3B3838"/>
                </a:solidFill>
                <a:latin typeface="Trebuchet MS"/>
                <a:cs typeface="Trebuchet MS"/>
              </a:rPr>
              <a:t>Analysis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4300"/>
              </a:lnSpc>
              <a:spcBef>
                <a:spcPts val="465"/>
              </a:spcBef>
            </a:pP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Studying</a:t>
            </a:r>
            <a:r>
              <a:rPr dirty="0" sz="135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exiзting</a:t>
            </a:r>
            <a:r>
              <a:rPr dirty="0" sz="135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finanсial</a:t>
            </a:r>
            <a:r>
              <a:rPr dirty="0" sz="135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proсeззeз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gapз</a:t>
            </a:r>
            <a:endParaRPr sz="1350">
              <a:latin typeface="Roboto"/>
              <a:cs typeface="Roboto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823277" y="4309427"/>
            <a:ext cx="3268345" cy="696595"/>
            <a:chOff x="823277" y="4309427"/>
            <a:chExt cx="3268345" cy="696595"/>
          </a:xfrm>
        </p:grpSpPr>
        <p:sp>
          <p:nvSpPr>
            <p:cNvPr id="15" name="object 15"/>
            <p:cNvSpPr/>
            <p:nvPr/>
          </p:nvSpPr>
          <p:spPr>
            <a:xfrm>
              <a:off x="828675" y="4314825"/>
              <a:ext cx="3257550" cy="685800"/>
            </a:xfrm>
            <a:custGeom>
              <a:avLst/>
              <a:gdLst/>
              <a:ahLst/>
              <a:cxnLst/>
              <a:rect l="l" t="t" r="r" b="b"/>
              <a:pathLst>
                <a:path w="3257550" h="685800">
                  <a:moveTo>
                    <a:pt x="3086100" y="685800"/>
                  </a:moveTo>
                  <a:lnTo>
                    <a:pt x="0" y="685800"/>
                  </a:lnTo>
                  <a:lnTo>
                    <a:pt x="171450" y="342900"/>
                  </a:lnTo>
                  <a:lnTo>
                    <a:pt x="0" y="0"/>
                  </a:lnTo>
                  <a:lnTo>
                    <a:pt x="3086100" y="0"/>
                  </a:lnTo>
                  <a:lnTo>
                    <a:pt x="3257550" y="342900"/>
                  </a:lnTo>
                  <a:lnTo>
                    <a:pt x="3086100" y="685800"/>
                  </a:lnTo>
                  <a:close/>
                </a:path>
              </a:pathLst>
            </a:custGeom>
            <a:solidFill>
              <a:srgbClr val="E0E0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828675" y="4314825"/>
              <a:ext cx="3257550" cy="685800"/>
            </a:xfrm>
            <a:custGeom>
              <a:avLst/>
              <a:gdLst/>
              <a:ahLst/>
              <a:cxnLst/>
              <a:rect l="l" t="t" r="r" b="b"/>
              <a:pathLst>
                <a:path w="3257550" h="685800">
                  <a:moveTo>
                    <a:pt x="3086100" y="0"/>
                  </a:moveTo>
                  <a:lnTo>
                    <a:pt x="3257550" y="342900"/>
                  </a:lnTo>
                  <a:lnTo>
                    <a:pt x="3086100" y="685800"/>
                  </a:lnTo>
                  <a:lnTo>
                    <a:pt x="0" y="685800"/>
                  </a:lnTo>
                  <a:lnTo>
                    <a:pt x="171450" y="342900"/>
                  </a:lnTo>
                  <a:lnTo>
                    <a:pt x="0" y="0"/>
                  </a:lnTo>
                  <a:lnTo>
                    <a:pt x="3086100" y="0"/>
                  </a:lnTo>
                  <a:close/>
                </a:path>
              </a:pathLst>
            </a:custGeom>
            <a:ln w="10715">
              <a:solidFill>
                <a:srgbClr val="C6C6D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2374502" y="4483100"/>
            <a:ext cx="16637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>
                <a:solidFill>
                  <a:srgbClr val="3B3838"/>
                </a:solidFill>
                <a:latin typeface="Trebuchet MS"/>
                <a:cs typeface="Trebuchet MS"/>
              </a:rPr>
              <a:t>4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080827" y="4309427"/>
            <a:ext cx="3268345" cy="696595"/>
            <a:chOff x="4080827" y="4309427"/>
            <a:chExt cx="3268345" cy="696595"/>
          </a:xfrm>
        </p:grpSpPr>
        <p:sp>
          <p:nvSpPr>
            <p:cNvPr id="20" name="object 20"/>
            <p:cNvSpPr/>
            <p:nvPr/>
          </p:nvSpPr>
          <p:spPr>
            <a:xfrm>
              <a:off x="4086225" y="4314825"/>
              <a:ext cx="3257550" cy="685800"/>
            </a:xfrm>
            <a:custGeom>
              <a:avLst/>
              <a:gdLst/>
              <a:ahLst/>
              <a:cxnLst/>
              <a:rect l="l" t="t" r="r" b="b"/>
              <a:pathLst>
                <a:path w="3257550" h="685800">
                  <a:moveTo>
                    <a:pt x="3086100" y="685800"/>
                  </a:moveTo>
                  <a:lnTo>
                    <a:pt x="0" y="685800"/>
                  </a:lnTo>
                  <a:lnTo>
                    <a:pt x="171450" y="342900"/>
                  </a:lnTo>
                  <a:lnTo>
                    <a:pt x="0" y="0"/>
                  </a:lnTo>
                  <a:lnTo>
                    <a:pt x="3086100" y="0"/>
                  </a:lnTo>
                  <a:lnTo>
                    <a:pt x="3257550" y="342900"/>
                  </a:lnTo>
                  <a:lnTo>
                    <a:pt x="3086100" y="685800"/>
                  </a:lnTo>
                  <a:close/>
                </a:path>
              </a:pathLst>
            </a:custGeom>
            <a:solidFill>
              <a:srgbClr val="E0E0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086225" y="4314825"/>
              <a:ext cx="3257550" cy="685800"/>
            </a:xfrm>
            <a:custGeom>
              <a:avLst/>
              <a:gdLst/>
              <a:ahLst/>
              <a:cxnLst/>
              <a:rect l="l" t="t" r="r" b="b"/>
              <a:pathLst>
                <a:path w="3257550" h="685800">
                  <a:moveTo>
                    <a:pt x="3086100" y="0"/>
                  </a:moveTo>
                  <a:lnTo>
                    <a:pt x="3257550" y="342900"/>
                  </a:lnTo>
                  <a:lnTo>
                    <a:pt x="3086100" y="685800"/>
                  </a:lnTo>
                  <a:lnTo>
                    <a:pt x="0" y="685800"/>
                  </a:lnTo>
                  <a:lnTo>
                    <a:pt x="171450" y="342900"/>
                  </a:lnTo>
                  <a:lnTo>
                    <a:pt x="0" y="0"/>
                  </a:lnTo>
                  <a:lnTo>
                    <a:pt x="3086100" y="0"/>
                  </a:lnTo>
                  <a:close/>
                </a:path>
              </a:pathLst>
            </a:custGeom>
            <a:ln w="10715">
              <a:solidFill>
                <a:srgbClr val="C6C6D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5632202" y="4483100"/>
            <a:ext cx="16573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>
                <a:solidFill>
                  <a:srgbClr val="3B3838"/>
                </a:solidFill>
                <a:latin typeface="Trebuchet MS"/>
                <a:cs typeface="Trebuchet MS"/>
              </a:rPr>
              <a:t>5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7338417" y="4309467"/>
            <a:ext cx="3268345" cy="696595"/>
            <a:chOff x="7338417" y="4309467"/>
            <a:chExt cx="3268345" cy="696595"/>
          </a:xfrm>
        </p:grpSpPr>
        <p:sp>
          <p:nvSpPr>
            <p:cNvPr id="25" name="object 25"/>
            <p:cNvSpPr/>
            <p:nvPr/>
          </p:nvSpPr>
          <p:spPr>
            <a:xfrm>
              <a:off x="7343775" y="4314825"/>
              <a:ext cx="3257550" cy="685800"/>
            </a:xfrm>
            <a:custGeom>
              <a:avLst/>
              <a:gdLst/>
              <a:ahLst/>
              <a:cxnLst/>
              <a:rect l="l" t="t" r="r" b="b"/>
              <a:pathLst>
                <a:path w="3257550" h="685800">
                  <a:moveTo>
                    <a:pt x="3086100" y="685800"/>
                  </a:moveTo>
                  <a:lnTo>
                    <a:pt x="0" y="685800"/>
                  </a:lnTo>
                  <a:lnTo>
                    <a:pt x="171450" y="342900"/>
                  </a:lnTo>
                  <a:lnTo>
                    <a:pt x="0" y="0"/>
                  </a:lnTo>
                  <a:lnTo>
                    <a:pt x="3086100" y="0"/>
                  </a:lnTo>
                  <a:lnTo>
                    <a:pt x="3257550" y="342900"/>
                  </a:lnTo>
                  <a:lnTo>
                    <a:pt x="3086100" y="685800"/>
                  </a:lnTo>
                  <a:close/>
                </a:path>
              </a:pathLst>
            </a:custGeom>
            <a:solidFill>
              <a:srgbClr val="E0E0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7343775" y="4314825"/>
              <a:ext cx="3257550" cy="685800"/>
            </a:xfrm>
            <a:custGeom>
              <a:avLst/>
              <a:gdLst/>
              <a:ahLst/>
              <a:cxnLst/>
              <a:rect l="l" t="t" r="r" b="b"/>
              <a:pathLst>
                <a:path w="3257550" h="685800">
                  <a:moveTo>
                    <a:pt x="3086100" y="0"/>
                  </a:moveTo>
                  <a:lnTo>
                    <a:pt x="3257550" y="342900"/>
                  </a:lnTo>
                  <a:lnTo>
                    <a:pt x="3086100" y="685800"/>
                  </a:lnTo>
                  <a:lnTo>
                    <a:pt x="0" y="685800"/>
                  </a:lnTo>
                  <a:lnTo>
                    <a:pt x="171450" y="342900"/>
                  </a:lnTo>
                  <a:lnTo>
                    <a:pt x="0" y="0"/>
                  </a:lnTo>
                  <a:lnTo>
                    <a:pt x="3086100" y="0"/>
                  </a:lnTo>
                  <a:close/>
                </a:path>
              </a:pathLst>
            </a:custGeom>
            <a:ln w="10715">
              <a:solidFill>
                <a:srgbClr val="C6C6D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8882310" y="4483100"/>
            <a:ext cx="18097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114">
                <a:solidFill>
                  <a:srgbClr val="3B3838"/>
                </a:solidFill>
                <a:latin typeface="Trebuchet MS"/>
                <a:cs typeface="Trebuchet MS"/>
              </a:rPr>
              <a:t>6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87424" y="5154612"/>
            <a:ext cx="2781300" cy="90296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10">
                <a:solidFill>
                  <a:srgbClr val="3B3838"/>
                </a:solidFill>
                <a:latin typeface="Trebuchet MS"/>
                <a:cs typeface="Trebuchet MS"/>
              </a:rPr>
              <a:t>Configuration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Setting</a:t>
            </a:r>
            <a:r>
              <a:rPr dirty="0" sz="135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up</a:t>
            </a:r>
            <a:r>
              <a:rPr dirty="0" sz="135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SAP</a:t>
            </a:r>
            <a:r>
              <a:rPr dirty="0" sz="135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S/4HANA</a:t>
            </a:r>
            <a:r>
              <a:rPr dirty="0" sz="135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Finanсe</a:t>
            </a:r>
            <a:r>
              <a:rPr dirty="0" sz="135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to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matсh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requirementз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244971" y="5154612"/>
            <a:ext cx="2418080" cy="90296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>
                <a:solidFill>
                  <a:srgbClr val="3B3838"/>
                </a:solidFill>
                <a:latin typeface="Trebuchet MS"/>
                <a:cs typeface="Trebuchet MS"/>
              </a:rPr>
              <a:t>Data</a:t>
            </a:r>
            <a:r>
              <a:rPr dirty="0" sz="1650" spc="120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650" spc="-10">
                <a:solidFill>
                  <a:srgbClr val="3B3838"/>
                </a:solidFill>
                <a:latin typeface="Trebuchet MS"/>
                <a:cs typeface="Trebuchet MS"/>
              </a:rPr>
              <a:t>Migration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Moving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finanсial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maзter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endParaRPr sz="13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tranзaсtion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data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to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new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зyзtem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502528" y="5154612"/>
            <a:ext cx="2923540" cy="90296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>
                <a:solidFill>
                  <a:srgbClr val="3B3838"/>
                </a:solidFill>
                <a:latin typeface="Trebuchet MS"/>
                <a:cs typeface="Trebuchet MS"/>
              </a:rPr>
              <a:t>Integration</a:t>
            </a:r>
            <a:r>
              <a:rPr dirty="0" sz="1650" spc="35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650" spc="455">
                <a:solidFill>
                  <a:srgbClr val="3B3838"/>
                </a:solidFill>
                <a:latin typeface="Trebuchet MS"/>
                <a:cs typeface="Trebuchet MS"/>
              </a:rPr>
              <a:t>s</a:t>
            </a:r>
            <a:r>
              <a:rPr dirty="0" sz="1650" spc="-20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650" spc="-10">
                <a:solidFill>
                  <a:srgbClr val="3B3838"/>
                </a:solidFill>
                <a:latin typeface="Trebuchet MS"/>
                <a:cs typeface="Trebuchet MS"/>
              </a:rPr>
              <a:t>Testing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Conneсting</a:t>
            </a:r>
            <a:r>
              <a:rPr dirty="0" sz="1350" spc="-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moduleз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validating</a:t>
            </a:r>
            <a:r>
              <a:rPr dirty="0" sz="1350" spc="-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all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proсeззeз</a:t>
            </a:r>
            <a:endParaRPr sz="1350">
              <a:latin typeface="Roboto"/>
              <a:cs typeface="Roboto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823277" y="6262052"/>
            <a:ext cx="3268345" cy="696595"/>
            <a:chOff x="823277" y="6262052"/>
            <a:chExt cx="3268345" cy="696595"/>
          </a:xfrm>
        </p:grpSpPr>
        <p:sp>
          <p:nvSpPr>
            <p:cNvPr id="30" name="object 30"/>
            <p:cNvSpPr/>
            <p:nvPr/>
          </p:nvSpPr>
          <p:spPr>
            <a:xfrm>
              <a:off x="828675" y="6267450"/>
              <a:ext cx="3257550" cy="685800"/>
            </a:xfrm>
            <a:custGeom>
              <a:avLst/>
              <a:gdLst/>
              <a:ahLst/>
              <a:cxnLst/>
              <a:rect l="l" t="t" r="r" b="b"/>
              <a:pathLst>
                <a:path w="3257550" h="685800">
                  <a:moveTo>
                    <a:pt x="3086100" y="685800"/>
                  </a:moveTo>
                  <a:lnTo>
                    <a:pt x="0" y="685800"/>
                  </a:lnTo>
                  <a:lnTo>
                    <a:pt x="171450" y="342900"/>
                  </a:lnTo>
                  <a:lnTo>
                    <a:pt x="0" y="0"/>
                  </a:lnTo>
                  <a:lnTo>
                    <a:pt x="3086100" y="0"/>
                  </a:lnTo>
                  <a:lnTo>
                    <a:pt x="3257550" y="342900"/>
                  </a:lnTo>
                  <a:lnTo>
                    <a:pt x="3086100" y="685800"/>
                  </a:lnTo>
                  <a:close/>
                </a:path>
              </a:pathLst>
            </a:custGeom>
            <a:solidFill>
              <a:srgbClr val="E0E0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828675" y="6267450"/>
              <a:ext cx="3257550" cy="685800"/>
            </a:xfrm>
            <a:custGeom>
              <a:avLst/>
              <a:gdLst/>
              <a:ahLst/>
              <a:cxnLst/>
              <a:rect l="l" t="t" r="r" b="b"/>
              <a:pathLst>
                <a:path w="3257550" h="685800">
                  <a:moveTo>
                    <a:pt x="3086100" y="0"/>
                  </a:moveTo>
                  <a:lnTo>
                    <a:pt x="3257550" y="342900"/>
                  </a:lnTo>
                  <a:lnTo>
                    <a:pt x="3086100" y="685800"/>
                  </a:lnTo>
                  <a:lnTo>
                    <a:pt x="0" y="685800"/>
                  </a:lnTo>
                  <a:lnTo>
                    <a:pt x="171450" y="342900"/>
                  </a:lnTo>
                  <a:lnTo>
                    <a:pt x="0" y="0"/>
                  </a:lnTo>
                  <a:lnTo>
                    <a:pt x="3086100" y="0"/>
                  </a:lnTo>
                  <a:close/>
                </a:path>
              </a:pathLst>
            </a:custGeom>
            <a:ln w="10715">
              <a:solidFill>
                <a:srgbClr val="C6C6D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2375842" y="6426199"/>
            <a:ext cx="16319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50">
                <a:solidFill>
                  <a:srgbClr val="3B3838"/>
                </a:solidFill>
                <a:latin typeface="Trebuchet MS"/>
                <a:cs typeface="Trebuchet MS"/>
              </a:rPr>
              <a:t>7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080827" y="6262052"/>
            <a:ext cx="3268345" cy="696595"/>
            <a:chOff x="4080827" y="6262052"/>
            <a:chExt cx="3268345" cy="696595"/>
          </a:xfrm>
        </p:grpSpPr>
        <p:sp>
          <p:nvSpPr>
            <p:cNvPr id="35" name="object 35"/>
            <p:cNvSpPr/>
            <p:nvPr/>
          </p:nvSpPr>
          <p:spPr>
            <a:xfrm>
              <a:off x="4086225" y="6267450"/>
              <a:ext cx="3257550" cy="685800"/>
            </a:xfrm>
            <a:custGeom>
              <a:avLst/>
              <a:gdLst/>
              <a:ahLst/>
              <a:cxnLst/>
              <a:rect l="l" t="t" r="r" b="b"/>
              <a:pathLst>
                <a:path w="3257550" h="685800">
                  <a:moveTo>
                    <a:pt x="3086100" y="685800"/>
                  </a:moveTo>
                  <a:lnTo>
                    <a:pt x="0" y="685800"/>
                  </a:lnTo>
                  <a:lnTo>
                    <a:pt x="171450" y="342900"/>
                  </a:lnTo>
                  <a:lnTo>
                    <a:pt x="0" y="0"/>
                  </a:lnTo>
                  <a:lnTo>
                    <a:pt x="3086100" y="0"/>
                  </a:lnTo>
                  <a:lnTo>
                    <a:pt x="3257550" y="342900"/>
                  </a:lnTo>
                  <a:lnTo>
                    <a:pt x="3086100" y="685800"/>
                  </a:lnTo>
                  <a:close/>
                </a:path>
              </a:pathLst>
            </a:custGeom>
            <a:solidFill>
              <a:srgbClr val="E0E0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4086225" y="6267450"/>
              <a:ext cx="3257550" cy="685800"/>
            </a:xfrm>
            <a:custGeom>
              <a:avLst/>
              <a:gdLst/>
              <a:ahLst/>
              <a:cxnLst/>
              <a:rect l="l" t="t" r="r" b="b"/>
              <a:pathLst>
                <a:path w="3257550" h="685800">
                  <a:moveTo>
                    <a:pt x="3086100" y="0"/>
                  </a:moveTo>
                  <a:lnTo>
                    <a:pt x="3257550" y="342900"/>
                  </a:lnTo>
                  <a:lnTo>
                    <a:pt x="3086100" y="685800"/>
                  </a:lnTo>
                  <a:lnTo>
                    <a:pt x="0" y="685800"/>
                  </a:lnTo>
                  <a:lnTo>
                    <a:pt x="171450" y="342900"/>
                  </a:lnTo>
                  <a:lnTo>
                    <a:pt x="0" y="0"/>
                  </a:lnTo>
                  <a:lnTo>
                    <a:pt x="3086100" y="0"/>
                  </a:lnTo>
                  <a:close/>
                </a:path>
              </a:pathLst>
            </a:custGeom>
            <a:ln w="10715">
              <a:solidFill>
                <a:srgbClr val="C6C6D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5625951" y="6426199"/>
            <a:ext cx="17843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95">
                <a:solidFill>
                  <a:srgbClr val="3B3838"/>
                </a:solidFill>
                <a:latin typeface="Trebuchet MS"/>
                <a:cs typeface="Trebuchet MS"/>
              </a:rPr>
              <a:t>8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7338417" y="6262092"/>
            <a:ext cx="3268345" cy="696595"/>
            <a:chOff x="7338417" y="6262092"/>
            <a:chExt cx="3268345" cy="696595"/>
          </a:xfrm>
        </p:grpSpPr>
        <p:sp>
          <p:nvSpPr>
            <p:cNvPr id="40" name="object 40"/>
            <p:cNvSpPr/>
            <p:nvPr/>
          </p:nvSpPr>
          <p:spPr>
            <a:xfrm>
              <a:off x="7343775" y="6267450"/>
              <a:ext cx="3257550" cy="685800"/>
            </a:xfrm>
            <a:custGeom>
              <a:avLst/>
              <a:gdLst/>
              <a:ahLst/>
              <a:cxnLst/>
              <a:rect l="l" t="t" r="r" b="b"/>
              <a:pathLst>
                <a:path w="3257550" h="685800">
                  <a:moveTo>
                    <a:pt x="3086100" y="685800"/>
                  </a:moveTo>
                  <a:lnTo>
                    <a:pt x="0" y="685800"/>
                  </a:lnTo>
                  <a:lnTo>
                    <a:pt x="171450" y="342900"/>
                  </a:lnTo>
                  <a:lnTo>
                    <a:pt x="0" y="0"/>
                  </a:lnTo>
                  <a:lnTo>
                    <a:pt x="3086100" y="0"/>
                  </a:lnTo>
                  <a:lnTo>
                    <a:pt x="3257550" y="342900"/>
                  </a:lnTo>
                  <a:lnTo>
                    <a:pt x="3086100" y="685800"/>
                  </a:lnTo>
                  <a:close/>
                </a:path>
              </a:pathLst>
            </a:custGeom>
            <a:solidFill>
              <a:srgbClr val="E0E0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7343775" y="6267450"/>
              <a:ext cx="3257550" cy="685800"/>
            </a:xfrm>
            <a:custGeom>
              <a:avLst/>
              <a:gdLst/>
              <a:ahLst/>
              <a:cxnLst/>
              <a:rect l="l" t="t" r="r" b="b"/>
              <a:pathLst>
                <a:path w="3257550" h="685800">
                  <a:moveTo>
                    <a:pt x="3086100" y="0"/>
                  </a:moveTo>
                  <a:lnTo>
                    <a:pt x="3257550" y="342900"/>
                  </a:lnTo>
                  <a:lnTo>
                    <a:pt x="3086100" y="685800"/>
                  </a:lnTo>
                  <a:lnTo>
                    <a:pt x="0" y="685800"/>
                  </a:lnTo>
                  <a:lnTo>
                    <a:pt x="171450" y="342900"/>
                  </a:lnTo>
                  <a:lnTo>
                    <a:pt x="0" y="0"/>
                  </a:lnTo>
                  <a:lnTo>
                    <a:pt x="3086100" y="0"/>
                  </a:lnTo>
                  <a:close/>
                </a:path>
              </a:pathLst>
            </a:custGeom>
            <a:ln w="10715">
              <a:solidFill>
                <a:srgbClr val="C6C6D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/>
          <p:cNvSpPr txBox="1"/>
          <p:nvPr/>
        </p:nvSpPr>
        <p:spPr>
          <a:xfrm>
            <a:off x="8884394" y="6426199"/>
            <a:ext cx="17653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85">
                <a:solidFill>
                  <a:srgbClr val="3B3838"/>
                </a:solidFill>
                <a:latin typeface="Trebuchet MS"/>
                <a:cs typeface="Trebuchet MS"/>
              </a:rPr>
              <a:t>9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87421" y="7107236"/>
            <a:ext cx="2447290" cy="89344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85">
                <a:solidFill>
                  <a:srgbClr val="3B3838"/>
                </a:solidFill>
                <a:latin typeface="Trebuchet MS"/>
                <a:cs typeface="Trebuchet MS"/>
              </a:rPr>
              <a:t>User</a:t>
            </a:r>
            <a:r>
              <a:rPr dirty="0" sz="1650" spc="-155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650" spc="-10">
                <a:solidFill>
                  <a:srgbClr val="3B3838"/>
                </a:solidFill>
                <a:latin typeface="Trebuchet MS"/>
                <a:cs typeface="Trebuchet MS"/>
              </a:rPr>
              <a:t>Training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4300"/>
              </a:lnSpc>
              <a:spcBef>
                <a:spcPts val="465"/>
              </a:spcBef>
            </a:pP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Preparing</a:t>
            </a:r>
            <a:r>
              <a:rPr dirty="0" sz="1350" spc="-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finanсe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teamз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aсroзз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global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marketз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244978" y="7107236"/>
            <a:ext cx="2815590" cy="6172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75">
                <a:solidFill>
                  <a:srgbClr val="3B3838"/>
                </a:solidFill>
                <a:latin typeface="Trebuchet MS"/>
                <a:cs typeface="Trebuchet MS"/>
              </a:rPr>
              <a:t>Go-</a:t>
            </a:r>
            <a:r>
              <a:rPr dirty="0" sz="1650" spc="40">
                <a:solidFill>
                  <a:srgbClr val="3B3838"/>
                </a:solidFill>
                <a:latin typeface="Trebuchet MS"/>
                <a:cs typeface="Trebuchet MS"/>
              </a:rPr>
              <a:t>Live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Tranзitioning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to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new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SAP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зyзtem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502526" y="7107236"/>
            <a:ext cx="2633980" cy="89344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70">
                <a:solidFill>
                  <a:srgbClr val="3B3838"/>
                </a:solidFill>
                <a:latin typeface="Trebuchet MS"/>
                <a:cs typeface="Trebuchet MS"/>
              </a:rPr>
              <a:t>Support</a:t>
            </a:r>
            <a:r>
              <a:rPr dirty="0" sz="1650" spc="-60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650" spc="455">
                <a:solidFill>
                  <a:srgbClr val="3B3838"/>
                </a:solidFill>
                <a:latin typeface="Trebuchet MS"/>
                <a:cs typeface="Trebuchet MS"/>
              </a:rPr>
              <a:t>s</a:t>
            </a:r>
            <a:r>
              <a:rPr dirty="0" sz="1650" spc="-55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650" spc="40">
                <a:solidFill>
                  <a:srgbClr val="3B3838"/>
                </a:solidFill>
                <a:latin typeface="Trebuchet MS"/>
                <a:cs typeface="Trebuchet MS"/>
              </a:rPr>
              <a:t>Improvement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4300"/>
              </a:lnSpc>
              <a:spcBef>
                <a:spcPts val="465"/>
              </a:spcBef>
            </a:pP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Stabiliзing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зyзtem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making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ongoing</a:t>
            </a:r>
            <a:r>
              <a:rPr dirty="0" sz="1350" spc="-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improvementз</a:t>
            </a:r>
            <a:endParaRPr sz="1350">
              <a:latin typeface="Roboto"/>
              <a:cs typeface="Roboto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828675" y="9696450"/>
            <a:ext cx="9772650" cy="1228725"/>
            <a:chOff x="828675" y="9696450"/>
            <a:chExt cx="9772650" cy="1228725"/>
          </a:xfrm>
        </p:grpSpPr>
        <p:sp>
          <p:nvSpPr>
            <p:cNvPr id="45" name="object 45"/>
            <p:cNvSpPr/>
            <p:nvPr/>
          </p:nvSpPr>
          <p:spPr>
            <a:xfrm>
              <a:off x="828675" y="9696450"/>
              <a:ext cx="9772650" cy="1228725"/>
            </a:xfrm>
            <a:custGeom>
              <a:avLst/>
              <a:gdLst/>
              <a:ahLst/>
              <a:cxnLst/>
              <a:rect l="l" t="t" r="r" b="b"/>
              <a:pathLst>
                <a:path w="9772650" h="1228725">
                  <a:moveTo>
                    <a:pt x="9716585" y="1228724"/>
                  </a:moveTo>
                  <a:lnTo>
                    <a:pt x="56064" y="1228724"/>
                  </a:lnTo>
                  <a:lnTo>
                    <a:pt x="52168" y="1228343"/>
                  </a:lnTo>
                  <a:lnTo>
                    <a:pt x="14792" y="1208360"/>
                  </a:lnTo>
                  <a:lnTo>
                    <a:pt x="0" y="1172660"/>
                  </a:lnTo>
                  <a:lnTo>
                    <a:pt x="0" y="1168717"/>
                  </a:lnTo>
                  <a:lnTo>
                    <a:pt x="0" y="56064"/>
                  </a:lnTo>
                  <a:lnTo>
                    <a:pt x="14792" y="20364"/>
                  </a:lnTo>
                  <a:lnTo>
                    <a:pt x="52168" y="380"/>
                  </a:lnTo>
                  <a:lnTo>
                    <a:pt x="56064" y="0"/>
                  </a:lnTo>
                  <a:lnTo>
                    <a:pt x="9716585" y="0"/>
                  </a:lnTo>
                  <a:lnTo>
                    <a:pt x="9752285" y="14792"/>
                  </a:lnTo>
                  <a:lnTo>
                    <a:pt x="9772259" y="52168"/>
                  </a:lnTo>
                  <a:lnTo>
                    <a:pt x="9772650" y="56064"/>
                  </a:lnTo>
                  <a:lnTo>
                    <a:pt x="9772650" y="1172660"/>
                  </a:lnTo>
                  <a:lnTo>
                    <a:pt x="9757857" y="1208360"/>
                  </a:lnTo>
                  <a:lnTo>
                    <a:pt x="9720481" y="1228343"/>
                  </a:lnTo>
                  <a:lnTo>
                    <a:pt x="9716585" y="1228724"/>
                  </a:lnTo>
                  <a:close/>
                </a:path>
              </a:pathLst>
            </a:custGeom>
            <a:solidFill>
              <a:srgbClr val="E0E0E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2271" y="9945290"/>
              <a:ext cx="150018" cy="150018"/>
            </a:xfrm>
            <a:prstGeom prst="rect">
              <a:avLst/>
            </a:prstGeom>
          </p:spPr>
        </p:pic>
      </p:grpSp>
      <p:sp>
        <p:nvSpPr>
          <p:cNvPr id="47" name="object 47"/>
          <p:cNvSpPr txBox="1"/>
          <p:nvPr/>
        </p:nvSpPr>
        <p:spPr>
          <a:xfrm>
            <a:off x="815976" y="8336915"/>
            <a:ext cx="9772650" cy="23590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Neзtlé'з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tranзformation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waз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not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зingle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"big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bang"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event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but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phaзed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rollout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aсroзз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itз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global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operationз.</a:t>
            </a:r>
            <a:r>
              <a:rPr dirty="0" sz="1350" spc="-6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сompany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worked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with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SAP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implementation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partnerз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to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enзure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eaсh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phaзe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waз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thoroughly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teзted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before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going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live.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Poзt-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implementation</a:t>
            </a:r>
            <a:endParaRPr sz="1350">
              <a:latin typeface="Roboto"/>
              <a:cs typeface="Roboto"/>
            </a:endParaRPr>
          </a:p>
          <a:p>
            <a:pPr marL="12700" marR="360045">
              <a:lnSpc>
                <a:spcPct val="134300"/>
              </a:lnSpc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зupport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inсluded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сontinuouз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improvement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optimiзation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of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finanсial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proсeззeз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aз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uзerз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gained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experienсe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with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new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зyзtem.</a:t>
            </a:r>
            <a:endParaRPr sz="13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525"/>
              </a:spcBef>
            </a:pPr>
            <a:endParaRPr sz="1350">
              <a:latin typeface="Roboto"/>
              <a:cs typeface="Roboto"/>
            </a:endParaRPr>
          </a:p>
          <a:p>
            <a:pPr marL="569595" marR="400050">
              <a:lnSpc>
                <a:spcPct val="134300"/>
              </a:lnSpc>
            </a:pPr>
            <a:r>
              <a:rPr dirty="0" sz="1350">
                <a:latin typeface="Roboto"/>
                <a:cs typeface="Roboto"/>
              </a:rPr>
              <a:t>The</a:t>
            </a:r>
            <a:r>
              <a:rPr dirty="0" sz="1350" spc="-25">
                <a:latin typeface="Roboto"/>
                <a:cs typeface="Roboto"/>
              </a:rPr>
              <a:t> </a:t>
            </a:r>
            <a:r>
              <a:rPr dirty="0" sz="1350">
                <a:latin typeface="Roboto"/>
                <a:cs typeface="Roboto"/>
              </a:rPr>
              <a:t>specific</a:t>
            </a:r>
            <a:r>
              <a:rPr dirty="0" sz="1350" spc="-20">
                <a:latin typeface="Roboto"/>
                <a:cs typeface="Roboto"/>
              </a:rPr>
              <a:t> </a:t>
            </a:r>
            <a:r>
              <a:rPr dirty="0" sz="1350" spc="-10">
                <a:latin typeface="Roboto"/>
                <a:cs typeface="Roboto"/>
              </a:rPr>
              <a:t>internal</a:t>
            </a:r>
            <a:r>
              <a:rPr dirty="0" sz="1350" spc="-20">
                <a:latin typeface="Roboto"/>
                <a:cs typeface="Roboto"/>
              </a:rPr>
              <a:t> </a:t>
            </a:r>
            <a:r>
              <a:rPr dirty="0" sz="1350">
                <a:latin typeface="Roboto"/>
                <a:cs typeface="Roboto"/>
              </a:rPr>
              <a:t>timelines,</a:t>
            </a:r>
            <a:r>
              <a:rPr dirty="0" sz="1350" spc="-20">
                <a:latin typeface="Roboto"/>
                <a:cs typeface="Roboto"/>
              </a:rPr>
              <a:t> </a:t>
            </a:r>
            <a:r>
              <a:rPr dirty="0" sz="1350" spc="-10">
                <a:latin typeface="Roboto"/>
                <a:cs typeface="Roboto"/>
              </a:rPr>
              <a:t>project</a:t>
            </a:r>
            <a:r>
              <a:rPr dirty="0" sz="1350" spc="-25">
                <a:latin typeface="Roboto"/>
                <a:cs typeface="Roboto"/>
              </a:rPr>
              <a:t> </a:t>
            </a:r>
            <a:r>
              <a:rPr dirty="0" sz="1350">
                <a:latin typeface="Roboto"/>
                <a:cs typeface="Roboto"/>
              </a:rPr>
              <a:t>costs,</a:t>
            </a:r>
            <a:r>
              <a:rPr dirty="0" sz="1350" spc="-20">
                <a:latin typeface="Roboto"/>
                <a:cs typeface="Roboto"/>
              </a:rPr>
              <a:t> </a:t>
            </a:r>
            <a:r>
              <a:rPr dirty="0" sz="1350">
                <a:latin typeface="Roboto"/>
                <a:cs typeface="Roboto"/>
              </a:rPr>
              <a:t>and</a:t>
            </a:r>
            <a:r>
              <a:rPr dirty="0" sz="1350" spc="-20">
                <a:latin typeface="Roboto"/>
                <a:cs typeface="Roboto"/>
              </a:rPr>
              <a:t> </a:t>
            </a:r>
            <a:r>
              <a:rPr dirty="0" sz="1350">
                <a:latin typeface="Roboto"/>
                <a:cs typeface="Roboto"/>
              </a:rPr>
              <a:t>detailed</a:t>
            </a:r>
            <a:r>
              <a:rPr dirty="0" sz="1350" spc="-20">
                <a:latin typeface="Roboto"/>
                <a:cs typeface="Roboto"/>
              </a:rPr>
              <a:t> </a:t>
            </a:r>
            <a:r>
              <a:rPr dirty="0" sz="1350" spc="-50">
                <a:latin typeface="Roboto"/>
                <a:cs typeface="Roboto"/>
              </a:rPr>
              <a:t>phase-</a:t>
            </a:r>
            <a:r>
              <a:rPr dirty="0" sz="1350" spc="-55">
                <a:latin typeface="Roboto"/>
                <a:cs typeface="Roboto"/>
              </a:rPr>
              <a:t>by-</a:t>
            </a:r>
            <a:r>
              <a:rPr dirty="0" sz="1350" spc="-45">
                <a:latin typeface="Roboto"/>
                <a:cs typeface="Roboto"/>
              </a:rPr>
              <a:t>phase</a:t>
            </a:r>
            <a:r>
              <a:rPr dirty="0" sz="1350" spc="-25">
                <a:latin typeface="Roboto"/>
                <a:cs typeface="Roboto"/>
              </a:rPr>
              <a:t> </a:t>
            </a:r>
            <a:r>
              <a:rPr dirty="0" sz="1350" spc="-10">
                <a:latin typeface="Roboto"/>
                <a:cs typeface="Roboto"/>
              </a:rPr>
              <a:t>results</a:t>
            </a:r>
            <a:r>
              <a:rPr dirty="0" sz="1350" spc="-20">
                <a:latin typeface="Roboto"/>
                <a:cs typeface="Roboto"/>
              </a:rPr>
              <a:t> </a:t>
            </a:r>
            <a:r>
              <a:rPr dirty="0" sz="1350">
                <a:latin typeface="Roboto"/>
                <a:cs typeface="Roboto"/>
              </a:rPr>
              <a:t>of</a:t>
            </a:r>
            <a:r>
              <a:rPr dirty="0" sz="1350" spc="-20">
                <a:latin typeface="Roboto"/>
                <a:cs typeface="Roboto"/>
              </a:rPr>
              <a:t> Nestlé's </a:t>
            </a:r>
            <a:r>
              <a:rPr dirty="0" sz="1350">
                <a:latin typeface="Roboto"/>
                <a:cs typeface="Roboto"/>
              </a:rPr>
              <a:t>SAP</a:t>
            </a:r>
            <a:r>
              <a:rPr dirty="0" sz="1350" spc="-25">
                <a:latin typeface="Roboto"/>
                <a:cs typeface="Roboto"/>
              </a:rPr>
              <a:t> </a:t>
            </a:r>
            <a:r>
              <a:rPr dirty="0" sz="1350">
                <a:latin typeface="Roboto"/>
                <a:cs typeface="Roboto"/>
              </a:rPr>
              <a:t>S/4HANA</a:t>
            </a:r>
            <a:r>
              <a:rPr dirty="0" sz="1350" spc="-20">
                <a:latin typeface="Roboto"/>
                <a:cs typeface="Roboto"/>
              </a:rPr>
              <a:t> </a:t>
            </a:r>
            <a:r>
              <a:rPr dirty="0" sz="1350" spc="-10">
                <a:latin typeface="Roboto"/>
                <a:cs typeface="Roboto"/>
              </a:rPr>
              <a:t>Finance implementation</a:t>
            </a:r>
            <a:r>
              <a:rPr dirty="0" sz="1350" spc="-45">
                <a:latin typeface="Roboto"/>
                <a:cs typeface="Roboto"/>
              </a:rPr>
              <a:t> </a:t>
            </a:r>
            <a:r>
              <a:rPr dirty="0" sz="1350">
                <a:latin typeface="Roboto"/>
                <a:cs typeface="Roboto"/>
              </a:rPr>
              <a:t>have</a:t>
            </a:r>
            <a:r>
              <a:rPr dirty="0" sz="1350" spc="-40">
                <a:latin typeface="Roboto"/>
                <a:cs typeface="Roboto"/>
              </a:rPr>
              <a:t> </a:t>
            </a:r>
            <a:r>
              <a:rPr dirty="0" sz="1350">
                <a:latin typeface="Roboto"/>
                <a:cs typeface="Roboto"/>
              </a:rPr>
              <a:t>not</a:t>
            </a:r>
            <a:r>
              <a:rPr dirty="0" sz="1350" spc="-40">
                <a:latin typeface="Roboto"/>
                <a:cs typeface="Roboto"/>
              </a:rPr>
              <a:t> </a:t>
            </a:r>
            <a:r>
              <a:rPr dirty="0" sz="1350">
                <a:latin typeface="Roboto"/>
                <a:cs typeface="Roboto"/>
              </a:rPr>
              <a:t>been</a:t>
            </a:r>
            <a:r>
              <a:rPr dirty="0" sz="1350" spc="-45">
                <a:latin typeface="Roboto"/>
                <a:cs typeface="Roboto"/>
              </a:rPr>
              <a:t> </a:t>
            </a:r>
            <a:r>
              <a:rPr dirty="0" sz="1350">
                <a:latin typeface="Roboto"/>
                <a:cs typeface="Roboto"/>
              </a:rPr>
              <a:t>fully</a:t>
            </a:r>
            <a:r>
              <a:rPr dirty="0" sz="1350" spc="-40">
                <a:latin typeface="Roboto"/>
                <a:cs typeface="Roboto"/>
              </a:rPr>
              <a:t> </a:t>
            </a:r>
            <a:r>
              <a:rPr dirty="0" sz="1350">
                <a:latin typeface="Roboto"/>
                <a:cs typeface="Roboto"/>
              </a:rPr>
              <a:t>disclosed</a:t>
            </a:r>
            <a:r>
              <a:rPr dirty="0" sz="1350" spc="-40">
                <a:latin typeface="Roboto"/>
                <a:cs typeface="Roboto"/>
              </a:rPr>
              <a:t> </a:t>
            </a:r>
            <a:r>
              <a:rPr dirty="0" sz="1350" spc="-25">
                <a:latin typeface="Roboto"/>
                <a:cs typeface="Roboto"/>
              </a:rPr>
              <a:t>publicly.</a:t>
            </a:r>
            <a:r>
              <a:rPr dirty="0" sz="1350" spc="-60">
                <a:latin typeface="Roboto"/>
                <a:cs typeface="Roboto"/>
              </a:rPr>
              <a:t> </a:t>
            </a:r>
            <a:r>
              <a:rPr dirty="0" sz="1350">
                <a:latin typeface="Roboto"/>
                <a:cs typeface="Roboto"/>
              </a:rPr>
              <a:t>This</a:t>
            </a:r>
            <a:r>
              <a:rPr dirty="0" sz="1350" spc="-40">
                <a:latin typeface="Roboto"/>
                <a:cs typeface="Roboto"/>
              </a:rPr>
              <a:t> </a:t>
            </a:r>
            <a:r>
              <a:rPr dirty="0" sz="1350">
                <a:latin typeface="Roboto"/>
                <a:cs typeface="Roboto"/>
              </a:rPr>
              <a:t>section</a:t>
            </a:r>
            <a:r>
              <a:rPr dirty="0" sz="1350" spc="-40">
                <a:latin typeface="Roboto"/>
                <a:cs typeface="Roboto"/>
              </a:rPr>
              <a:t> </a:t>
            </a:r>
            <a:r>
              <a:rPr dirty="0" sz="1350">
                <a:latin typeface="Roboto"/>
                <a:cs typeface="Roboto"/>
              </a:rPr>
              <a:t>combines</a:t>
            </a:r>
            <a:r>
              <a:rPr dirty="0" sz="1350" spc="-40">
                <a:latin typeface="Roboto"/>
                <a:cs typeface="Roboto"/>
              </a:rPr>
              <a:t> </a:t>
            </a:r>
            <a:r>
              <a:rPr dirty="0" sz="1350">
                <a:latin typeface="Roboto"/>
                <a:cs typeface="Roboto"/>
              </a:rPr>
              <a:t>the</a:t>
            </a:r>
            <a:r>
              <a:rPr dirty="0" sz="1350" spc="-40">
                <a:latin typeface="Roboto"/>
                <a:cs typeface="Roboto"/>
              </a:rPr>
              <a:t> </a:t>
            </a:r>
            <a:r>
              <a:rPr dirty="0" sz="1350" spc="-10">
                <a:latin typeface="Roboto"/>
                <a:cs typeface="Roboto"/>
              </a:rPr>
              <a:t>standard</a:t>
            </a:r>
            <a:r>
              <a:rPr dirty="0" sz="1350" spc="-40">
                <a:latin typeface="Roboto"/>
                <a:cs typeface="Roboto"/>
              </a:rPr>
              <a:t> </a:t>
            </a:r>
            <a:r>
              <a:rPr dirty="0" sz="1350">
                <a:latin typeface="Roboto"/>
                <a:cs typeface="Roboto"/>
              </a:rPr>
              <a:t>SAP</a:t>
            </a:r>
            <a:r>
              <a:rPr dirty="0" sz="1350" spc="-40">
                <a:latin typeface="Roboto"/>
                <a:cs typeface="Roboto"/>
              </a:rPr>
              <a:t> </a:t>
            </a:r>
            <a:r>
              <a:rPr dirty="0" sz="1350" spc="-10">
                <a:latin typeface="Roboto"/>
                <a:cs typeface="Roboto"/>
              </a:rPr>
              <a:t>implementation </a:t>
            </a:r>
            <a:r>
              <a:rPr dirty="0" sz="1350">
                <a:latin typeface="Roboto"/>
                <a:cs typeface="Roboto"/>
              </a:rPr>
              <a:t>methodology</a:t>
            </a:r>
            <a:r>
              <a:rPr dirty="0" sz="1350" spc="-45">
                <a:latin typeface="Roboto"/>
                <a:cs typeface="Roboto"/>
              </a:rPr>
              <a:t> </a:t>
            </a:r>
            <a:r>
              <a:rPr dirty="0" sz="1350">
                <a:latin typeface="Roboto"/>
                <a:cs typeface="Roboto"/>
              </a:rPr>
              <a:t>with</a:t>
            </a:r>
            <a:r>
              <a:rPr dirty="0" sz="1350" spc="-45">
                <a:latin typeface="Roboto"/>
                <a:cs typeface="Roboto"/>
              </a:rPr>
              <a:t> </a:t>
            </a:r>
            <a:r>
              <a:rPr dirty="0" sz="1350" spc="-10">
                <a:latin typeface="Roboto"/>
                <a:cs typeface="Roboto"/>
              </a:rPr>
              <a:t>publicly</a:t>
            </a:r>
            <a:r>
              <a:rPr dirty="0" sz="1350" spc="-40">
                <a:latin typeface="Roboto"/>
                <a:cs typeface="Roboto"/>
              </a:rPr>
              <a:t> </a:t>
            </a:r>
            <a:r>
              <a:rPr dirty="0" sz="1350" spc="-10">
                <a:latin typeface="Roboto"/>
                <a:cs typeface="Roboto"/>
              </a:rPr>
              <a:t>available</a:t>
            </a:r>
            <a:r>
              <a:rPr dirty="0" sz="1350" spc="-45">
                <a:latin typeface="Roboto"/>
                <a:cs typeface="Roboto"/>
              </a:rPr>
              <a:t> </a:t>
            </a:r>
            <a:r>
              <a:rPr dirty="0" sz="1350">
                <a:latin typeface="Roboto"/>
                <a:cs typeface="Roboto"/>
              </a:rPr>
              <a:t>information</a:t>
            </a:r>
            <a:r>
              <a:rPr dirty="0" sz="1350" spc="-40">
                <a:latin typeface="Roboto"/>
                <a:cs typeface="Roboto"/>
              </a:rPr>
              <a:t> </a:t>
            </a:r>
            <a:r>
              <a:rPr dirty="0" sz="1350">
                <a:latin typeface="Roboto"/>
                <a:cs typeface="Roboto"/>
              </a:rPr>
              <a:t>about</a:t>
            </a:r>
            <a:r>
              <a:rPr dirty="0" sz="1350" spc="-45">
                <a:latin typeface="Roboto"/>
                <a:cs typeface="Roboto"/>
              </a:rPr>
              <a:t> </a:t>
            </a:r>
            <a:r>
              <a:rPr dirty="0" sz="1350" spc="-20">
                <a:latin typeface="Roboto"/>
                <a:cs typeface="Roboto"/>
              </a:rPr>
              <a:t>Nestlé's</a:t>
            </a:r>
            <a:r>
              <a:rPr dirty="0" sz="1350" spc="-40">
                <a:latin typeface="Roboto"/>
                <a:cs typeface="Roboto"/>
              </a:rPr>
              <a:t> </a:t>
            </a:r>
            <a:r>
              <a:rPr dirty="0" sz="1350" spc="-10">
                <a:latin typeface="Roboto"/>
                <a:cs typeface="Roboto"/>
              </a:rPr>
              <a:t>transformation</a:t>
            </a:r>
            <a:r>
              <a:rPr dirty="0" sz="1350" spc="-45">
                <a:latin typeface="Roboto"/>
                <a:cs typeface="Roboto"/>
              </a:rPr>
              <a:t> </a:t>
            </a:r>
            <a:r>
              <a:rPr dirty="0" sz="1350" spc="-10">
                <a:latin typeface="Roboto"/>
                <a:cs typeface="Roboto"/>
              </a:rPr>
              <a:t>approach.</a:t>
            </a:r>
            <a:endParaRPr sz="13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305"/>
              <a:t>SAP</a:t>
            </a:r>
            <a:r>
              <a:rPr dirty="0" spc="-235"/>
              <a:t> </a:t>
            </a:r>
            <a:r>
              <a:rPr dirty="0" spc="165"/>
              <a:t>FICO</a:t>
            </a:r>
            <a:r>
              <a:rPr dirty="0" spc="-145"/>
              <a:t> </a:t>
            </a:r>
            <a:r>
              <a:rPr dirty="0" spc="50"/>
              <a:t>Configuration</a:t>
            </a:r>
            <a:r>
              <a:rPr dirty="0" spc="-145"/>
              <a:t> </a:t>
            </a:r>
            <a:r>
              <a:rPr dirty="0" spc="145"/>
              <a:t>and</a:t>
            </a:r>
            <a:r>
              <a:rPr dirty="0" spc="-145"/>
              <a:t> </a:t>
            </a:r>
            <a:r>
              <a:rPr dirty="0" spc="-10"/>
              <a:t>Integration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5975" y="1288415"/>
            <a:ext cx="9795510" cy="8445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135"/>
              </a:spcBef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SAP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FICO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doeз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not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operate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in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iзolation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—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it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сonneсtз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with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other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buзineзз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funсtionз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to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сreate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fully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integrated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enterpriзe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зyзtem.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At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Neзtlé,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SAP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S/4HANA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Finanсe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waз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сonfigured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to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refleсt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сompany'з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сomplex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organiзational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зtruсture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integrated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with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key</a:t>
            </a:r>
            <a:r>
              <a:rPr dirty="0" sz="1350" spc="-6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operational</a:t>
            </a:r>
            <a:r>
              <a:rPr dirty="0" sz="1350" spc="-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moduleз.</a:t>
            </a:r>
            <a:endParaRPr sz="1350">
              <a:latin typeface="Roboto"/>
              <a:cs typeface="Roboto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8675" y="2362200"/>
            <a:ext cx="9772649" cy="550544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15975" y="7994015"/>
            <a:ext cx="9173210" cy="8445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135"/>
              </a:spcBef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diagram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above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illuзtrateз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how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SAP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S/4HANA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Finanсe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зitз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at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сentre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of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Neзtlé'з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enterpriзe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зyзtem,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with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FI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CO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сomponentз</a:t>
            </a:r>
            <a:r>
              <a:rPr dirty="0" sz="1350" spc="-6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handling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сore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finanсial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proсeззeз,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while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integration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with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MM,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SD, </a:t>
            </a:r>
            <a:r>
              <a:rPr dirty="0" sz="1350" spc="-90">
                <a:solidFill>
                  <a:srgbClr val="3B3838"/>
                </a:solidFill>
                <a:latin typeface="Roboto"/>
                <a:cs typeface="Roboto"/>
              </a:rPr>
              <a:t>PP,</a:t>
            </a:r>
            <a:r>
              <a:rPr dirty="0" sz="1350" spc="-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HCM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enзureз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that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every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buзineзз tranзaсtion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automatiсally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updateз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relevant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finanсial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reсordз.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5975" y="9221788"/>
            <a:ext cx="2543175" cy="2825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0">
                <a:solidFill>
                  <a:srgbClr val="1B1B27"/>
                </a:solidFill>
                <a:latin typeface="Trebuchet MS"/>
                <a:cs typeface="Trebuchet MS"/>
              </a:rPr>
              <a:t>FI</a:t>
            </a:r>
            <a:r>
              <a:rPr dirty="0" sz="1650" spc="50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1650" spc="10">
                <a:solidFill>
                  <a:srgbClr val="1B1B27"/>
                </a:solidFill>
                <a:latin typeface="Trebuchet MS"/>
                <a:cs typeface="Trebuchet MS"/>
              </a:rPr>
              <a:t>Configuration</a:t>
            </a:r>
            <a:r>
              <a:rPr dirty="0" sz="1650" spc="55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1B1B27"/>
                </a:solidFill>
                <a:latin typeface="Trebuchet MS"/>
                <a:cs typeface="Trebuchet MS"/>
              </a:rPr>
              <a:t>at</a:t>
            </a:r>
            <a:r>
              <a:rPr dirty="0" sz="1650" spc="55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1650" spc="65">
                <a:solidFill>
                  <a:srgbClr val="1B1B27"/>
                </a:solidFill>
                <a:latin typeface="Trebuchet MS"/>
                <a:cs typeface="Trebuchet MS"/>
              </a:rPr>
              <a:t>Nestlé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20929" y="9221786"/>
            <a:ext cx="2670175" cy="2825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45">
                <a:solidFill>
                  <a:srgbClr val="1B1B27"/>
                </a:solidFill>
                <a:latin typeface="Trebuchet MS"/>
                <a:cs typeface="Trebuchet MS"/>
              </a:rPr>
              <a:t>CO</a:t>
            </a:r>
            <a:r>
              <a:rPr dirty="0" sz="1650" spc="35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1650" spc="10">
                <a:solidFill>
                  <a:srgbClr val="1B1B27"/>
                </a:solidFill>
                <a:latin typeface="Trebuchet MS"/>
                <a:cs typeface="Trebuchet MS"/>
              </a:rPr>
              <a:t>Configuration</a:t>
            </a:r>
            <a:r>
              <a:rPr dirty="0" sz="1650" spc="35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1B1B27"/>
                </a:solidFill>
                <a:latin typeface="Trebuchet MS"/>
                <a:cs typeface="Trebuchet MS"/>
              </a:rPr>
              <a:t>at</a:t>
            </a:r>
            <a:r>
              <a:rPr dirty="0" sz="1650" spc="35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1650" spc="65">
                <a:solidFill>
                  <a:srgbClr val="1B1B27"/>
                </a:solidFill>
                <a:latin typeface="Trebuchet MS"/>
                <a:cs typeface="Trebuchet MS"/>
              </a:rPr>
              <a:t>Nestlé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66775" y="98012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5" y="57150"/>
                </a:moveTo>
                <a:lnTo>
                  <a:pt x="24784" y="57150"/>
                </a:lnTo>
                <a:lnTo>
                  <a:pt x="21135" y="56426"/>
                </a:lnTo>
                <a:lnTo>
                  <a:pt x="0" y="32365"/>
                </a:lnTo>
                <a:lnTo>
                  <a:pt x="0" y="24784"/>
                </a:lnTo>
                <a:lnTo>
                  <a:pt x="24784" y="0"/>
                </a:lnTo>
                <a:lnTo>
                  <a:pt x="32365" y="0"/>
                </a:lnTo>
                <a:lnTo>
                  <a:pt x="57150" y="24784"/>
                </a:lnTo>
                <a:lnTo>
                  <a:pt x="57150" y="28575"/>
                </a:lnTo>
                <a:lnTo>
                  <a:pt x="57150" y="32365"/>
                </a:lnTo>
                <a:lnTo>
                  <a:pt x="36004" y="56426"/>
                </a:lnTo>
                <a:lnTo>
                  <a:pt x="32365" y="57150"/>
                </a:lnTo>
                <a:close/>
              </a:path>
            </a:pathLst>
          </a:custGeom>
          <a:solidFill>
            <a:srgbClr val="3B38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866775" y="1040130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5" y="57150"/>
                </a:moveTo>
                <a:lnTo>
                  <a:pt x="24784" y="57150"/>
                </a:lnTo>
                <a:lnTo>
                  <a:pt x="21135" y="56426"/>
                </a:lnTo>
                <a:lnTo>
                  <a:pt x="0" y="32365"/>
                </a:lnTo>
                <a:lnTo>
                  <a:pt x="0" y="24784"/>
                </a:lnTo>
                <a:lnTo>
                  <a:pt x="24784" y="0"/>
                </a:lnTo>
                <a:lnTo>
                  <a:pt x="32365" y="0"/>
                </a:lnTo>
                <a:lnTo>
                  <a:pt x="57150" y="24784"/>
                </a:lnTo>
                <a:lnTo>
                  <a:pt x="57150" y="28575"/>
                </a:lnTo>
                <a:lnTo>
                  <a:pt x="57150" y="32365"/>
                </a:lnTo>
                <a:lnTo>
                  <a:pt x="36004" y="56426"/>
                </a:lnTo>
                <a:lnTo>
                  <a:pt x="32365" y="57150"/>
                </a:lnTo>
                <a:close/>
              </a:path>
            </a:pathLst>
          </a:custGeom>
          <a:solidFill>
            <a:srgbClr val="3B38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866775" y="1101090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5" y="57150"/>
                </a:moveTo>
                <a:lnTo>
                  <a:pt x="24784" y="57150"/>
                </a:lnTo>
                <a:lnTo>
                  <a:pt x="21135" y="56426"/>
                </a:lnTo>
                <a:lnTo>
                  <a:pt x="0" y="32365"/>
                </a:lnTo>
                <a:lnTo>
                  <a:pt x="0" y="24784"/>
                </a:lnTo>
                <a:lnTo>
                  <a:pt x="24784" y="0"/>
                </a:lnTo>
                <a:lnTo>
                  <a:pt x="32365" y="0"/>
                </a:lnTo>
                <a:lnTo>
                  <a:pt x="57150" y="24784"/>
                </a:lnTo>
                <a:lnTo>
                  <a:pt x="57150" y="28575"/>
                </a:lnTo>
                <a:lnTo>
                  <a:pt x="57150" y="32365"/>
                </a:lnTo>
                <a:lnTo>
                  <a:pt x="36004" y="56426"/>
                </a:lnTo>
                <a:lnTo>
                  <a:pt x="32365" y="57150"/>
                </a:lnTo>
                <a:close/>
              </a:path>
            </a:pathLst>
          </a:custGeom>
          <a:solidFill>
            <a:srgbClr val="3B38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66775" y="1162050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5" y="57150"/>
                </a:moveTo>
                <a:lnTo>
                  <a:pt x="24784" y="57150"/>
                </a:lnTo>
                <a:lnTo>
                  <a:pt x="21135" y="56426"/>
                </a:lnTo>
                <a:lnTo>
                  <a:pt x="0" y="32365"/>
                </a:lnTo>
                <a:lnTo>
                  <a:pt x="0" y="24784"/>
                </a:lnTo>
                <a:lnTo>
                  <a:pt x="24784" y="0"/>
                </a:lnTo>
                <a:lnTo>
                  <a:pt x="32365" y="0"/>
                </a:lnTo>
                <a:lnTo>
                  <a:pt x="57150" y="24784"/>
                </a:lnTo>
                <a:lnTo>
                  <a:pt x="57150" y="28575"/>
                </a:lnTo>
                <a:lnTo>
                  <a:pt x="57150" y="32365"/>
                </a:lnTo>
                <a:lnTo>
                  <a:pt x="36004" y="56426"/>
                </a:lnTo>
                <a:lnTo>
                  <a:pt x="32365" y="57150"/>
                </a:lnTo>
                <a:close/>
              </a:path>
            </a:pathLst>
          </a:custGeom>
          <a:solidFill>
            <a:srgbClr val="3B38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66775" y="1223010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5" y="57150"/>
                </a:moveTo>
                <a:lnTo>
                  <a:pt x="24784" y="57150"/>
                </a:lnTo>
                <a:lnTo>
                  <a:pt x="21135" y="56426"/>
                </a:lnTo>
                <a:lnTo>
                  <a:pt x="0" y="32365"/>
                </a:lnTo>
                <a:lnTo>
                  <a:pt x="0" y="24784"/>
                </a:lnTo>
                <a:lnTo>
                  <a:pt x="24784" y="0"/>
                </a:lnTo>
                <a:lnTo>
                  <a:pt x="32365" y="0"/>
                </a:lnTo>
                <a:lnTo>
                  <a:pt x="57150" y="24784"/>
                </a:lnTo>
                <a:lnTo>
                  <a:pt x="57150" y="28575"/>
                </a:lnTo>
                <a:lnTo>
                  <a:pt x="57150" y="32365"/>
                </a:lnTo>
                <a:lnTo>
                  <a:pt x="36004" y="56426"/>
                </a:lnTo>
                <a:lnTo>
                  <a:pt x="32365" y="57150"/>
                </a:lnTo>
                <a:close/>
              </a:path>
            </a:pathLst>
          </a:custGeom>
          <a:solidFill>
            <a:srgbClr val="3B38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090115" y="9632314"/>
            <a:ext cx="4360545" cy="2997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7305">
              <a:lnSpc>
                <a:spcPct val="129600"/>
              </a:lnSpc>
              <a:spcBef>
                <a:spcPts val="100"/>
              </a:spcBef>
            </a:pPr>
            <a:r>
              <a:rPr dirty="0" sz="1350" b="1">
                <a:solidFill>
                  <a:srgbClr val="3B3838"/>
                </a:solidFill>
                <a:latin typeface="Roboto"/>
                <a:cs typeface="Roboto"/>
              </a:rPr>
              <a:t>Company</a:t>
            </a:r>
            <a:r>
              <a:rPr dirty="0" sz="1350" spc="-25" b="1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b="1">
                <a:solidFill>
                  <a:srgbClr val="3B3838"/>
                </a:solidFill>
                <a:latin typeface="Roboto"/>
                <a:cs typeface="Roboto"/>
              </a:rPr>
              <a:t>Code:</a:t>
            </a:r>
            <a:r>
              <a:rPr dirty="0" sz="1350" spc="-20" b="1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Set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up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for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eaсh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legal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entity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to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meet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loсal 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зtatutory</a:t>
            </a:r>
            <a:r>
              <a:rPr dirty="0" sz="1350" spc="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requirementз</a:t>
            </a:r>
            <a:endParaRPr sz="1350">
              <a:latin typeface="Roboto"/>
              <a:cs typeface="Roboto"/>
            </a:endParaRPr>
          </a:p>
          <a:p>
            <a:pPr marL="12700" marR="675005">
              <a:lnSpc>
                <a:spcPct val="134300"/>
              </a:lnSpc>
              <a:spcBef>
                <a:spcPts val="450"/>
              </a:spcBef>
            </a:pPr>
            <a:r>
              <a:rPr dirty="0" sz="1350" b="1">
                <a:solidFill>
                  <a:srgbClr val="3B3838"/>
                </a:solidFill>
                <a:latin typeface="Roboto"/>
                <a:cs typeface="Roboto"/>
              </a:rPr>
              <a:t>Chart</a:t>
            </a:r>
            <a:r>
              <a:rPr dirty="0" sz="1350" spc="-15" b="1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b="1">
                <a:solidFill>
                  <a:srgbClr val="3B3838"/>
                </a:solidFill>
                <a:latin typeface="Roboto"/>
                <a:cs typeface="Roboto"/>
              </a:rPr>
              <a:t>of</a:t>
            </a:r>
            <a:r>
              <a:rPr dirty="0" sz="1350" spc="-15" b="1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b="1">
                <a:solidFill>
                  <a:srgbClr val="3B3838"/>
                </a:solidFill>
                <a:latin typeface="Roboto"/>
                <a:cs typeface="Roboto"/>
              </a:rPr>
              <a:t>Accounts:</a:t>
            </a:r>
            <a:r>
              <a:rPr dirty="0" sz="1350" spc="-10" b="1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Unified</a:t>
            </a:r>
            <a:r>
              <a:rPr dirty="0" sz="135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global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сhart</a:t>
            </a:r>
            <a:r>
              <a:rPr dirty="0" sz="135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enabling сonзiзtent</a:t>
            </a:r>
            <a:r>
              <a:rPr dirty="0" sz="1350" spc="-6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reporting</a:t>
            </a:r>
            <a:r>
              <a:rPr dirty="0" sz="1350" spc="-6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aсroзз</a:t>
            </a:r>
            <a:r>
              <a:rPr dirty="0" sz="1350" spc="-6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marketз</a:t>
            </a:r>
            <a:endParaRPr sz="1350">
              <a:latin typeface="Roboto"/>
              <a:cs typeface="Roboto"/>
            </a:endParaRPr>
          </a:p>
          <a:p>
            <a:pPr marL="12700" marR="482600">
              <a:lnSpc>
                <a:spcPct val="134300"/>
              </a:lnSpc>
              <a:spcBef>
                <a:spcPts val="450"/>
              </a:spcBef>
            </a:pPr>
            <a:r>
              <a:rPr dirty="0" sz="1350" b="1">
                <a:solidFill>
                  <a:srgbClr val="3B3838"/>
                </a:solidFill>
                <a:latin typeface="Roboto"/>
                <a:cs typeface="Roboto"/>
              </a:rPr>
              <a:t>General</a:t>
            </a:r>
            <a:r>
              <a:rPr dirty="0" sz="1350" spc="-5" b="1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b="1">
                <a:solidFill>
                  <a:srgbClr val="3B3838"/>
                </a:solidFill>
                <a:latin typeface="Roboto"/>
                <a:cs typeface="Roboto"/>
              </a:rPr>
              <a:t>Ledger: 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Real-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time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reсording</a:t>
            </a:r>
            <a:r>
              <a:rPr dirty="0" sz="1350" spc="-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of all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finanсial tranзaсtionз</a:t>
            </a:r>
            <a:endParaRPr sz="1350">
              <a:latin typeface="Roboto"/>
              <a:cs typeface="Roboto"/>
            </a:endParaRPr>
          </a:p>
          <a:p>
            <a:pPr marL="12700" marR="99060">
              <a:lnSpc>
                <a:spcPct val="134300"/>
              </a:lnSpc>
              <a:spcBef>
                <a:spcPts val="445"/>
              </a:spcBef>
            </a:pPr>
            <a:r>
              <a:rPr dirty="0" sz="1350" b="1">
                <a:solidFill>
                  <a:srgbClr val="3B3838"/>
                </a:solidFill>
                <a:latin typeface="Roboto"/>
                <a:cs typeface="Roboto"/>
              </a:rPr>
              <a:t>Accounts</a:t>
            </a:r>
            <a:r>
              <a:rPr dirty="0" sz="1350" spc="-20" b="1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b="1">
                <a:solidFill>
                  <a:srgbClr val="3B3838"/>
                </a:solidFill>
                <a:latin typeface="Roboto"/>
                <a:cs typeface="Roboto"/>
              </a:rPr>
              <a:t>Payable</a:t>
            </a:r>
            <a:r>
              <a:rPr dirty="0" sz="1350" spc="-15" b="1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b="1">
                <a:solidFill>
                  <a:srgbClr val="3B3838"/>
                </a:solidFill>
                <a:latin typeface="Roboto"/>
                <a:cs typeface="Roboto"/>
              </a:rPr>
              <a:t>&amp;</a:t>
            </a:r>
            <a:r>
              <a:rPr dirty="0" sz="1350" spc="-20" b="1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b="1">
                <a:solidFill>
                  <a:srgbClr val="3B3838"/>
                </a:solidFill>
                <a:latin typeface="Roboto"/>
                <a:cs typeface="Roboto"/>
              </a:rPr>
              <a:t>Receivable:</a:t>
            </a:r>
            <a:r>
              <a:rPr dirty="0" sz="1350" spc="-15" b="1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Automated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proсeззing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of</a:t>
            </a:r>
            <a:r>
              <a:rPr dirty="0" sz="135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зupplier</a:t>
            </a:r>
            <a:r>
              <a:rPr dirty="0" sz="135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 сuзtomer</a:t>
            </a:r>
            <a:r>
              <a:rPr dirty="0" sz="135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tranзaсtionз</a:t>
            </a:r>
            <a:endParaRPr sz="1350">
              <a:latin typeface="Roboto"/>
              <a:cs typeface="Roboto"/>
            </a:endParaRPr>
          </a:p>
          <a:p>
            <a:pPr marL="12700" marR="5080">
              <a:lnSpc>
                <a:spcPct val="134300"/>
              </a:lnSpc>
              <a:spcBef>
                <a:spcPts val="450"/>
              </a:spcBef>
            </a:pPr>
            <a:r>
              <a:rPr dirty="0" sz="1350" b="1">
                <a:solidFill>
                  <a:srgbClr val="3B3838"/>
                </a:solidFill>
                <a:latin typeface="Roboto"/>
                <a:cs typeface="Roboto"/>
              </a:rPr>
              <a:t>Asset</a:t>
            </a:r>
            <a:r>
              <a:rPr dirty="0" sz="1350" spc="-25" b="1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b="1">
                <a:solidFill>
                  <a:srgbClr val="3B3838"/>
                </a:solidFill>
                <a:latin typeface="Roboto"/>
                <a:cs typeface="Roboto"/>
              </a:rPr>
              <a:t>Accounting:</a:t>
            </a:r>
            <a:r>
              <a:rPr dirty="0" sz="1350" spc="-40" b="1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Traсking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of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fixed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aззetз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aсroзз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global operationз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972175" y="98012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5" y="57150"/>
                </a:moveTo>
                <a:lnTo>
                  <a:pt x="24784" y="57150"/>
                </a:lnTo>
                <a:lnTo>
                  <a:pt x="21135" y="56426"/>
                </a:lnTo>
                <a:lnTo>
                  <a:pt x="0" y="32365"/>
                </a:lnTo>
                <a:lnTo>
                  <a:pt x="0" y="24784"/>
                </a:lnTo>
                <a:lnTo>
                  <a:pt x="24784" y="0"/>
                </a:lnTo>
                <a:lnTo>
                  <a:pt x="32365" y="0"/>
                </a:lnTo>
                <a:lnTo>
                  <a:pt x="57150" y="24784"/>
                </a:lnTo>
                <a:lnTo>
                  <a:pt x="57150" y="28575"/>
                </a:lnTo>
                <a:lnTo>
                  <a:pt x="57150" y="32365"/>
                </a:lnTo>
                <a:lnTo>
                  <a:pt x="36004" y="56426"/>
                </a:lnTo>
                <a:lnTo>
                  <a:pt x="32365" y="57150"/>
                </a:lnTo>
                <a:close/>
              </a:path>
            </a:pathLst>
          </a:custGeom>
          <a:solidFill>
            <a:srgbClr val="3B38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972175" y="1040130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5" y="57150"/>
                </a:moveTo>
                <a:lnTo>
                  <a:pt x="24784" y="57150"/>
                </a:lnTo>
                <a:lnTo>
                  <a:pt x="21135" y="56426"/>
                </a:lnTo>
                <a:lnTo>
                  <a:pt x="0" y="32365"/>
                </a:lnTo>
                <a:lnTo>
                  <a:pt x="0" y="24784"/>
                </a:lnTo>
                <a:lnTo>
                  <a:pt x="24784" y="0"/>
                </a:lnTo>
                <a:lnTo>
                  <a:pt x="32365" y="0"/>
                </a:lnTo>
                <a:lnTo>
                  <a:pt x="57150" y="24784"/>
                </a:lnTo>
                <a:lnTo>
                  <a:pt x="57150" y="28575"/>
                </a:lnTo>
                <a:lnTo>
                  <a:pt x="57150" y="32365"/>
                </a:lnTo>
                <a:lnTo>
                  <a:pt x="36004" y="56426"/>
                </a:lnTo>
                <a:lnTo>
                  <a:pt x="32365" y="57150"/>
                </a:lnTo>
                <a:close/>
              </a:path>
            </a:pathLst>
          </a:custGeom>
          <a:solidFill>
            <a:srgbClr val="3B38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972175" y="1101090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5" y="57150"/>
                </a:moveTo>
                <a:lnTo>
                  <a:pt x="24784" y="57150"/>
                </a:lnTo>
                <a:lnTo>
                  <a:pt x="21135" y="56426"/>
                </a:lnTo>
                <a:lnTo>
                  <a:pt x="0" y="32365"/>
                </a:lnTo>
                <a:lnTo>
                  <a:pt x="0" y="24784"/>
                </a:lnTo>
                <a:lnTo>
                  <a:pt x="24784" y="0"/>
                </a:lnTo>
                <a:lnTo>
                  <a:pt x="32365" y="0"/>
                </a:lnTo>
                <a:lnTo>
                  <a:pt x="57150" y="24784"/>
                </a:lnTo>
                <a:lnTo>
                  <a:pt x="57150" y="28575"/>
                </a:lnTo>
                <a:lnTo>
                  <a:pt x="57150" y="32365"/>
                </a:lnTo>
                <a:lnTo>
                  <a:pt x="36004" y="56426"/>
                </a:lnTo>
                <a:lnTo>
                  <a:pt x="32365" y="57150"/>
                </a:lnTo>
                <a:close/>
              </a:path>
            </a:pathLst>
          </a:custGeom>
          <a:solidFill>
            <a:srgbClr val="3B38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972175" y="1162050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5" y="57150"/>
                </a:moveTo>
                <a:lnTo>
                  <a:pt x="24784" y="57150"/>
                </a:lnTo>
                <a:lnTo>
                  <a:pt x="21135" y="56426"/>
                </a:lnTo>
                <a:lnTo>
                  <a:pt x="0" y="32365"/>
                </a:lnTo>
                <a:lnTo>
                  <a:pt x="0" y="24784"/>
                </a:lnTo>
                <a:lnTo>
                  <a:pt x="24784" y="0"/>
                </a:lnTo>
                <a:lnTo>
                  <a:pt x="32365" y="0"/>
                </a:lnTo>
                <a:lnTo>
                  <a:pt x="57150" y="24784"/>
                </a:lnTo>
                <a:lnTo>
                  <a:pt x="57150" y="28575"/>
                </a:lnTo>
                <a:lnTo>
                  <a:pt x="57150" y="32365"/>
                </a:lnTo>
                <a:lnTo>
                  <a:pt x="36004" y="56426"/>
                </a:lnTo>
                <a:lnTo>
                  <a:pt x="32365" y="57150"/>
                </a:lnTo>
                <a:close/>
              </a:path>
            </a:pathLst>
          </a:custGeom>
          <a:solidFill>
            <a:srgbClr val="3B38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6195070" y="9632314"/>
            <a:ext cx="4382135" cy="2387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72720">
              <a:lnSpc>
                <a:spcPct val="129600"/>
              </a:lnSpc>
              <a:spcBef>
                <a:spcPts val="100"/>
              </a:spcBef>
            </a:pPr>
            <a:r>
              <a:rPr dirty="0" sz="1350" b="1">
                <a:solidFill>
                  <a:srgbClr val="3B3838"/>
                </a:solidFill>
                <a:latin typeface="Roboto"/>
                <a:cs typeface="Roboto"/>
              </a:rPr>
              <a:t>Cost</a:t>
            </a:r>
            <a:r>
              <a:rPr dirty="0" sz="1350" spc="-40" b="1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b="1">
                <a:solidFill>
                  <a:srgbClr val="3B3838"/>
                </a:solidFill>
                <a:latin typeface="Roboto"/>
                <a:cs typeface="Roboto"/>
              </a:rPr>
              <a:t>Centers:</a:t>
            </a:r>
            <a:r>
              <a:rPr dirty="0" sz="1350" spc="-60" b="1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Traсking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сoзtз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by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department,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faсtory,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or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funсtion</a:t>
            </a:r>
            <a:endParaRPr sz="1350">
              <a:latin typeface="Roboto"/>
              <a:cs typeface="Roboto"/>
            </a:endParaRPr>
          </a:p>
          <a:p>
            <a:pPr marL="12700" marR="187960">
              <a:lnSpc>
                <a:spcPct val="134300"/>
              </a:lnSpc>
              <a:spcBef>
                <a:spcPts val="450"/>
              </a:spcBef>
            </a:pPr>
            <a:r>
              <a:rPr dirty="0" sz="1350" b="1">
                <a:solidFill>
                  <a:srgbClr val="3B3838"/>
                </a:solidFill>
                <a:latin typeface="Roboto"/>
                <a:cs typeface="Roboto"/>
              </a:rPr>
              <a:t>Profit</a:t>
            </a:r>
            <a:r>
              <a:rPr dirty="0" sz="1350" spc="-35" b="1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b="1">
                <a:solidFill>
                  <a:srgbClr val="3B3838"/>
                </a:solidFill>
                <a:latin typeface="Roboto"/>
                <a:cs typeface="Roboto"/>
              </a:rPr>
              <a:t>Centers:</a:t>
            </a:r>
            <a:r>
              <a:rPr dirty="0" sz="1350" spc="-35" b="1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Analyзing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profitability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by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produсt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line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or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market</a:t>
            </a:r>
            <a:endParaRPr sz="1350">
              <a:latin typeface="Roboto"/>
              <a:cs typeface="Roboto"/>
            </a:endParaRPr>
          </a:p>
          <a:p>
            <a:pPr marL="12700" marR="68580">
              <a:lnSpc>
                <a:spcPct val="134300"/>
              </a:lnSpc>
              <a:spcBef>
                <a:spcPts val="450"/>
              </a:spcBef>
            </a:pPr>
            <a:r>
              <a:rPr dirty="0" sz="1350" b="1">
                <a:solidFill>
                  <a:srgbClr val="3B3838"/>
                </a:solidFill>
                <a:latin typeface="Roboto"/>
                <a:cs typeface="Roboto"/>
              </a:rPr>
              <a:t>Internal</a:t>
            </a:r>
            <a:r>
              <a:rPr dirty="0" sz="1350" spc="-25" b="1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b="1">
                <a:solidFill>
                  <a:srgbClr val="3B3838"/>
                </a:solidFill>
                <a:latin typeface="Roboto"/>
                <a:cs typeface="Roboto"/>
              </a:rPr>
              <a:t>Orders:</a:t>
            </a:r>
            <a:r>
              <a:rPr dirty="0" sz="1350" spc="-25" b="1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Monitoring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сoзtз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for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зpeсifiс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projeсtз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or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сampaignз</a:t>
            </a:r>
            <a:endParaRPr sz="1350">
              <a:latin typeface="Roboto"/>
              <a:cs typeface="Roboto"/>
            </a:endParaRPr>
          </a:p>
          <a:p>
            <a:pPr marL="12700" marR="5080">
              <a:lnSpc>
                <a:spcPct val="134300"/>
              </a:lnSpc>
              <a:spcBef>
                <a:spcPts val="445"/>
              </a:spcBef>
            </a:pPr>
            <a:r>
              <a:rPr dirty="0" sz="1350" spc="-10" b="1">
                <a:solidFill>
                  <a:srgbClr val="3B3838"/>
                </a:solidFill>
                <a:latin typeface="Roboto"/>
                <a:cs typeface="Roboto"/>
              </a:rPr>
              <a:t>Profitability</a:t>
            </a:r>
            <a:r>
              <a:rPr dirty="0" sz="1350" spc="-35" b="1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b="1">
                <a:solidFill>
                  <a:srgbClr val="3B3838"/>
                </a:solidFill>
                <a:latin typeface="Roboto"/>
                <a:cs typeface="Roboto"/>
              </a:rPr>
              <a:t>Analysis</a:t>
            </a:r>
            <a:r>
              <a:rPr dirty="0" sz="1350" spc="-30" b="1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 b="1">
                <a:solidFill>
                  <a:srgbClr val="3B3838"/>
                </a:solidFill>
                <a:latin typeface="Roboto"/>
                <a:cs typeface="Roboto"/>
              </a:rPr>
              <a:t>(CO-PA):</a:t>
            </a:r>
            <a:r>
              <a:rPr dirty="0" sz="1350" spc="-30" b="1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Underзtanding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marginз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by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зegment,</a:t>
            </a:r>
            <a:r>
              <a:rPr dirty="0" sz="1350" spc="-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region,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or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сuзtomer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920931" y="12146914"/>
            <a:ext cx="4665345" cy="854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FI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CO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are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tightly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integrated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—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every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finanсial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poзting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in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FI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automatiсally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updateз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relevant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сoзt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objeсtз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in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CO,</a:t>
            </a:r>
            <a:endParaRPr sz="13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enзuring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сomplete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finanсial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viзibility.</a:t>
            </a:r>
            <a:endParaRPr sz="13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140"/>
              <a:t>Challenges</a:t>
            </a:r>
            <a:r>
              <a:rPr dirty="0" spc="-120"/>
              <a:t> </a:t>
            </a:r>
            <a:r>
              <a:rPr dirty="0" spc="110"/>
              <a:t>During</a:t>
            </a:r>
            <a:r>
              <a:rPr dirty="0" spc="-120"/>
              <a:t> </a:t>
            </a:r>
            <a:r>
              <a:rPr dirty="0" spc="45"/>
              <a:t>Implementation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5975" y="1288414"/>
            <a:ext cx="9715500" cy="844550"/>
          </a:xfrm>
          <a:prstGeom prst="rect">
            <a:avLst/>
          </a:prstGeom>
        </p:spPr>
        <p:txBody>
          <a:bodyPr wrap="square" lIns="0" tIns="831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Implementing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SAP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S/4HANA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Finance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at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зcale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of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Neзtlé'з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global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operationз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iз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an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enormouз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undertaking.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While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Neзtlé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haз</a:t>
            </a:r>
            <a:endParaRPr sz="1350">
              <a:latin typeface="Roboto"/>
              <a:cs typeface="Roboto"/>
            </a:endParaRPr>
          </a:p>
          <a:p>
            <a:pPr marL="12700" marR="5080">
              <a:lnSpc>
                <a:spcPct val="129600"/>
              </a:lnSpc>
              <a:spcBef>
                <a:spcPts val="75"/>
              </a:spcBef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not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publicly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diзcloзed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all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internal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project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challengeз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in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detail,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зome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challengeз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are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evident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from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nature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of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tranзformation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from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general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SAP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implementation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experience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at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large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multinationalз.</a:t>
            </a:r>
            <a:endParaRPr sz="1350">
              <a:latin typeface="Roboto"/>
              <a:cs typeface="Robo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28675" y="2362200"/>
            <a:ext cx="4800600" cy="2914650"/>
            <a:chOff x="828675" y="2362200"/>
            <a:chExt cx="4800600" cy="2914650"/>
          </a:xfrm>
        </p:grpSpPr>
        <p:sp>
          <p:nvSpPr>
            <p:cNvPr id="5" name="object 5"/>
            <p:cNvSpPr/>
            <p:nvPr/>
          </p:nvSpPr>
          <p:spPr>
            <a:xfrm>
              <a:off x="838200" y="2371725"/>
              <a:ext cx="4781550" cy="2895600"/>
            </a:xfrm>
            <a:custGeom>
              <a:avLst/>
              <a:gdLst/>
              <a:ahLst/>
              <a:cxnLst/>
              <a:rect l="l" t="t" r="r" b="b"/>
              <a:pathLst>
                <a:path w="4781550" h="2895600">
                  <a:moveTo>
                    <a:pt x="0" y="2845117"/>
                  </a:moveTo>
                  <a:lnTo>
                    <a:pt x="0" y="50482"/>
                  </a:lnTo>
                  <a:lnTo>
                    <a:pt x="0" y="47167"/>
                  </a:lnTo>
                  <a:lnTo>
                    <a:pt x="323" y="43881"/>
                  </a:lnTo>
                  <a:lnTo>
                    <a:pt x="19678" y="10353"/>
                  </a:lnTo>
                  <a:lnTo>
                    <a:pt x="47167" y="0"/>
                  </a:lnTo>
                  <a:lnTo>
                    <a:pt x="50482" y="0"/>
                  </a:lnTo>
                  <a:lnTo>
                    <a:pt x="4731067" y="0"/>
                  </a:lnTo>
                  <a:lnTo>
                    <a:pt x="4734382" y="0"/>
                  </a:lnTo>
                  <a:lnTo>
                    <a:pt x="4737668" y="323"/>
                  </a:lnTo>
                  <a:lnTo>
                    <a:pt x="4771196" y="19678"/>
                  </a:lnTo>
                  <a:lnTo>
                    <a:pt x="4777701" y="31165"/>
                  </a:lnTo>
                  <a:lnTo>
                    <a:pt x="4778978" y="34223"/>
                  </a:lnTo>
                  <a:lnTo>
                    <a:pt x="4779930" y="37385"/>
                  </a:lnTo>
                  <a:lnTo>
                    <a:pt x="4780578" y="40633"/>
                  </a:lnTo>
                  <a:lnTo>
                    <a:pt x="4781226" y="43881"/>
                  </a:lnTo>
                  <a:lnTo>
                    <a:pt x="4781550" y="47167"/>
                  </a:lnTo>
                  <a:lnTo>
                    <a:pt x="4781550" y="50482"/>
                  </a:lnTo>
                  <a:lnTo>
                    <a:pt x="4781550" y="2845117"/>
                  </a:lnTo>
                  <a:lnTo>
                    <a:pt x="4781550" y="2848432"/>
                  </a:lnTo>
                  <a:lnTo>
                    <a:pt x="4781226" y="2851718"/>
                  </a:lnTo>
                  <a:lnTo>
                    <a:pt x="4780578" y="2854966"/>
                  </a:lnTo>
                  <a:lnTo>
                    <a:pt x="4779930" y="2858214"/>
                  </a:lnTo>
                  <a:lnTo>
                    <a:pt x="4778978" y="2861376"/>
                  </a:lnTo>
                  <a:lnTo>
                    <a:pt x="4777701" y="2864434"/>
                  </a:lnTo>
                  <a:lnTo>
                    <a:pt x="4776435" y="2867501"/>
                  </a:lnTo>
                  <a:lnTo>
                    <a:pt x="4750384" y="2891751"/>
                  </a:lnTo>
                  <a:lnTo>
                    <a:pt x="4747326" y="2893028"/>
                  </a:lnTo>
                  <a:lnTo>
                    <a:pt x="4744164" y="2893980"/>
                  </a:lnTo>
                  <a:lnTo>
                    <a:pt x="4740916" y="2894628"/>
                  </a:lnTo>
                  <a:lnTo>
                    <a:pt x="4737668" y="2895276"/>
                  </a:lnTo>
                  <a:lnTo>
                    <a:pt x="4734382" y="2895599"/>
                  </a:lnTo>
                  <a:lnTo>
                    <a:pt x="4731067" y="2895599"/>
                  </a:lnTo>
                  <a:lnTo>
                    <a:pt x="50482" y="2895599"/>
                  </a:lnTo>
                  <a:lnTo>
                    <a:pt x="47167" y="2895599"/>
                  </a:lnTo>
                  <a:lnTo>
                    <a:pt x="43881" y="2895276"/>
                  </a:lnTo>
                  <a:lnTo>
                    <a:pt x="40633" y="2894628"/>
                  </a:lnTo>
                  <a:lnTo>
                    <a:pt x="37385" y="2893980"/>
                  </a:lnTo>
                  <a:lnTo>
                    <a:pt x="34223" y="2893028"/>
                  </a:lnTo>
                  <a:lnTo>
                    <a:pt x="31165" y="2891751"/>
                  </a:lnTo>
                  <a:lnTo>
                    <a:pt x="28098" y="2890485"/>
                  </a:lnTo>
                  <a:lnTo>
                    <a:pt x="2571" y="2861376"/>
                  </a:lnTo>
                  <a:lnTo>
                    <a:pt x="971" y="2854966"/>
                  </a:lnTo>
                  <a:lnTo>
                    <a:pt x="323" y="2851718"/>
                  </a:lnTo>
                  <a:lnTo>
                    <a:pt x="0" y="2848432"/>
                  </a:lnTo>
                  <a:lnTo>
                    <a:pt x="0" y="2845117"/>
                  </a:lnTo>
                  <a:close/>
                </a:path>
              </a:pathLst>
            </a:custGeom>
            <a:ln w="19050">
              <a:solidFill>
                <a:srgbClr val="C6C6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847725" y="2381250"/>
              <a:ext cx="4762500" cy="509905"/>
            </a:xfrm>
            <a:custGeom>
              <a:avLst/>
              <a:gdLst/>
              <a:ahLst/>
              <a:cxnLst/>
              <a:rect l="l" t="t" r="r" b="b"/>
              <a:pathLst>
                <a:path w="4762500" h="509905">
                  <a:moveTo>
                    <a:pt x="4762500" y="509587"/>
                  </a:moveTo>
                  <a:lnTo>
                    <a:pt x="0" y="509587"/>
                  </a:lnTo>
                  <a:lnTo>
                    <a:pt x="0" y="35528"/>
                  </a:lnTo>
                  <a:lnTo>
                    <a:pt x="30299" y="1038"/>
                  </a:lnTo>
                  <a:lnTo>
                    <a:pt x="35528" y="0"/>
                  </a:lnTo>
                  <a:lnTo>
                    <a:pt x="4726971" y="0"/>
                  </a:lnTo>
                  <a:lnTo>
                    <a:pt x="4761461" y="30299"/>
                  </a:lnTo>
                  <a:lnTo>
                    <a:pt x="4762500" y="35528"/>
                  </a:lnTo>
                  <a:lnTo>
                    <a:pt x="4762500" y="509587"/>
                  </a:lnTo>
                  <a:close/>
                </a:path>
              </a:pathLst>
            </a:custGeom>
            <a:solidFill>
              <a:srgbClr val="E0E0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847724" y="2886074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4762500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4762500" y="0"/>
                  </a:lnTo>
                  <a:lnTo>
                    <a:pt x="4762500" y="9525"/>
                  </a:lnTo>
                  <a:close/>
                </a:path>
              </a:pathLst>
            </a:custGeom>
            <a:solidFill>
              <a:srgbClr val="C6C6D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13526" y="2499360"/>
              <a:ext cx="240422" cy="268604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006474" y="3049586"/>
            <a:ext cx="4440555" cy="199961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>
                <a:solidFill>
                  <a:srgbClr val="3B3838"/>
                </a:solidFill>
                <a:latin typeface="Trebuchet MS"/>
                <a:cs typeface="Trebuchet MS"/>
              </a:rPr>
              <a:t>Data</a:t>
            </a:r>
            <a:r>
              <a:rPr dirty="0" sz="1650" spc="120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650" spc="-10">
                <a:solidFill>
                  <a:srgbClr val="3B3838"/>
                </a:solidFill>
                <a:latin typeface="Trebuchet MS"/>
                <a:cs typeface="Trebuchet MS"/>
              </a:rPr>
              <a:t>Migration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Migrating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financial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data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from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multiple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legacy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зyзtemз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into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зingle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SAP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platform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iз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one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of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moзt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complex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aзpectз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of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any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ERP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tranзformation.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Enзuring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data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 accuracy 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and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completeneзз</a:t>
            </a:r>
            <a:r>
              <a:rPr dirty="0" sz="135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acroзз 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hundredз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of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зubзidiarieз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iз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a</a:t>
            </a:r>
            <a:endParaRPr sz="1350">
              <a:latin typeface="Roboto"/>
              <a:cs typeface="Roboto"/>
            </a:endParaRPr>
          </a:p>
          <a:p>
            <a:pPr marL="12700" marR="369570">
              <a:lnSpc>
                <a:spcPct val="125000"/>
              </a:lnSpc>
              <a:spcBef>
                <a:spcPts val="85"/>
              </a:spcBef>
            </a:pP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зignificant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challenge.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400" spc="-30" i="1">
                <a:solidFill>
                  <a:srgbClr val="3B3838"/>
                </a:solidFill>
                <a:latin typeface="Roboto"/>
                <a:cs typeface="Roboto"/>
              </a:rPr>
              <a:t>Specific</a:t>
            </a:r>
            <a:r>
              <a:rPr dirty="0" sz="1400" spc="-25" i="1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400" spc="-35" i="1">
                <a:solidFill>
                  <a:srgbClr val="3B3838"/>
                </a:solidFill>
                <a:latin typeface="Roboto"/>
                <a:cs typeface="Roboto"/>
              </a:rPr>
              <a:t>detailз</a:t>
            </a:r>
            <a:r>
              <a:rPr dirty="0" sz="1400" spc="-30" i="1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400" i="1">
                <a:solidFill>
                  <a:srgbClr val="3B3838"/>
                </a:solidFill>
                <a:latin typeface="Roboto"/>
                <a:cs typeface="Roboto"/>
              </a:rPr>
              <a:t>of</a:t>
            </a:r>
            <a:r>
              <a:rPr dirty="0" sz="1400" spc="-30" i="1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400" spc="-50" i="1">
                <a:solidFill>
                  <a:srgbClr val="3B3838"/>
                </a:solidFill>
                <a:latin typeface="Roboto"/>
                <a:cs typeface="Roboto"/>
              </a:rPr>
              <a:t>Neзtlé'з</a:t>
            </a:r>
            <a:r>
              <a:rPr dirty="0" sz="1400" spc="-30" i="1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400" spc="-20" i="1">
                <a:solidFill>
                  <a:srgbClr val="3B3838"/>
                </a:solidFill>
                <a:latin typeface="Roboto"/>
                <a:cs typeface="Roboto"/>
              </a:rPr>
              <a:t>data </a:t>
            </a:r>
            <a:r>
              <a:rPr dirty="0" sz="1400" spc="-40" i="1">
                <a:solidFill>
                  <a:srgbClr val="3B3838"/>
                </a:solidFill>
                <a:latin typeface="Roboto"/>
                <a:cs typeface="Roboto"/>
              </a:rPr>
              <a:t>migration</a:t>
            </a:r>
            <a:r>
              <a:rPr dirty="0" sz="1400" spc="-35" i="1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400" spc="-45" i="1">
                <a:solidFill>
                  <a:srgbClr val="3B3838"/>
                </a:solidFill>
                <a:latin typeface="Roboto"/>
                <a:cs typeface="Roboto"/>
              </a:rPr>
              <a:t>approach</a:t>
            </a:r>
            <a:r>
              <a:rPr dirty="0" sz="1400" spc="-30" i="1">
                <a:solidFill>
                  <a:srgbClr val="3B3838"/>
                </a:solidFill>
                <a:latin typeface="Roboto"/>
                <a:cs typeface="Roboto"/>
              </a:rPr>
              <a:t> are </a:t>
            </a:r>
            <a:r>
              <a:rPr dirty="0" sz="1400" spc="-35" i="1">
                <a:solidFill>
                  <a:srgbClr val="3B3838"/>
                </a:solidFill>
                <a:latin typeface="Roboto"/>
                <a:cs typeface="Roboto"/>
              </a:rPr>
              <a:t>not </a:t>
            </a:r>
            <a:r>
              <a:rPr dirty="0" sz="1400" spc="-40" i="1">
                <a:solidFill>
                  <a:srgbClr val="3B3838"/>
                </a:solidFill>
                <a:latin typeface="Roboto"/>
                <a:cs typeface="Roboto"/>
              </a:rPr>
              <a:t>publicly</a:t>
            </a:r>
            <a:r>
              <a:rPr dirty="0" sz="1400" spc="-30" i="1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400" spc="-10" i="1">
                <a:solidFill>
                  <a:srgbClr val="3B3838"/>
                </a:solidFill>
                <a:latin typeface="Roboto"/>
                <a:cs typeface="Roboto"/>
              </a:rPr>
              <a:t>diзcloзed.</a:t>
            </a:r>
            <a:endParaRPr sz="1400">
              <a:latin typeface="Roboto"/>
              <a:cs typeface="Roboto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800723" y="2362200"/>
            <a:ext cx="4800600" cy="2914650"/>
            <a:chOff x="5800723" y="2362200"/>
            <a:chExt cx="4800600" cy="2914650"/>
          </a:xfrm>
        </p:grpSpPr>
        <p:sp>
          <p:nvSpPr>
            <p:cNvPr id="11" name="object 11"/>
            <p:cNvSpPr/>
            <p:nvPr/>
          </p:nvSpPr>
          <p:spPr>
            <a:xfrm>
              <a:off x="5810248" y="2371725"/>
              <a:ext cx="4781550" cy="2895600"/>
            </a:xfrm>
            <a:custGeom>
              <a:avLst/>
              <a:gdLst/>
              <a:ahLst/>
              <a:cxnLst/>
              <a:rect l="l" t="t" r="r" b="b"/>
              <a:pathLst>
                <a:path w="4781550" h="2895600">
                  <a:moveTo>
                    <a:pt x="0" y="2845116"/>
                  </a:moveTo>
                  <a:lnTo>
                    <a:pt x="0" y="50482"/>
                  </a:lnTo>
                  <a:lnTo>
                    <a:pt x="0" y="47167"/>
                  </a:lnTo>
                  <a:lnTo>
                    <a:pt x="323" y="43881"/>
                  </a:lnTo>
                  <a:lnTo>
                    <a:pt x="19678" y="10353"/>
                  </a:lnTo>
                  <a:lnTo>
                    <a:pt x="47167" y="0"/>
                  </a:lnTo>
                  <a:lnTo>
                    <a:pt x="50482" y="0"/>
                  </a:lnTo>
                  <a:lnTo>
                    <a:pt x="4731065" y="0"/>
                  </a:lnTo>
                  <a:lnTo>
                    <a:pt x="4734379" y="0"/>
                  </a:lnTo>
                  <a:lnTo>
                    <a:pt x="4737666" y="323"/>
                  </a:lnTo>
                  <a:lnTo>
                    <a:pt x="4766764" y="14782"/>
                  </a:lnTo>
                  <a:lnTo>
                    <a:pt x="4769108" y="17125"/>
                  </a:lnTo>
                  <a:lnTo>
                    <a:pt x="4777699" y="31165"/>
                  </a:lnTo>
                  <a:lnTo>
                    <a:pt x="4778975" y="34223"/>
                  </a:lnTo>
                  <a:lnTo>
                    <a:pt x="4779928" y="37385"/>
                  </a:lnTo>
                  <a:lnTo>
                    <a:pt x="4780576" y="40633"/>
                  </a:lnTo>
                  <a:lnTo>
                    <a:pt x="4781223" y="43881"/>
                  </a:lnTo>
                  <a:lnTo>
                    <a:pt x="4781547" y="47167"/>
                  </a:lnTo>
                  <a:lnTo>
                    <a:pt x="4781547" y="50482"/>
                  </a:lnTo>
                  <a:lnTo>
                    <a:pt x="4781547" y="2845116"/>
                  </a:lnTo>
                  <a:lnTo>
                    <a:pt x="4781547" y="2848430"/>
                  </a:lnTo>
                  <a:lnTo>
                    <a:pt x="4781223" y="2851716"/>
                  </a:lnTo>
                  <a:lnTo>
                    <a:pt x="4780576" y="2854964"/>
                  </a:lnTo>
                  <a:lnTo>
                    <a:pt x="4779928" y="2858213"/>
                  </a:lnTo>
                  <a:lnTo>
                    <a:pt x="4778975" y="2861375"/>
                  </a:lnTo>
                  <a:lnTo>
                    <a:pt x="4777699" y="2864432"/>
                  </a:lnTo>
                  <a:lnTo>
                    <a:pt x="4776432" y="2867499"/>
                  </a:lnTo>
                  <a:lnTo>
                    <a:pt x="4750381" y="2891750"/>
                  </a:lnTo>
                  <a:lnTo>
                    <a:pt x="4747324" y="2893026"/>
                  </a:lnTo>
                  <a:lnTo>
                    <a:pt x="4744162" y="2893979"/>
                  </a:lnTo>
                  <a:lnTo>
                    <a:pt x="4740914" y="2894627"/>
                  </a:lnTo>
                  <a:lnTo>
                    <a:pt x="4737666" y="2895274"/>
                  </a:lnTo>
                  <a:lnTo>
                    <a:pt x="4734379" y="2895598"/>
                  </a:lnTo>
                  <a:lnTo>
                    <a:pt x="4731065" y="2895598"/>
                  </a:lnTo>
                  <a:lnTo>
                    <a:pt x="50482" y="2895598"/>
                  </a:lnTo>
                  <a:lnTo>
                    <a:pt x="47167" y="2895598"/>
                  </a:lnTo>
                  <a:lnTo>
                    <a:pt x="43881" y="2895274"/>
                  </a:lnTo>
                  <a:lnTo>
                    <a:pt x="40633" y="2894627"/>
                  </a:lnTo>
                  <a:lnTo>
                    <a:pt x="37385" y="2893979"/>
                  </a:lnTo>
                  <a:lnTo>
                    <a:pt x="34223" y="2893026"/>
                  </a:lnTo>
                  <a:lnTo>
                    <a:pt x="31165" y="2891750"/>
                  </a:lnTo>
                  <a:lnTo>
                    <a:pt x="28098" y="2890483"/>
                  </a:lnTo>
                  <a:lnTo>
                    <a:pt x="8505" y="2873157"/>
                  </a:lnTo>
                  <a:lnTo>
                    <a:pt x="6667" y="2870405"/>
                  </a:lnTo>
                  <a:lnTo>
                    <a:pt x="971" y="2854964"/>
                  </a:lnTo>
                  <a:lnTo>
                    <a:pt x="323" y="2851716"/>
                  </a:lnTo>
                  <a:lnTo>
                    <a:pt x="0" y="2848430"/>
                  </a:lnTo>
                  <a:lnTo>
                    <a:pt x="0" y="2845116"/>
                  </a:lnTo>
                  <a:close/>
                </a:path>
              </a:pathLst>
            </a:custGeom>
            <a:ln w="19049">
              <a:solidFill>
                <a:srgbClr val="C6C6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819773" y="2381250"/>
              <a:ext cx="4762500" cy="509905"/>
            </a:xfrm>
            <a:custGeom>
              <a:avLst/>
              <a:gdLst/>
              <a:ahLst/>
              <a:cxnLst/>
              <a:rect l="l" t="t" r="r" b="b"/>
              <a:pathLst>
                <a:path w="4762500" h="509905">
                  <a:moveTo>
                    <a:pt x="4762497" y="509587"/>
                  </a:moveTo>
                  <a:lnTo>
                    <a:pt x="0" y="509587"/>
                  </a:lnTo>
                  <a:lnTo>
                    <a:pt x="0" y="35528"/>
                  </a:lnTo>
                  <a:lnTo>
                    <a:pt x="30299" y="1038"/>
                  </a:lnTo>
                  <a:lnTo>
                    <a:pt x="35528" y="0"/>
                  </a:lnTo>
                  <a:lnTo>
                    <a:pt x="4726969" y="0"/>
                  </a:lnTo>
                  <a:lnTo>
                    <a:pt x="4761459" y="30299"/>
                  </a:lnTo>
                  <a:lnTo>
                    <a:pt x="4762497" y="35528"/>
                  </a:lnTo>
                  <a:lnTo>
                    <a:pt x="4762497" y="509587"/>
                  </a:lnTo>
                  <a:close/>
                </a:path>
              </a:pathLst>
            </a:custGeom>
            <a:solidFill>
              <a:srgbClr val="E0E0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5819774" y="2886074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4762500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4762500" y="0"/>
                  </a:lnTo>
                  <a:lnTo>
                    <a:pt x="4762500" y="9525"/>
                  </a:lnTo>
                  <a:close/>
                </a:path>
              </a:pathLst>
            </a:custGeom>
            <a:solidFill>
              <a:srgbClr val="C6C6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8119150" y="2514993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4" h="46355">
                  <a:moveTo>
                    <a:pt x="46348" y="23174"/>
                  </a:moveTo>
                  <a:lnTo>
                    <a:pt x="46348" y="26247"/>
                  </a:lnTo>
                  <a:lnTo>
                    <a:pt x="45760" y="29203"/>
                  </a:lnTo>
                  <a:lnTo>
                    <a:pt x="26247" y="46348"/>
                  </a:lnTo>
                  <a:lnTo>
                    <a:pt x="23174" y="46348"/>
                  </a:lnTo>
                  <a:lnTo>
                    <a:pt x="20101" y="46348"/>
                  </a:lnTo>
                  <a:lnTo>
                    <a:pt x="0" y="26247"/>
                  </a:lnTo>
                  <a:lnTo>
                    <a:pt x="0" y="23174"/>
                  </a:lnTo>
                  <a:lnTo>
                    <a:pt x="0" y="20101"/>
                  </a:lnTo>
                  <a:lnTo>
                    <a:pt x="20101" y="0"/>
                  </a:lnTo>
                  <a:lnTo>
                    <a:pt x="23174" y="0"/>
                  </a:lnTo>
                  <a:lnTo>
                    <a:pt x="26247" y="0"/>
                  </a:lnTo>
                  <a:lnTo>
                    <a:pt x="46348" y="20101"/>
                  </a:lnTo>
                  <a:lnTo>
                    <a:pt x="46348" y="23174"/>
                  </a:lnTo>
                  <a:close/>
                </a:path>
              </a:pathLst>
            </a:custGeom>
            <a:ln w="11309">
              <a:solidFill>
                <a:srgbClr val="3B383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8249737" y="2514655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4" h="46355">
                  <a:moveTo>
                    <a:pt x="46348" y="23174"/>
                  </a:moveTo>
                  <a:lnTo>
                    <a:pt x="46348" y="26247"/>
                  </a:lnTo>
                  <a:lnTo>
                    <a:pt x="45760" y="29203"/>
                  </a:lnTo>
                  <a:lnTo>
                    <a:pt x="26247" y="46348"/>
                  </a:lnTo>
                  <a:lnTo>
                    <a:pt x="23174" y="46348"/>
                  </a:lnTo>
                  <a:lnTo>
                    <a:pt x="20101" y="46348"/>
                  </a:lnTo>
                  <a:lnTo>
                    <a:pt x="0" y="26247"/>
                  </a:lnTo>
                  <a:lnTo>
                    <a:pt x="0" y="23174"/>
                  </a:lnTo>
                  <a:lnTo>
                    <a:pt x="0" y="20101"/>
                  </a:lnTo>
                  <a:lnTo>
                    <a:pt x="20101" y="0"/>
                  </a:lnTo>
                  <a:lnTo>
                    <a:pt x="23174" y="0"/>
                  </a:lnTo>
                  <a:lnTo>
                    <a:pt x="26247" y="0"/>
                  </a:lnTo>
                  <a:lnTo>
                    <a:pt x="46348" y="20101"/>
                  </a:lnTo>
                  <a:lnTo>
                    <a:pt x="46348" y="23174"/>
                  </a:lnTo>
                  <a:close/>
                </a:path>
              </a:pathLst>
            </a:custGeom>
            <a:ln w="11309">
              <a:solidFill>
                <a:srgbClr val="3B383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8077199" y="2583163"/>
              <a:ext cx="257175" cy="72390"/>
            </a:xfrm>
            <a:custGeom>
              <a:avLst/>
              <a:gdLst/>
              <a:ahLst/>
              <a:cxnLst/>
              <a:rect l="l" t="t" r="r" b="b"/>
              <a:pathLst>
                <a:path w="257175" h="72389">
                  <a:moveTo>
                    <a:pt x="0" y="71890"/>
                  </a:moveTo>
                  <a:lnTo>
                    <a:pt x="31531" y="8679"/>
                  </a:lnTo>
                  <a:lnTo>
                    <a:pt x="34184" y="3360"/>
                  </a:lnTo>
                  <a:lnTo>
                    <a:pt x="39616" y="0"/>
                  </a:lnTo>
                  <a:lnTo>
                    <a:pt x="45559" y="0"/>
                  </a:lnTo>
                  <a:lnTo>
                    <a:pt x="82445" y="0"/>
                  </a:lnTo>
                  <a:lnTo>
                    <a:pt x="88144" y="0"/>
                  </a:lnTo>
                  <a:lnTo>
                    <a:pt x="93395" y="3093"/>
                  </a:lnTo>
                  <a:lnTo>
                    <a:pt x="96158" y="8079"/>
                  </a:lnTo>
                  <a:lnTo>
                    <a:pt x="129549" y="68350"/>
                  </a:lnTo>
                  <a:lnTo>
                    <a:pt x="130824" y="70651"/>
                  </a:lnTo>
                  <a:lnTo>
                    <a:pt x="134123" y="70680"/>
                  </a:lnTo>
                  <a:lnTo>
                    <a:pt x="135438" y="68402"/>
                  </a:lnTo>
                  <a:lnTo>
                    <a:pt x="170404" y="7838"/>
                  </a:lnTo>
                  <a:lnTo>
                    <a:pt x="173205" y="2988"/>
                  </a:lnTo>
                  <a:lnTo>
                    <a:pt x="178380" y="0"/>
                  </a:lnTo>
                  <a:lnTo>
                    <a:pt x="183981" y="0"/>
                  </a:lnTo>
                  <a:lnTo>
                    <a:pt x="209158" y="0"/>
                  </a:lnTo>
                  <a:lnTo>
                    <a:pt x="214758" y="0"/>
                  </a:lnTo>
                  <a:lnTo>
                    <a:pt x="219934" y="2988"/>
                  </a:lnTo>
                  <a:lnTo>
                    <a:pt x="222734" y="7838"/>
                  </a:lnTo>
                  <a:lnTo>
                    <a:pt x="257175" y="67492"/>
                  </a:lnTo>
                </a:path>
              </a:pathLst>
            </a:custGeom>
            <a:ln w="11309">
              <a:solidFill>
                <a:srgbClr val="3B383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06390" y="2610831"/>
              <a:ext cx="71754" cy="14749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22528" y="2603727"/>
              <a:ext cx="100891" cy="154596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5978523" y="3049587"/>
            <a:ext cx="4439920" cy="19983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14">
                <a:solidFill>
                  <a:srgbClr val="3B3838"/>
                </a:solidFill>
                <a:latin typeface="Trebuchet MS"/>
                <a:cs typeface="Trebuchet MS"/>
              </a:rPr>
              <a:t>Change</a:t>
            </a:r>
            <a:r>
              <a:rPr dirty="0" sz="1650" spc="-65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650" spc="100">
                <a:solidFill>
                  <a:srgbClr val="3B3838"/>
                </a:solidFill>
                <a:latin typeface="Trebuchet MS"/>
                <a:cs typeface="Trebuchet MS"/>
              </a:rPr>
              <a:t>Management</a:t>
            </a:r>
            <a:r>
              <a:rPr dirty="0" sz="1650" spc="-65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650" spc="455">
                <a:solidFill>
                  <a:srgbClr val="3B3838"/>
                </a:solidFill>
                <a:latin typeface="Trebuchet MS"/>
                <a:cs typeface="Trebuchet MS"/>
              </a:rPr>
              <a:t>s</a:t>
            </a:r>
            <a:r>
              <a:rPr dirty="0" sz="1650" spc="-60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650" spc="85">
                <a:solidFill>
                  <a:srgbClr val="3B3838"/>
                </a:solidFill>
                <a:latin typeface="Trebuchet MS"/>
                <a:cs typeface="Trebuchet MS"/>
              </a:rPr>
              <a:t>User</a:t>
            </a:r>
            <a:r>
              <a:rPr dirty="0" sz="1650" spc="-155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650" spc="45">
                <a:solidFill>
                  <a:srgbClr val="3B3838"/>
                </a:solidFill>
                <a:latin typeface="Trebuchet MS"/>
                <a:cs typeface="Trebuchet MS"/>
              </a:rPr>
              <a:t>Adoption</a:t>
            </a:r>
            <a:endParaRPr sz="1650">
              <a:latin typeface="Trebuchet MS"/>
              <a:cs typeface="Trebuchet MS"/>
            </a:endParaRPr>
          </a:p>
          <a:p>
            <a:pPr marL="12700" marR="322580">
              <a:lnSpc>
                <a:spcPct val="134300"/>
              </a:lnSpc>
              <a:spcBef>
                <a:spcPts val="540"/>
              </a:spcBef>
            </a:pP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Training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finance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teamз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acroзз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190+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countrieз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to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work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with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new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зyзtem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requireз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 зubзtantial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effort.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Change</a:t>
            </a:r>
            <a:endParaRPr sz="1350">
              <a:latin typeface="Roboto"/>
              <a:cs typeface="Roboto"/>
            </a:endParaRPr>
          </a:p>
          <a:p>
            <a:pPr marL="12700" marR="40640">
              <a:lnSpc>
                <a:spcPct val="134300"/>
              </a:lnSpc>
            </a:pP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management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—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helping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people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adapt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to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new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proceззeз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—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iз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often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cited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aз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one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of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biggeзt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challengeз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in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large</a:t>
            </a:r>
            <a:endParaRPr sz="1350">
              <a:latin typeface="Roboto"/>
              <a:cs typeface="Roboto"/>
            </a:endParaRPr>
          </a:p>
          <a:p>
            <a:pPr marL="12700" marR="5080">
              <a:lnSpc>
                <a:spcPct val="129600"/>
              </a:lnSpc>
              <a:spcBef>
                <a:spcPts val="75"/>
              </a:spcBef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ERP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projectз.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Neзtlé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haз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acknowledged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importance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of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people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change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in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itз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tranзformation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communicationз.</a:t>
            </a:r>
            <a:endParaRPr sz="1350">
              <a:latin typeface="Roboto"/>
              <a:cs typeface="Roboto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828670" y="5448301"/>
            <a:ext cx="4800600" cy="2914650"/>
            <a:chOff x="828670" y="5448301"/>
            <a:chExt cx="4800600" cy="2914650"/>
          </a:xfrm>
        </p:grpSpPr>
        <p:sp>
          <p:nvSpPr>
            <p:cNvPr id="21" name="object 21"/>
            <p:cNvSpPr/>
            <p:nvPr/>
          </p:nvSpPr>
          <p:spPr>
            <a:xfrm>
              <a:off x="838195" y="5457826"/>
              <a:ext cx="4781550" cy="2895600"/>
            </a:xfrm>
            <a:custGeom>
              <a:avLst/>
              <a:gdLst/>
              <a:ahLst/>
              <a:cxnLst/>
              <a:rect l="l" t="t" r="r" b="b"/>
              <a:pathLst>
                <a:path w="4781550" h="2895600">
                  <a:moveTo>
                    <a:pt x="0" y="2845119"/>
                  </a:moveTo>
                  <a:lnTo>
                    <a:pt x="0" y="50482"/>
                  </a:lnTo>
                  <a:lnTo>
                    <a:pt x="0" y="47167"/>
                  </a:lnTo>
                  <a:lnTo>
                    <a:pt x="323" y="43881"/>
                  </a:lnTo>
                  <a:lnTo>
                    <a:pt x="19678" y="10344"/>
                  </a:lnTo>
                  <a:lnTo>
                    <a:pt x="47167" y="0"/>
                  </a:lnTo>
                  <a:lnTo>
                    <a:pt x="50482" y="0"/>
                  </a:lnTo>
                  <a:lnTo>
                    <a:pt x="4731070" y="0"/>
                  </a:lnTo>
                  <a:lnTo>
                    <a:pt x="4734385" y="0"/>
                  </a:lnTo>
                  <a:lnTo>
                    <a:pt x="4737671" y="323"/>
                  </a:lnTo>
                  <a:lnTo>
                    <a:pt x="4759112" y="8505"/>
                  </a:lnTo>
                  <a:lnTo>
                    <a:pt x="4761874" y="10344"/>
                  </a:lnTo>
                  <a:lnTo>
                    <a:pt x="4777704" y="31165"/>
                  </a:lnTo>
                  <a:lnTo>
                    <a:pt x="4778981" y="34223"/>
                  </a:lnTo>
                  <a:lnTo>
                    <a:pt x="4779933" y="37385"/>
                  </a:lnTo>
                  <a:lnTo>
                    <a:pt x="4780581" y="40633"/>
                  </a:lnTo>
                  <a:lnTo>
                    <a:pt x="4781229" y="43881"/>
                  </a:lnTo>
                  <a:lnTo>
                    <a:pt x="4781553" y="47167"/>
                  </a:lnTo>
                  <a:lnTo>
                    <a:pt x="4781553" y="50482"/>
                  </a:lnTo>
                  <a:lnTo>
                    <a:pt x="4781553" y="2845119"/>
                  </a:lnTo>
                  <a:lnTo>
                    <a:pt x="4781553" y="2848434"/>
                  </a:lnTo>
                  <a:lnTo>
                    <a:pt x="4781229" y="2851720"/>
                  </a:lnTo>
                  <a:lnTo>
                    <a:pt x="4780581" y="2854968"/>
                  </a:lnTo>
                  <a:lnTo>
                    <a:pt x="4779933" y="2858216"/>
                  </a:lnTo>
                  <a:lnTo>
                    <a:pt x="4778981" y="2861378"/>
                  </a:lnTo>
                  <a:lnTo>
                    <a:pt x="4777704" y="2864436"/>
                  </a:lnTo>
                  <a:lnTo>
                    <a:pt x="4776438" y="2867503"/>
                  </a:lnTo>
                  <a:lnTo>
                    <a:pt x="4750387" y="2891753"/>
                  </a:lnTo>
                  <a:lnTo>
                    <a:pt x="4747329" y="2893030"/>
                  </a:lnTo>
                  <a:lnTo>
                    <a:pt x="4744167" y="2893982"/>
                  </a:lnTo>
                  <a:lnTo>
                    <a:pt x="4740919" y="2894630"/>
                  </a:lnTo>
                  <a:lnTo>
                    <a:pt x="4737671" y="2895277"/>
                  </a:lnTo>
                  <a:lnTo>
                    <a:pt x="4734385" y="2895601"/>
                  </a:lnTo>
                  <a:lnTo>
                    <a:pt x="4731070" y="2895601"/>
                  </a:lnTo>
                  <a:lnTo>
                    <a:pt x="50482" y="2895601"/>
                  </a:lnTo>
                  <a:lnTo>
                    <a:pt x="47167" y="2895601"/>
                  </a:lnTo>
                  <a:lnTo>
                    <a:pt x="43881" y="2895277"/>
                  </a:lnTo>
                  <a:lnTo>
                    <a:pt x="40633" y="2894630"/>
                  </a:lnTo>
                  <a:lnTo>
                    <a:pt x="37385" y="2893982"/>
                  </a:lnTo>
                  <a:lnTo>
                    <a:pt x="34223" y="2893030"/>
                  </a:lnTo>
                  <a:lnTo>
                    <a:pt x="31165" y="2891753"/>
                  </a:lnTo>
                  <a:lnTo>
                    <a:pt x="28098" y="2890486"/>
                  </a:lnTo>
                  <a:lnTo>
                    <a:pt x="2571" y="2861378"/>
                  </a:lnTo>
                  <a:lnTo>
                    <a:pt x="0" y="2848434"/>
                  </a:lnTo>
                  <a:lnTo>
                    <a:pt x="0" y="2845119"/>
                  </a:lnTo>
                  <a:close/>
                </a:path>
              </a:pathLst>
            </a:custGeom>
            <a:ln w="19050">
              <a:solidFill>
                <a:srgbClr val="C6C6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847720" y="5467351"/>
              <a:ext cx="4762500" cy="509905"/>
            </a:xfrm>
            <a:custGeom>
              <a:avLst/>
              <a:gdLst/>
              <a:ahLst/>
              <a:cxnLst/>
              <a:rect l="l" t="t" r="r" b="b"/>
              <a:pathLst>
                <a:path w="4762500" h="509904">
                  <a:moveTo>
                    <a:pt x="4762503" y="509587"/>
                  </a:moveTo>
                  <a:lnTo>
                    <a:pt x="0" y="509587"/>
                  </a:lnTo>
                  <a:lnTo>
                    <a:pt x="0" y="35528"/>
                  </a:lnTo>
                  <a:lnTo>
                    <a:pt x="30299" y="1038"/>
                  </a:lnTo>
                  <a:lnTo>
                    <a:pt x="35528" y="0"/>
                  </a:lnTo>
                  <a:lnTo>
                    <a:pt x="4726974" y="0"/>
                  </a:lnTo>
                  <a:lnTo>
                    <a:pt x="4761464" y="30299"/>
                  </a:lnTo>
                  <a:lnTo>
                    <a:pt x="4762503" y="35528"/>
                  </a:lnTo>
                  <a:lnTo>
                    <a:pt x="4762503" y="509587"/>
                  </a:lnTo>
                  <a:close/>
                </a:path>
              </a:pathLst>
            </a:custGeom>
            <a:solidFill>
              <a:srgbClr val="E0E0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847725" y="5972174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4762500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4762500" y="0"/>
                  </a:lnTo>
                  <a:lnTo>
                    <a:pt x="4762500" y="9525"/>
                  </a:lnTo>
                  <a:close/>
                </a:path>
              </a:pathLst>
            </a:custGeom>
            <a:solidFill>
              <a:srgbClr val="C6C6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264088" y="5755553"/>
              <a:ext cx="14604" cy="19050"/>
            </a:xfrm>
            <a:custGeom>
              <a:avLst/>
              <a:gdLst/>
              <a:ahLst/>
              <a:cxnLst/>
              <a:rect l="l" t="t" r="r" b="b"/>
              <a:pathLst>
                <a:path w="14604" h="19050">
                  <a:moveTo>
                    <a:pt x="14394" y="0"/>
                  </a:moveTo>
                  <a:lnTo>
                    <a:pt x="16" y="14874"/>
                  </a:lnTo>
                  <a:lnTo>
                    <a:pt x="0" y="18698"/>
                  </a:lnTo>
                </a:path>
              </a:pathLst>
            </a:custGeom>
            <a:ln w="11388">
              <a:solidFill>
                <a:srgbClr val="3B383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264096" y="5815078"/>
              <a:ext cx="20955" cy="15875"/>
            </a:xfrm>
            <a:custGeom>
              <a:avLst/>
              <a:gdLst/>
              <a:ahLst/>
              <a:cxnLst/>
              <a:rect l="l" t="t" r="r" b="b"/>
              <a:pathLst>
                <a:path w="20954" h="15875">
                  <a:moveTo>
                    <a:pt x="0" y="0"/>
                  </a:moveTo>
                  <a:lnTo>
                    <a:pt x="16758" y="15393"/>
                  </a:lnTo>
                  <a:lnTo>
                    <a:pt x="20600" y="15398"/>
                  </a:lnTo>
                </a:path>
              </a:pathLst>
            </a:custGeom>
            <a:ln w="11388">
              <a:solidFill>
                <a:srgbClr val="3B383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3338516" y="5812970"/>
              <a:ext cx="24130" cy="17780"/>
            </a:xfrm>
            <a:custGeom>
              <a:avLst/>
              <a:gdLst/>
              <a:ahLst/>
              <a:cxnLst/>
              <a:rect l="l" t="t" r="r" b="b"/>
              <a:pathLst>
                <a:path w="24129" h="17779">
                  <a:moveTo>
                    <a:pt x="0" y="17315"/>
                  </a:moveTo>
                  <a:lnTo>
                    <a:pt x="23564" y="4937"/>
                  </a:lnTo>
                  <a:lnTo>
                    <a:pt x="23710" y="0"/>
                  </a:lnTo>
                </a:path>
              </a:pathLst>
            </a:custGeom>
            <a:ln w="11388">
              <a:solidFill>
                <a:srgbClr val="3B383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3105157" y="5755561"/>
              <a:ext cx="14604" cy="18415"/>
            </a:xfrm>
            <a:custGeom>
              <a:avLst/>
              <a:gdLst/>
              <a:ahLst/>
              <a:cxnLst/>
              <a:rect l="l" t="t" r="r" b="b"/>
              <a:pathLst>
                <a:path w="14605" h="18414">
                  <a:moveTo>
                    <a:pt x="14428" y="0"/>
                  </a:moveTo>
                  <a:lnTo>
                    <a:pt x="52" y="15110"/>
                  </a:lnTo>
                  <a:lnTo>
                    <a:pt x="0" y="18408"/>
                  </a:lnTo>
                </a:path>
              </a:pathLst>
            </a:custGeom>
            <a:ln w="11388">
              <a:solidFill>
                <a:srgbClr val="3B383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3183358" y="5755093"/>
              <a:ext cx="20320" cy="14604"/>
            </a:xfrm>
            <a:custGeom>
              <a:avLst/>
              <a:gdLst/>
              <a:ahLst/>
              <a:cxnLst/>
              <a:rect l="l" t="t" r="r" b="b"/>
              <a:pathLst>
                <a:path w="20319" h="14604">
                  <a:moveTo>
                    <a:pt x="19750" y="14096"/>
                  </a:moveTo>
                  <a:lnTo>
                    <a:pt x="3824" y="0"/>
                  </a:lnTo>
                  <a:lnTo>
                    <a:pt x="0" y="5"/>
                  </a:lnTo>
                </a:path>
              </a:pathLst>
            </a:custGeom>
            <a:ln w="11388">
              <a:solidFill>
                <a:srgbClr val="3B383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3279242" y="5608821"/>
              <a:ext cx="14604" cy="19685"/>
            </a:xfrm>
            <a:custGeom>
              <a:avLst/>
              <a:gdLst/>
              <a:ahLst/>
              <a:cxnLst/>
              <a:rect l="l" t="t" r="r" b="b"/>
              <a:pathLst>
                <a:path w="14604" h="19685">
                  <a:moveTo>
                    <a:pt x="0" y="0"/>
                  </a:moveTo>
                  <a:lnTo>
                    <a:pt x="14561" y="13899"/>
                  </a:lnTo>
                  <a:lnTo>
                    <a:pt x="14586" y="19635"/>
                  </a:lnTo>
                </a:path>
              </a:pathLst>
            </a:custGeom>
            <a:ln w="11388">
              <a:solidFill>
                <a:srgbClr val="3B383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3278483" y="5755440"/>
              <a:ext cx="31115" cy="635"/>
            </a:xfrm>
            <a:custGeom>
              <a:avLst/>
              <a:gdLst/>
              <a:ahLst/>
              <a:cxnLst/>
              <a:rect l="l" t="t" r="r" b="b"/>
              <a:pathLst>
                <a:path w="31114" h="635">
                  <a:moveTo>
                    <a:pt x="30580" y="0"/>
                  </a:moveTo>
                  <a:lnTo>
                    <a:pt x="0" y="112"/>
                  </a:lnTo>
                </a:path>
              </a:pathLst>
            </a:custGeom>
            <a:ln w="11388">
              <a:solidFill>
                <a:srgbClr val="3B383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3119586" y="5755466"/>
              <a:ext cx="29845" cy="635"/>
            </a:xfrm>
            <a:custGeom>
              <a:avLst/>
              <a:gdLst/>
              <a:ahLst/>
              <a:cxnLst/>
              <a:rect l="l" t="t" r="r" b="b"/>
              <a:pathLst>
                <a:path w="29844" h="635">
                  <a:moveTo>
                    <a:pt x="29631" y="0"/>
                  </a:moveTo>
                  <a:lnTo>
                    <a:pt x="0" y="94"/>
                  </a:lnTo>
                </a:path>
              </a:pathLst>
            </a:custGeom>
            <a:ln w="11388">
              <a:solidFill>
                <a:srgbClr val="3B383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3187463" y="5688154"/>
              <a:ext cx="41910" cy="635"/>
            </a:xfrm>
            <a:custGeom>
              <a:avLst/>
              <a:gdLst/>
              <a:ahLst/>
              <a:cxnLst/>
              <a:rect l="l" t="t" r="r" b="b"/>
              <a:pathLst>
                <a:path w="41910" h="635">
                  <a:moveTo>
                    <a:pt x="41476" y="76"/>
                  </a:moveTo>
                  <a:lnTo>
                    <a:pt x="0" y="0"/>
                  </a:lnTo>
                </a:path>
              </a:pathLst>
            </a:custGeom>
            <a:ln w="11388">
              <a:solidFill>
                <a:srgbClr val="3B383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3233431" y="5688254"/>
              <a:ext cx="635" cy="34925"/>
            </a:xfrm>
            <a:custGeom>
              <a:avLst/>
              <a:gdLst/>
              <a:ahLst/>
              <a:cxnLst/>
              <a:rect l="l" t="t" r="r" b="b"/>
              <a:pathLst>
                <a:path w="635" h="34925">
                  <a:moveTo>
                    <a:pt x="9" y="34509"/>
                  </a:moveTo>
                  <a:lnTo>
                    <a:pt x="0" y="0"/>
                  </a:lnTo>
                </a:path>
              </a:pathLst>
            </a:custGeom>
            <a:ln w="11388">
              <a:solidFill>
                <a:srgbClr val="3B383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3107274" y="5722713"/>
              <a:ext cx="251460" cy="635"/>
            </a:xfrm>
            <a:custGeom>
              <a:avLst/>
              <a:gdLst/>
              <a:ahLst/>
              <a:cxnLst/>
              <a:rect l="l" t="t" r="r" b="b"/>
              <a:pathLst>
                <a:path w="251460" h="635">
                  <a:moveTo>
                    <a:pt x="251397" y="0"/>
                  </a:moveTo>
                  <a:lnTo>
                    <a:pt x="0" y="195"/>
                  </a:lnTo>
                </a:path>
              </a:pathLst>
            </a:custGeom>
            <a:ln w="11388">
              <a:solidFill>
                <a:srgbClr val="3B383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3153377" y="5722836"/>
              <a:ext cx="635" cy="33020"/>
            </a:xfrm>
            <a:custGeom>
              <a:avLst/>
              <a:gdLst/>
              <a:ahLst/>
              <a:cxnLst/>
              <a:rect l="l" t="t" r="r" b="b"/>
              <a:pathLst>
                <a:path w="635" h="33020">
                  <a:moveTo>
                    <a:pt x="10" y="0"/>
                  </a:moveTo>
                  <a:lnTo>
                    <a:pt x="0" y="32456"/>
                  </a:lnTo>
                </a:path>
              </a:pathLst>
            </a:custGeom>
            <a:ln w="11388">
              <a:solidFill>
                <a:srgbClr val="3B383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58394" y="5717059"/>
              <a:ext cx="109674" cy="119112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3105157" y="5773969"/>
              <a:ext cx="635" cy="41910"/>
            </a:xfrm>
            <a:custGeom>
              <a:avLst/>
              <a:gdLst/>
              <a:ahLst/>
              <a:cxnLst/>
              <a:rect l="l" t="t" r="r" b="b"/>
              <a:pathLst>
                <a:path w="635" h="41910">
                  <a:moveTo>
                    <a:pt x="0" y="0"/>
                  </a:moveTo>
                  <a:lnTo>
                    <a:pt x="44" y="41587"/>
                  </a:lnTo>
                </a:path>
              </a:pathLst>
            </a:custGeom>
            <a:ln w="11388">
              <a:solidFill>
                <a:srgbClr val="3B383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3105070" y="5815555"/>
              <a:ext cx="19050" cy="15875"/>
            </a:xfrm>
            <a:custGeom>
              <a:avLst/>
              <a:gdLst/>
              <a:ahLst/>
              <a:cxnLst/>
              <a:rect l="l" t="t" r="r" b="b"/>
              <a:pathLst>
                <a:path w="19050" h="15875">
                  <a:moveTo>
                    <a:pt x="90" y="0"/>
                  </a:moveTo>
                  <a:lnTo>
                    <a:pt x="5751" y="12105"/>
                  </a:lnTo>
                  <a:lnTo>
                    <a:pt x="7618" y="13547"/>
                  </a:lnTo>
                  <a:lnTo>
                    <a:pt x="9711" y="14481"/>
                  </a:lnTo>
                  <a:lnTo>
                    <a:pt x="12030" y="14907"/>
                  </a:lnTo>
                  <a:lnTo>
                    <a:pt x="14350" y="15334"/>
                  </a:lnTo>
                  <a:lnTo>
                    <a:pt x="16638" y="15206"/>
                  </a:lnTo>
                  <a:lnTo>
                    <a:pt x="18895" y="14522"/>
                  </a:lnTo>
                </a:path>
              </a:pathLst>
            </a:custGeom>
            <a:ln w="11388">
              <a:solidFill>
                <a:srgbClr val="3B383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3124084" y="5830269"/>
              <a:ext cx="64135" cy="635"/>
            </a:xfrm>
            <a:custGeom>
              <a:avLst/>
              <a:gdLst/>
              <a:ahLst/>
              <a:cxnLst/>
              <a:rect l="l" t="t" r="r" b="b"/>
              <a:pathLst>
                <a:path w="64135" h="635">
                  <a:moveTo>
                    <a:pt x="0" y="201"/>
                  </a:moveTo>
                  <a:lnTo>
                    <a:pt x="63857" y="0"/>
                  </a:lnTo>
                </a:path>
              </a:pathLst>
            </a:custGeom>
            <a:ln w="11388">
              <a:solidFill>
                <a:srgbClr val="3B383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3187943" y="5812316"/>
              <a:ext cx="15875" cy="18415"/>
            </a:xfrm>
            <a:custGeom>
              <a:avLst/>
              <a:gdLst/>
              <a:ahLst/>
              <a:cxnLst/>
              <a:rect l="l" t="t" r="r" b="b"/>
              <a:pathLst>
                <a:path w="15875" h="18414">
                  <a:moveTo>
                    <a:pt x="0" y="17940"/>
                  </a:moveTo>
                  <a:lnTo>
                    <a:pt x="12117" y="12859"/>
                  </a:lnTo>
                  <a:lnTo>
                    <a:pt x="13596" y="11068"/>
                  </a:lnTo>
                  <a:lnTo>
                    <a:pt x="14574" y="9036"/>
                  </a:lnTo>
                  <a:lnTo>
                    <a:pt x="15051" y="6762"/>
                  </a:lnTo>
                  <a:lnTo>
                    <a:pt x="15528" y="4488"/>
                  </a:lnTo>
                  <a:lnTo>
                    <a:pt x="15449" y="2234"/>
                  </a:lnTo>
                  <a:lnTo>
                    <a:pt x="14814" y="0"/>
                  </a:lnTo>
                </a:path>
              </a:pathLst>
            </a:custGeom>
            <a:ln w="11388">
              <a:solidFill>
                <a:srgbClr val="3B383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3203108" y="5769189"/>
              <a:ext cx="635" cy="43180"/>
            </a:xfrm>
            <a:custGeom>
              <a:avLst/>
              <a:gdLst/>
              <a:ahLst/>
              <a:cxnLst/>
              <a:rect l="l" t="t" r="r" b="b"/>
              <a:pathLst>
                <a:path w="635" h="43179">
                  <a:moveTo>
                    <a:pt x="20" y="43021"/>
                  </a:moveTo>
                  <a:lnTo>
                    <a:pt x="0" y="0"/>
                  </a:lnTo>
                </a:path>
              </a:pathLst>
            </a:custGeom>
            <a:ln w="11388">
              <a:solidFill>
                <a:srgbClr val="3B383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3149217" y="5755098"/>
              <a:ext cx="34290" cy="635"/>
            </a:xfrm>
            <a:custGeom>
              <a:avLst/>
              <a:gdLst/>
              <a:ahLst/>
              <a:cxnLst/>
              <a:rect l="l" t="t" r="r" b="b"/>
              <a:pathLst>
                <a:path w="34289" h="635">
                  <a:moveTo>
                    <a:pt x="34141" y="0"/>
                  </a:moveTo>
                  <a:lnTo>
                    <a:pt x="0" y="368"/>
                  </a:lnTo>
                </a:path>
              </a:pathLst>
            </a:custGeom>
            <a:ln w="11388">
              <a:solidFill>
                <a:srgbClr val="3B383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67287" y="5603127"/>
              <a:ext cx="132393" cy="90798"/>
            </a:xfrm>
            <a:prstGeom prst="rect">
              <a:avLst/>
            </a:prstGeom>
          </p:spPr>
        </p:pic>
      </p:grpSp>
      <p:sp>
        <p:nvSpPr>
          <p:cNvPr id="44" name="object 44"/>
          <p:cNvSpPr txBox="1"/>
          <p:nvPr/>
        </p:nvSpPr>
        <p:spPr>
          <a:xfrm>
            <a:off x="1006474" y="6135687"/>
            <a:ext cx="4312285" cy="199961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95">
                <a:solidFill>
                  <a:srgbClr val="3B3838"/>
                </a:solidFill>
                <a:latin typeface="Trebuchet MS"/>
                <a:cs typeface="Trebuchet MS"/>
              </a:rPr>
              <a:t>System</a:t>
            </a:r>
            <a:r>
              <a:rPr dirty="0" sz="1650" spc="-70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650" spc="-10">
                <a:solidFill>
                  <a:srgbClr val="3B3838"/>
                </a:solidFill>
                <a:latin typeface="Trebuchet MS"/>
                <a:cs typeface="Trebuchet MS"/>
              </a:rPr>
              <a:t>Integration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Integrating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SAP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S/4HANA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Finance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with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exiзting</a:t>
            </a:r>
            <a:endParaRPr sz="1350">
              <a:latin typeface="Roboto"/>
              <a:cs typeface="Roboto"/>
            </a:endParaRPr>
          </a:p>
          <a:p>
            <a:pPr marL="12700" marR="147320">
              <a:lnSpc>
                <a:spcPct val="134300"/>
              </a:lnSpc>
            </a:pP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operational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 зyзtemз, 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third-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party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applicationз,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local regulatory</a:t>
            </a:r>
            <a:r>
              <a:rPr dirty="0" sz="1350" spc="-6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requirementз</a:t>
            </a:r>
            <a:r>
              <a:rPr dirty="0" sz="1350" spc="-6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acroзз</a:t>
            </a:r>
            <a:r>
              <a:rPr dirty="0" sz="1350" spc="-6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different</a:t>
            </a:r>
            <a:r>
              <a:rPr dirty="0" sz="1350" spc="-6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countrieз</a:t>
            </a:r>
            <a:endParaRPr sz="13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preзented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зignificant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technical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complexity.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400" spc="-10" i="1">
                <a:solidFill>
                  <a:srgbClr val="3B3838"/>
                </a:solidFill>
                <a:latin typeface="Roboto"/>
                <a:cs typeface="Roboto"/>
              </a:rPr>
              <a:t>Specific</a:t>
            </a:r>
            <a:endParaRPr sz="1400">
              <a:latin typeface="Roboto"/>
              <a:cs typeface="Roboto"/>
            </a:endParaRPr>
          </a:p>
          <a:p>
            <a:pPr marL="12700" marR="5080">
              <a:lnSpc>
                <a:spcPct val="129500"/>
              </a:lnSpc>
            </a:pPr>
            <a:r>
              <a:rPr dirty="0" sz="1400" spc="-40" i="1">
                <a:solidFill>
                  <a:srgbClr val="3B3838"/>
                </a:solidFill>
                <a:latin typeface="Roboto"/>
                <a:cs typeface="Roboto"/>
              </a:rPr>
              <a:t>integration</a:t>
            </a:r>
            <a:r>
              <a:rPr dirty="0" sz="1400" spc="-30" i="1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400" spc="-40" i="1">
                <a:solidFill>
                  <a:srgbClr val="3B3838"/>
                </a:solidFill>
                <a:latin typeface="Roboto"/>
                <a:cs typeface="Roboto"/>
              </a:rPr>
              <a:t>challengeз</a:t>
            </a:r>
            <a:r>
              <a:rPr dirty="0" sz="1400" spc="-30" i="1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400" spc="-50" i="1">
                <a:solidFill>
                  <a:srgbClr val="3B3838"/>
                </a:solidFill>
                <a:latin typeface="Roboto"/>
                <a:cs typeface="Roboto"/>
              </a:rPr>
              <a:t>have</a:t>
            </a:r>
            <a:r>
              <a:rPr dirty="0" sz="1400" spc="-30" i="1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400" spc="-35" i="1">
                <a:solidFill>
                  <a:srgbClr val="3B3838"/>
                </a:solidFill>
                <a:latin typeface="Roboto"/>
                <a:cs typeface="Roboto"/>
              </a:rPr>
              <a:t>not</a:t>
            </a:r>
            <a:r>
              <a:rPr dirty="0" sz="1400" spc="-30" i="1">
                <a:solidFill>
                  <a:srgbClr val="3B3838"/>
                </a:solidFill>
                <a:latin typeface="Roboto"/>
                <a:cs typeface="Roboto"/>
              </a:rPr>
              <a:t> been </a:t>
            </a:r>
            <a:r>
              <a:rPr dirty="0" sz="1400" spc="-40" i="1">
                <a:solidFill>
                  <a:srgbClr val="3B3838"/>
                </a:solidFill>
                <a:latin typeface="Roboto"/>
                <a:cs typeface="Roboto"/>
              </a:rPr>
              <a:t>publicly</a:t>
            </a:r>
            <a:r>
              <a:rPr dirty="0" sz="1400" spc="-30" i="1">
                <a:solidFill>
                  <a:srgbClr val="3B3838"/>
                </a:solidFill>
                <a:latin typeface="Roboto"/>
                <a:cs typeface="Roboto"/>
              </a:rPr>
              <a:t> detailed</a:t>
            </a:r>
            <a:r>
              <a:rPr dirty="0" sz="1400" spc="-25" i="1">
                <a:solidFill>
                  <a:srgbClr val="3B3838"/>
                </a:solidFill>
                <a:latin typeface="Roboto"/>
                <a:cs typeface="Roboto"/>
              </a:rPr>
              <a:t> by </a:t>
            </a:r>
            <a:r>
              <a:rPr dirty="0" sz="1400" spc="-10" i="1">
                <a:solidFill>
                  <a:srgbClr val="3B3838"/>
                </a:solidFill>
                <a:latin typeface="Roboto"/>
                <a:cs typeface="Roboto"/>
              </a:rPr>
              <a:t>Neзtlé.</a:t>
            </a:r>
            <a:endParaRPr sz="1400">
              <a:latin typeface="Roboto"/>
              <a:cs typeface="Roboto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5800726" y="5448300"/>
            <a:ext cx="4800600" cy="2914650"/>
            <a:chOff x="5800726" y="5448300"/>
            <a:chExt cx="4800600" cy="2914650"/>
          </a:xfrm>
        </p:grpSpPr>
        <p:sp>
          <p:nvSpPr>
            <p:cNvPr id="46" name="object 46"/>
            <p:cNvSpPr/>
            <p:nvPr/>
          </p:nvSpPr>
          <p:spPr>
            <a:xfrm>
              <a:off x="5810251" y="5457825"/>
              <a:ext cx="4781550" cy="2895600"/>
            </a:xfrm>
            <a:custGeom>
              <a:avLst/>
              <a:gdLst/>
              <a:ahLst/>
              <a:cxnLst/>
              <a:rect l="l" t="t" r="r" b="b"/>
              <a:pathLst>
                <a:path w="4781550" h="2895600">
                  <a:moveTo>
                    <a:pt x="0" y="2845118"/>
                  </a:moveTo>
                  <a:lnTo>
                    <a:pt x="0" y="50482"/>
                  </a:lnTo>
                  <a:lnTo>
                    <a:pt x="0" y="47167"/>
                  </a:lnTo>
                  <a:lnTo>
                    <a:pt x="323" y="43881"/>
                  </a:lnTo>
                  <a:lnTo>
                    <a:pt x="19678" y="10344"/>
                  </a:lnTo>
                  <a:lnTo>
                    <a:pt x="47167" y="0"/>
                  </a:lnTo>
                  <a:lnTo>
                    <a:pt x="50482" y="0"/>
                  </a:lnTo>
                  <a:lnTo>
                    <a:pt x="4731069" y="0"/>
                  </a:lnTo>
                  <a:lnTo>
                    <a:pt x="4734384" y="0"/>
                  </a:lnTo>
                  <a:lnTo>
                    <a:pt x="4737670" y="323"/>
                  </a:lnTo>
                  <a:lnTo>
                    <a:pt x="4771198" y="19678"/>
                  </a:lnTo>
                  <a:lnTo>
                    <a:pt x="4777703" y="31165"/>
                  </a:lnTo>
                  <a:lnTo>
                    <a:pt x="4778980" y="34223"/>
                  </a:lnTo>
                  <a:lnTo>
                    <a:pt x="4779932" y="37385"/>
                  </a:lnTo>
                  <a:lnTo>
                    <a:pt x="4780580" y="40633"/>
                  </a:lnTo>
                  <a:lnTo>
                    <a:pt x="4781228" y="43881"/>
                  </a:lnTo>
                  <a:lnTo>
                    <a:pt x="4781551" y="47167"/>
                  </a:lnTo>
                  <a:lnTo>
                    <a:pt x="4781551" y="50482"/>
                  </a:lnTo>
                  <a:lnTo>
                    <a:pt x="4781551" y="2845118"/>
                  </a:lnTo>
                  <a:lnTo>
                    <a:pt x="4781551" y="2848433"/>
                  </a:lnTo>
                  <a:lnTo>
                    <a:pt x="4781228" y="2851719"/>
                  </a:lnTo>
                  <a:lnTo>
                    <a:pt x="4780580" y="2854967"/>
                  </a:lnTo>
                  <a:lnTo>
                    <a:pt x="4779932" y="2858215"/>
                  </a:lnTo>
                  <a:lnTo>
                    <a:pt x="4778980" y="2861377"/>
                  </a:lnTo>
                  <a:lnTo>
                    <a:pt x="4777703" y="2864435"/>
                  </a:lnTo>
                  <a:lnTo>
                    <a:pt x="4776436" y="2867502"/>
                  </a:lnTo>
                  <a:lnTo>
                    <a:pt x="4750386" y="2891753"/>
                  </a:lnTo>
                  <a:lnTo>
                    <a:pt x="4747328" y="2893029"/>
                  </a:lnTo>
                  <a:lnTo>
                    <a:pt x="4744166" y="2893981"/>
                  </a:lnTo>
                  <a:lnTo>
                    <a:pt x="4740918" y="2894629"/>
                  </a:lnTo>
                  <a:lnTo>
                    <a:pt x="4737670" y="2895277"/>
                  </a:lnTo>
                  <a:lnTo>
                    <a:pt x="4734384" y="2895601"/>
                  </a:lnTo>
                  <a:lnTo>
                    <a:pt x="4731069" y="2895601"/>
                  </a:lnTo>
                  <a:lnTo>
                    <a:pt x="50482" y="2895601"/>
                  </a:lnTo>
                  <a:lnTo>
                    <a:pt x="47167" y="2895601"/>
                  </a:lnTo>
                  <a:lnTo>
                    <a:pt x="43881" y="2895277"/>
                  </a:lnTo>
                  <a:lnTo>
                    <a:pt x="40633" y="2894629"/>
                  </a:lnTo>
                  <a:lnTo>
                    <a:pt x="37385" y="2893981"/>
                  </a:lnTo>
                  <a:lnTo>
                    <a:pt x="34223" y="2893029"/>
                  </a:lnTo>
                  <a:lnTo>
                    <a:pt x="31165" y="2891753"/>
                  </a:lnTo>
                  <a:lnTo>
                    <a:pt x="28098" y="2890486"/>
                  </a:lnTo>
                  <a:lnTo>
                    <a:pt x="8505" y="2873160"/>
                  </a:lnTo>
                  <a:lnTo>
                    <a:pt x="6667" y="2870407"/>
                  </a:lnTo>
                  <a:lnTo>
                    <a:pt x="0" y="2848433"/>
                  </a:lnTo>
                  <a:lnTo>
                    <a:pt x="0" y="2845118"/>
                  </a:lnTo>
                  <a:close/>
                </a:path>
              </a:pathLst>
            </a:custGeom>
            <a:ln w="19050">
              <a:solidFill>
                <a:srgbClr val="C6C6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5819776" y="5467350"/>
              <a:ext cx="4762500" cy="509905"/>
            </a:xfrm>
            <a:custGeom>
              <a:avLst/>
              <a:gdLst/>
              <a:ahLst/>
              <a:cxnLst/>
              <a:rect l="l" t="t" r="r" b="b"/>
              <a:pathLst>
                <a:path w="4762500" h="509904">
                  <a:moveTo>
                    <a:pt x="4762501" y="509587"/>
                  </a:moveTo>
                  <a:lnTo>
                    <a:pt x="0" y="509587"/>
                  </a:lnTo>
                  <a:lnTo>
                    <a:pt x="0" y="35528"/>
                  </a:lnTo>
                  <a:lnTo>
                    <a:pt x="30299" y="1038"/>
                  </a:lnTo>
                  <a:lnTo>
                    <a:pt x="35528" y="0"/>
                  </a:lnTo>
                  <a:lnTo>
                    <a:pt x="4726973" y="0"/>
                  </a:lnTo>
                  <a:lnTo>
                    <a:pt x="4761463" y="30299"/>
                  </a:lnTo>
                  <a:lnTo>
                    <a:pt x="4762501" y="35528"/>
                  </a:lnTo>
                  <a:lnTo>
                    <a:pt x="4762501" y="509587"/>
                  </a:lnTo>
                  <a:close/>
                </a:path>
              </a:pathLst>
            </a:custGeom>
            <a:solidFill>
              <a:srgbClr val="E0E0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5819774" y="5972175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4762500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4762500" y="0"/>
                  </a:lnTo>
                  <a:lnTo>
                    <a:pt x="4762500" y="9525"/>
                  </a:lnTo>
                  <a:close/>
                </a:path>
              </a:pathLst>
            </a:custGeom>
            <a:solidFill>
              <a:srgbClr val="C6C6D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100854" y="5585780"/>
              <a:ext cx="209864" cy="268253"/>
            </a:xfrm>
            <a:prstGeom prst="rect">
              <a:avLst/>
            </a:prstGeom>
          </p:spPr>
        </p:pic>
      </p:grpSp>
      <p:sp>
        <p:nvSpPr>
          <p:cNvPr id="50" name="object 50"/>
          <p:cNvSpPr txBox="1"/>
          <p:nvPr/>
        </p:nvSpPr>
        <p:spPr>
          <a:xfrm>
            <a:off x="5978525" y="6135687"/>
            <a:ext cx="4413885" cy="19983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95">
                <a:solidFill>
                  <a:srgbClr val="3B3838"/>
                </a:solidFill>
                <a:latin typeface="Trebuchet MS"/>
                <a:cs typeface="Trebuchet MS"/>
              </a:rPr>
              <a:t>Business</a:t>
            </a:r>
            <a:r>
              <a:rPr dirty="0" sz="1650" spc="-50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650" spc="90">
                <a:solidFill>
                  <a:srgbClr val="3B3838"/>
                </a:solidFill>
                <a:latin typeface="Trebuchet MS"/>
                <a:cs typeface="Trebuchet MS"/>
              </a:rPr>
              <a:t>Process</a:t>
            </a:r>
            <a:r>
              <a:rPr dirty="0" sz="1650" spc="-50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650" spc="-10">
                <a:solidFill>
                  <a:srgbClr val="3B3838"/>
                </a:solidFill>
                <a:latin typeface="Trebuchet MS"/>
                <a:cs typeface="Trebuchet MS"/>
              </a:rPr>
              <a:t>Standardisation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Standardiзing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financial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proceззeз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acroзз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diverзe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marketз</a:t>
            </a:r>
            <a:endParaRPr sz="1350">
              <a:latin typeface="Roboto"/>
              <a:cs typeface="Roboto"/>
            </a:endParaRPr>
          </a:p>
          <a:p>
            <a:pPr marL="12700" marR="113030">
              <a:lnSpc>
                <a:spcPct val="132700"/>
              </a:lnSpc>
              <a:spcBef>
                <a:spcPts val="25"/>
              </a:spcBef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—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each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with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itз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own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local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practiceз,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regulationз,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and 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buзineзз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requirementз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—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required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careful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balancing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between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global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conзiзtency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local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flexibility.</a:t>
            </a:r>
            <a:r>
              <a:rPr dirty="0" sz="1350" spc="-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Thiз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iз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a 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well-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documented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challenge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in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 Neзtlé'з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tranзformation</a:t>
            </a:r>
            <a:endParaRPr sz="13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journey.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833439" y="8558211"/>
            <a:ext cx="9763125" cy="3362325"/>
          </a:xfrm>
          <a:custGeom>
            <a:avLst/>
            <a:gdLst/>
            <a:ahLst/>
            <a:cxnLst/>
            <a:rect l="l" t="t" r="r" b="b"/>
            <a:pathLst>
              <a:path w="9763125" h="3362325">
                <a:moveTo>
                  <a:pt x="0" y="3307079"/>
                </a:moveTo>
                <a:lnTo>
                  <a:pt x="0" y="55244"/>
                </a:lnTo>
                <a:lnTo>
                  <a:pt x="0" y="51615"/>
                </a:lnTo>
                <a:lnTo>
                  <a:pt x="352" y="48025"/>
                </a:lnTo>
                <a:lnTo>
                  <a:pt x="16182" y="16182"/>
                </a:lnTo>
                <a:lnTo>
                  <a:pt x="18745" y="13611"/>
                </a:lnTo>
                <a:lnTo>
                  <a:pt x="51615" y="0"/>
                </a:lnTo>
                <a:lnTo>
                  <a:pt x="55244" y="0"/>
                </a:lnTo>
                <a:lnTo>
                  <a:pt x="9707877" y="0"/>
                </a:lnTo>
                <a:lnTo>
                  <a:pt x="9711506" y="0"/>
                </a:lnTo>
                <a:lnTo>
                  <a:pt x="9715097" y="352"/>
                </a:lnTo>
                <a:lnTo>
                  <a:pt x="9746939" y="16182"/>
                </a:lnTo>
                <a:lnTo>
                  <a:pt x="9749501" y="18745"/>
                </a:lnTo>
                <a:lnTo>
                  <a:pt x="9758912" y="34099"/>
                </a:lnTo>
                <a:lnTo>
                  <a:pt x="9760303" y="37452"/>
                </a:lnTo>
                <a:lnTo>
                  <a:pt x="9761351" y="40909"/>
                </a:lnTo>
                <a:lnTo>
                  <a:pt x="9762065" y="44472"/>
                </a:lnTo>
                <a:lnTo>
                  <a:pt x="9762770" y="48025"/>
                </a:lnTo>
                <a:lnTo>
                  <a:pt x="9763122" y="51615"/>
                </a:lnTo>
                <a:lnTo>
                  <a:pt x="9763122" y="55244"/>
                </a:lnTo>
                <a:lnTo>
                  <a:pt x="9763122" y="3307079"/>
                </a:lnTo>
                <a:lnTo>
                  <a:pt x="9763122" y="3310708"/>
                </a:lnTo>
                <a:lnTo>
                  <a:pt x="9762770" y="3314299"/>
                </a:lnTo>
                <a:lnTo>
                  <a:pt x="9762065" y="3317851"/>
                </a:lnTo>
                <a:lnTo>
                  <a:pt x="9761351" y="3321414"/>
                </a:lnTo>
                <a:lnTo>
                  <a:pt x="9760303" y="3324871"/>
                </a:lnTo>
                <a:lnTo>
                  <a:pt x="9758912" y="3328215"/>
                </a:lnTo>
                <a:lnTo>
                  <a:pt x="9757531" y="3331567"/>
                </a:lnTo>
                <a:lnTo>
                  <a:pt x="9755826" y="3334758"/>
                </a:lnTo>
                <a:lnTo>
                  <a:pt x="9753807" y="3337768"/>
                </a:lnTo>
                <a:lnTo>
                  <a:pt x="9751797" y="3340788"/>
                </a:lnTo>
                <a:lnTo>
                  <a:pt x="9749501" y="3343579"/>
                </a:lnTo>
                <a:lnTo>
                  <a:pt x="9746939" y="3346141"/>
                </a:lnTo>
                <a:lnTo>
                  <a:pt x="9744377" y="3348703"/>
                </a:lnTo>
                <a:lnTo>
                  <a:pt x="9741586" y="3350998"/>
                </a:lnTo>
                <a:lnTo>
                  <a:pt x="9738567" y="3353008"/>
                </a:lnTo>
                <a:lnTo>
                  <a:pt x="9735547" y="3355028"/>
                </a:lnTo>
                <a:lnTo>
                  <a:pt x="9732366" y="3356733"/>
                </a:lnTo>
                <a:lnTo>
                  <a:pt x="9729023" y="3358114"/>
                </a:lnTo>
                <a:lnTo>
                  <a:pt x="9725670" y="3359504"/>
                </a:lnTo>
                <a:lnTo>
                  <a:pt x="9722212" y="3360552"/>
                </a:lnTo>
                <a:lnTo>
                  <a:pt x="9718650" y="3361257"/>
                </a:lnTo>
                <a:lnTo>
                  <a:pt x="9715097" y="3361971"/>
                </a:lnTo>
                <a:lnTo>
                  <a:pt x="9711506" y="3362324"/>
                </a:lnTo>
                <a:lnTo>
                  <a:pt x="9707877" y="3362324"/>
                </a:lnTo>
                <a:lnTo>
                  <a:pt x="55244" y="3362324"/>
                </a:lnTo>
                <a:lnTo>
                  <a:pt x="51615" y="3362324"/>
                </a:lnTo>
                <a:lnTo>
                  <a:pt x="48025" y="3361971"/>
                </a:lnTo>
                <a:lnTo>
                  <a:pt x="44462" y="3361257"/>
                </a:lnTo>
                <a:lnTo>
                  <a:pt x="40909" y="3360552"/>
                </a:lnTo>
                <a:lnTo>
                  <a:pt x="37452" y="3359504"/>
                </a:lnTo>
                <a:lnTo>
                  <a:pt x="34099" y="3358114"/>
                </a:lnTo>
                <a:lnTo>
                  <a:pt x="30756" y="3356733"/>
                </a:lnTo>
                <a:lnTo>
                  <a:pt x="27565" y="3355028"/>
                </a:lnTo>
                <a:lnTo>
                  <a:pt x="24555" y="3353008"/>
                </a:lnTo>
                <a:lnTo>
                  <a:pt x="21536" y="3350998"/>
                </a:lnTo>
                <a:lnTo>
                  <a:pt x="18745" y="3348703"/>
                </a:lnTo>
                <a:lnTo>
                  <a:pt x="16182" y="3346141"/>
                </a:lnTo>
                <a:lnTo>
                  <a:pt x="13611" y="3343579"/>
                </a:lnTo>
                <a:lnTo>
                  <a:pt x="0" y="3310708"/>
                </a:lnTo>
                <a:lnTo>
                  <a:pt x="0" y="3307079"/>
                </a:lnTo>
                <a:close/>
              </a:path>
            </a:pathLst>
          </a:custGeom>
          <a:ln w="9524">
            <a:solidFill>
              <a:srgbClr val="B3B3B3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52" name="object 52"/>
          <p:cNvGraphicFramePr>
            <a:graphicFrameLocks noGrp="1"/>
          </p:cNvGraphicFramePr>
          <p:nvPr/>
        </p:nvGraphicFramePr>
        <p:xfrm>
          <a:off x="838202" y="8708714"/>
          <a:ext cx="9829800" cy="30556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96540"/>
                <a:gridCol w="3657600"/>
                <a:gridCol w="3298825"/>
              </a:tblGrid>
              <a:tr h="353695">
                <a:tc>
                  <a:txBody>
                    <a:bodyPr/>
                    <a:lstStyle/>
                    <a:p>
                      <a:pPr marL="172720">
                        <a:lnSpc>
                          <a:spcPts val="1520"/>
                        </a:lnSpc>
                      </a:pPr>
                      <a:r>
                        <a:rPr dirty="0" sz="1350" spc="-10" b="1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Challenge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0"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6110">
                        <a:lnSpc>
                          <a:spcPts val="1520"/>
                        </a:lnSpc>
                      </a:pPr>
                      <a:r>
                        <a:rPr dirty="0" sz="1350" b="1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Why</a:t>
                      </a:r>
                      <a:r>
                        <a:rPr dirty="0" sz="1350" spc="-35" b="1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b="1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It</a:t>
                      </a:r>
                      <a:r>
                        <a:rPr dirty="0" sz="1350" spc="-30" b="1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 b="1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Mattered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0"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075">
                        <a:lnSpc>
                          <a:spcPts val="1520"/>
                        </a:lnSpc>
                      </a:pPr>
                      <a:r>
                        <a:rPr dirty="0" sz="1350" b="1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Publicly</a:t>
                      </a:r>
                      <a:r>
                        <a:rPr dirty="0" sz="1350" spc="-55" b="1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 b="1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Confirmed?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0"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Data</a:t>
                      </a:r>
                      <a:r>
                        <a:rPr dirty="0" sz="1350" spc="-3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migration</a:t>
                      </a:r>
                      <a:r>
                        <a:rPr dirty="0" sz="1350" spc="-3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complexity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37795">
                    <a:lnT w="9525">
                      <a:solidFill>
                        <a:srgbClr val="B3B3B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2611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Riзk</a:t>
                      </a:r>
                      <a:r>
                        <a:rPr dirty="0" sz="1350" spc="-4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of</a:t>
                      </a:r>
                      <a:r>
                        <a:rPr dirty="0" sz="1350" spc="-4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data</a:t>
                      </a:r>
                      <a:r>
                        <a:rPr dirty="0" sz="1350" spc="-4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errorз</a:t>
                      </a:r>
                      <a:r>
                        <a:rPr dirty="0" sz="1350" spc="-4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affecting</a:t>
                      </a:r>
                      <a:r>
                        <a:rPr dirty="0" sz="1350" spc="-4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financial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37795">
                    <a:lnT w="9525">
                      <a:solidFill>
                        <a:srgbClr val="B3B3B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1907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General</a:t>
                      </a:r>
                      <a:r>
                        <a:rPr dirty="0" sz="1350" spc="-3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ERP</a:t>
                      </a:r>
                      <a:r>
                        <a:rPr dirty="0" sz="1350" spc="-2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context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37795">
                    <a:lnT w="9525">
                      <a:solidFill>
                        <a:srgbClr val="B3B3B3"/>
                      </a:solidFill>
                      <a:prstDash val="solid"/>
                    </a:lnT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611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reporting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24765"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379095"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Change</a:t>
                      </a:r>
                      <a:r>
                        <a:rPr dirty="0" sz="1350" spc="-5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management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28270">
                    <a:lnT w="9525">
                      <a:solidFill>
                        <a:srgbClr val="B3B3B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26110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Uзer</a:t>
                      </a:r>
                      <a:r>
                        <a:rPr dirty="0" sz="1350" spc="-3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adoption</a:t>
                      </a:r>
                      <a:r>
                        <a:rPr dirty="0" sz="1350" spc="-3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critical</a:t>
                      </a:r>
                      <a:r>
                        <a:rPr dirty="0" sz="1350" spc="-3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for</a:t>
                      </a:r>
                      <a:r>
                        <a:rPr dirty="0" sz="1350" spc="-3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realiзing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28270">
                    <a:lnT w="9525">
                      <a:solidFill>
                        <a:srgbClr val="B3B3B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19075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Partially</a:t>
                      </a:r>
                      <a:r>
                        <a:rPr dirty="0" sz="1350" spc="-4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—</a:t>
                      </a:r>
                      <a:r>
                        <a:rPr dirty="0" sz="1350" spc="-4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Neзtlé</a:t>
                      </a:r>
                      <a:r>
                        <a:rPr dirty="0" sz="1350" spc="-4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communicationз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28270">
                    <a:lnT w="9525">
                      <a:solidFill>
                        <a:srgbClr val="B3B3B3"/>
                      </a:solidFill>
                      <a:prstDash val="solid"/>
                    </a:lnT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611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benefitз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24765"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780415"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Syзtem</a:t>
                      </a:r>
                      <a:r>
                        <a:rPr dirty="0" sz="1350" spc="-4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integration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37795"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6110" marR="355600">
                        <a:lnSpc>
                          <a:spcPct val="129600"/>
                        </a:lnSpc>
                        <a:spcBef>
                          <a:spcPts val="605"/>
                        </a:spcBef>
                      </a:pP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Enзuring</a:t>
                      </a:r>
                      <a:r>
                        <a:rPr dirty="0" sz="1350" spc="-3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all</a:t>
                      </a:r>
                      <a:r>
                        <a:rPr dirty="0" sz="1350" spc="-3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2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зyзtemз</a:t>
                      </a:r>
                      <a:r>
                        <a:rPr dirty="0" sz="1350" spc="-3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work</a:t>
                      </a:r>
                      <a:r>
                        <a:rPr dirty="0" sz="1350" spc="-3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together correctly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76835"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07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General</a:t>
                      </a:r>
                      <a:r>
                        <a:rPr dirty="0" sz="1350" spc="-3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ERP</a:t>
                      </a:r>
                      <a:r>
                        <a:rPr dirty="0" sz="1350" spc="-2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context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37795"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351155">
                <a:tc>
                  <a:txBody>
                    <a:bodyPr/>
                    <a:lstStyle/>
                    <a:p>
                      <a:pPr marL="172720">
                        <a:lnSpc>
                          <a:spcPts val="1580"/>
                        </a:lnSpc>
                        <a:spcBef>
                          <a:spcPts val="1085"/>
                        </a:spcBef>
                      </a:pP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Proceзз</a:t>
                      </a:r>
                      <a:r>
                        <a:rPr dirty="0" sz="1350" spc="-6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зtandardiзation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37795">
                    <a:lnT w="9525">
                      <a:solidFill>
                        <a:srgbClr val="B3B3B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26110">
                        <a:lnSpc>
                          <a:spcPts val="1580"/>
                        </a:lnSpc>
                        <a:spcBef>
                          <a:spcPts val="1085"/>
                        </a:spcBef>
                      </a:pP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Global</a:t>
                      </a:r>
                      <a:r>
                        <a:rPr dirty="0" sz="1350" spc="-4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conзiзtency</a:t>
                      </a:r>
                      <a:r>
                        <a:rPr dirty="0" sz="1350" spc="-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vз</a:t>
                      </a:r>
                      <a:r>
                        <a:rPr dirty="0" sz="1350" spc="-4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local</a:t>
                      </a:r>
                      <a:r>
                        <a:rPr dirty="0" sz="1350" spc="-4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flexibility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37795">
                    <a:lnT w="9525">
                      <a:solidFill>
                        <a:srgbClr val="B3B3B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19075">
                        <a:lnSpc>
                          <a:spcPts val="1580"/>
                        </a:lnSpc>
                        <a:spcBef>
                          <a:spcPts val="1085"/>
                        </a:spcBef>
                      </a:pP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Confirmed</a:t>
                      </a:r>
                      <a:r>
                        <a:rPr dirty="0" sz="1350" spc="-4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—</a:t>
                      </a:r>
                      <a:r>
                        <a:rPr dirty="0" sz="1350" spc="-3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Neзtlé</a:t>
                      </a:r>
                      <a:r>
                        <a:rPr dirty="0" sz="1350" spc="-3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tranзformation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37795">
                    <a:lnT w="9525">
                      <a:solidFill>
                        <a:srgbClr val="B3B3B3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5975" y="444500"/>
            <a:ext cx="9241790" cy="14217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>
                <a:solidFill>
                  <a:srgbClr val="1B1B27"/>
                </a:solidFill>
                <a:latin typeface="Trebuchet MS"/>
                <a:cs typeface="Trebuchet MS"/>
              </a:rPr>
              <a:t>Benefits,</a:t>
            </a:r>
            <a:r>
              <a:rPr dirty="0" sz="3350" spc="-80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3350">
                <a:solidFill>
                  <a:srgbClr val="1B1B27"/>
                </a:solidFill>
                <a:latin typeface="Trebuchet MS"/>
                <a:cs typeface="Trebuchet MS"/>
              </a:rPr>
              <a:t>Results,</a:t>
            </a:r>
            <a:r>
              <a:rPr dirty="0" sz="3350" spc="-80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3350" spc="145">
                <a:solidFill>
                  <a:srgbClr val="1B1B27"/>
                </a:solidFill>
                <a:latin typeface="Trebuchet MS"/>
                <a:cs typeface="Trebuchet MS"/>
              </a:rPr>
              <a:t>and</a:t>
            </a:r>
            <a:r>
              <a:rPr dirty="0" sz="3350" spc="-80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3350" spc="170">
                <a:solidFill>
                  <a:srgbClr val="1B1B27"/>
                </a:solidFill>
                <a:latin typeface="Trebuchet MS"/>
                <a:cs typeface="Trebuchet MS"/>
              </a:rPr>
              <a:t>Business</a:t>
            </a:r>
            <a:r>
              <a:rPr dirty="0" sz="3350" spc="-80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3350" spc="75">
                <a:solidFill>
                  <a:srgbClr val="1B1B27"/>
                </a:solidFill>
                <a:latin typeface="Trebuchet MS"/>
                <a:cs typeface="Trebuchet MS"/>
              </a:rPr>
              <a:t>Impact</a:t>
            </a:r>
            <a:endParaRPr sz="3350">
              <a:latin typeface="Trebuchet MS"/>
              <a:cs typeface="Trebuchet MS"/>
            </a:endParaRPr>
          </a:p>
          <a:p>
            <a:pPr marL="12700" marR="5080">
              <a:lnSpc>
                <a:spcPct val="134300"/>
              </a:lnSpc>
              <a:spcBef>
                <a:spcPts val="2600"/>
              </a:spcBef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Following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itз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SAP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S/4HANA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Finance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implementation,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Neзtlé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achieved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зignificant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improvementз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in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financial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management, reporting,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deciзion-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making.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benefitз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зpan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both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operational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efficiency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зtrategic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capability.</a:t>
            </a:r>
            <a:endParaRPr sz="1350">
              <a:latin typeface="Roboto"/>
              <a:cs typeface="Roboto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7649" y="2272058"/>
            <a:ext cx="9106506" cy="193591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640316" y="4761614"/>
            <a:ext cx="99060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 spc="165">
                <a:solidFill>
                  <a:srgbClr val="3B3838"/>
                </a:solidFill>
                <a:latin typeface="Trebuchet MS"/>
                <a:cs typeface="Trebuchet MS"/>
              </a:rPr>
              <a:t>SAP</a:t>
            </a:r>
            <a:r>
              <a:rPr dirty="0" sz="1700" spc="-114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700" spc="75">
                <a:solidFill>
                  <a:srgbClr val="3B3838"/>
                </a:solidFill>
                <a:latin typeface="Trebuchet MS"/>
                <a:cs typeface="Trebuchet MS"/>
              </a:rPr>
              <a:t>FICO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71593" y="4605253"/>
            <a:ext cx="1183005" cy="5924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56235" marR="5080" indent="-344170">
              <a:lnSpc>
                <a:spcPct val="109400"/>
              </a:lnSpc>
              <a:spcBef>
                <a:spcPts val="90"/>
              </a:spcBef>
            </a:pPr>
            <a:r>
              <a:rPr dirty="0" sz="1700" spc="-10">
                <a:solidFill>
                  <a:srgbClr val="3B3838"/>
                </a:solidFill>
                <a:latin typeface="Trebuchet MS"/>
                <a:cs typeface="Trebuchet MS"/>
              </a:rPr>
              <a:t>Centralised </a:t>
            </a:r>
            <a:r>
              <a:rPr dirty="0" sz="1700" spc="-20">
                <a:solidFill>
                  <a:srgbClr val="3B3838"/>
                </a:solidFill>
                <a:latin typeface="Trebuchet MS"/>
                <a:cs typeface="Trebuchet MS"/>
              </a:rPr>
              <a:t>Data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12660" y="4605253"/>
            <a:ext cx="1076960" cy="5924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9685" marR="5080" indent="-7620">
              <a:lnSpc>
                <a:spcPct val="109400"/>
              </a:lnSpc>
              <a:spcBef>
                <a:spcPts val="90"/>
              </a:spcBef>
            </a:pPr>
            <a:r>
              <a:rPr dirty="0" sz="1700" spc="-10">
                <a:solidFill>
                  <a:srgbClr val="3B3838"/>
                </a:solidFill>
                <a:latin typeface="Trebuchet MS"/>
                <a:cs typeface="Trebuchet MS"/>
              </a:rPr>
              <a:t>Integrated </a:t>
            </a:r>
            <a:r>
              <a:rPr dirty="0" sz="1700" spc="85">
                <a:solidFill>
                  <a:srgbClr val="3B3838"/>
                </a:solidFill>
                <a:latin typeface="Trebuchet MS"/>
                <a:cs typeface="Trebuchet MS"/>
              </a:rPr>
              <a:t>Processes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27619" y="4605253"/>
            <a:ext cx="1024255" cy="5924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186055">
              <a:lnSpc>
                <a:spcPct val="109400"/>
              </a:lnSpc>
              <a:spcBef>
                <a:spcPts val="90"/>
              </a:spcBef>
            </a:pPr>
            <a:r>
              <a:rPr dirty="0" sz="1700" spc="-10">
                <a:solidFill>
                  <a:srgbClr val="3B3838"/>
                </a:solidFill>
                <a:latin typeface="Trebuchet MS"/>
                <a:cs typeface="Trebuchet MS"/>
              </a:rPr>
              <a:t>Better Reporting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37838" y="4605253"/>
            <a:ext cx="1000125" cy="5924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635">
              <a:lnSpc>
                <a:spcPct val="109400"/>
              </a:lnSpc>
              <a:spcBef>
                <a:spcPts val="90"/>
              </a:spcBef>
            </a:pPr>
            <a:r>
              <a:rPr dirty="0" sz="1700" spc="45">
                <a:solidFill>
                  <a:srgbClr val="3B3838"/>
                </a:solidFill>
                <a:latin typeface="Trebuchet MS"/>
                <a:cs typeface="Trebuchet MS"/>
              </a:rPr>
              <a:t>Improved </a:t>
            </a:r>
            <a:r>
              <a:rPr dirty="0" sz="1700" spc="55">
                <a:solidFill>
                  <a:srgbClr val="3B3838"/>
                </a:solidFill>
                <a:latin typeface="Trebuchet MS"/>
                <a:cs typeface="Trebuchet MS"/>
              </a:rPr>
              <a:t>Decisions</a:t>
            </a:r>
            <a:endParaRPr sz="170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28674" y="5884274"/>
            <a:ext cx="438784" cy="337820"/>
            <a:chOff x="828674" y="5884274"/>
            <a:chExt cx="438784" cy="33782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34425" y="6046588"/>
              <a:ext cx="68718" cy="6959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092092" y="5893922"/>
              <a:ext cx="165735" cy="318135"/>
            </a:xfrm>
            <a:custGeom>
              <a:avLst/>
              <a:gdLst/>
              <a:ahLst/>
              <a:cxnLst/>
              <a:rect l="l" t="t" r="r" b="b"/>
              <a:pathLst>
                <a:path w="165734" h="318135">
                  <a:moveTo>
                    <a:pt x="0" y="0"/>
                  </a:moveTo>
                  <a:lnTo>
                    <a:pt x="39726" y="9213"/>
                  </a:lnTo>
                  <a:lnTo>
                    <a:pt x="75189" y="25767"/>
                  </a:lnTo>
                  <a:lnTo>
                    <a:pt x="106213" y="49190"/>
                  </a:lnTo>
                  <a:lnTo>
                    <a:pt x="132616" y="79559"/>
                  </a:lnTo>
                  <a:lnTo>
                    <a:pt x="151023" y="113253"/>
                  </a:lnTo>
                  <a:lnTo>
                    <a:pt x="162323" y="153059"/>
                  </a:lnTo>
                  <a:lnTo>
                    <a:pt x="165196" y="194079"/>
                  </a:lnTo>
                  <a:lnTo>
                    <a:pt x="164061" y="204590"/>
                  </a:lnTo>
                  <a:lnTo>
                    <a:pt x="155436" y="244458"/>
                  </a:lnTo>
                  <a:lnTo>
                    <a:pt x="137670" y="283226"/>
                  </a:lnTo>
                  <a:lnTo>
                    <a:pt x="114162" y="313914"/>
                  </a:lnTo>
                  <a:lnTo>
                    <a:pt x="107731" y="317885"/>
                  </a:lnTo>
                  <a:lnTo>
                    <a:pt x="104423" y="318009"/>
                  </a:lnTo>
                </a:path>
              </a:pathLst>
            </a:custGeom>
            <a:ln w="19295">
              <a:solidFill>
                <a:srgbClr val="1B1B2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828674" y="6133592"/>
              <a:ext cx="127635" cy="635"/>
            </a:xfrm>
            <a:custGeom>
              <a:avLst/>
              <a:gdLst/>
              <a:ahLst/>
              <a:cxnLst/>
              <a:rect l="l" t="t" r="r" b="b"/>
              <a:pathLst>
                <a:path w="127634" h="635">
                  <a:moveTo>
                    <a:pt x="0" y="66"/>
                  </a:moveTo>
                  <a:lnTo>
                    <a:pt x="127089" y="0"/>
                  </a:lnTo>
                </a:path>
              </a:pathLst>
            </a:custGeom>
            <a:ln w="19295">
              <a:solidFill>
                <a:srgbClr val="1B1B2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881606" y="6179896"/>
              <a:ext cx="73025" cy="635"/>
            </a:xfrm>
            <a:custGeom>
              <a:avLst/>
              <a:gdLst/>
              <a:ahLst/>
              <a:cxnLst/>
              <a:rect l="l" t="t" r="r" b="b"/>
              <a:pathLst>
                <a:path w="73025" h="635">
                  <a:moveTo>
                    <a:pt x="0" y="18"/>
                  </a:moveTo>
                  <a:lnTo>
                    <a:pt x="72681" y="0"/>
                  </a:lnTo>
                </a:path>
              </a:pathLst>
            </a:custGeom>
            <a:ln w="19295">
              <a:solidFill>
                <a:srgbClr val="1B1B2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087638" y="5981152"/>
              <a:ext cx="80645" cy="81280"/>
            </a:xfrm>
            <a:custGeom>
              <a:avLst/>
              <a:gdLst/>
              <a:ahLst/>
              <a:cxnLst/>
              <a:rect l="l" t="t" r="r" b="b"/>
              <a:pathLst>
                <a:path w="80644" h="81279">
                  <a:moveTo>
                    <a:pt x="0" y="81147"/>
                  </a:moveTo>
                  <a:lnTo>
                    <a:pt x="80040" y="0"/>
                  </a:lnTo>
                </a:path>
              </a:pathLst>
            </a:custGeom>
            <a:ln w="19295">
              <a:solidFill>
                <a:srgbClr val="1B1B2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079633" y="6058839"/>
              <a:ext cx="8255" cy="3810"/>
            </a:xfrm>
            <a:custGeom>
              <a:avLst/>
              <a:gdLst/>
              <a:ahLst/>
              <a:cxnLst/>
              <a:rect l="l" t="t" r="r" b="b"/>
              <a:pathLst>
                <a:path w="8255" h="3810">
                  <a:moveTo>
                    <a:pt x="0" y="0"/>
                  </a:moveTo>
                  <a:lnTo>
                    <a:pt x="7906" y="3418"/>
                  </a:lnTo>
                </a:path>
              </a:pathLst>
            </a:custGeom>
            <a:ln w="19295">
              <a:solidFill>
                <a:srgbClr val="1B1B2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2046" y="5884274"/>
              <a:ext cx="229694" cy="21465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941307" y="6211931"/>
              <a:ext cx="255270" cy="635"/>
            </a:xfrm>
            <a:custGeom>
              <a:avLst/>
              <a:gdLst/>
              <a:ahLst/>
              <a:cxnLst/>
              <a:rect l="l" t="t" r="r" b="b"/>
              <a:pathLst>
                <a:path w="255269" h="635">
                  <a:moveTo>
                    <a:pt x="255208" y="0"/>
                  </a:moveTo>
                  <a:lnTo>
                    <a:pt x="0" y="419"/>
                  </a:lnTo>
                </a:path>
              </a:pathLst>
            </a:custGeom>
            <a:ln w="19295">
              <a:solidFill>
                <a:srgbClr val="1B1B2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9" name="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810282" y="5905657"/>
            <a:ext cx="447609" cy="294959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815975" y="6459538"/>
            <a:ext cx="4634230" cy="144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>
                <a:solidFill>
                  <a:srgbClr val="3B3838"/>
                </a:solidFill>
                <a:latin typeface="Trebuchet MS"/>
                <a:cs typeface="Trebuchet MS"/>
              </a:rPr>
              <a:t>Faster</a:t>
            </a:r>
            <a:r>
              <a:rPr dirty="0" sz="1650" spc="95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3B3838"/>
                </a:solidFill>
                <a:latin typeface="Trebuchet MS"/>
                <a:cs typeface="Trebuchet MS"/>
              </a:rPr>
              <a:t>Financial</a:t>
            </a:r>
            <a:r>
              <a:rPr dirty="0" sz="1650" spc="85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650" spc="40">
                <a:solidFill>
                  <a:srgbClr val="3B3838"/>
                </a:solidFill>
                <a:latin typeface="Trebuchet MS"/>
                <a:cs typeface="Trebuchet MS"/>
              </a:rPr>
              <a:t>Reporting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2700"/>
              </a:lnSpc>
              <a:spcBef>
                <a:spcPts val="565"/>
              </a:spcBef>
            </a:pP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Real-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time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data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proceззing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in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SAP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S/4HANA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зignificantly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reduced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financial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cloзing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timeз.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Management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gained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acceзз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to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85">
                <a:solidFill>
                  <a:srgbClr val="3B3838"/>
                </a:solidFill>
                <a:latin typeface="Roboto"/>
                <a:cs typeface="Roboto"/>
              </a:rPr>
              <a:t>up-</a:t>
            </a:r>
            <a:r>
              <a:rPr dirty="0" sz="1350" spc="-55">
                <a:solidFill>
                  <a:srgbClr val="3B3838"/>
                </a:solidFill>
                <a:latin typeface="Roboto"/>
                <a:cs typeface="Roboto"/>
              </a:rPr>
              <a:t>to-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date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financial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information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rather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than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waiting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for 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month-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end</a:t>
            </a:r>
            <a:r>
              <a:rPr dirty="0" sz="135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reportз.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809456" y="6459538"/>
            <a:ext cx="4772660" cy="11791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35"/>
              </a:spcBef>
            </a:pPr>
            <a:r>
              <a:rPr dirty="0" sz="1650" spc="55">
                <a:solidFill>
                  <a:srgbClr val="3B3838"/>
                </a:solidFill>
                <a:latin typeface="Trebuchet MS"/>
                <a:cs typeface="Trebuchet MS"/>
              </a:rPr>
              <a:t>Improved</a:t>
            </a:r>
            <a:r>
              <a:rPr dirty="0" sz="1650" spc="45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3B3838"/>
                </a:solidFill>
                <a:latin typeface="Trebuchet MS"/>
                <a:cs typeface="Trebuchet MS"/>
              </a:rPr>
              <a:t>Data</a:t>
            </a:r>
            <a:r>
              <a:rPr dirty="0" sz="1650" spc="-20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650" spc="-10">
                <a:solidFill>
                  <a:srgbClr val="3B3838"/>
                </a:solidFill>
                <a:latin typeface="Trebuchet MS"/>
                <a:cs typeface="Trebuchet MS"/>
              </a:rPr>
              <a:t>Visibility</a:t>
            </a:r>
            <a:endParaRPr sz="1650">
              <a:latin typeface="Trebuchet MS"/>
              <a:cs typeface="Trebuchet MS"/>
            </a:endParaRPr>
          </a:p>
          <a:p>
            <a:pPr algn="just" marL="12700" marR="5080">
              <a:lnSpc>
                <a:spcPct val="134300"/>
              </a:lnSpc>
              <a:spcBef>
                <a:spcPts val="540"/>
              </a:spcBef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зingle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unified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platform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replaced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fragmented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legacy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зyзtemз,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giving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finance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teamз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management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conзolidated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view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of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financial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performance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acroзз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all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marketз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buзineзз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unitз.</a:t>
            </a:r>
            <a:endParaRPr sz="1350">
              <a:latin typeface="Roboto"/>
              <a:cs typeface="Roboto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819183" y="8324359"/>
            <a:ext cx="447675" cy="353695"/>
            <a:chOff x="819183" y="8324359"/>
            <a:chExt cx="447675" cy="353695"/>
          </a:xfrm>
        </p:grpSpPr>
        <p:sp>
          <p:nvSpPr>
            <p:cNvPr id="22" name="object 22"/>
            <p:cNvSpPr/>
            <p:nvPr/>
          </p:nvSpPr>
          <p:spPr>
            <a:xfrm>
              <a:off x="974007" y="8381897"/>
              <a:ext cx="111760" cy="116839"/>
            </a:xfrm>
            <a:custGeom>
              <a:avLst/>
              <a:gdLst/>
              <a:ahLst/>
              <a:cxnLst/>
              <a:rect l="l" t="t" r="r" b="b"/>
              <a:pathLst>
                <a:path w="111759" h="116840">
                  <a:moveTo>
                    <a:pt x="84297" y="108434"/>
                  </a:moveTo>
                  <a:lnTo>
                    <a:pt x="75696" y="112784"/>
                  </a:lnTo>
                  <a:lnTo>
                    <a:pt x="69408" y="114779"/>
                  </a:lnTo>
                  <a:lnTo>
                    <a:pt x="64199" y="115831"/>
                  </a:lnTo>
                  <a:lnTo>
                    <a:pt x="58036" y="116398"/>
                  </a:lnTo>
                  <a:lnTo>
                    <a:pt x="53483" y="116393"/>
                  </a:lnTo>
                  <a:lnTo>
                    <a:pt x="16879" y="99996"/>
                  </a:lnTo>
                  <a:lnTo>
                    <a:pt x="186" y="63111"/>
                  </a:lnTo>
                  <a:lnTo>
                    <a:pt x="0" y="57904"/>
                  </a:lnTo>
                  <a:lnTo>
                    <a:pt x="366" y="51734"/>
                  </a:lnTo>
                  <a:lnTo>
                    <a:pt x="17293" y="16355"/>
                  </a:lnTo>
                  <a:lnTo>
                    <a:pt x="52051" y="160"/>
                  </a:lnTo>
                  <a:lnTo>
                    <a:pt x="56626" y="0"/>
                  </a:lnTo>
                  <a:lnTo>
                    <a:pt x="61834" y="310"/>
                  </a:lnTo>
                  <a:lnTo>
                    <a:pt x="98730" y="21415"/>
                  </a:lnTo>
                  <a:lnTo>
                    <a:pt x="111359" y="62652"/>
                  </a:lnTo>
                  <a:lnTo>
                    <a:pt x="110795" y="67995"/>
                  </a:lnTo>
                  <a:lnTo>
                    <a:pt x="88879" y="105234"/>
                  </a:lnTo>
                  <a:lnTo>
                    <a:pt x="84297" y="108434"/>
                  </a:lnTo>
                </a:path>
              </a:pathLst>
            </a:custGeom>
            <a:ln w="18982">
              <a:solidFill>
                <a:srgbClr val="1B1B2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134025" y="8524544"/>
              <a:ext cx="56515" cy="97155"/>
            </a:xfrm>
            <a:custGeom>
              <a:avLst/>
              <a:gdLst/>
              <a:ahLst/>
              <a:cxnLst/>
              <a:rect l="l" t="t" r="r" b="b"/>
              <a:pathLst>
                <a:path w="56515" h="97154">
                  <a:moveTo>
                    <a:pt x="27205" y="97135"/>
                  </a:moveTo>
                  <a:lnTo>
                    <a:pt x="56066" y="72480"/>
                  </a:lnTo>
                  <a:lnTo>
                    <a:pt x="55484" y="67861"/>
                  </a:lnTo>
                  <a:lnTo>
                    <a:pt x="19969" y="45478"/>
                  </a:lnTo>
                  <a:lnTo>
                    <a:pt x="12045" y="42023"/>
                  </a:lnTo>
                  <a:lnTo>
                    <a:pt x="0" y="21037"/>
                  </a:lnTo>
                  <a:lnTo>
                    <a:pt x="1557" y="15478"/>
                  </a:lnTo>
                  <a:lnTo>
                    <a:pt x="21626" y="882"/>
                  </a:lnTo>
                  <a:lnTo>
                    <a:pt x="26929" y="0"/>
                  </a:lnTo>
                </a:path>
              </a:pathLst>
            </a:custGeom>
            <a:ln w="18982">
              <a:solidFill>
                <a:srgbClr val="1B1B2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199046" y="8333850"/>
              <a:ext cx="32384" cy="22860"/>
            </a:xfrm>
            <a:custGeom>
              <a:avLst/>
              <a:gdLst/>
              <a:ahLst/>
              <a:cxnLst/>
              <a:rect l="l" t="t" r="r" b="b"/>
              <a:pathLst>
                <a:path w="32384" h="22859">
                  <a:moveTo>
                    <a:pt x="32358" y="22419"/>
                  </a:moveTo>
                  <a:lnTo>
                    <a:pt x="7157" y="0"/>
                  </a:lnTo>
                  <a:lnTo>
                    <a:pt x="0" y="64"/>
                  </a:lnTo>
                </a:path>
              </a:pathLst>
            </a:custGeom>
            <a:ln w="18982">
              <a:solidFill>
                <a:srgbClr val="1B1B2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828674" y="8334001"/>
              <a:ext cx="19685" cy="22225"/>
            </a:xfrm>
            <a:custGeom>
              <a:avLst/>
              <a:gdLst/>
              <a:ahLst/>
              <a:cxnLst/>
              <a:rect l="l" t="t" r="r" b="b"/>
              <a:pathLst>
                <a:path w="19684" h="22225">
                  <a:moveTo>
                    <a:pt x="19639" y="0"/>
                  </a:moveTo>
                  <a:lnTo>
                    <a:pt x="186" y="19209"/>
                  </a:lnTo>
                  <a:lnTo>
                    <a:pt x="0" y="22082"/>
                  </a:lnTo>
                </a:path>
              </a:pathLst>
            </a:custGeom>
            <a:ln w="18982">
              <a:solidFill>
                <a:srgbClr val="1B1B2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828769" y="8526966"/>
              <a:ext cx="23495" cy="19685"/>
            </a:xfrm>
            <a:custGeom>
              <a:avLst/>
              <a:gdLst/>
              <a:ahLst/>
              <a:cxnLst/>
              <a:rect l="l" t="t" r="r" b="b"/>
              <a:pathLst>
                <a:path w="23494" h="19684">
                  <a:moveTo>
                    <a:pt x="0" y="0"/>
                  </a:moveTo>
                  <a:lnTo>
                    <a:pt x="20417" y="19318"/>
                  </a:lnTo>
                  <a:lnTo>
                    <a:pt x="23376" y="19387"/>
                  </a:lnTo>
                </a:path>
              </a:pathLst>
            </a:custGeom>
            <a:ln w="18982">
              <a:solidFill>
                <a:srgbClr val="1B1B2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066950" y="8476420"/>
              <a:ext cx="160655" cy="78105"/>
            </a:xfrm>
            <a:custGeom>
              <a:avLst/>
              <a:gdLst/>
              <a:ahLst/>
              <a:cxnLst/>
              <a:rect l="l" t="t" r="r" b="b"/>
              <a:pathLst>
                <a:path w="160655" h="78104">
                  <a:moveTo>
                    <a:pt x="160458" y="26125"/>
                  </a:moveTo>
                  <a:lnTo>
                    <a:pt x="127981" y="5987"/>
                  </a:lnTo>
                  <a:lnTo>
                    <a:pt x="96652" y="0"/>
                  </a:lnTo>
                  <a:lnTo>
                    <a:pt x="90228" y="71"/>
                  </a:lnTo>
                  <a:lnTo>
                    <a:pt x="53144" y="9295"/>
                  </a:lnTo>
                  <a:lnTo>
                    <a:pt x="22570" y="32220"/>
                  </a:lnTo>
                  <a:lnTo>
                    <a:pt x="3312" y="65227"/>
                  </a:lnTo>
                  <a:lnTo>
                    <a:pt x="1453" y="71347"/>
                  </a:lnTo>
                  <a:lnTo>
                    <a:pt x="0" y="77605"/>
                  </a:lnTo>
                </a:path>
              </a:pathLst>
            </a:custGeom>
            <a:ln w="18982">
              <a:solidFill>
                <a:srgbClr val="1B1B2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1065416" y="8505783"/>
              <a:ext cx="192405" cy="162560"/>
            </a:xfrm>
            <a:custGeom>
              <a:avLst/>
              <a:gdLst/>
              <a:ahLst/>
              <a:cxnLst/>
              <a:rect l="l" t="t" r="r" b="b"/>
              <a:pathLst>
                <a:path w="192405" h="162559">
                  <a:moveTo>
                    <a:pt x="1818" y="48298"/>
                  </a:moveTo>
                  <a:lnTo>
                    <a:pt x="1038" y="52324"/>
                  </a:lnTo>
                  <a:lnTo>
                    <a:pt x="518" y="56384"/>
                  </a:lnTo>
                  <a:lnTo>
                    <a:pt x="259" y="60477"/>
                  </a:lnTo>
                  <a:lnTo>
                    <a:pt x="0" y="64570"/>
                  </a:lnTo>
                  <a:lnTo>
                    <a:pt x="3" y="68663"/>
                  </a:lnTo>
                  <a:lnTo>
                    <a:pt x="4969" y="96809"/>
                  </a:lnTo>
                  <a:lnTo>
                    <a:pt x="6263" y="100701"/>
                  </a:lnTo>
                  <a:lnTo>
                    <a:pt x="15611" y="118885"/>
                  </a:lnTo>
                  <a:lnTo>
                    <a:pt x="17849" y="122322"/>
                  </a:lnTo>
                  <a:lnTo>
                    <a:pt x="31501" y="137543"/>
                  </a:lnTo>
                  <a:lnTo>
                    <a:pt x="34537" y="140300"/>
                  </a:lnTo>
                  <a:lnTo>
                    <a:pt x="70599" y="159121"/>
                  </a:lnTo>
                  <a:lnTo>
                    <a:pt x="74598" y="160035"/>
                  </a:lnTo>
                  <a:lnTo>
                    <a:pt x="78596" y="160949"/>
                  </a:lnTo>
                  <a:lnTo>
                    <a:pt x="82636" y="161604"/>
                  </a:lnTo>
                  <a:lnTo>
                    <a:pt x="86718" y="162000"/>
                  </a:lnTo>
                  <a:lnTo>
                    <a:pt x="90801" y="162396"/>
                  </a:lnTo>
                  <a:lnTo>
                    <a:pt x="94891" y="162530"/>
                  </a:lnTo>
                  <a:lnTo>
                    <a:pt x="98991" y="162401"/>
                  </a:lnTo>
                  <a:lnTo>
                    <a:pt x="103090" y="162271"/>
                  </a:lnTo>
                  <a:lnTo>
                    <a:pt x="107164" y="161881"/>
                  </a:lnTo>
                  <a:lnTo>
                    <a:pt x="111214" y="161229"/>
                  </a:lnTo>
                  <a:lnTo>
                    <a:pt x="115263" y="160578"/>
                  </a:lnTo>
                  <a:lnTo>
                    <a:pt x="134714" y="154276"/>
                  </a:lnTo>
                  <a:lnTo>
                    <a:pt x="138466" y="152619"/>
                  </a:lnTo>
                  <a:lnTo>
                    <a:pt x="142097" y="150729"/>
                  </a:lnTo>
                  <a:lnTo>
                    <a:pt x="145606" y="148607"/>
                  </a:lnTo>
                  <a:lnTo>
                    <a:pt x="149116" y="146485"/>
                  </a:lnTo>
                  <a:lnTo>
                    <a:pt x="152475" y="144147"/>
                  </a:lnTo>
                  <a:lnTo>
                    <a:pt x="155685" y="141593"/>
                  </a:lnTo>
                  <a:lnTo>
                    <a:pt x="158895" y="139040"/>
                  </a:lnTo>
                  <a:lnTo>
                    <a:pt x="172757" y="124010"/>
                  </a:lnTo>
                  <a:lnTo>
                    <a:pt x="175214" y="120727"/>
                  </a:lnTo>
                  <a:lnTo>
                    <a:pt x="184815" y="102674"/>
                  </a:lnTo>
                  <a:lnTo>
                    <a:pt x="186360" y="98875"/>
                  </a:lnTo>
                  <a:lnTo>
                    <a:pt x="191072" y="78979"/>
                  </a:lnTo>
                  <a:lnTo>
                    <a:pt x="191604" y="74912"/>
                  </a:lnTo>
                  <a:lnTo>
                    <a:pt x="191874" y="70828"/>
                  </a:lnTo>
                  <a:lnTo>
                    <a:pt x="191882" y="66727"/>
                  </a:lnTo>
                  <a:lnTo>
                    <a:pt x="191890" y="62625"/>
                  </a:lnTo>
                  <a:lnTo>
                    <a:pt x="191636" y="58540"/>
                  </a:lnTo>
                  <a:lnTo>
                    <a:pt x="191120" y="54472"/>
                  </a:lnTo>
                  <a:lnTo>
                    <a:pt x="190604" y="50403"/>
                  </a:lnTo>
                  <a:lnTo>
                    <a:pt x="184955" y="30752"/>
                  </a:lnTo>
                  <a:lnTo>
                    <a:pt x="183424" y="26947"/>
                  </a:lnTo>
                  <a:lnTo>
                    <a:pt x="181657" y="23256"/>
                  </a:lnTo>
                  <a:lnTo>
                    <a:pt x="179653" y="19677"/>
                  </a:lnTo>
                  <a:lnTo>
                    <a:pt x="177649" y="16099"/>
                  </a:lnTo>
                  <a:lnTo>
                    <a:pt x="175424" y="12663"/>
                  </a:lnTo>
                  <a:lnTo>
                    <a:pt x="172980" y="9370"/>
                  </a:lnTo>
                  <a:lnTo>
                    <a:pt x="170535" y="6077"/>
                  </a:lnTo>
                  <a:lnTo>
                    <a:pt x="167889" y="2953"/>
                  </a:lnTo>
                  <a:lnTo>
                    <a:pt x="165044" y="0"/>
                  </a:lnTo>
                </a:path>
              </a:pathLst>
            </a:custGeom>
            <a:ln w="18982">
              <a:solidFill>
                <a:srgbClr val="1B1B2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1230546" y="8356270"/>
              <a:ext cx="1270" cy="148590"/>
            </a:xfrm>
            <a:custGeom>
              <a:avLst/>
              <a:gdLst/>
              <a:ahLst/>
              <a:cxnLst/>
              <a:rect l="l" t="t" r="r" b="b"/>
              <a:pathLst>
                <a:path w="1269" h="148590">
                  <a:moveTo>
                    <a:pt x="0" y="148180"/>
                  </a:moveTo>
                  <a:lnTo>
                    <a:pt x="858" y="0"/>
                  </a:lnTo>
                </a:path>
              </a:pathLst>
            </a:custGeom>
            <a:ln w="18982">
              <a:solidFill>
                <a:srgbClr val="1B1B2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1160955" y="8513147"/>
              <a:ext cx="635" cy="11430"/>
            </a:xfrm>
            <a:custGeom>
              <a:avLst/>
              <a:gdLst/>
              <a:ahLst/>
              <a:cxnLst/>
              <a:rect l="l" t="t" r="r" b="b"/>
              <a:pathLst>
                <a:path w="634" h="11429">
                  <a:moveTo>
                    <a:pt x="0" y="11397"/>
                  </a:moveTo>
                  <a:lnTo>
                    <a:pt x="104" y="0"/>
                  </a:lnTo>
                </a:path>
              </a:pathLst>
            </a:custGeom>
            <a:ln w="18982">
              <a:solidFill>
                <a:srgbClr val="1B1B2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1133413" y="8604369"/>
              <a:ext cx="27940" cy="17780"/>
            </a:xfrm>
            <a:custGeom>
              <a:avLst/>
              <a:gdLst/>
              <a:ahLst/>
              <a:cxnLst/>
              <a:rect l="l" t="t" r="r" b="b"/>
              <a:pathLst>
                <a:path w="27940" h="17779">
                  <a:moveTo>
                    <a:pt x="0" y="0"/>
                  </a:moveTo>
                  <a:lnTo>
                    <a:pt x="21889" y="17159"/>
                  </a:lnTo>
                  <a:lnTo>
                    <a:pt x="27803" y="16933"/>
                  </a:lnTo>
                </a:path>
              </a:pathLst>
            </a:custGeom>
            <a:ln w="18982">
              <a:solidFill>
                <a:srgbClr val="1B1B2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1161121" y="8621680"/>
              <a:ext cx="635" cy="10160"/>
            </a:xfrm>
            <a:custGeom>
              <a:avLst/>
              <a:gdLst/>
              <a:ahLst/>
              <a:cxnLst/>
              <a:rect l="l" t="t" r="r" b="b"/>
              <a:pathLst>
                <a:path w="634" h="10159">
                  <a:moveTo>
                    <a:pt x="0" y="10060"/>
                  </a:moveTo>
                  <a:lnTo>
                    <a:pt x="110" y="0"/>
                  </a:lnTo>
                </a:path>
              </a:pathLst>
            </a:custGeom>
            <a:ln w="18982">
              <a:solidFill>
                <a:srgbClr val="1B1B2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848314" y="8333915"/>
              <a:ext cx="351155" cy="635"/>
            </a:xfrm>
            <a:custGeom>
              <a:avLst/>
              <a:gdLst/>
              <a:ahLst/>
              <a:cxnLst/>
              <a:rect l="l" t="t" r="r" b="b"/>
              <a:pathLst>
                <a:path w="351155" h="634">
                  <a:moveTo>
                    <a:pt x="350731" y="0"/>
                  </a:moveTo>
                  <a:lnTo>
                    <a:pt x="0" y="86"/>
                  </a:lnTo>
                </a:path>
              </a:pathLst>
            </a:custGeom>
            <a:ln w="18982">
              <a:solidFill>
                <a:srgbClr val="1B1B2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1160984" y="8524558"/>
              <a:ext cx="27940" cy="17145"/>
            </a:xfrm>
            <a:custGeom>
              <a:avLst/>
              <a:gdLst/>
              <a:ahLst/>
              <a:cxnLst/>
              <a:rect l="l" t="t" r="r" b="b"/>
              <a:pathLst>
                <a:path w="27940" h="17145">
                  <a:moveTo>
                    <a:pt x="0" y="404"/>
                  </a:moveTo>
                  <a:lnTo>
                    <a:pt x="25010" y="11623"/>
                  </a:lnTo>
                  <a:lnTo>
                    <a:pt x="27356" y="17003"/>
                  </a:lnTo>
                </a:path>
              </a:pathLst>
            </a:custGeom>
            <a:ln w="18982">
              <a:solidFill>
                <a:srgbClr val="1B1B2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828674" y="8356083"/>
              <a:ext cx="635" cy="171450"/>
            </a:xfrm>
            <a:custGeom>
              <a:avLst/>
              <a:gdLst/>
              <a:ahLst/>
              <a:cxnLst/>
              <a:rect l="l" t="t" r="r" b="b"/>
              <a:pathLst>
                <a:path w="634" h="171450">
                  <a:moveTo>
                    <a:pt x="0" y="0"/>
                  </a:moveTo>
                  <a:lnTo>
                    <a:pt x="94" y="170882"/>
                  </a:lnTo>
                </a:path>
              </a:pathLst>
            </a:custGeom>
            <a:ln w="18982">
              <a:solidFill>
                <a:srgbClr val="1B1B2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852146" y="8546353"/>
              <a:ext cx="216535" cy="635"/>
            </a:xfrm>
            <a:custGeom>
              <a:avLst/>
              <a:gdLst/>
              <a:ahLst/>
              <a:cxnLst/>
              <a:rect l="l" t="t" r="r" b="b"/>
              <a:pathLst>
                <a:path w="216534" h="634">
                  <a:moveTo>
                    <a:pt x="0" y="0"/>
                  </a:moveTo>
                  <a:lnTo>
                    <a:pt x="216316" y="31"/>
                  </a:lnTo>
                </a:path>
              </a:pathLst>
            </a:custGeom>
            <a:ln w="18982">
              <a:solidFill>
                <a:srgbClr val="1B1B2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8" name="object 38"/>
          <p:cNvGrpSpPr/>
          <p:nvPr/>
        </p:nvGrpSpPr>
        <p:grpSpPr>
          <a:xfrm>
            <a:off x="5843707" y="8277256"/>
            <a:ext cx="381000" cy="447675"/>
            <a:chOff x="5843707" y="8277256"/>
            <a:chExt cx="381000" cy="447675"/>
          </a:xfrm>
        </p:grpSpPr>
        <p:sp>
          <p:nvSpPr>
            <p:cNvPr id="39" name="object 39"/>
            <p:cNvSpPr/>
            <p:nvPr/>
          </p:nvSpPr>
          <p:spPr>
            <a:xfrm>
              <a:off x="6027484" y="8528290"/>
              <a:ext cx="187325" cy="187325"/>
            </a:xfrm>
            <a:custGeom>
              <a:avLst/>
              <a:gdLst/>
              <a:ahLst/>
              <a:cxnLst/>
              <a:rect l="l" t="t" r="r" b="b"/>
              <a:pathLst>
                <a:path w="187325" h="187325">
                  <a:moveTo>
                    <a:pt x="135288" y="9071"/>
                  </a:moveTo>
                  <a:lnTo>
                    <a:pt x="96330" y="24"/>
                  </a:lnTo>
                  <a:lnTo>
                    <a:pt x="89790" y="0"/>
                  </a:lnTo>
                  <a:lnTo>
                    <a:pt x="83257" y="281"/>
                  </a:lnTo>
                  <a:lnTo>
                    <a:pt x="45765" y="13235"/>
                  </a:lnTo>
                  <a:lnTo>
                    <a:pt x="16049" y="40768"/>
                  </a:lnTo>
                  <a:lnTo>
                    <a:pt x="1752" y="76570"/>
                  </a:lnTo>
                  <a:lnTo>
                    <a:pt x="0" y="89625"/>
                  </a:lnTo>
                  <a:lnTo>
                    <a:pt x="264" y="97182"/>
                  </a:lnTo>
                  <a:lnTo>
                    <a:pt x="12308" y="140313"/>
                  </a:lnTo>
                  <a:lnTo>
                    <a:pt x="27226" y="159710"/>
                  </a:lnTo>
                  <a:lnTo>
                    <a:pt x="43251" y="173874"/>
                  </a:lnTo>
                </a:path>
                <a:path w="187325" h="187325">
                  <a:moveTo>
                    <a:pt x="135288" y="9071"/>
                  </a:moveTo>
                  <a:lnTo>
                    <a:pt x="167735" y="35983"/>
                  </a:lnTo>
                  <a:lnTo>
                    <a:pt x="185584" y="74347"/>
                  </a:lnTo>
                  <a:lnTo>
                    <a:pt x="187254" y="95227"/>
                  </a:lnTo>
                  <a:lnTo>
                    <a:pt x="187125" y="102378"/>
                  </a:lnTo>
                  <a:lnTo>
                    <a:pt x="173055" y="143202"/>
                  </a:lnTo>
                  <a:lnTo>
                    <a:pt x="142141" y="173804"/>
                  </a:lnTo>
                  <a:lnTo>
                    <a:pt x="103432" y="186325"/>
                  </a:lnTo>
                  <a:lnTo>
                    <a:pt x="90201" y="187085"/>
                  </a:lnTo>
                  <a:lnTo>
                    <a:pt x="83263" y="186318"/>
                  </a:lnTo>
                  <a:lnTo>
                    <a:pt x="52919" y="177945"/>
                  </a:lnTo>
                  <a:lnTo>
                    <a:pt x="43251" y="173874"/>
                  </a:lnTo>
                </a:path>
              </a:pathLst>
            </a:custGeom>
            <a:ln w="18984">
              <a:solidFill>
                <a:srgbClr val="1B1B2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5853628" y="8341572"/>
              <a:ext cx="32384" cy="24765"/>
            </a:xfrm>
            <a:custGeom>
              <a:avLst/>
              <a:gdLst/>
              <a:ahLst/>
              <a:cxnLst/>
              <a:rect l="l" t="t" r="r" b="b"/>
              <a:pathLst>
                <a:path w="32385" h="24765">
                  <a:moveTo>
                    <a:pt x="0" y="24635"/>
                  </a:moveTo>
                  <a:lnTo>
                    <a:pt x="26275" y="5"/>
                  </a:lnTo>
                  <a:lnTo>
                    <a:pt x="32115" y="0"/>
                  </a:lnTo>
                </a:path>
              </a:pathLst>
            </a:custGeom>
            <a:ln w="18984">
              <a:solidFill>
                <a:srgbClr val="1B1B2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5878447" y="8706082"/>
              <a:ext cx="197485" cy="635"/>
            </a:xfrm>
            <a:custGeom>
              <a:avLst/>
              <a:gdLst/>
              <a:ahLst/>
              <a:cxnLst/>
              <a:rect l="l" t="t" r="r" b="b"/>
              <a:pathLst>
                <a:path w="197485" h="634">
                  <a:moveTo>
                    <a:pt x="196909" y="72"/>
                  </a:moveTo>
                  <a:lnTo>
                    <a:pt x="0" y="0"/>
                  </a:lnTo>
                </a:path>
              </a:pathLst>
            </a:custGeom>
            <a:ln w="18984">
              <a:solidFill>
                <a:srgbClr val="1B1B2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5933084" y="8326180"/>
              <a:ext cx="1270" cy="47625"/>
            </a:xfrm>
            <a:custGeom>
              <a:avLst/>
              <a:gdLst/>
              <a:ahLst/>
              <a:cxnLst/>
              <a:rect l="l" t="t" r="r" b="b"/>
              <a:pathLst>
                <a:path w="1270" h="47625">
                  <a:moveTo>
                    <a:pt x="669" y="47005"/>
                  </a:moveTo>
                  <a:lnTo>
                    <a:pt x="0" y="0"/>
                  </a:lnTo>
                </a:path>
              </a:pathLst>
            </a:custGeom>
            <a:ln w="18984">
              <a:solidFill>
                <a:srgbClr val="1B1B2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5933753" y="8372957"/>
              <a:ext cx="149860" cy="6350"/>
            </a:xfrm>
            <a:custGeom>
              <a:avLst/>
              <a:gdLst/>
              <a:ahLst/>
              <a:cxnLst/>
              <a:rect l="l" t="t" r="r" b="b"/>
              <a:pathLst>
                <a:path w="149860" h="6350">
                  <a:moveTo>
                    <a:pt x="2249" y="2721"/>
                  </a:moveTo>
                  <a:lnTo>
                    <a:pt x="0" y="228"/>
                  </a:lnTo>
                </a:path>
                <a:path w="149860" h="6350">
                  <a:moveTo>
                    <a:pt x="2249" y="2721"/>
                  </a:moveTo>
                  <a:lnTo>
                    <a:pt x="7366" y="6066"/>
                  </a:lnTo>
                  <a:lnTo>
                    <a:pt x="143769" y="5030"/>
                  </a:lnTo>
                  <a:lnTo>
                    <a:pt x="144471" y="4633"/>
                  </a:lnTo>
                  <a:lnTo>
                    <a:pt x="145136" y="4181"/>
                  </a:lnTo>
                  <a:lnTo>
                    <a:pt x="145762" y="3672"/>
                  </a:lnTo>
                  <a:lnTo>
                    <a:pt x="149379" y="0"/>
                  </a:lnTo>
                </a:path>
              </a:pathLst>
            </a:custGeom>
            <a:ln w="18984">
              <a:solidFill>
                <a:srgbClr val="1B1B2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6083133" y="8326169"/>
              <a:ext cx="635" cy="46990"/>
            </a:xfrm>
            <a:custGeom>
              <a:avLst/>
              <a:gdLst/>
              <a:ahLst/>
              <a:cxnLst/>
              <a:rect l="l" t="t" r="r" b="b"/>
              <a:pathLst>
                <a:path w="635" h="46990">
                  <a:moveTo>
                    <a:pt x="526" y="0"/>
                  </a:moveTo>
                  <a:lnTo>
                    <a:pt x="0" y="46788"/>
                  </a:lnTo>
                </a:path>
              </a:pathLst>
            </a:custGeom>
            <a:ln w="18984">
              <a:solidFill>
                <a:srgbClr val="1B1B2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6083780" y="8341842"/>
              <a:ext cx="79375" cy="195580"/>
            </a:xfrm>
            <a:custGeom>
              <a:avLst/>
              <a:gdLst/>
              <a:ahLst/>
              <a:cxnLst/>
              <a:rect l="l" t="t" r="r" b="b"/>
              <a:pathLst>
                <a:path w="79375" h="195579">
                  <a:moveTo>
                    <a:pt x="67909" y="3231"/>
                  </a:moveTo>
                  <a:lnTo>
                    <a:pt x="0" y="0"/>
                  </a:lnTo>
                </a:path>
                <a:path w="79375" h="195579">
                  <a:moveTo>
                    <a:pt x="67909" y="3231"/>
                  </a:moveTo>
                  <a:lnTo>
                    <a:pt x="77395" y="14257"/>
                  </a:lnTo>
                  <a:lnTo>
                    <a:pt x="78992" y="195519"/>
                  </a:lnTo>
                </a:path>
              </a:pathLst>
            </a:custGeom>
            <a:ln w="18984">
              <a:solidFill>
                <a:srgbClr val="1B1B2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5974954" y="8286748"/>
              <a:ext cx="67945" cy="40005"/>
            </a:xfrm>
            <a:custGeom>
              <a:avLst/>
              <a:gdLst/>
              <a:ahLst/>
              <a:cxnLst/>
              <a:rect l="l" t="t" r="r" b="b"/>
              <a:pathLst>
                <a:path w="67945" h="40004">
                  <a:moveTo>
                    <a:pt x="67065" y="39390"/>
                  </a:moveTo>
                  <a:lnTo>
                    <a:pt x="67476" y="36972"/>
                  </a:lnTo>
                  <a:lnTo>
                    <a:pt x="67622" y="34537"/>
                  </a:lnTo>
                  <a:lnTo>
                    <a:pt x="67502" y="32087"/>
                  </a:lnTo>
                  <a:lnTo>
                    <a:pt x="43500" y="1329"/>
                  </a:lnTo>
                  <a:lnTo>
                    <a:pt x="41105" y="799"/>
                  </a:lnTo>
                  <a:lnTo>
                    <a:pt x="38709" y="268"/>
                  </a:lnTo>
                  <a:lnTo>
                    <a:pt x="36285" y="2"/>
                  </a:lnTo>
                  <a:lnTo>
                    <a:pt x="33832" y="1"/>
                  </a:lnTo>
                  <a:lnTo>
                    <a:pt x="31379" y="0"/>
                  </a:lnTo>
                  <a:lnTo>
                    <a:pt x="28954" y="262"/>
                  </a:lnTo>
                  <a:lnTo>
                    <a:pt x="26558" y="790"/>
                  </a:lnTo>
                  <a:lnTo>
                    <a:pt x="24162" y="1317"/>
                  </a:lnTo>
                  <a:lnTo>
                    <a:pt x="8056" y="11949"/>
                  </a:lnTo>
                  <a:lnTo>
                    <a:pt x="6472" y="13822"/>
                  </a:lnTo>
                  <a:lnTo>
                    <a:pt x="5108" y="15844"/>
                  </a:lnTo>
                  <a:lnTo>
                    <a:pt x="3965" y="18015"/>
                  </a:lnTo>
                  <a:lnTo>
                    <a:pt x="2822" y="20186"/>
                  </a:lnTo>
                  <a:lnTo>
                    <a:pt x="0" y="34496"/>
                  </a:lnTo>
                  <a:lnTo>
                    <a:pt x="142" y="36930"/>
                  </a:lnTo>
                  <a:lnTo>
                    <a:pt x="551" y="39350"/>
                  </a:lnTo>
                </a:path>
              </a:pathLst>
            </a:custGeom>
            <a:ln w="18984">
              <a:solidFill>
                <a:srgbClr val="1B1B2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6042143" y="8326160"/>
              <a:ext cx="41910" cy="635"/>
            </a:xfrm>
            <a:custGeom>
              <a:avLst/>
              <a:gdLst/>
              <a:ahLst/>
              <a:cxnLst/>
              <a:rect l="l" t="t" r="r" b="b"/>
              <a:pathLst>
                <a:path w="41910" h="634">
                  <a:moveTo>
                    <a:pt x="41516" y="8"/>
                  </a:moveTo>
                  <a:lnTo>
                    <a:pt x="0" y="0"/>
                  </a:lnTo>
                </a:path>
              </a:pathLst>
            </a:custGeom>
            <a:ln w="18984">
              <a:solidFill>
                <a:srgbClr val="1B1B2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5933084" y="8326136"/>
              <a:ext cx="42545" cy="635"/>
            </a:xfrm>
            <a:custGeom>
              <a:avLst/>
              <a:gdLst/>
              <a:ahLst/>
              <a:cxnLst/>
              <a:rect l="l" t="t" r="r" b="b"/>
              <a:pathLst>
                <a:path w="42545" h="634">
                  <a:moveTo>
                    <a:pt x="42200" y="0"/>
                  </a:moveTo>
                  <a:lnTo>
                    <a:pt x="0" y="44"/>
                  </a:lnTo>
                </a:path>
              </a:pathLst>
            </a:custGeom>
            <a:ln w="18984">
              <a:solidFill>
                <a:srgbClr val="1B1B2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5912256" y="8442547"/>
              <a:ext cx="189865" cy="0"/>
            </a:xfrm>
            <a:custGeom>
              <a:avLst/>
              <a:gdLst/>
              <a:ahLst/>
              <a:cxnLst/>
              <a:rect l="l" t="t" r="r" b="b"/>
              <a:pathLst>
                <a:path w="189864" h="0">
                  <a:moveTo>
                    <a:pt x="0" y="0"/>
                  </a:moveTo>
                  <a:lnTo>
                    <a:pt x="189853" y="0"/>
                  </a:lnTo>
                </a:path>
              </a:pathLst>
            </a:custGeom>
            <a:ln w="18984">
              <a:solidFill>
                <a:srgbClr val="1B1B2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5913244" y="8504881"/>
              <a:ext cx="124460" cy="635"/>
            </a:xfrm>
            <a:custGeom>
              <a:avLst/>
              <a:gdLst/>
              <a:ahLst/>
              <a:cxnLst/>
              <a:rect l="l" t="t" r="r" b="b"/>
              <a:pathLst>
                <a:path w="124460" h="634">
                  <a:moveTo>
                    <a:pt x="0" y="26"/>
                  </a:moveTo>
                  <a:lnTo>
                    <a:pt x="124014" y="0"/>
                  </a:lnTo>
                </a:path>
              </a:pathLst>
            </a:custGeom>
            <a:ln w="18984">
              <a:solidFill>
                <a:srgbClr val="1B1B2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5912761" y="8567845"/>
              <a:ext cx="83820" cy="635"/>
            </a:xfrm>
            <a:custGeom>
              <a:avLst/>
              <a:gdLst/>
              <a:ahLst/>
              <a:cxnLst/>
              <a:rect l="l" t="t" r="r" b="b"/>
              <a:pathLst>
                <a:path w="83820" h="634">
                  <a:moveTo>
                    <a:pt x="0" y="19"/>
                  </a:moveTo>
                  <a:lnTo>
                    <a:pt x="83499" y="0"/>
                  </a:lnTo>
                </a:path>
              </a:pathLst>
            </a:custGeom>
            <a:ln w="18984">
              <a:solidFill>
                <a:srgbClr val="1B1B2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6105862" y="8586231"/>
              <a:ext cx="63500" cy="66040"/>
            </a:xfrm>
            <a:custGeom>
              <a:avLst/>
              <a:gdLst/>
              <a:ahLst/>
              <a:cxnLst/>
              <a:rect l="l" t="t" r="r" b="b"/>
              <a:pathLst>
                <a:path w="63500" h="66040">
                  <a:moveTo>
                    <a:pt x="0" y="65919"/>
                  </a:moveTo>
                  <a:lnTo>
                    <a:pt x="63040" y="0"/>
                  </a:lnTo>
                </a:path>
              </a:pathLst>
            </a:custGeom>
            <a:ln w="18984">
              <a:solidFill>
                <a:srgbClr val="1B1B2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6075106" y="8621292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4" h="31115">
                  <a:moveTo>
                    <a:pt x="0" y="0"/>
                  </a:moveTo>
                  <a:lnTo>
                    <a:pt x="30755" y="30857"/>
                  </a:lnTo>
                </a:path>
              </a:pathLst>
            </a:custGeom>
            <a:ln w="18984">
              <a:solidFill>
                <a:srgbClr val="1B1B2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5853199" y="8676520"/>
              <a:ext cx="25400" cy="29845"/>
            </a:xfrm>
            <a:custGeom>
              <a:avLst/>
              <a:gdLst/>
              <a:ahLst/>
              <a:cxnLst/>
              <a:rect l="l" t="t" r="r" b="b"/>
              <a:pathLst>
                <a:path w="25400" h="29845">
                  <a:moveTo>
                    <a:pt x="25243" y="29448"/>
                  </a:moveTo>
                  <a:lnTo>
                    <a:pt x="5806" y="20716"/>
                  </a:lnTo>
                  <a:lnTo>
                    <a:pt x="3416" y="17835"/>
                  </a:lnTo>
                  <a:lnTo>
                    <a:pt x="1783" y="14575"/>
                  </a:lnTo>
                  <a:lnTo>
                    <a:pt x="907" y="10937"/>
                  </a:lnTo>
                  <a:lnTo>
                    <a:pt x="30" y="7298"/>
                  </a:lnTo>
                  <a:lnTo>
                    <a:pt x="0" y="3653"/>
                  </a:lnTo>
                  <a:lnTo>
                    <a:pt x="815" y="0"/>
                  </a:lnTo>
                </a:path>
              </a:pathLst>
            </a:custGeom>
            <a:ln w="18984">
              <a:solidFill>
                <a:srgbClr val="1B1B2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5853628" y="8366207"/>
              <a:ext cx="635" cy="310515"/>
            </a:xfrm>
            <a:custGeom>
              <a:avLst/>
              <a:gdLst/>
              <a:ahLst/>
              <a:cxnLst/>
              <a:rect l="l" t="t" r="r" b="b"/>
              <a:pathLst>
                <a:path w="635" h="310515">
                  <a:moveTo>
                    <a:pt x="14" y="310229"/>
                  </a:moveTo>
                  <a:lnTo>
                    <a:pt x="0" y="0"/>
                  </a:lnTo>
                </a:path>
              </a:pathLst>
            </a:custGeom>
            <a:ln w="18984">
              <a:solidFill>
                <a:srgbClr val="1B1B2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5885744" y="8341572"/>
              <a:ext cx="47625" cy="635"/>
            </a:xfrm>
            <a:custGeom>
              <a:avLst/>
              <a:gdLst/>
              <a:ahLst/>
              <a:cxnLst/>
              <a:rect l="l" t="t" r="r" b="b"/>
              <a:pathLst>
                <a:path w="47625" h="634">
                  <a:moveTo>
                    <a:pt x="0" y="0"/>
                  </a:moveTo>
                  <a:lnTo>
                    <a:pt x="47448" y="38"/>
                  </a:lnTo>
                </a:path>
              </a:pathLst>
            </a:custGeom>
            <a:ln w="18984">
              <a:solidFill>
                <a:srgbClr val="1B1B2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815975" y="8916986"/>
            <a:ext cx="4791710" cy="11696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>
                <a:solidFill>
                  <a:srgbClr val="3B3838"/>
                </a:solidFill>
                <a:latin typeface="Trebuchet MS"/>
                <a:cs typeface="Trebuchet MS"/>
              </a:rPr>
              <a:t>Better</a:t>
            </a:r>
            <a:r>
              <a:rPr dirty="0" sz="1650" spc="-65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650" spc="85">
                <a:solidFill>
                  <a:srgbClr val="3B3838"/>
                </a:solidFill>
                <a:latin typeface="Trebuchet MS"/>
                <a:cs typeface="Trebuchet MS"/>
              </a:rPr>
              <a:t>Cost</a:t>
            </a:r>
            <a:r>
              <a:rPr dirty="0" sz="1650" spc="-10">
                <a:solidFill>
                  <a:srgbClr val="3B3838"/>
                </a:solidFill>
                <a:latin typeface="Trebuchet MS"/>
                <a:cs typeface="Trebuchet MS"/>
              </a:rPr>
              <a:t> Control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Coзt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Center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Accounting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Profitability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Analyзiз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enabled</a:t>
            </a:r>
            <a:endParaRPr sz="1350">
              <a:latin typeface="Roboto"/>
              <a:cs typeface="Roboto"/>
            </a:endParaRPr>
          </a:p>
          <a:p>
            <a:pPr marL="12700" marR="5080">
              <a:lnSpc>
                <a:spcPts val="2180"/>
              </a:lnSpc>
              <a:spcBef>
                <a:spcPts val="15"/>
              </a:spcBef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more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granular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tracking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of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coзtз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marginз,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зupporting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better reзource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allocation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pricing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deciзionз.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5809456" y="8916986"/>
            <a:ext cx="4471670" cy="11696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55">
                <a:solidFill>
                  <a:srgbClr val="3B3838"/>
                </a:solidFill>
                <a:latin typeface="Trebuchet MS"/>
                <a:cs typeface="Trebuchet MS"/>
              </a:rPr>
              <a:t>Standardised</a:t>
            </a:r>
            <a:r>
              <a:rPr dirty="0" sz="1650" spc="-60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650" spc="95">
                <a:solidFill>
                  <a:srgbClr val="3B3838"/>
                </a:solidFill>
                <a:latin typeface="Trebuchet MS"/>
                <a:cs typeface="Trebuchet MS"/>
              </a:rPr>
              <a:t>Processes</a:t>
            </a:r>
            <a:r>
              <a:rPr dirty="0" sz="1650" spc="-55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650" spc="455">
                <a:solidFill>
                  <a:srgbClr val="3B3838"/>
                </a:solidFill>
                <a:latin typeface="Trebuchet MS"/>
                <a:cs typeface="Trebuchet MS"/>
              </a:rPr>
              <a:t>s</a:t>
            </a:r>
            <a:r>
              <a:rPr dirty="0" sz="1650" spc="-60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650" spc="65">
                <a:solidFill>
                  <a:srgbClr val="3B3838"/>
                </a:solidFill>
                <a:latin typeface="Trebuchet MS"/>
                <a:cs typeface="Trebuchet MS"/>
              </a:rPr>
              <a:t>Compliance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1900"/>
              </a:lnSpc>
              <a:spcBef>
                <a:spcPts val="580"/>
              </a:spcBef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Global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зtandardiзation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of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financial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proceззeз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improved internal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controlз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made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it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eaзier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to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meet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regulatory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and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reporting</a:t>
            </a:r>
            <a:r>
              <a:rPr dirty="0" sz="1350" spc="-7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requirementз</a:t>
            </a:r>
            <a:r>
              <a:rPr dirty="0" sz="1350" spc="-6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acroзз</a:t>
            </a:r>
            <a:r>
              <a:rPr dirty="0" sz="1350" spc="-7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different</a:t>
            </a:r>
            <a:r>
              <a:rPr dirty="0" sz="1350" spc="-6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juriзdictionз.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815975" y="10360024"/>
            <a:ext cx="393700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>
                <a:solidFill>
                  <a:srgbClr val="1B1B27"/>
                </a:solidFill>
                <a:latin typeface="Trebuchet MS"/>
                <a:cs typeface="Trebuchet MS"/>
              </a:rPr>
              <a:t>Before</a:t>
            </a:r>
            <a:r>
              <a:rPr dirty="0" sz="2700" spc="-114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2700" spc="135">
                <a:solidFill>
                  <a:srgbClr val="1B1B27"/>
                </a:solidFill>
                <a:latin typeface="Trebuchet MS"/>
                <a:cs typeface="Trebuchet MS"/>
              </a:rPr>
              <a:t>vs</a:t>
            </a:r>
            <a:r>
              <a:rPr dirty="0" sz="2700" spc="-130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2700" spc="-35">
                <a:solidFill>
                  <a:srgbClr val="1B1B27"/>
                </a:solidFill>
                <a:latin typeface="Trebuchet MS"/>
                <a:cs typeface="Trebuchet MS"/>
              </a:rPr>
              <a:t>After</a:t>
            </a:r>
            <a:r>
              <a:rPr dirty="0" sz="2700" spc="-100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2700" spc="229">
                <a:solidFill>
                  <a:srgbClr val="1B1B27"/>
                </a:solidFill>
                <a:latin typeface="Trebuchet MS"/>
                <a:cs typeface="Trebuchet MS"/>
              </a:rPr>
              <a:t>SAP</a:t>
            </a:r>
            <a:r>
              <a:rPr dirty="0" sz="2700" spc="-114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2700" spc="95">
                <a:solidFill>
                  <a:srgbClr val="1B1B27"/>
                </a:solidFill>
                <a:latin typeface="Trebuchet MS"/>
                <a:cs typeface="Trebuchet MS"/>
              </a:rPr>
              <a:t>FICO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833437" y="11072813"/>
            <a:ext cx="9763125" cy="4933950"/>
          </a:xfrm>
          <a:custGeom>
            <a:avLst/>
            <a:gdLst/>
            <a:ahLst/>
            <a:cxnLst/>
            <a:rect l="l" t="t" r="r" b="b"/>
            <a:pathLst>
              <a:path w="9763125" h="4933950">
                <a:moveTo>
                  <a:pt x="0" y="4878705"/>
                </a:moveTo>
                <a:lnTo>
                  <a:pt x="0" y="55245"/>
                </a:lnTo>
                <a:lnTo>
                  <a:pt x="0" y="51615"/>
                </a:lnTo>
                <a:lnTo>
                  <a:pt x="352" y="48025"/>
                </a:lnTo>
                <a:lnTo>
                  <a:pt x="16182" y="16182"/>
                </a:lnTo>
                <a:lnTo>
                  <a:pt x="18745" y="13611"/>
                </a:lnTo>
                <a:lnTo>
                  <a:pt x="21536" y="11325"/>
                </a:lnTo>
                <a:lnTo>
                  <a:pt x="24555" y="9315"/>
                </a:lnTo>
                <a:lnTo>
                  <a:pt x="27565" y="7296"/>
                </a:lnTo>
                <a:lnTo>
                  <a:pt x="51615" y="0"/>
                </a:lnTo>
                <a:lnTo>
                  <a:pt x="55244" y="0"/>
                </a:lnTo>
                <a:lnTo>
                  <a:pt x="9707880" y="0"/>
                </a:lnTo>
                <a:lnTo>
                  <a:pt x="9711509" y="0"/>
                </a:lnTo>
                <a:lnTo>
                  <a:pt x="9715099" y="352"/>
                </a:lnTo>
                <a:lnTo>
                  <a:pt x="9738569" y="9315"/>
                </a:lnTo>
                <a:lnTo>
                  <a:pt x="9741588" y="11325"/>
                </a:lnTo>
                <a:lnTo>
                  <a:pt x="9744379" y="13611"/>
                </a:lnTo>
                <a:lnTo>
                  <a:pt x="9746942" y="16182"/>
                </a:lnTo>
                <a:lnTo>
                  <a:pt x="9749504" y="18745"/>
                </a:lnTo>
                <a:lnTo>
                  <a:pt x="9758914" y="34099"/>
                </a:lnTo>
                <a:lnTo>
                  <a:pt x="9760305" y="37452"/>
                </a:lnTo>
                <a:lnTo>
                  <a:pt x="9761353" y="40909"/>
                </a:lnTo>
                <a:lnTo>
                  <a:pt x="9762067" y="44462"/>
                </a:lnTo>
                <a:lnTo>
                  <a:pt x="9762772" y="48025"/>
                </a:lnTo>
                <a:lnTo>
                  <a:pt x="9763125" y="51615"/>
                </a:lnTo>
                <a:lnTo>
                  <a:pt x="9763125" y="55245"/>
                </a:lnTo>
                <a:lnTo>
                  <a:pt x="9763125" y="4878705"/>
                </a:lnTo>
                <a:lnTo>
                  <a:pt x="9763125" y="4882334"/>
                </a:lnTo>
                <a:lnTo>
                  <a:pt x="9762772" y="4885924"/>
                </a:lnTo>
                <a:lnTo>
                  <a:pt x="9762067" y="4889477"/>
                </a:lnTo>
                <a:lnTo>
                  <a:pt x="9761353" y="4893040"/>
                </a:lnTo>
                <a:lnTo>
                  <a:pt x="9760305" y="4896497"/>
                </a:lnTo>
                <a:lnTo>
                  <a:pt x="9758914" y="4899840"/>
                </a:lnTo>
                <a:lnTo>
                  <a:pt x="9757533" y="4903193"/>
                </a:lnTo>
                <a:lnTo>
                  <a:pt x="9755828" y="4906384"/>
                </a:lnTo>
                <a:lnTo>
                  <a:pt x="9753809" y="4909394"/>
                </a:lnTo>
                <a:lnTo>
                  <a:pt x="9751799" y="4912413"/>
                </a:lnTo>
                <a:lnTo>
                  <a:pt x="9738569" y="4924634"/>
                </a:lnTo>
                <a:lnTo>
                  <a:pt x="9735550" y="4926653"/>
                </a:lnTo>
                <a:lnTo>
                  <a:pt x="9732368" y="4928358"/>
                </a:lnTo>
                <a:lnTo>
                  <a:pt x="9729025" y="4929739"/>
                </a:lnTo>
                <a:lnTo>
                  <a:pt x="9725672" y="4931130"/>
                </a:lnTo>
                <a:lnTo>
                  <a:pt x="9722215" y="4932178"/>
                </a:lnTo>
                <a:lnTo>
                  <a:pt x="9718652" y="4932883"/>
                </a:lnTo>
                <a:lnTo>
                  <a:pt x="9715099" y="4933597"/>
                </a:lnTo>
                <a:lnTo>
                  <a:pt x="9711509" y="4933950"/>
                </a:lnTo>
                <a:lnTo>
                  <a:pt x="9707880" y="4933950"/>
                </a:lnTo>
                <a:lnTo>
                  <a:pt x="55244" y="4933950"/>
                </a:lnTo>
                <a:lnTo>
                  <a:pt x="51615" y="4933950"/>
                </a:lnTo>
                <a:lnTo>
                  <a:pt x="48025" y="4933597"/>
                </a:lnTo>
                <a:lnTo>
                  <a:pt x="44462" y="4932883"/>
                </a:lnTo>
                <a:lnTo>
                  <a:pt x="40909" y="4932178"/>
                </a:lnTo>
                <a:lnTo>
                  <a:pt x="37452" y="4931130"/>
                </a:lnTo>
                <a:lnTo>
                  <a:pt x="34099" y="4929739"/>
                </a:lnTo>
                <a:lnTo>
                  <a:pt x="30756" y="4928358"/>
                </a:lnTo>
                <a:lnTo>
                  <a:pt x="27565" y="4926653"/>
                </a:lnTo>
                <a:lnTo>
                  <a:pt x="24555" y="4924634"/>
                </a:lnTo>
                <a:lnTo>
                  <a:pt x="21536" y="4922624"/>
                </a:lnTo>
                <a:lnTo>
                  <a:pt x="18745" y="4920329"/>
                </a:lnTo>
                <a:lnTo>
                  <a:pt x="16182" y="4917767"/>
                </a:lnTo>
                <a:lnTo>
                  <a:pt x="13611" y="4915204"/>
                </a:lnTo>
                <a:lnTo>
                  <a:pt x="0" y="4882334"/>
                </a:lnTo>
                <a:lnTo>
                  <a:pt x="0" y="4878705"/>
                </a:lnTo>
                <a:close/>
              </a:path>
            </a:pathLst>
          </a:custGeom>
          <a:ln w="9525">
            <a:solidFill>
              <a:srgbClr val="B3B3B3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60" name="object 60"/>
          <p:cNvGraphicFramePr>
            <a:graphicFrameLocks noGrp="1"/>
          </p:cNvGraphicFramePr>
          <p:nvPr/>
        </p:nvGraphicFramePr>
        <p:xfrm>
          <a:off x="838200" y="11077575"/>
          <a:ext cx="9829800" cy="49237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53104"/>
                <a:gridCol w="3248660"/>
                <a:gridCol w="3253740"/>
              </a:tblGrid>
              <a:tr h="499745"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1350" spc="-20" b="1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Area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33350"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1350" b="1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Before</a:t>
                      </a:r>
                      <a:r>
                        <a:rPr dirty="0" sz="1350" spc="40" b="1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 b="1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Implementation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33350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165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1350" b="1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After</a:t>
                      </a:r>
                      <a:r>
                        <a:rPr dirty="0" sz="1350" spc="50" b="1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 b="1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Implementation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33350">
                    <a:lnL w="9525">
                      <a:solidFill>
                        <a:srgbClr val="B3B3B3"/>
                      </a:solidFill>
                      <a:prstDash val="solid"/>
                    </a:lnL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790575"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Financial</a:t>
                      </a:r>
                      <a:r>
                        <a:rPr dirty="0" sz="1350" spc="-2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2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Data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37795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4625" marR="400685">
                        <a:lnSpc>
                          <a:spcPct val="134300"/>
                        </a:lnSpc>
                        <a:spcBef>
                          <a:spcPts val="530"/>
                        </a:spcBef>
                      </a:pP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Fragmented</a:t>
                      </a:r>
                      <a:r>
                        <a:rPr dirty="0" sz="1350" spc="-5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acroзз</a:t>
                      </a:r>
                      <a:r>
                        <a:rPr dirty="0" sz="1350" spc="-5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multiple</a:t>
                      </a:r>
                      <a:r>
                        <a:rPr dirty="0" sz="1350" spc="-5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legacy зyзtemз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67310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16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Centraliзed</a:t>
                      </a:r>
                      <a:r>
                        <a:rPr dirty="0" sz="1350" spc="-1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in</a:t>
                      </a:r>
                      <a:r>
                        <a:rPr dirty="0" sz="1350" spc="-1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SAP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S/4HANA</a:t>
                      </a:r>
                      <a:r>
                        <a:rPr dirty="0" sz="1350" spc="-1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Finance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37795">
                    <a:lnL w="9525">
                      <a:solidFill>
                        <a:srgbClr val="B3B3B3"/>
                      </a:solidFill>
                      <a:prstDash val="solid"/>
                    </a:lnL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Reporting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28270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4625" marR="950594">
                        <a:lnSpc>
                          <a:spcPct val="134300"/>
                        </a:lnSpc>
                        <a:spcBef>
                          <a:spcPts val="455"/>
                        </a:spcBef>
                      </a:pP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Delayed,</a:t>
                      </a:r>
                      <a:r>
                        <a:rPr dirty="0" sz="1350" spc="-2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manual</a:t>
                      </a:r>
                      <a:r>
                        <a:rPr dirty="0" sz="1350" spc="-2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4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month-</a:t>
                      </a:r>
                      <a:r>
                        <a:rPr dirty="0" sz="1350" spc="-2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end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proceззeз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57785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165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1350" spc="-4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Real-</a:t>
                      </a:r>
                      <a:r>
                        <a:rPr dirty="0" sz="1350" spc="-2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time</a:t>
                      </a:r>
                      <a:r>
                        <a:rPr dirty="0" sz="1350" spc="-4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reporting</a:t>
                      </a:r>
                      <a:r>
                        <a:rPr dirty="0" sz="1350" spc="-4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and</a:t>
                      </a:r>
                      <a:r>
                        <a:rPr dirty="0" sz="1350" spc="-4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analyticз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28270">
                    <a:lnL w="9525">
                      <a:solidFill>
                        <a:srgbClr val="B3B3B3"/>
                      </a:solidFill>
                      <a:prstDash val="solid"/>
                    </a:lnL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Proceззeз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37795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4625" marR="784860">
                        <a:lnSpc>
                          <a:spcPct val="129600"/>
                        </a:lnSpc>
                        <a:spcBef>
                          <a:spcPts val="605"/>
                        </a:spcBef>
                      </a:pP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Varied</a:t>
                      </a:r>
                      <a:r>
                        <a:rPr dirty="0" sz="1350" spc="-5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local</a:t>
                      </a:r>
                      <a:r>
                        <a:rPr dirty="0" sz="1350" spc="-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proceззeз</a:t>
                      </a:r>
                      <a:r>
                        <a:rPr dirty="0" sz="1350" spc="-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acroзз marketз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76835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165" marR="858519">
                        <a:lnSpc>
                          <a:spcPct val="129600"/>
                        </a:lnSpc>
                        <a:spcBef>
                          <a:spcPts val="605"/>
                        </a:spcBef>
                      </a:pP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Standardiзed</a:t>
                      </a:r>
                      <a:r>
                        <a:rPr dirty="0" sz="1350" spc="-5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global</a:t>
                      </a:r>
                      <a:r>
                        <a:rPr dirty="0" sz="1350" spc="-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financial proceззeз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76835">
                    <a:lnL w="9525">
                      <a:solidFill>
                        <a:srgbClr val="B3B3B3"/>
                      </a:solidFill>
                      <a:prstDash val="solid"/>
                    </a:lnL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Integration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37795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Limited</a:t>
                      </a:r>
                      <a:r>
                        <a:rPr dirty="0" sz="1350" spc="-4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integration</a:t>
                      </a:r>
                      <a:r>
                        <a:rPr dirty="0" sz="1350" spc="-4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between</a:t>
                      </a:r>
                      <a:r>
                        <a:rPr dirty="0" sz="1350" spc="-4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зyзtemз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37795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16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Full</a:t>
                      </a:r>
                      <a:r>
                        <a:rPr dirty="0" sz="1350" spc="-5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integration</a:t>
                      </a:r>
                      <a:r>
                        <a:rPr dirty="0" sz="1350" spc="-3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with</a:t>
                      </a:r>
                      <a:r>
                        <a:rPr dirty="0" sz="1350" spc="-3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MM,</a:t>
                      </a:r>
                      <a:r>
                        <a:rPr dirty="0" sz="1350" spc="-2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3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SD, </a:t>
                      </a:r>
                      <a:r>
                        <a:rPr dirty="0" sz="1350" spc="-9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PP,</a:t>
                      </a:r>
                      <a:r>
                        <a:rPr dirty="0" sz="1350" spc="-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2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HCM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37795">
                    <a:lnL w="9525">
                      <a:solidFill>
                        <a:srgbClr val="B3B3B3"/>
                      </a:solidFill>
                      <a:prstDash val="solid"/>
                    </a:lnL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790575"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Coзt</a:t>
                      </a:r>
                      <a:r>
                        <a:rPr dirty="0" sz="1350" spc="-3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Management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37795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Limited</a:t>
                      </a:r>
                      <a:r>
                        <a:rPr dirty="0" sz="1350" spc="-6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viзibility</a:t>
                      </a:r>
                      <a:r>
                        <a:rPr dirty="0" sz="1350" spc="-5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into</a:t>
                      </a:r>
                      <a:r>
                        <a:rPr dirty="0" sz="1350" spc="-6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coзt</a:t>
                      </a:r>
                      <a:r>
                        <a:rPr dirty="0" sz="1350" spc="-5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driverз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37795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165" marR="317500">
                        <a:lnSpc>
                          <a:spcPct val="134300"/>
                        </a:lnSpc>
                        <a:spcBef>
                          <a:spcPts val="530"/>
                        </a:spcBef>
                      </a:pP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Detailed</a:t>
                      </a:r>
                      <a:r>
                        <a:rPr dirty="0" sz="1350" spc="-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coзt</a:t>
                      </a:r>
                      <a:r>
                        <a:rPr dirty="0" sz="1350" spc="-4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centre</a:t>
                      </a:r>
                      <a:r>
                        <a:rPr dirty="0" sz="1350" spc="-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and</a:t>
                      </a:r>
                      <a:r>
                        <a:rPr dirty="0" sz="1350" spc="-4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profitability analyзiз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67310">
                    <a:lnL w="9525">
                      <a:solidFill>
                        <a:srgbClr val="B3B3B3"/>
                      </a:solidFill>
                      <a:prstDash val="solid"/>
                    </a:lnL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775970"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Deciзion</a:t>
                      </a:r>
                      <a:r>
                        <a:rPr dirty="0" sz="1350" spc="-3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Making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28270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Baзed</a:t>
                      </a:r>
                      <a:r>
                        <a:rPr dirty="0" sz="1350" spc="-4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on</a:t>
                      </a:r>
                      <a:r>
                        <a:rPr dirty="0" sz="1350" spc="-4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delayed</a:t>
                      </a:r>
                      <a:r>
                        <a:rPr dirty="0" sz="1350" spc="-4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or</a:t>
                      </a:r>
                      <a:r>
                        <a:rPr dirty="0" sz="1350" spc="-4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incomplete</a:t>
                      </a:r>
                      <a:r>
                        <a:rPr dirty="0" sz="1350" spc="-4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2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data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28270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77165" marR="651510">
                        <a:lnSpc>
                          <a:spcPct val="134300"/>
                        </a:lnSpc>
                        <a:spcBef>
                          <a:spcPts val="455"/>
                        </a:spcBef>
                      </a:pP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Supported</a:t>
                      </a:r>
                      <a:r>
                        <a:rPr dirty="0" sz="1350" spc="-5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by</a:t>
                      </a:r>
                      <a:r>
                        <a:rPr dirty="0" sz="1350" spc="-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4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real-</a:t>
                      </a:r>
                      <a:r>
                        <a:rPr dirty="0" sz="1350" spc="-2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time</a:t>
                      </a:r>
                      <a:r>
                        <a:rPr dirty="0" sz="1350" spc="-5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financial information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57785">
                    <a:lnL w="9525">
                      <a:solidFill>
                        <a:srgbClr val="B3B3B3"/>
                      </a:solidFill>
                      <a:prstDash val="solid"/>
                    </a:lnL>
                    <a:lnT w="9525">
                      <a:solidFill>
                        <a:srgbClr val="B3B3B3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61" name="object 61"/>
          <p:cNvSpPr txBox="1"/>
          <p:nvPr/>
        </p:nvSpPr>
        <p:spPr>
          <a:xfrm>
            <a:off x="815971" y="16246475"/>
            <a:ext cx="9770745" cy="2317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>
                <a:solidFill>
                  <a:srgbClr val="1B1B27"/>
                </a:solidFill>
                <a:latin typeface="Trebuchet MS"/>
                <a:cs typeface="Trebuchet MS"/>
              </a:rPr>
              <a:t>Real-</a:t>
            </a:r>
            <a:r>
              <a:rPr dirty="0" sz="2700" spc="90">
                <a:solidFill>
                  <a:srgbClr val="1B1B27"/>
                </a:solidFill>
                <a:latin typeface="Trebuchet MS"/>
                <a:cs typeface="Trebuchet MS"/>
              </a:rPr>
              <a:t>World</a:t>
            </a:r>
            <a:r>
              <a:rPr dirty="0" sz="2700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2700" spc="120">
                <a:solidFill>
                  <a:srgbClr val="1B1B27"/>
                </a:solidFill>
                <a:latin typeface="Trebuchet MS"/>
                <a:cs typeface="Trebuchet MS"/>
              </a:rPr>
              <a:t>Business</a:t>
            </a:r>
            <a:r>
              <a:rPr dirty="0" sz="2700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2700" spc="45">
                <a:solidFill>
                  <a:srgbClr val="1B1B27"/>
                </a:solidFill>
                <a:latin typeface="Trebuchet MS"/>
                <a:cs typeface="Trebuchet MS"/>
              </a:rPr>
              <a:t>Impact</a:t>
            </a:r>
            <a:endParaRPr sz="2700">
              <a:latin typeface="Trebuchet MS"/>
              <a:cs typeface="Trebuchet MS"/>
            </a:endParaRPr>
          </a:p>
          <a:p>
            <a:pPr marL="12700" marR="158115">
              <a:lnSpc>
                <a:spcPct val="132700"/>
              </a:lnSpc>
              <a:spcBef>
                <a:spcPts val="1855"/>
              </a:spcBef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To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underзtand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how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SAP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FICO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affectз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70">
                <a:solidFill>
                  <a:srgbClr val="3B3838"/>
                </a:solidFill>
                <a:latin typeface="Roboto"/>
                <a:cs typeface="Roboto"/>
              </a:rPr>
              <a:t>day-</a:t>
            </a:r>
            <a:r>
              <a:rPr dirty="0" sz="1350" spc="-80">
                <a:solidFill>
                  <a:srgbClr val="3B3838"/>
                </a:solidFill>
                <a:latin typeface="Roboto"/>
                <a:cs typeface="Roboto"/>
              </a:rPr>
              <a:t>to-</a:t>
            </a:r>
            <a:r>
              <a:rPr dirty="0" sz="1350" spc="-55">
                <a:solidFill>
                  <a:srgbClr val="3B3838"/>
                </a:solidFill>
                <a:latin typeface="Roboto"/>
                <a:cs typeface="Roboto"/>
              </a:rPr>
              <a:t>day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operationз,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conзider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realiзtic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example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from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Neзtlé'з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induзtry.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When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Neзtlé manufacturing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facility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procureз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raw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materialз,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purchaзe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order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in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SAP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MM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automatically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triggerз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financial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poзtingз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in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FI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(Accountз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Payable)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CO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(Coзt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Centerз).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Aз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goodз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are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received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invoiceз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proceззed,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coзtз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are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allocated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to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relevant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coзt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centerз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profit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centerз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in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real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time.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Management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can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immediately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зee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impact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on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marginз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for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that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product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line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—</a:t>
            </a:r>
            <a:endParaRPr sz="1350">
              <a:latin typeface="Roboto"/>
              <a:cs typeface="Roboto"/>
            </a:endParaRPr>
          </a:p>
          <a:p>
            <a:pPr marL="12700" marR="5080">
              <a:lnSpc>
                <a:spcPct val="134300"/>
              </a:lnSpc>
            </a:pP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enabling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faзter,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data-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driven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deciзionз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about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pricing,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production,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or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зourcing.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Thiз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65">
                <a:solidFill>
                  <a:srgbClr val="3B3838"/>
                </a:solidFill>
                <a:latin typeface="Roboto"/>
                <a:cs typeface="Roboto"/>
              </a:rPr>
              <a:t>end-</a:t>
            </a:r>
            <a:r>
              <a:rPr dirty="0" sz="1350" spc="-55">
                <a:solidFill>
                  <a:srgbClr val="3B3838"/>
                </a:solidFill>
                <a:latin typeface="Roboto"/>
                <a:cs typeface="Roboto"/>
              </a:rPr>
              <a:t>to-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end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integration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iз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what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makeз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SAP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FICO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valuable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in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practice.</a:t>
            </a:r>
            <a:endParaRPr sz="13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2026-09-10T12:58:13Z</dcterms:created>
  <dcterms:modified xsi:type="dcterms:W3CDTF">2026-09-10T12:58:13Z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v10.0.20070.1</vt:lpwstr>
  </property>
  <property fmtid="{D5CDD505-2E9C-101B-9397-08002B2CF9AE}" pid="3" name="Created">
    <vt:filetime>2026-09-06T00:00:00Z</vt:filetime>
  </property>
  <property fmtid="{D5CDD505-2E9C-101B-9397-08002B2CF9AE}" pid="4" name="Creator">
    <vt:lpwstr>pdf-lib (https://github.com/Hopding/pdf-lib)</vt:lpwstr>
  </property>
  <property fmtid="{D5CDD505-2E9C-101B-9397-08002B2CF9AE}" pid="5" name="LastSaved">
    <vt:filetime>2026-09-10T00:00:00Z</vt:filetime>
  </property>
  <property fmtid="{D5CDD505-2E9C-101B-9397-08002B2CF9AE}" pid="6" name="Producer">
    <vt:lpwstr>pdf-lib (https://github.com/Hopding/pdf-lib)</vt:lpwstr>
  </property>
</Properties>
</file>